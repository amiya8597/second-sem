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9" r:id="rId8"/>
    <p:sldId id="270" r:id="rId9"/>
    <p:sldId id="264" r:id="rId10"/>
    <p:sldId id="265" r:id="rId11"/>
    <p:sldId id="266" r:id="rId12"/>
    <p:sldId id="267" r:id="rId13"/>
    <p:sldId id="268" r:id="rId14"/>
    <p:sldId id="263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150F9C-B600-F014-952E-7B809AB78C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5706D2-B93D-570B-E5EC-3A0BA7679E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63FA2B-5345-0A98-3A43-683057EB5F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001EB-6C6D-4C8F-923F-2401AC100939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69043D-D443-2DFB-AD82-3372697ED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4D4A31-3725-65FF-1905-DE66D3032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5A461-809C-4909-9E88-694A1CB97F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86643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65BA0-E6F5-21BA-2E28-0C5984EF4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798DE0-D544-0A59-E287-96001203C6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397D5D-6364-0976-1B91-9B7D82768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001EB-6C6D-4C8F-923F-2401AC100939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5533FF-635B-C943-4A3D-956852D46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594573-C2A2-00BD-E0F5-267758D52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5A461-809C-4909-9E88-694A1CB97F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60181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FAC87-619B-7165-AB98-74EC8D873D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D3BE9B-7449-1B02-1C5E-C69DA7BB39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3AB879-46F2-F4EA-6497-28EC6F25DA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001EB-6C6D-4C8F-923F-2401AC100939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65AF48-96E2-5AA4-5700-97EC57A863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8FA444-787D-8CAD-433F-978809BA5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5A461-809C-4909-9E88-694A1CB97F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13941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1AAA3D-2805-F806-4ABE-8026489479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2A38BC-4A71-9EAC-025A-34DE62D320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8221AE-FC85-A21E-FCA2-7C337D4570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D77B39-FA75-82BD-0F45-8CC63BCB97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001EB-6C6D-4C8F-923F-2401AC100939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FE7E12-1175-7079-CC13-A10589DCE7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8136F9-DD60-A985-E36C-622F8AE2E8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5A461-809C-4909-9E88-694A1CB97F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93543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B06D1-EE61-D79A-2BA8-15569230A7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4849BF-E126-CB16-795A-9F5B667E0E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92C1D6-43B3-444D-7B60-DC5576E950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5DC5978-9254-0A94-2F5E-A94AC74D6E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C91982-8C0A-DBEB-319C-FB978CB7A0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1AC22D3-45EB-4D09-1B56-11985586C0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001EB-6C6D-4C8F-923F-2401AC100939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B1DBC9F-63B2-D332-78E7-E83DD7D90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0469E8E-FF75-A4B6-A0EA-09FA00C5F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5A461-809C-4909-9E88-694A1CB97F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59725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82011-FE5A-9A05-E024-E0518941C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27803FF-3C95-D649-9600-C3FB3D47BD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001EB-6C6D-4C8F-923F-2401AC100939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E9B852-064D-66C2-08B2-F4A14B9E8F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8FDBB9-9555-66BA-8E36-EBE898936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5A461-809C-4909-9E88-694A1CB97F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64507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030D9E-CA11-C0B6-0A58-7CFD53C4C1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001EB-6C6D-4C8F-923F-2401AC100939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A796D5-AA94-DAA9-6131-07A7EDC9A3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830BC4-1E33-65C8-E662-B4D52CBF8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5A461-809C-4909-9E88-694A1CB97F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41791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4E370-7E99-6C25-DC0F-1FDFEFAED0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6D79DE-04FD-0650-DF1D-A09BA654ED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8210DB-8AF3-0848-9D0B-D129DEC9B5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B6CF54-376B-DE55-D3C9-F853EC6322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001EB-6C6D-4C8F-923F-2401AC100939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12E5C6-650A-7D29-05E4-3011026FA6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187A2A-8563-7F4A-665D-9A85D6B1F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5A461-809C-4909-9E88-694A1CB97F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98985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5B758-D35C-4987-C617-1CE8B7AD50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AA89D3D-43BB-6EE6-1C52-A1E5987114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902747-8A2D-F4C2-CC3F-DF2C25AF4A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4D63EA-6D0A-1BFE-2566-780D4EB6A7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001EB-6C6D-4C8F-923F-2401AC100939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9D9482-4434-0C73-4FE1-F3DBB5F85D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064727-F770-8155-1A23-DE236BD53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5A461-809C-4909-9E88-694A1CB97F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84055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CB4563-0937-7545-EFDE-DCC3B280D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48B2B3-4E70-53A3-13B7-0B51B7FB1B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334AB1-BADD-54D8-8ED4-16EDA6CF1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001EB-6C6D-4C8F-923F-2401AC100939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B66802-9DB1-FBDC-A3E6-15C134597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36FE31-FE85-2C79-72AB-9BA8FCFB0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5A461-809C-4909-9E88-694A1CB97F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01086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C0B5A60-4F65-F765-850A-4523498C16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EF9CEF-71B5-DD4C-1304-B933A36709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1F6975-1978-E86C-195C-723D4C1D0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001EB-6C6D-4C8F-923F-2401AC100939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0CCB4-0BF3-20DD-2BA4-52E6C8029F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806F36-B5DA-44AF-F29E-09A3E73C0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5A461-809C-4909-9E88-694A1CB97F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98154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1AE91F6-E97E-4772-05CB-E0AC4DC6A9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040493-0AC3-544B-73AF-422086C12B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E06AA7-679C-B109-84D3-C3C57A6243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B001EB-6C6D-4C8F-923F-2401AC100939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15064E-A311-3927-BC82-3C1AE96D5A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732B69-DE0D-A520-455A-AC5F4A3A20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75A461-809C-4909-9E88-694A1CB97F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9668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9A3438-5AE1-5579-E4C5-675897BA074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Autoencoder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64748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504A5E-E49F-548B-1285-8097972692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Libraries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0A6158-1608-B869-77E8-C21D78E1D1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tensorflow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tf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tensorflow.keras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import layers, models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matplotlib.pyplot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np</a:t>
            </a:r>
          </a:p>
        </p:txBody>
      </p:sp>
    </p:spTree>
    <p:extLst>
      <p:ext uri="{BB962C8B-B14F-4D97-AF65-F5344CB8AC3E}">
        <p14:creationId xmlns:p14="http://schemas.microsoft.com/office/powerpoint/2010/main" val="19209456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971C5E-3C16-F2D6-9DD4-7EE951E28A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A7E12-12E5-A1C0-8CA5-8CE1B4054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 MNIST 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59C954-C39F-DA5E-47BE-B48CE3D71E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 the data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Normalize pixel values x = x / 255.0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Flatten images</a:t>
            </a:r>
          </a:p>
          <a:p>
            <a:pPr marL="457200" lvl="1" indent="0">
              <a:buNone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x_train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x_train.reshape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(-1, 784)</a:t>
            </a:r>
          </a:p>
          <a:p>
            <a:pPr marL="457200" lvl="1" indent="0">
              <a:buNone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x_test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x_test.reshape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(-1, 784)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604BA3F-2019-6C9B-F0AF-CE8065B54C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0864" y="2831281"/>
            <a:ext cx="3480619" cy="3480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6355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E70A02-A02B-A3B5-B6DE-7CEF7EFC5B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5B86B-6950-40B4-EBC8-58906B3939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 Autoencoder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367168-F00D-32EB-7B8F-32F71FE4AD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input_dim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784</a:t>
            </a:r>
          </a:p>
          <a:p>
            <a:pPr marL="0" indent="0">
              <a:buNone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latent_dim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32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Encoder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encoder =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models.Sequential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([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layers.Input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(shape=(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input_dim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,)),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layers.Dense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(128, activation='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relu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'),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layers.Dense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latent_dim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activation='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relu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')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])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CAF1AD6-468C-47F2-C678-779A8CB1D5C8}"/>
              </a:ext>
            </a:extLst>
          </p:cNvPr>
          <p:cNvSpPr txBox="1">
            <a:spLocks/>
          </p:cNvSpPr>
          <p:nvPr/>
        </p:nvSpPr>
        <p:spPr>
          <a:xfrm>
            <a:off x="6612801" y="1825625"/>
            <a:ext cx="5455467" cy="435133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Decoder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decoder =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models.Sequential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([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layers.Input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(shape=(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latent_dim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,)),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layers.Dense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(128, activation='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relu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'),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layers.Dense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input_dim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activation='sigmoid')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])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Autoencoder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autoencoder =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models.Sequential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([encoder, decoder])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08747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77C267-8576-2F35-E865-45D0C13905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660128-A647-C845-80D3-FFA984CCCD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Compile Model &amp; Train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CBF57D-5E49-C5DA-88AF-9BE5FE6B5B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297562" cy="4351338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Optimizer = Adam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Loss = MSE</a:t>
            </a:r>
          </a:p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batch_size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=128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Plot Training Loss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87761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C42553-E027-F6CB-66F4-E01F4433FC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94887-5140-5F91-AFF1-06EAF34624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Visualize Reconstruction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CF3214-6D18-7233-5549-88D79EA6D4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747441" cy="4351338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reconstructed =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autoencoder.predict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x_test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Reshape for visualization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original =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x_test.reshape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(-1, 28, 28)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reconstructed =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reconstructed.reshape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(-1, 28, 28)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plt.figure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figsize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=(8,4))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Original</a:t>
            </a:r>
          </a:p>
          <a:p>
            <a:pPr marL="0" indent="0">
              <a:buNone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plt.subplot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(1,2,1)</a:t>
            </a:r>
          </a:p>
          <a:p>
            <a:pPr marL="0" indent="0">
              <a:buNone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plt.imshow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(original[0],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cmap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='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gray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')</a:t>
            </a:r>
          </a:p>
          <a:p>
            <a:pPr marL="0" indent="0">
              <a:buNone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plt.title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("Original")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0741B30-6808-0548-B63D-17D3C4F0D8E1}"/>
              </a:ext>
            </a:extLst>
          </p:cNvPr>
          <p:cNvSpPr txBox="1">
            <a:spLocks/>
          </p:cNvSpPr>
          <p:nvPr/>
        </p:nvSpPr>
        <p:spPr>
          <a:xfrm>
            <a:off x="6585641" y="1825625"/>
            <a:ext cx="4966581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Reconstructed</a:t>
            </a:r>
          </a:p>
          <a:p>
            <a:pPr marL="0" indent="0">
              <a:buNone/>
            </a:pP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plt.subplot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(1,2,2)</a:t>
            </a:r>
          </a:p>
          <a:p>
            <a:pPr marL="0" indent="0">
              <a:buNone/>
            </a:pP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plt.imshow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(reconstructed[0],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cmap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='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gray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')</a:t>
            </a:r>
          </a:p>
          <a:p>
            <a:pPr marL="0" indent="0">
              <a:buNone/>
            </a:pP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plt.title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("Reconstructed")</a:t>
            </a:r>
          </a:p>
          <a:p>
            <a:pPr marL="0" indent="0">
              <a:buNone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plt.show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37863475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0EC6C9-FEF0-EC99-2A57-73AEE0F015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6EEBB-109C-5CDC-95E4-8A214A295CC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45584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60A3A5-AA25-1F33-C484-18F2EB419A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2E204-5F0E-BC59-9A40-AAD39F9FA2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Libraries and Preprocess MNIST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81FBCF-2D23-9FAF-540E-9824DFDF53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297562" cy="5032375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tensorflow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tf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tensorflow.keras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import layers, Model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np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matplotlib.pyplot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x_train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_), 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x_test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_) =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tf.keras.datasets.mnist.load_data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x_train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x_train.astype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("float32") / 255.0</a:t>
            </a:r>
          </a:p>
          <a:p>
            <a:pPr marL="0" indent="0">
              <a:buNone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x_test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x_test.astype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("float32") / 255.0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x_train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x_train.reshape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(-1, 784)</a:t>
            </a:r>
          </a:p>
          <a:p>
            <a:pPr marL="0" indent="0">
              <a:buNone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x_test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x_test.reshape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(-1, 784)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input_dim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784</a:t>
            </a:r>
          </a:p>
          <a:p>
            <a:pPr marL="0" indent="0">
              <a:buNone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latent_dim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2   # keep 2 for visualization</a:t>
            </a:r>
          </a:p>
        </p:txBody>
      </p:sp>
    </p:spTree>
    <p:extLst>
      <p:ext uri="{BB962C8B-B14F-4D97-AF65-F5344CB8AC3E}">
        <p14:creationId xmlns:p14="http://schemas.microsoft.com/office/powerpoint/2010/main" val="19493612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989F96-0908-480D-56F5-CD0B87EFF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869C54-BA82-B263-201F-B74209AB05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Sampling Layer (Reparameterization Trick)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A978A0-49DB-FFC6-ED88-C729EC8F4D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297562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Sampling(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layers.Layer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def call(self, inputs):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z_mean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z_log_var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inputs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epsilon =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tf.random.normal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(shape=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tf.shape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z_mean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return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z_mean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tf.exp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(0.5 *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z_log_var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* epsilon</a:t>
            </a:r>
          </a:p>
        </p:txBody>
      </p:sp>
    </p:spTree>
    <p:extLst>
      <p:ext uri="{BB962C8B-B14F-4D97-AF65-F5344CB8AC3E}">
        <p14:creationId xmlns:p14="http://schemas.microsoft.com/office/powerpoint/2010/main" val="10037309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22A220-A72E-EDDD-C810-C8AEB6F3FC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E81808-FEE4-FE79-99B4-A47F9CD72D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Encoder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58B475-9150-F9F3-9EF5-B96F2EAE84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297562" cy="435133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Encoder</a:t>
            </a:r>
          </a:p>
          <a:p>
            <a:pPr marL="0" indent="0">
              <a:buNone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encoder_inputs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layers.Input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(shape=(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input_dim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,))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=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layers.Dense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(128, activation="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relu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")(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encoder_inputs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z_mean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layers.Dense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latent_dim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name="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z_mean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")(x)</a:t>
            </a:r>
          </a:p>
          <a:p>
            <a:pPr marL="0" indent="0">
              <a:buNone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z_log_var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layers.Dense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latent_dim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name="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z_log_var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")(x)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z = Sampling()([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z_mean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z_log_var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])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encoder = Model(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encoder_inputs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[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z_mean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z_log_var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z], name="encoder")</a:t>
            </a:r>
          </a:p>
        </p:txBody>
      </p:sp>
    </p:spTree>
    <p:extLst>
      <p:ext uri="{BB962C8B-B14F-4D97-AF65-F5344CB8AC3E}">
        <p14:creationId xmlns:p14="http://schemas.microsoft.com/office/powerpoint/2010/main" val="27985262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671DF7-53D9-BB25-6CD0-33D70CE013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75760F-64BA-6DB7-CB72-056BBF513A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5831"/>
            <a:ext cx="10515600" cy="132556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VAE Model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9373ED-AB6A-271D-606E-FCD2532BEC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1394"/>
            <a:ext cx="5770830" cy="5436605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VAE(Model):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def __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init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__(self, encoder, decoder):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super(VAE, self).__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init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__()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self.encoder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encoder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self.decoder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decoder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def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train_step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(self, data):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if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isinstance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(data, tuple):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data = data[0]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with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tf.GradientTape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as tape: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z_mean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z_log_var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z =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self.encoder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(data)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reconstruction =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self.decoder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(z)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D5AAFD2-79EF-F222-2D60-AA29E7214E69}"/>
              </a:ext>
            </a:extLst>
          </p:cNvPr>
          <p:cNvSpPr txBox="1">
            <a:spLocks/>
          </p:cNvSpPr>
          <p:nvPr/>
        </p:nvSpPr>
        <p:spPr>
          <a:xfrm>
            <a:off x="6609030" y="135796"/>
            <a:ext cx="5386812" cy="67131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🔹 Reconstruction Loss (Correct Version)</a:t>
            </a:r>
          </a:p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reconstruction_loss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tf.reduce_mean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</a:p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tf.keras.losses.binary_crossentropy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(data, reconstruction)</a:t>
            </a:r>
          </a:p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) *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input_dim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# 🔹 KL Divergence</a:t>
            </a:r>
          </a:p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kl_loss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-0.5 *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tf.reduce_mean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</a:p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1 +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z_log_var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tf.square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z_mean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-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tf.exp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z_log_var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)</a:t>
            </a:r>
          </a:p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total_loss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reconstruction_loss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kl_loss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grads =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tape.gradient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total_loss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self.trainable_weights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self.optimizer.apply_gradients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(zip(grads,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self.trainable_weights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</a:t>
            </a:r>
          </a:p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return {</a:t>
            </a:r>
          </a:p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"loss":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total_loss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"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reconstruction_loss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":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reconstruction_loss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"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kl_loss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":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kl_loss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7134700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276FD9-2DE7-D2E9-390A-6595B562F1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1501A-A945-EAC0-10FA-27C43E7ADB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Compile and Train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A835B6-9168-2FD6-7C11-A397755B30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297562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VAE(encoder, decoder)</a:t>
            </a:r>
          </a:p>
          <a:p>
            <a:pPr marL="0" indent="0">
              <a:buNone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vae.compile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(optimizer=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tf.keras.optimizers.Adam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())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vae.fit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x_train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epochs=10,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batch_size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=128)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43104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C69778-09AE-05E8-07A9-70BC9B35FE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82D63C-9260-5772-0E89-F5FA9AA46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Visualize Reconstruction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B77A1A-7CB3-DB55-70F4-5BB6AF6749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23042"/>
            <a:ext cx="10297562" cy="5834957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z_mean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z_log_var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z =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encoder.predict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x_test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[:10])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reconstructed =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decoder.predict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(z)</a:t>
            </a:r>
          </a:p>
          <a:p>
            <a:pPr marL="0" indent="0">
              <a:buNone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plt.figure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figsize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=(10,4))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range(5):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# Original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plt.subplot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(2,5,i+1)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plt.imshow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x_test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].reshape(28,28),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cmap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="gray")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plt.axis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("off")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# Reconstructed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plt.subplot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(2,5,i+6)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plt.imshow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(reconstructed[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].reshape(28,28),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cmap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="gray")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plt.axis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("off")</a:t>
            </a:r>
          </a:p>
          <a:p>
            <a:pPr marL="0" indent="0">
              <a:buNone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plt.show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86768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3DB3D0-E242-FC11-B7A9-8859B29A1C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FDEE2-F0A3-8024-0C7D-A631FE12D2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 Assignment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3F724C-2E29-82B0-AB15-5A91B8699B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86828"/>
            <a:ext cx="10515600" cy="5871172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Denoising Autoencoder (Use the same dataset)</a:t>
            </a:r>
          </a:p>
          <a:p>
            <a:pPr marL="514350" indent="-514350"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Gaussian noise:</a:t>
            </a:r>
          </a:p>
          <a:p>
            <a:pPr marL="457200" lvl="1" indent="0">
              <a:buNone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noise_factor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0.5</a:t>
            </a:r>
          </a:p>
          <a:p>
            <a:pPr marL="457200" lvl="1" indent="0">
              <a:buNone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x_train_noisy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x_train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noise_factor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*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np.random.normal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(size=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x_train.shape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457200" lvl="1" indent="0">
              <a:buNone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x_test_noisy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x_test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noise_factor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*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np.random.normal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(size=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x_test.shape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457200" lvl="1" indent="0">
              <a:buNone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x_train_noisy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np.clip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x_train_noisy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0., 1.)</a:t>
            </a:r>
          </a:p>
          <a:p>
            <a:pPr marL="457200" lvl="1" indent="0">
              <a:buNone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x_test_noisy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np.clip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x_test_noisy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0., 1.)</a:t>
            </a:r>
          </a:p>
          <a:p>
            <a:pPr marL="514350" indent="-514350"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model: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= noisy image	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= clean image</a:t>
            </a:r>
          </a:p>
          <a:p>
            <a:pPr marL="514350" indent="-514350"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Compare: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 Autoencoder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VAE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Denoising Autoencoder</a:t>
            </a:r>
          </a:p>
          <a:p>
            <a:pPr marL="514350" indent="-514350"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Show: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 image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VAE Reconstruct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AE Reconstruct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Denoising AE Reconstruct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2AE7DC7-FFC4-63AB-EF92-3F1ACB2591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7957" y="3105339"/>
            <a:ext cx="7234044" cy="37526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325555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1207</Words>
  <Application>Microsoft Office PowerPoint</Application>
  <PresentationFormat>Widescreen</PresentationFormat>
  <Paragraphs>159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Times New Roman</vt:lpstr>
      <vt:lpstr>Office Theme</vt:lpstr>
      <vt:lpstr>Autoencoder</vt:lpstr>
      <vt:lpstr>Import Libraries</vt:lpstr>
      <vt:lpstr>Load MNIST Dataset</vt:lpstr>
      <vt:lpstr>Define Autoencoder Model</vt:lpstr>
      <vt:lpstr>Compile Model &amp; Train Model</vt:lpstr>
      <vt:lpstr>Visualize Reconstruction</vt:lpstr>
      <vt:lpstr>VAE</vt:lpstr>
      <vt:lpstr>Import Libraries and Preprocess MNIST</vt:lpstr>
      <vt:lpstr>Sampling Layer (Reparameterization Trick)</vt:lpstr>
      <vt:lpstr>Build Encoder</vt:lpstr>
      <vt:lpstr>VAE Model</vt:lpstr>
      <vt:lpstr>Compile and Train</vt:lpstr>
      <vt:lpstr>Visualize Reconstruction </vt:lpstr>
      <vt:lpstr>Lab Assignment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525cs1001 (MAINAK GHOSH)</dc:creator>
  <cp:lastModifiedBy>525cs1001 (MAINAK GHOSH)</cp:lastModifiedBy>
  <cp:revision>10</cp:revision>
  <dcterms:created xsi:type="dcterms:W3CDTF">2026-03-01T10:26:57Z</dcterms:created>
  <dcterms:modified xsi:type="dcterms:W3CDTF">2026-03-01T11:27:16Z</dcterms:modified>
</cp:coreProperties>
</file>