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C352-9C55-72E9-E4AA-D1E9933B9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4C126B-720E-2083-6F48-5E4D2B6DD5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A1B5D9-DD13-CB1F-E1BF-906361AFA870}"/>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5" name="Footer Placeholder 4">
            <a:extLst>
              <a:ext uri="{FF2B5EF4-FFF2-40B4-BE49-F238E27FC236}">
                <a16:creationId xmlns:a16="http://schemas.microsoft.com/office/drawing/2014/main" id="{1B8B5B6E-6616-03FC-93A9-49823A9F73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D3C2D6-6192-33B1-A4A5-DD6EE0783F83}"/>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1931339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5DC4-F159-6135-4A2D-D46D405F1D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D10A25-8909-3E30-4CD9-768645F00D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B30947-5726-113F-C71D-5F76D7241AF5}"/>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5" name="Footer Placeholder 4">
            <a:extLst>
              <a:ext uri="{FF2B5EF4-FFF2-40B4-BE49-F238E27FC236}">
                <a16:creationId xmlns:a16="http://schemas.microsoft.com/office/drawing/2014/main" id="{BB48CB57-37B2-AEF3-194E-3EFB0A5E87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087407-489D-E733-5524-710D243F805A}"/>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3659348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A2F28-EFAC-DDDF-5EF1-265C513B17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63B007-C5F6-AB7E-379E-BD726EB30C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B73B9-4922-9400-DB7F-515EDB27EC4D}"/>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5" name="Footer Placeholder 4">
            <a:extLst>
              <a:ext uri="{FF2B5EF4-FFF2-40B4-BE49-F238E27FC236}">
                <a16:creationId xmlns:a16="http://schemas.microsoft.com/office/drawing/2014/main" id="{E7CDC8D1-B883-4F28-5E9E-C34EF6BAB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187EF2-33CF-5F66-29B9-FA6FE47CA95C}"/>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2976645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E6B4-37C5-9A44-B415-5806BFA608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3FDAB-ED12-6732-D82E-6E05089334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5ACAF4-8010-8DB8-3415-872BBFF527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26132D-8833-73F5-51F0-EE1AE4ABC1CF}"/>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6" name="Footer Placeholder 5">
            <a:extLst>
              <a:ext uri="{FF2B5EF4-FFF2-40B4-BE49-F238E27FC236}">
                <a16:creationId xmlns:a16="http://schemas.microsoft.com/office/drawing/2014/main" id="{B6F43AF7-3BB6-AC1B-FCAF-9489B41BAC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36DE68-01F5-C5B5-46A1-141527313761}"/>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2973986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C6F7A-9AF1-2FF1-52B3-8E0B747652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6C6BD7-87E2-ECE2-127A-E1F113C0A9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68468B-B907-DED3-BFEB-A980D24521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268465-BA2E-C3A7-AD09-BD4A9B96C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445D1-BFEC-0A92-8366-B6A9CF039B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7A6CBA-94C7-73AC-C1B6-635C4DF6798D}"/>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8" name="Footer Placeholder 7">
            <a:extLst>
              <a:ext uri="{FF2B5EF4-FFF2-40B4-BE49-F238E27FC236}">
                <a16:creationId xmlns:a16="http://schemas.microsoft.com/office/drawing/2014/main" id="{779B2BF2-77F4-4372-7488-1755C777D4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0C1377-708C-250A-7502-9172374057CD}"/>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3660075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FCDB-97EA-4862-CDC9-189DADADC3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C95220-7BDA-FE9B-5ACF-C65560E49BF8}"/>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4" name="Footer Placeholder 3">
            <a:extLst>
              <a:ext uri="{FF2B5EF4-FFF2-40B4-BE49-F238E27FC236}">
                <a16:creationId xmlns:a16="http://schemas.microsoft.com/office/drawing/2014/main" id="{BCE9A8E8-016D-096E-23C0-FBF370C6CC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F9639C-E5E4-7A82-EA08-57D873D040B7}"/>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3977352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950178-081D-460E-708C-DB4D07ED7CD2}"/>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3" name="Footer Placeholder 2">
            <a:extLst>
              <a:ext uri="{FF2B5EF4-FFF2-40B4-BE49-F238E27FC236}">
                <a16:creationId xmlns:a16="http://schemas.microsoft.com/office/drawing/2014/main" id="{2D37C439-8732-FC60-9F1A-FE505DA188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966F975-AD12-DFAF-DB24-3805E98D4517}"/>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30128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9424B-E295-722D-6E72-3ADBEB1A3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207F46-B394-1F31-8548-A2B61E9CA5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357F473-EA02-6462-0F42-9753EA021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574F26-CAAE-C965-932E-390D2423D97E}"/>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6" name="Footer Placeholder 5">
            <a:extLst>
              <a:ext uri="{FF2B5EF4-FFF2-40B4-BE49-F238E27FC236}">
                <a16:creationId xmlns:a16="http://schemas.microsoft.com/office/drawing/2014/main" id="{F8BEFA27-453B-91EE-7505-007EDBEF29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DC6CA6-F409-91E7-8FD5-0A5DF387D3C0}"/>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1149915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56A69-AB75-1172-1496-E0BFA95F3A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D3F0B5-FAE2-85AC-2EEF-BC2EC4C312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D76D19-BAA7-E261-010E-00E5DBA33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F83F4B-8962-7D83-5CF6-D868CA4B5F64}"/>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6" name="Footer Placeholder 5">
            <a:extLst>
              <a:ext uri="{FF2B5EF4-FFF2-40B4-BE49-F238E27FC236}">
                <a16:creationId xmlns:a16="http://schemas.microsoft.com/office/drawing/2014/main" id="{18A441C4-7886-1BF5-A6C5-5A82C63C96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B95056-C9AD-5C2D-0408-E3CB5A477276}"/>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62253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405D8-A7A4-9A29-3769-B389A98ED3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DD016B-D2A8-CE84-48FA-4F47A32F65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8E9EDB-5D3E-7888-C71B-374F5B804193}"/>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5" name="Footer Placeholder 4">
            <a:extLst>
              <a:ext uri="{FF2B5EF4-FFF2-40B4-BE49-F238E27FC236}">
                <a16:creationId xmlns:a16="http://schemas.microsoft.com/office/drawing/2014/main" id="{7F67584C-E226-D1AF-CB15-5AAB4ABEBC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0F737B-B4E1-1397-0AEB-C41A932E2C82}"/>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2820299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D730FA-2D22-DAEE-4A91-20FD4A7FB6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EB0DB0-7737-469F-58F4-80F3D6E4D5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C918E0-2D3A-D8F4-562B-E737BA665E35}"/>
              </a:ext>
            </a:extLst>
          </p:cNvPr>
          <p:cNvSpPr>
            <a:spLocks noGrp="1"/>
          </p:cNvSpPr>
          <p:nvPr>
            <p:ph type="dt" sz="half" idx="10"/>
          </p:nvPr>
        </p:nvSpPr>
        <p:spPr/>
        <p:txBody>
          <a:bodyPr/>
          <a:lstStyle/>
          <a:p>
            <a:fld id="{209054A6-21D4-4D49-8CF4-7694D71B4439}" type="datetimeFigureOut">
              <a:rPr lang="en-IN" smtClean="0"/>
              <a:t>15-03-2026</a:t>
            </a:fld>
            <a:endParaRPr lang="en-IN"/>
          </a:p>
        </p:txBody>
      </p:sp>
      <p:sp>
        <p:nvSpPr>
          <p:cNvPr id="5" name="Footer Placeholder 4">
            <a:extLst>
              <a:ext uri="{FF2B5EF4-FFF2-40B4-BE49-F238E27FC236}">
                <a16:creationId xmlns:a16="http://schemas.microsoft.com/office/drawing/2014/main" id="{00F8FBB9-2067-592D-70AF-B5C610D0A5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B5425B-BCE7-5070-A3AE-BB94A0A457C7}"/>
              </a:ext>
            </a:extLst>
          </p:cNvPr>
          <p:cNvSpPr>
            <a:spLocks noGrp="1"/>
          </p:cNvSpPr>
          <p:nvPr>
            <p:ph type="sldNum" sz="quarter" idx="12"/>
          </p:nvPr>
        </p:nvSpPr>
        <p:spPr/>
        <p:txBody>
          <a:bodyPr/>
          <a:lstStyle/>
          <a:p>
            <a:fld id="{3F5238D3-D980-4E7B-AF0D-52DFED2D91B4}" type="slidenum">
              <a:rPr lang="en-IN" smtClean="0"/>
              <a:t>‹#›</a:t>
            </a:fld>
            <a:endParaRPr lang="en-IN"/>
          </a:p>
        </p:txBody>
      </p:sp>
    </p:spTree>
    <p:extLst>
      <p:ext uri="{BB962C8B-B14F-4D97-AF65-F5344CB8AC3E}">
        <p14:creationId xmlns:p14="http://schemas.microsoft.com/office/powerpoint/2010/main" val="318663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8D6819-3C3A-6E1A-685C-9EC46C0B9F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08030A-20AE-D63E-BDD1-E419D8B56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D4BB22-02B7-3B56-CE0C-07B209598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9054A6-21D4-4D49-8CF4-7694D71B4439}" type="datetimeFigureOut">
              <a:rPr lang="en-IN" smtClean="0"/>
              <a:t>15-03-2026</a:t>
            </a:fld>
            <a:endParaRPr lang="en-IN"/>
          </a:p>
        </p:txBody>
      </p:sp>
      <p:sp>
        <p:nvSpPr>
          <p:cNvPr id="5" name="Footer Placeholder 4">
            <a:extLst>
              <a:ext uri="{FF2B5EF4-FFF2-40B4-BE49-F238E27FC236}">
                <a16:creationId xmlns:a16="http://schemas.microsoft.com/office/drawing/2014/main" id="{0AD6A08C-A1B8-88D4-B021-104FFA8CA0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4CD25D-932C-FA15-FC09-DAE7F98BF5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5238D3-D980-4E7B-AF0D-52DFED2D91B4}" type="slidenum">
              <a:rPr lang="en-IN" smtClean="0"/>
              <a:t>‹#›</a:t>
            </a:fld>
            <a:endParaRPr lang="en-IN"/>
          </a:p>
        </p:txBody>
      </p:sp>
    </p:spTree>
    <p:extLst>
      <p:ext uri="{BB962C8B-B14F-4D97-AF65-F5344CB8AC3E}">
        <p14:creationId xmlns:p14="http://schemas.microsoft.com/office/powerpoint/2010/main" val="1351364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C738F-5194-2168-4F1C-D92B4F024C72}"/>
              </a:ext>
            </a:extLst>
          </p:cNvPr>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Lab Assignment: LSTM for ECG Heartbeat Classification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6117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A1FC0-87DE-3460-8C10-103EEA7C22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Assignment 1</a:t>
            </a:r>
          </a:p>
        </p:txBody>
      </p:sp>
      <p:sp>
        <p:nvSpPr>
          <p:cNvPr id="3" name="Content Placeholder 2">
            <a:extLst>
              <a:ext uri="{FF2B5EF4-FFF2-40B4-BE49-F238E27FC236}">
                <a16:creationId xmlns:a16="http://schemas.microsoft.com/office/drawing/2014/main" id="{516E620B-D84D-C5C2-C63A-3A581FA31C3D}"/>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Develop a Long Short-Term Memory (LSTM) based deep learning model to classify ECG heartbeat signals into different categories. The objective is to understand how sequential deep learning models can be used to analyze time-series medical data and improve automatic diagnosis of heart diseases.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987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779F9-3268-7DAF-587C-981F7704FCB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02BAAE8E-5E66-E326-DC47-07E4459E315E}"/>
              </a:ext>
            </a:extLst>
          </p:cNvPr>
          <p:cNvSpPr>
            <a:spLocks noGrp="1"/>
          </p:cNvSpPr>
          <p:nvPr>
            <p:ph idx="1"/>
          </p:nvPr>
        </p:nvSpPr>
        <p:spPr>
          <a:xfrm>
            <a:off x="838200" y="1825624"/>
            <a:ext cx="10515600" cy="4889807"/>
          </a:xfrm>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Dataset: </a:t>
            </a:r>
            <a:r>
              <a:rPr lang="en-IN" b="1" dirty="0">
                <a:latin typeface="Times New Roman" panose="02020603050405020304" pitchFamily="18" charset="0"/>
                <a:cs typeface="Times New Roman" panose="02020603050405020304" pitchFamily="18" charset="0"/>
              </a:rPr>
              <a:t>MIT-BIH Arrhythmia Dataset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Number of Samples: </a:t>
            </a:r>
            <a:r>
              <a:rPr lang="en-IN" b="1" dirty="0">
                <a:latin typeface="Times New Roman" panose="02020603050405020304" pitchFamily="18" charset="0"/>
                <a:cs typeface="Times New Roman" panose="02020603050405020304" pitchFamily="18" charset="0"/>
              </a:rPr>
              <a:t>109,446</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Number of Classes: </a:t>
            </a:r>
            <a:r>
              <a:rPr lang="en-IN" b="1"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Sampling Frequency: </a:t>
            </a:r>
            <a:r>
              <a:rPr lang="en-IN" b="1" dirty="0">
                <a:latin typeface="Times New Roman" panose="02020603050405020304" pitchFamily="18" charset="0"/>
                <a:cs typeface="Times New Roman" panose="02020603050405020304" pitchFamily="18" charset="0"/>
              </a:rPr>
              <a:t>125 Hz</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Signal Length: </a:t>
            </a:r>
            <a:r>
              <a:rPr lang="en-IN" b="1" dirty="0">
                <a:latin typeface="Times New Roman" panose="02020603050405020304" pitchFamily="18" charset="0"/>
                <a:cs typeface="Times New Roman" panose="02020603050405020304" pitchFamily="18" charset="0"/>
              </a:rPr>
              <a:t>187 timesteps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Heartbeat Classes:</a:t>
            </a:r>
          </a:p>
          <a:p>
            <a:r>
              <a:rPr lang="en-IN" dirty="0">
                <a:latin typeface="Times New Roman" panose="02020603050405020304" pitchFamily="18" charset="0"/>
                <a:cs typeface="Times New Roman" panose="02020603050405020304" pitchFamily="18" charset="0"/>
              </a:rPr>
              <a:t>Normal</a:t>
            </a:r>
          </a:p>
          <a:p>
            <a:r>
              <a:rPr lang="en-IN" dirty="0">
                <a:latin typeface="Times New Roman" panose="02020603050405020304" pitchFamily="18" charset="0"/>
                <a:cs typeface="Times New Roman" panose="02020603050405020304" pitchFamily="18" charset="0"/>
              </a:rPr>
              <a:t>Supraventricular ectopic beats</a:t>
            </a:r>
          </a:p>
          <a:p>
            <a:r>
              <a:rPr lang="en-IN" dirty="0">
                <a:latin typeface="Times New Roman" panose="02020603050405020304" pitchFamily="18" charset="0"/>
                <a:cs typeface="Times New Roman" panose="02020603050405020304" pitchFamily="18" charset="0"/>
              </a:rPr>
              <a:t>Ventricular ectopic beats</a:t>
            </a:r>
          </a:p>
          <a:p>
            <a:r>
              <a:rPr lang="en-IN" dirty="0">
                <a:latin typeface="Times New Roman" panose="02020603050405020304" pitchFamily="18" charset="0"/>
                <a:cs typeface="Times New Roman" panose="02020603050405020304" pitchFamily="18" charset="0"/>
              </a:rPr>
              <a:t>Fusion beats</a:t>
            </a:r>
          </a:p>
          <a:p>
            <a:r>
              <a:rPr lang="en-IN" dirty="0">
                <a:latin typeface="Times New Roman" panose="02020603050405020304" pitchFamily="18" charset="0"/>
                <a:cs typeface="Times New Roman" panose="02020603050405020304" pitchFamily="18" charset="0"/>
              </a:rPr>
              <a:t>Unknown beats</a:t>
            </a:r>
          </a:p>
          <a:p>
            <a:r>
              <a:rPr lang="en-IN" dirty="0">
                <a:latin typeface="Times New Roman" panose="02020603050405020304" pitchFamily="18" charset="0"/>
                <a:cs typeface="Times New Roman" panose="02020603050405020304" pitchFamily="18" charset="0"/>
              </a:rPr>
              <a:t>Dataset link: </a:t>
            </a:r>
            <a:r>
              <a:rPr lang="en-IN" u="sng" dirty="0">
                <a:solidFill>
                  <a:srgbClr val="0070C0"/>
                </a:solidFill>
                <a:latin typeface="Times New Roman" panose="02020603050405020304" pitchFamily="18" charset="0"/>
                <a:cs typeface="Times New Roman" panose="02020603050405020304" pitchFamily="18" charset="0"/>
              </a:rPr>
              <a:t>https://www.kaggle.com/datasets/shayanfazeli/heartbeat</a:t>
            </a:r>
          </a:p>
        </p:txBody>
      </p:sp>
    </p:spTree>
    <p:extLst>
      <p:ext uri="{BB962C8B-B14F-4D97-AF65-F5344CB8AC3E}">
        <p14:creationId xmlns:p14="http://schemas.microsoft.com/office/powerpoint/2010/main" val="359646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F0F2A-6EC5-C64E-A501-6565B8CBBC7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LSTM Architecture Overview</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F08B252-2091-C4FD-5EDB-862B4C557861}"/>
                  </a:ext>
                </a:extLst>
              </p:cNvPr>
              <p:cNvSpPr>
                <a:spLocks noGrp="1"/>
              </p:cNvSpPr>
              <p:nvPr>
                <p:ph idx="1"/>
              </p:nvPr>
            </p:nvSpPr>
            <p:spPr>
              <a:xfrm>
                <a:off x="838200" y="1825625"/>
                <a:ext cx="6113206" cy="4351338"/>
              </a:xfrm>
            </p:spPr>
            <p:txBody>
              <a:bodyPr>
                <a:normAutofit/>
              </a:bodyPr>
              <a:lstStyle/>
              <a:p>
                <a:pPr marL="0" indent="0">
                  <a:buNone/>
                </a:pPr>
                <a:r>
                  <a:rPr lang="en-IN" dirty="0"/>
                  <a:t>Define the </a:t>
                </a:r>
                <a:r>
                  <a:rPr lang="en-IN" b="1" dirty="0"/>
                  <a:t>LSTM cell equations</a:t>
                </a:r>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𝑓</m:t>
                          </m:r>
                        </m:e>
                        <m:sub>
                          <m:r>
                            <a:rPr lang="ar-AE" i="1"/>
                            <m:t>𝑡</m:t>
                          </m:r>
                        </m:sub>
                      </m:sSub>
                      <m:r>
                        <a:rPr lang="ar-AE"/>
                        <m:t>=</m:t>
                      </m:r>
                      <m:r>
                        <a:rPr lang="ar-AE" i="1"/>
                        <m:t>𝜎</m:t>
                      </m:r>
                      <m:d>
                        <m:dPr>
                          <m:ctrlPr>
                            <a:rPr lang="ar-AE" i="1"/>
                          </m:ctrlPr>
                        </m:dPr>
                        <m:e>
                          <m:sSub>
                            <m:sSubPr>
                              <m:ctrlPr>
                                <a:rPr lang="ar-AE" i="1"/>
                              </m:ctrlPr>
                            </m:sSubPr>
                            <m:e>
                              <m:r>
                                <a:rPr lang="ar-AE" i="1"/>
                                <m:t>𝑊</m:t>
                              </m:r>
                            </m:e>
                            <m:sub>
                              <m:r>
                                <a:rPr lang="ar-AE" i="1"/>
                                <m:t>𝑓</m:t>
                              </m:r>
                            </m:sub>
                          </m:sSub>
                          <m:sSub>
                            <m:sSubPr>
                              <m:ctrlPr>
                                <a:rPr lang="ar-AE" i="1"/>
                              </m:ctrlPr>
                            </m:sSubPr>
                            <m:e>
                              <m:r>
                                <a:rPr lang="ar-AE" i="1"/>
                                <m:t>𝑥</m:t>
                              </m:r>
                            </m:e>
                            <m:sub>
                              <m:r>
                                <a:rPr lang="ar-AE" i="1"/>
                                <m:t>𝑡</m:t>
                              </m:r>
                            </m:sub>
                          </m:sSub>
                          <m:r>
                            <a:rPr lang="ar-AE"/>
                            <m:t>+</m:t>
                          </m:r>
                          <m:sSub>
                            <m:sSubPr>
                              <m:ctrlPr>
                                <a:rPr lang="ar-AE" i="1"/>
                              </m:ctrlPr>
                            </m:sSubPr>
                            <m:e>
                              <m:r>
                                <a:rPr lang="ar-AE" i="1"/>
                                <m:t>𝑈</m:t>
                              </m:r>
                            </m:e>
                            <m:sub>
                              <m:r>
                                <a:rPr lang="ar-AE" i="1"/>
                                <m:t>𝑓</m:t>
                              </m:r>
                            </m:sub>
                          </m:sSub>
                          <m:sSub>
                            <m:sSubPr>
                              <m:ctrlPr>
                                <a:rPr lang="ar-AE" i="1"/>
                              </m:ctrlPr>
                            </m:sSubPr>
                            <m:e>
                              <m:r>
                                <a:rPr lang="ar-AE" i="1"/>
                                <m:t>h</m:t>
                              </m:r>
                            </m:e>
                            <m:sub>
                              <m:r>
                                <a:rPr lang="ar-AE" i="1"/>
                                <m:t>𝑡</m:t>
                              </m:r>
                              <m:r>
                                <a:rPr lang="ar-AE"/>
                                <m:t>−</m:t>
                              </m:r>
                              <m:r>
                                <a:rPr lang="ar-AE"/>
                                <m:t>1</m:t>
                              </m:r>
                            </m:sub>
                          </m:sSub>
                          <m:r>
                            <a:rPr lang="ar-AE"/>
                            <m:t>+</m:t>
                          </m:r>
                          <m:sSub>
                            <m:sSubPr>
                              <m:ctrlPr>
                                <a:rPr lang="ar-AE" i="1"/>
                              </m:ctrlPr>
                            </m:sSubPr>
                            <m:e>
                              <m:r>
                                <a:rPr lang="ar-AE" i="1"/>
                                <m:t>𝑏</m:t>
                              </m:r>
                            </m:e>
                            <m:sub>
                              <m:r>
                                <a:rPr lang="ar-AE" i="1"/>
                                <m:t>𝑓</m:t>
                              </m:r>
                            </m:sub>
                          </m:sSub>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𝑖</m:t>
                          </m:r>
                        </m:e>
                        <m:sub>
                          <m:r>
                            <a:rPr lang="ar-AE" i="1"/>
                            <m:t>𝑡</m:t>
                          </m:r>
                        </m:sub>
                      </m:sSub>
                      <m:r>
                        <a:rPr lang="ar-AE"/>
                        <m:t>=</m:t>
                      </m:r>
                      <m:r>
                        <a:rPr lang="ar-AE" i="1"/>
                        <m:t>𝜎</m:t>
                      </m:r>
                      <m:d>
                        <m:dPr>
                          <m:ctrlPr>
                            <a:rPr lang="ar-AE" i="1"/>
                          </m:ctrlPr>
                        </m:dPr>
                        <m:e>
                          <m:sSub>
                            <m:sSubPr>
                              <m:ctrlPr>
                                <a:rPr lang="ar-AE" i="1"/>
                              </m:ctrlPr>
                            </m:sSubPr>
                            <m:e>
                              <m:r>
                                <a:rPr lang="ar-AE" i="1"/>
                                <m:t>𝑊</m:t>
                              </m:r>
                            </m:e>
                            <m:sub>
                              <m:r>
                                <a:rPr lang="ar-AE" i="1"/>
                                <m:t>𝑖</m:t>
                              </m:r>
                            </m:sub>
                          </m:sSub>
                          <m:sSub>
                            <m:sSubPr>
                              <m:ctrlPr>
                                <a:rPr lang="ar-AE" i="1"/>
                              </m:ctrlPr>
                            </m:sSubPr>
                            <m:e>
                              <m:r>
                                <a:rPr lang="ar-AE" i="1"/>
                                <m:t>𝑥</m:t>
                              </m:r>
                            </m:e>
                            <m:sub>
                              <m:r>
                                <a:rPr lang="ar-AE" i="1"/>
                                <m:t>𝑡</m:t>
                              </m:r>
                            </m:sub>
                          </m:sSub>
                          <m:r>
                            <a:rPr lang="ar-AE"/>
                            <m:t>+</m:t>
                          </m:r>
                          <m:sSub>
                            <m:sSubPr>
                              <m:ctrlPr>
                                <a:rPr lang="ar-AE" i="1"/>
                              </m:ctrlPr>
                            </m:sSubPr>
                            <m:e>
                              <m:r>
                                <a:rPr lang="ar-AE" i="1"/>
                                <m:t>𝑈</m:t>
                              </m:r>
                            </m:e>
                            <m:sub>
                              <m:r>
                                <a:rPr lang="ar-AE" i="1"/>
                                <m:t>𝑖</m:t>
                              </m:r>
                            </m:sub>
                          </m:sSub>
                          <m:sSub>
                            <m:sSubPr>
                              <m:ctrlPr>
                                <a:rPr lang="ar-AE" i="1"/>
                              </m:ctrlPr>
                            </m:sSubPr>
                            <m:e>
                              <m:r>
                                <a:rPr lang="ar-AE" i="1"/>
                                <m:t>h</m:t>
                              </m:r>
                            </m:e>
                            <m:sub>
                              <m:r>
                                <a:rPr lang="ar-AE" i="1"/>
                                <m:t>𝑡</m:t>
                              </m:r>
                              <m:r>
                                <a:rPr lang="ar-AE"/>
                                <m:t>−</m:t>
                              </m:r>
                              <m:r>
                                <a:rPr lang="ar-AE"/>
                                <m:t>1</m:t>
                              </m:r>
                            </m:sub>
                          </m:sSub>
                          <m:r>
                            <a:rPr lang="ar-AE"/>
                            <m:t>+</m:t>
                          </m:r>
                          <m:sSub>
                            <m:sSubPr>
                              <m:ctrlPr>
                                <a:rPr lang="ar-AE" i="1"/>
                              </m:ctrlPr>
                            </m:sSubPr>
                            <m:e>
                              <m:r>
                                <a:rPr lang="ar-AE" i="1"/>
                                <m:t>𝑏</m:t>
                              </m:r>
                            </m:e>
                            <m:sub>
                              <m:r>
                                <a:rPr lang="ar-AE" i="1"/>
                                <m:t>𝑖</m:t>
                              </m:r>
                            </m:sub>
                          </m:sSub>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sSub>
                        <m:sSubPr>
                          <m:ctrlPr>
                            <a:rPr lang="ar-AE"/>
                          </m:ctrlPr>
                        </m:sSubPr>
                        <m:e>
                          <m:acc>
                            <m:accPr>
                              <m:chr m:val="̃"/>
                              <m:ctrlPr>
                                <a:rPr lang="ar-AE"/>
                              </m:ctrlPr>
                            </m:accPr>
                            <m:e>
                              <m:r>
                                <a:rPr lang="ar-AE" i="1"/>
                                <m:t>𝑐</m:t>
                              </m:r>
                            </m:e>
                          </m:acc>
                        </m:e>
                        <m:sub>
                          <m:r>
                            <a:rPr lang="ar-AE" i="1"/>
                            <m:t>𝑡</m:t>
                          </m:r>
                        </m:sub>
                      </m:sSub>
                      <m:r>
                        <a:rPr lang="ar-AE"/>
                        <m:t>=</m:t>
                      </m:r>
                      <m:r>
                        <m:rPr>
                          <m:sty m:val="p"/>
                        </m:rPr>
                        <a:rPr lang="en-IN"/>
                        <m:t>tanh</m:t>
                      </m:r>
                      <m:r>
                        <a:rPr lang="en-IN"/>
                        <m:t>⁡</m:t>
                      </m:r>
                      <m:d>
                        <m:dPr>
                          <m:ctrlPr>
                            <a:rPr lang="ar-AE" i="1"/>
                          </m:ctrlPr>
                        </m:dPr>
                        <m:e>
                          <m:sSub>
                            <m:sSubPr>
                              <m:ctrlPr>
                                <a:rPr lang="ar-AE" i="1"/>
                              </m:ctrlPr>
                            </m:sSubPr>
                            <m:e>
                              <m:r>
                                <a:rPr lang="ar-AE" i="1"/>
                                <m:t>𝑊</m:t>
                              </m:r>
                            </m:e>
                            <m:sub>
                              <m:r>
                                <a:rPr lang="ar-AE" i="1"/>
                                <m:t>𝑐</m:t>
                              </m:r>
                            </m:sub>
                          </m:sSub>
                          <m:sSub>
                            <m:sSubPr>
                              <m:ctrlPr>
                                <a:rPr lang="ar-AE" i="1"/>
                              </m:ctrlPr>
                            </m:sSubPr>
                            <m:e>
                              <m:r>
                                <a:rPr lang="ar-AE" i="1"/>
                                <m:t>𝑥</m:t>
                              </m:r>
                            </m:e>
                            <m:sub>
                              <m:r>
                                <a:rPr lang="ar-AE" i="1"/>
                                <m:t>𝑡</m:t>
                              </m:r>
                            </m:sub>
                          </m:sSub>
                          <m:r>
                            <a:rPr lang="ar-AE"/>
                            <m:t>+</m:t>
                          </m:r>
                          <m:sSub>
                            <m:sSubPr>
                              <m:ctrlPr>
                                <a:rPr lang="ar-AE" i="1"/>
                              </m:ctrlPr>
                            </m:sSubPr>
                            <m:e>
                              <m:r>
                                <a:rPr lang="ar-AE" i="1"/>
                                <m:t>𝑈</m:t>
                              </m:r>
                            </m:e>
                            <m:sub>
                              <m:r>
                                <a:rPr lang="ar-AE" i="1"/>
                                <m:t>𝑐</m:t>
                              </m:r>
                            </m:sub>
                          </m:sSub>
                          <m:sSub>
                            <m:sSubPr>
                              <m:ctrlPr>
                                <a:rPr lang="ar-AE" i="1"/>
                              </m:ctrlPr>
                            </m:sSubPr>
                            <m:e>
                              <m:r>
                                <a:rPr lang="ar-AE" i="1"/>
                                <m:t>h</m:t>
                              </m:r>
                            </m:e>
                            <m:sub>
                              <m:r>
                                <a:rPr lang="ar-AE" i="1"/>
                                <m:t>𝑡</m:t>
                              </m:r>
                              <m:r>
                                <a:rPr lang="ar-AE"/>
                                <m:t>−</m:t>
                              </m:r>
                              <m:r>
                                <a:rPr lang="ar-AE"/>
                                <m:t>1</m:t>
                              </m:r>
                            </m:sub>
                          </m:sSub>
                          <m:r>
                            <a:rPr lang="ar-AE"/>
                            <m:t>+</m:t>
                          </m:r>
                          <m:sSub>
                            <m:sSubPr>
                              <m:ctrlPr>
                                <a:rPr lang="ar-AE" i="1"/>
                              </m:ctrlPr>
                            </m:sSubPr>
                            <m:e>
                              <m:r>
                                <a:rPr lang="ar-AE" i="1"/>
                                <m:t>𝑏</m:t>
                              </m:r>
                            </m:e>
                            <m:sub>
                              <m:r>
                                <a:rPr lang="ar-AE" i="1"/>
                                <m:t>𝑐</m:t>
                              </m:r>
                            </m:sub>
                          </m:sSub>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𝑐</m:t>
                          </m:r>
                        </m:e>
                        <m:sub>
                          <m:r>
                            <a:rPr lang="ar-AE" i="1"/>
                            <m:t>𝑡</m:t>
                          </m:r>
                        </m:sub>
                      </m:sSub>
                      <m:r>
                        <a:rPr lang="ar-AE"/>
                        <m:t>=</m:t>
                      </m:r>
                      <m:sSub>
                        <m:sSubPr>
                          <m:ctrlPr>
                            <a:rPr lang="ar-AE" i="1"/>
                          </m:ctrlPr>
                        </m:sSubPr>
                        <m:e>
                          <m:r>
                            <a:rPr lang="ar-AE" i="1"/>
                            <m:t>𝑓</m:t>
                          </m:r>
                        </m:e>
                        <m:sub>
                          <m:r>
                            <a:rPr lang="ar-AE" i="1"/>
                            <m:t>𝑡</m:t>
                          </m:r>
                        </m:sub>
                      </m:sSub>
                      <m:r>
                        <a:rPr lang="ar-AE"/>
                        <m:t>⊙</m:t>
                      </m:r>
                      <m:sSub>
                        <m:sSubPr>
                          <m:ctrlPr>
                            <a:rPr lang="ar-AE" i="1"/>
                          </m:ctrlPr>
                        </m:sSubPr>
                        <m:e>
                          <m:r>
                            <a:rPr lang="ar-AE" i="1"/>
                            <m:t>𝑐</m:t>
                          </m:r>
                        </m:e>
                        <m:sub>
                          <m:r>
                            <a:rPr lang="ar-AE" i="1"/>
                            <m:t>𝑡</m:t>
                          </m:r>
                          <m:r>
                            <a:rPr lang="ar-AE"/>
                            <m:t>−</m:t>
                          </m:r>
                          <m:r>
                            <a:rPr lang="ar-AE"/>
                            <m:t>1</m:t>
                          </m:r>
                        </m:sub>
                      </m:sSub>
                      <m:r>
                        <a:rPr lang="ar-AE"/>
                        <m:t>+</m:t>
                      </m:r>
                      <m:sSub>
                        <m:sSubPr>
                          <m:ctrlPr>
                            <a:rPr lang="ar-AE" i="1"/>
                          </m:ctrlPr>
                        </m:sSubPr>
                        <m:e>
                          <m:r>
                            <a:rPr lang="ar-AE" i="1"/>
                            <m:t>𝑖</m:t>
                          </m:r>
                        </m:e>
                        <m:sub>
                          <m:r>
                            <a:rPr lang="ar-AE" i="1"/>
                            <m:t>𝑡</m:t>
                          </m:r>
                        </m:sub>
                      </m:sSub>
                      <m:r>
                        <a:rPr lang="ar-AE"/>
                        <m:t>⊙</m:t>
                      </m:r>
                      <m:sSub>
                        <m:sSubPr>
                          <m:ctrlPr>
                            <a:rPr lang="ar-AE" i="1"/>
                          </m:ctrlPr>
                        </m:sSubPr>
                        <m:e>
                          <m:acc>
                            <m:accPr>
                              <m:chr m:val="̃"/>
                              <m:ctrlPr>
                                <a:rPr lang="ar-AE" i="1"/>
                              </m:ctrlPr>
                            </m:accPr>
                            <m:e>
                              <m:r>
                                <a:rPr lang="ar-AE" i="1"/>
                                <m:t>𝑐</m:t>
                              </m:r>
                            </m:e>
                          </m:acc>
                        </m:e>
                        <m:sub>
                          <m:r>
                            <a:rPr lang="ar-AE" i="1"/>
                            <m:t>𝑡</m:t>
                          </m:r>
                        </m:sub>
                      </m:sSub>
                    </m:oMath>
                  </m:oMathPara>
                </a14:m>
                <a:endParaRPr lang="ar-AE" dirty="0"/>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𝑜</m:t>
                          </m:r>
                        </m:e>
                        <m:sub>
                          <m:r>
                            <a:rPr lang="ar-AE" i="1"/>
                            <m:t>𝑡</m:t>
                          </m:r>
                        </m:sub>
                      </m:sSub>
                      <m:r>
                        <a:rPr lang="ar-AE"/>
                        <m:t>=</m:t>
                      </m:r>
                      <m:r>
                        <a:rPr lang="ar-AE" i="1"/>
                        <m:t>𝜎</m:t>
                      </m:r>
                      <m:d>
                        <m:dPr>
                          <m:ctrlPr>
                            <a:rPr lang="ar-AE" i="1"/>
                          </m:ctrlPr>
                        </m:dPr>
                        <m:e>
                          <m:sSub>
                            <m:sSubPr>
                              <m:ctrlPr>
                                <a:rPr lang="ar-AE" i="1"/>
                              </m:ctrlPr>
                            </m:sSubPr>
                            <m:e>
                              <m:r>
                                <a:rPr lang="ar-AE" i="1"/>
                                <m:t>𝑊</m:t>
                              </m:r>
                            </m:e>
                            <m:sub>
                              <m:r>
                                <a:rPr lang="ar-AE" i="1"/>
                                <m:t>𝑜</m:t>
                              </m:r>
                            </m:sub>
                          </m:sSub>
                          <m:sSub>
                            <m:sSubPr>
                              <m:ctrlPr>
                                <a:rPr lang="ar-AE" i="1"/>
                              </m:ctrlPr>
                            </m:sSubPr>
                            <m:e>
                              <m:r>
                                <a:rPr lang="ar-AE" i="1"/>
                                <m:t>𝑥</m:t>
                              </m:r>
                            </m:e>
                            <m:sub>
                              <m:r>
                                <a:rPr lang="ar-AE" i="1"/>
                                <m:t>𝑡</m:t>
                              </m:r>
                            </m:sub>
                          </m:sSub>
                          <m:r>
                            <a:rPr lang="ar-AE"/>
                            <m:t>+</m:t>
                          </m:r>
                          <m:sSub>
                            <m:sSubPr>
                              <m:ctrlPr>
                                <a:rPr lang="ar-AE" i="1"/>
                              </m:ctrlPr>
                            </m:sSubPr>
                            <m:e>
                              <m:r>
                                <a:rPr lang="ar-AE" i="1"/>
                                <m:t>𝑈</m:t>
                              </m:r>
                            </m:e>
                            <m:sub>
                              <m:r>
                                <a:rPr lang="ar-AE" i="1"/>
                                <m:t>𝑜</m:t>
                              </m:r>
                            </m:sub>
                          </m:sSub>
                          <m:sSub>
                            <m:sSubPr>
                              <m:ctrlPr>
                                <a:rPr lang="ar-AE" i="1"/>
                              </m:ctrlPr>
                            </m:sSubPr>
                            <m:e>
                              <m:r>
                                <a:rPr lang="ar-AE" i="1"/>
                                <m:t>h</m:t>
                              </m:r>
                            </m:e>
                            <m:sub>
                              <m:r>
                                <a:rPr lang="ar-AE" i="1"/>
                                <m:t>𝑡</m:t>
                              </m:r>
                              <m:r>
                                <a:rPr lang="ar-AE"/>
                                <m:t>−</m:t>
                              </m:r>
                              <m:r>
                                <a:rPr lang="ar-AE"/>
                                <m:t>1</m:t>
                              </m:r>
                            </m:sub>
                          </m:sSub>
                          <m:r>
                            <a:rPr lang="ar-AE"/>
                            <m:t>+</m:t>
                          </m:r>
                          <m:sSub>
                            <m:sSubPr>
                              <m:ctrlPr>
                                <a:rPr lang="ar-AE" i="1"/>
                              </m:ctrlPr>
                            </m:sSubPr>
                            <m:e>
                              <m:r>
                                <a:rPr lang="ar-AE" i="1"/>
                                <m:t>𝑏</m:t>
                              </m:r>
                            </m:e>
                            <m:sub>
                              <m:r>
                                <a:rPr lang="ar-AE" i="1"/>
                                <m:t>𝑜</m:t>
                              </m:r>
                            </m:sub>
                          </m:sSub>
                        </m:e>
                      </m:d>
                    </m:oMath>
                  </m:oMathPara>
                </a14:m>
                <a:endParaRPr lang="ar-AE" dirty="0"/>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h</m:t>
                          </m:r>
                        </m:e>
                        <m:sub>
                          <m:r>
                            <a:rPr lang="ar-AE" i="1"/>
                            <m:t>𝑡</m:t>
                          </m:r>
                        </m:sub>
                      </m:sSub>
                      <m:r>
                        <a:rPr lang="ar-AE"/>
                        <m:t>=</m:t>
                      </m:r>
                      <m:sSub>
                        <m:sSubPr>
                          <m:ctrlPr>
                            <a:rPr lang="ar-AE" i="1"/>
                          </m:ctrlPr>
                        </m:sSubPr>
                        <m:e>
                          <m:r>
                            <a:rPr lang="ar-AE" i="1"/>
                            <m:t>𝑜</m:t>
                          </m:r>
                        </m:e>
                        <m:sub>
                          <m:r>
                            <a:rPr lang="ar-AE" i="1"/>
                            <m:t>𝑡</m:t>
                          </m:r>
                        </m:sub>
                      </m:sSub>
                      <m:r>
                        <a:rPr lang="ar-AE"/>
                        <m:t>⊙</m:t>
                      </m:r>
                      <m:r>
                        <m:rPr>
                          <m:sty m:val="p"/>
                        </m:rPr>
                        <a:rPr lang="en-IN"/>
                        <m:t>tanh</m:t>
                      </m:r>
                      <m:r>
                        <a:rPr lang="en-IN"/>
                        <m:t>⁡</m:t>
                      </m:r>
                      <m:d>
                        <m:dPr>
                          <m:ctrlPr>
                            <a:rPr lang="ar-AE" i="1"/>
                          </m:ctrlPr>
                        </m:dPr>
                        <m:e>
                          <m:sSub>
                            <m:sSubPr>
                              <m:ctrlPr>
                                <a:rPr lang="ar-AE" i="1"/>
                              </m:ctrlPr>
                            </m:sSubPr>
                            <m:e>
                              <m:r>
                                <a:rPr lang="ar-AE" i="1"/>
                                <m:t>𝑐</m:t>
                              </m:r>
                            </m:e>
                            <m:sub>
                              <m:r>
                                <a:rPr lang="ar-AE" i="1"/>
                                <m:t>𝑡</m:t>
                              </m:r>
                            </m:sub>
                          </m:sSub>
                        </m:e>
                      </m:d>
                    </m:oMath>
                  </m:oMathPara>
                </a14:m>
                <a:endParaRPr lang="ar-AE" dirty="0"/>
              </a:p>
              <a:p>
                <a:endParaRPr lang="en-IN" dirty="0"/>
              </a:p>
            </p:txBody>
          </p:sp>
        </mc:Choice>
        <mc:Fallback>
          <p:sp>
            <p:nvSpPr>
              <p:cNvPr id="3" name="Content Placeholder 2">
                <a:extLst>
                  <a:ext uri="{FF2B5EF4-FFF2-40B4-BE49-F238E27FC236}">
                    <a16:creationId xmlns:a16="http://schemas.microsoft.com/office/drawing/2014/main" id="{6F08B252-2091-C4FD-5EDB-862B4C557861}"/>
                  </a:ext>
                </a:extLst>
              </p:cNvPr>
              <p:cNvSpPr>
                <a:spLocks noGrp="1" noRot="1" noChangeAspect="1" noMove="1" noResize="1" noEditPoints="1" noAdjustHandles="1" noChangeArrowheads="1" noChangeShapeType="1" noTextEdit="1"/>
              </p:cNvSpPr>
              <p:nvPr>
                <p:ph idx="1"/>
              </p:nvPr>
            </p:nvSpPr>
            <p:spPr>
              <a:xfrm>
                <a:off x="838200" y="1825625"/>
                <a:ext cx="6113206" cy="4351338"/>
              </a:xfrm>
              <a:blipFill>
                <a:blip r:embed="rId2"/>
                <a:stretch>
                  <a:fillRect l="-2096" t="-2241"/>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595B223C-0457-E913-B0F0-73C9C8D43BE5}"/>
                  </a:ext>
                </a:extLst>
              </p:cNvPr>
              <p:cNvSpPr txBox="1">
                <a:spLocks/>
              </p:cNvSpPr>
              <p:nvPr/>
            </p:nvSpPr>
            <p:spPr>
              <a:xfrm>
                <a:off x="7411065" y="1825625"/>
                <a:ext cx="35420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Where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𝑡</m:t>
                        </m:r>
                      </m:sub>
                    </m:sSub>
                  </m:oMath>
                </a14:m>
                <a:r>
                  <a:rPr lang="ar-AE" dirty="0"/>
                  <a:t>= </a:t>
                </a:r>
                <a:r>
                  <a:rPr lang="en-IN" dirty="0"/>
                  <a:t>forget gate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i="1">
                            <a:latin typeface="Cambria Math" panose="02040503050406030204" pitchFamily="18" charset="0"/>
                          </a:rPr>
                          <m:t>𝑡</m:t>
                        </m:r>
                      </m:sub>
                    </m:sSub>
                  </m:oMath>
                </a14:m>
                <a:r>
                  <a:rPr lang="ar-AE" dirty="0"/>
                  <a:t>= </a:t>
                </a:r>
                <a:r>
                  <a:rPr lang="en-IN" dirty="0"/>
                  <a:t>input gate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oMath>
                </a14:m>
                <a:r>
                  <a:rPr lang="ar-AE" dirty="0"/>
                  <a:t>= </a:t>
                </a:r>
                <a:r>
                  <a:rPr lang="en-IN" dirty="0"/>
                  <a:t>output gate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𝑡</m:t>
                        </m:r>
                      </m:sub>
                    </m:sSub>
                  </m:oMath>
                </a14:m>
                <a:r>
                  <a:rPr lang="ar-AE" dirty="0"/>
                  <a:t>= </a:t>
                </a:r>
                <a:r>
                  <a:rPr lang="en-IN" dirty="0"/>
                  <a:t>cell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r>
                  <a:rPr lang="ar-AE" dirty="0"/>
                  <a:t>= </a:t>
                </a:r>
                <a:r>
                  <a:rPr lang="en-IN" dirty="0"/>
                  <a:t>hidden state</a:t>
                </a:r>
              </a:p>
              <a:p>
                <a:pPr marL="0" indent="0">
                  <a:buFont typeface="Arial" panose="020B0604020202020204" pitchFamily="34" charset="0"/>
                  <a:buNone/>
                </a:pPr>
                <a:endParaRPr lang="ar-AE" dirty="0"/>
              </a:p>
              <a:p>
                <a:endParaRPr lang="en-IN" dirty="0"/>
              </a:p>
            </p:txBody>
          </p:sp>
        </mc:Choice>
        <mc:Fallback>
          <p:sp>
            <p:nvSpPr>
              <p:cNvPr id="4" name="Content Placeholder 2">
                <a:extLst>
                  <a:ext uri="{FF2B5EF4-FFF2-40B4-BE49-F238E27FC236}">
                    <a16:creationId xmlns:a16="http://schemas.microsoft.com/office/drawing/2014/main" id="{595B223C-0457-E913-B0F0-73C9C8D43BE5}"/>
                  </a:ext>
                </a:extLst>
              </p:cNvPr>
              <p:cNvSpPr txBox="1">
                <a:spLocks noRot="1" noChangeAspect="1" noMove="1" noResize="1" noEditPoints="1" noAdjustHandles="1" noChangeArrowheads="1" noChangeShapeType="1" noTextEdit="1"/>
              </p:cNvSpPr>
              <p:nvPr/>
            </p:nvSpPr>
            <p:spPr>
              <a:xfrm>
                <a:off x="7411065" y="1825625"/>
                <a:ext cx="3542071" cy="4351338"/>
              </a:xfrm>
              <a:prstGeom prst="rect">
                <a:avLst/>
              </a:prstGeom>
              <a:blipFill>
                <a:blip r:embed="rId3"/>
                <a:stretch>
                  <a:fillRect l="-3098" t="-2241"/>
                </a:stretch>
              </a:blipFill>
            </p:spPr>
            <p:txBody>
              <a:bodyPr/>
              <a:lstStyle/>
              <a:p>
                <a:r>
                  <a:rPr lang="en-IN">
                    <a:noFill/>
                  </a:rPr>
                  <a:t> </a:t>
                </a:r>
              </a:p>
            </p:txBody>
          </p:sp>
        </mc:Fallback>
      </mc:AlternateContent>
    </p:spTree>
    <p:extLst>
      <p:ext uri="{BB962C8B-B14F-4D97-AF65-F5344CB8AC3E}">
        <p14:creationId xmlns:p14="http://schemas.microsoft.com/office/powerpoint/2010/main" val="195195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109A5-078F-6231-4BC6-14B011A13F7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Processing</a:t>
            </a:r>
          </a:p>
        </p:txBody>
      </p:sp>
      <p:sp>
        <p:nvSpPr>
          <p:cNvPr id="3" name="Content Placeholder 2">
            <a:extLst>
              <a:ext uri="{FF2B5EF4-FFF2-40B4-BE49-F238E27FC236}">
                <a16:creationId xmlns:a16="http://schemas.microsoft.com/office/drawing/2014/main" id="{CF892F39-7B1E-B069-E792-FDAD4EF36964}"/>
              </a:ext>
            </a:extLst>
          </p:cNvPr>
          <p:cNvSpPr>
            <a:spLocks noGrp="1"/>
          </p:cNvSpPr>
          <p:nvPr>
            <p:ph idx="1"/>
          </p:nvPr>
        </p:nvSpPr>
        <p:spPr>
          <a:xfrm>
            <a:off x="838200" y="1602658"/>
            <a:ext cx="10515600" cy="5073445"/>
          </a:xfrm>
        </p:spPr>
        <p:txBody>
          <a:bodyPr>
            <a:normAutofit/>
          </a:bodyPr>
          <a:lstStyle/>
          <a:p>
            <a:r>
              <a:rPr lang="en-IN" dirty="0">
                <a:latin typeface="Times New Roman" panose="02020603050405020304" pitchFamily="18" charset="0"/>
                <a:cs typeface="Times New Roman" panose="02020603050405020304" pitchFamily="18" charset="0"/>
              </a:rPr>
              <a:t>Load the ECG dataset.</a:t>
            </a:r>
          </a:p>
          <a:p>
            <a:pPr lvl="1"/>
            <a:r>
              <a:rPr lang="en-IN" dirty="0">
                <a:latin typeface="Times New Roman" panose="02020603050405020304" pitchFamily="18" charset="0"/>
                <a:cs typeface="Times New Roman" panose="02020603050405020304" pitchFamily="18" charset="0"/>
              </a:rPr>
              <a:t>mitbih_train.csv</a:t>
            </a:r>
          </a:p>
          <a:p>
            <a:pPr lvl="1"/>
            <a:r>
              <a:rPr lang="en-IN" dirty="0">
                <a:latin typeface="Times New Roman" panose="02020603050405020304" pitchFamily="18" charset="0"/>
                <a:cs typeface="Times New Roman" panose="02020603050405020304" pitchFamily="18" charset="0"/>
              </a:rPr>
              <a:t>mitbih_test.csv</a:t>
            </a:r>
          </a:p>
          <a:p>
            <a:r>
              <a:rPr lang="en-US" dirty="0">
                <a:latin typeface="Times New Roman" panose="02020603050405020304" pitchFamily="18" charset="0"/>
                <a:cs typeface="Times New Roman" panose="02020603050405020304" pitchFamily="18" charset="0"/>
              </a:rPr>
              <a:t>Each row contains:187 ECG signal values + label</a:t>
            </a:r>
          </a:p>
          <a:p>
            <a:r>
              <a:rPr lang="en-US" dirty="0">
                <a:latin typeface="Times New Roman" panose="02020603050405020304" pitchFamily="18" charset="0"/>
                <a:cs typeface="Times New Roman" panose="02020603050405020304" pitchFamily="18" charset="0"/>
              </a:rPr>
              <a:t>Separate the dataset into:</a:t>
            </a:r>
          </a:p>
          <a:p>
            <a:pPr lvl="1"/>
            <a:r>
              <a:rPr lang="en-US" dirty="0">
                <a:latin typeface="Times New Roman" panose="02020603050405020304" pitchFamily="18" charset="0"/>
                <a:cs typeface="Times New Roman" panose="02020603050405020304" pitchFamily="18" charset="0"/>
              </a:rPr>
              <a:t>Features (ECG signals): X = first 187 columns</a:t>
            </a:r>
          </a:p>
          <a:p>
            <a:pPr lvl="1"/>
            <a:r>
              <a:rPr lang="en-US" dirty="0">
                <a:latin typeface="Times New Roman" panose="02020603050405020304" pitchFamily="18" charset="0"/>
                <a:cs typeface="Times New Roman" panose="02020603050405020304" pitchFamily="18" charset="0"/>
              </a:rPr>
              <a:t>Labels (heartbeat classes): y = last column</a:t>
            </a:r>
          </a:p>
          <a:p>
            <a:r>
              <a:rPr lang="en-US" dirty="0">
                <a:latin typeface="Times New Roman" panose="02020603050405020304" pitchFamily="18" charset="0"/>
                <a:cs typeface="Times New Roman" panose="02020603050405020304" pitchFamily="18" charset="0"/>
              </a:rPr>
              <a:t>Normalize them between 0 and 1.</a:t>
            </a:r>
          </a:p>
          <a:p>
            <a:pPr lvl="1"/>
            <a:r>
              <a:rPr lang="en-IN" dirty="0" err="1">
                <a:latin typeface="Times New Roman" panose="02020603050405020304" pitchFamily="18" charset="0"/>
                <a:cs typeface="Times New Roman" panose="02020603050405020304" pitchFamily="18" charset="0"/>
              </a:rPr>
              <a:t>x_norm</a:t>
            </a:r>
            <a:r>
              <a:rPr lang="en-IN" dirty="0">
                <a:latin typeface="Times New Roman" panose="02020603050405020304" pitchFamily="18" charset="0"/>
                <a:cs typeface="Times New Roman" panose="02020603050405020304" pitchFamily="18" charset="0"/>
              </a:rPr>
              <a:t> = (x − </a:t>
            </a:r>
            <a:r>
              <a:rPr lang="en-IN" dirty="0" err="1">
                <a:latin typeface="Times New Roman" panose="02020603050405020304" pitchFamily="18" charset="0"/>
                <a:cs typeface="Times New Roman" panose="02020603050405020304" pitchFamily="18" charset="0"/>
              </a:rPr>
              <a:t>x_min</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x_max</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x_min</a:t>
            </a:r>
            <a:r>
              <a:rPr lang="en-IN"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Split the training data into: 80% Training20% Validation</a:t>
            </a:r>
          </a:p>
          <a:p>
            <a:r>
              <a:rPr lang="fr-FR" dirty="0" err="1">
                <a:latin typeface="Times New Roman" panose="02020603050405020304" pitchFamily="18" charset="0"/>
                <a:cs typeface="Times New Roman" panose="02020603050405020304" pitchFamily="18" charset="0"/>
              </a:rPr>
              <a:t>Reshaping</a:t>
            </a:r>
            <a:r>
              <a:rPr lang="fr-FR" dirty="0">
                <a:latin typeface="Times New Roman" panose="02020603050405020304" pitchFamily="18" charset="0"/>
                <a:cs typeface="Times New Roman" panose="02020603050405020304" pitchFamily="18" charset="0"/>
              </a:rPr>
              <a:t> for LSTM: </a:t>
            </a:r>
            <a:r>
              <a:rPr lang="fr-FR" dirty="0" err="1">
                <a:latin typeface="Times New Roman" panose="02020603050405020304" pitchFamily="18" charset="0"/>
                <a:cs typeface="Times New Roman" panose="02020603050405020304" pitchFamily="18" charset="0"/>
              </a:rPr>
              <a:t>X_train</a:t>
            </a:r>
            <a:r>
              <a:rPr lang="fr-FR" dirty="0">
                <a:latin typeface="Times New Roman" panose="02020603050405020304" pitchFamily="18" charset="0"/>
                <a:cs typeface="Times New Roman" panose="02020603050405020304" pitchFamily="18" charset="0"/>
              </a:rPr>
              <a:t> = </a:t>
            </a:r>
            <a:r>
              <a:rPr lang="fr-FR" dirty="0" err="1">
                <a:latin typeface="Times New Roman" panose="02020603050405020304" pitchFamily="18" charset="0"/>
                <a:cs typeface="Times New Roman" panose="02020603050405020304" pitchFamily="18" charset="0"/>
              </a:rPr>
              <a:t>X_train.reshape</a:t>
            </a:r>
            <a:r>
              <a:rPr lang="fr-FR" dirty="0">
                <a:latin typeface="Times New Roman" panose="02020603050405020304" pitchFamily="18" charset="0"/>
                <a:cs typeface="Times New Roman" panose="02020603050405020304" pitchFamily="18" charset="0"/>
              </a:rPr>
              <a:t>(-1, 187, 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612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BD6B-61DC-E87F-B134-7F7E643D6FF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Build the LSTM Model</a:t>
            </a:r>
          </a:p>
        </p:txBody>
      </p:sp>
      <p:sp>
        <p:nvSpPr>
          <p:cNvPr id="3" name="Content Placeholder 2">
            <a:extLst>
              <a:ext uri="{FF2B5EF4-FFF2-40B4-BE49-F238E27FC236}">
                <a16:creationId xmlns:a16="http://schemas.microsoft.com/office/drawing/2014/main" id="{87E2B0B0-418B-3E8A-BBC9-376060D3FE95}"/>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Architecture:</a:t>
            </a:r>
          </a:p>
          <a:p>
            <a:pPr marL="0" indent="0">
              <a:buNone/>
            </a:pPr>
            <a:r>
              <a:rPr lang="en-US" dirty="0">
                <a:latin typeface="Times New Roman" panose="02020603050405020304" pitchFamily="18" charset="0"/>
                <a:cs typeface="Times New Roman" panose="02020603050405020304" pitchFamily="18" charset="0"/>
              </a:rPr>
              <a:t>1️⃣ LSTM Layer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Dense Layer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Output Layer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model = Sequential()</a:t>
            </a:r>
          </a:p>
          <a:p>
            <a:pPr marL="0" indent="0">
              <a:buNone/>
            </a:pPr>
            <a:r>
              <a:rPr lang="en-US" dirty="0" err="1">
                <a:latin typeface="Times New Roman" panose="02020603050405020304" pitchFamily="18" charset="0"/>
                <a:cs typeface="Times New Roman" panose="02020603050405020304" pitchFamily="18" charset="0"/>
              </a:rPr>
              <a:t>model.add</a:t>
            </a:r>
            <a:r>
              <a:rPr lang="en-US" dirty="0">
                <a:latin typeface="Times New Roman" panose="02020603050405020304" pitchFamily="18" charset="0"/>
                <a:cs typeface="Times New Roman" panose="02020603050405020304" pitchFamily="18" charset="0"/>
              </a:rPr>
              <a:t>(LSTM(64, </a:t>
            </a:r>
            <a:r>
              <a:rPr lang="en-US" dirty="0" err="1">
                <a:latin typeface="Times New Roman" panose="02020603050405020304" pitchFamily="18" charset="0"/>
                <a:cs typeface="Times New Roman" panose="02020603050405020304" pitchFamily="18" charset="0"/>
              </a:rPr>
              <a:t>input_shape</a:t>
            </a:r>
            <a:r>
              <a:rPr lang="en-US" dirty="0">
                <a:latin typeface="Times New Roman" panose="02020603050405020304" pitchFamily="18" charset="0"/>
                <a:cs typeface="Times New Roman" panose="02020603050405020304" pitchFamily="18" charset="0"/>
              </a:rPr>
              <a:t>=(187,1)))</a:t>
            </a:r>
          </a:p>
          <a:p>
            <a:pPr marL="0" indent="0">
              <a:buNone/>
            </a:pPr>
            <a:r>
              <a:rPr lang="en-US" dirty="0" err="1">
                <a:latin typeface="Times New Roman" panose="02020603050405020304" pitchFamily="18" charset="0"/>
                <a:cs typeface="Times New Roman" panose="02020603050405020304" pitchFamily="18" charset="0"/>
              </a:rPr>
              <a:t>model.add</a:t>
            </a:r>
            <a:r>
              <a:rPr lang="en-US" dirty="0">
                <a:latin typeface="Times New Roman" panose="02020603050405020304" pitchFamily="18" charset="0"/>
                <a:cs typeface="Times New Roman" panose="02020603050405020304" pitchFamily="18" charset="0"/>
              </a:rPr>
              <a:t>(Dense(32, activation='</a:t>
            </a: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model.add</a:t>
            </a:r>
            <a:r>
              <a:rPr lang="en-US" dirty="0">
                <a:latin typeface="Times New Roman" panose="02020603050405020304" pitchFamily="18" charset="0"/>
                <a:cs typeface="Times New Roman" panose="02020603050405020304" pitchFamily="18" charset="0"/>
              </a:rPr>
              <a:t>(Dense(5, activation='</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7575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9F4E6-1F2D-A2AD-716E-B309AEAFD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49F66-825B-94B6-1C25-D28E4E4F12E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Compile and Train the Model</a:t>
            </a:r>
          </a:p>
        </p:txBody>
      </p:sp>
      <p:sp>
        <p:nvSpPr>
          <p:cNvPr id="3" name="Content Placeholder 2">
            <a:extLst>
              <a:ext uri="{FF2B5EF4-FFF2-40B4-BE49-F238E27FC236}">
                <a16:creationId xmlns:a16="http://schemas.microsoft.com/office/drawing/2014/main" id="{DDB00695-BFCE-2BF4-A81B-42A7D72E3697}"/>
              </a:ext>
            </a:extLst>
          </p:cNvPr>
          <p:cNvSpPr>
            <a:spLocks noGrp="1"/>
          </p:cNvSpPr>
          <p:nvPr>
            <p:ph idx="1"/>
          </p:nvPr>
        </p:nvSpPr>
        <p:spPr>
          <a:xfrm>
            <a:off x="838200" y="1825624"/>
            <a:ext cx="10515600" cy="4742323"/>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Define:</a:t>
            </a:r>
          </a:p>
          <a:p>
            <a:pPr marL="0" indent="0">
              <a:buNone/>
            </a:pPr>
            <a:r>
              <a:rPr lang="en-US" dirty="0">
                <a:latin typeface="Times New Roman" panose="02020603050405020304" pitchFamily="18" charset="0"/>
                <a:cs typeface="Times New Roman" panose="02020603050405020304" pitchFamily="18" charset="0"/>
              </a:rPr>
              <a:t>Loss Function = </a:t>
            </a:r>
            <a:r>
              <a:rPr lang="en-US" dirty="0" err="1">
                <a:latin typeface="Times New Roman" panose="02020603050405020304" pitchFamily="18" charset="0"/>
                <a:cs typeface="Times New Roman" panose="02020603050405020304" pitchFamily="18" charset="0"/>
              </a:rPr>
              <a:t>sparse_categorical_crossentropy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Optimizer = Adam</a:t>
            </a:r>
          </a:p>
          <a:p>
            <a:pPr marL="0" indent="0">
              <a:buNone/>
            </a:pPr>
            <a:r>
              <a:rPr lang="en-US" dirty="0">
                <a:latin typeface="Times New Roman" panose="02020603050405020304" pitchFamily="18" charset="0"/>
                <a:cs typeface="Times New Roman" panose="02020603050405020304" pitchFamily="18" charset="0"/>
              </a:rPr>
              <a:t>Evaluation Metrics = Accuracy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Training parameters:</a:t>
            </a:r>
          </a:p>
          <a:p>
            <a:pPr marL="0" indent="0">
              <a:buNone/>
            </a:pPr>
            <a:r>
              <a:rPr lang="en-US" dirty="0">
                <a:latin typeface="Times New Roman" panose="02020603050405020304" pitchFamily="18" charset="0"/>
                <a:cs typeface="Times New Roman" panose="02020603050405020304" pitchFamily="18" charset="0"/>
              </a:rPr>
              <a:t>Epochs: 15</a:t>
            </a:r>
          </a:p>
          <a:p>
            <a:pPr marL="0" indent="0">
              <a:buNone/>
            </a:pPr>
            <a:r>
              <a:rPr lang="en-US" dirty="0">
                <a:latin typeface="Times New Roman" panose="02020603050405020304" pitchFamily="18" charset="0"/>
                <a:cs typeface="Times New Roman" panose="02020603050405020304" pitchFamily="18" charset="0"/>
              </a:rPr>
              <a:t>Batch size: 64</a:t>
            </a:r>
          </a:p>
          <a:p>
            <a:pPr marL="0" indent="0">
              <a:buNone/>
            </a:pPr>
            <a:r>
              <a:rPr lang="en-US" dirty="0">
                <a:latin typeface="Times New Roman" panose="02020603050405020304" pitchFamily="18" charset="0"/>
                <a:cs typeface="Times New Roman" panose="02020603050405020304" pitchFamily="18" charset="0"/>
              </a:rPr>
              <a:t>Early stopping: Monitor validation loss with patience=3.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16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F05D6-6064-2887-8802-01781FC97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835C0-59AC-46B5-94F7-98F48D92201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Evaluate the Model</a:t>
            </a:r>
          </a:p>
        </p:txBody>
      </p:sp>
      <p:sp>
        <p:nvSpPr>
          <p:cNvPr id="3" name="Content Placeholder 2">
            <a:extLst>
              <a:ext uri="{FF2B5EF4-FFF2-40B4-BE49-F238E27FC236}">
                <a16:creationId xmlns:a16="http://schemas.microsoft.com/office/drawing/2014/main" id="{81D597FA-0946-AFA0-E10D-895246C54716}"/>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Evaluate performance on the test set.</a:t>
            </a:r>
          </a:p>
          <a:p>
            <a:pPr marL="0" indent="0">
              <a:buNone/>
            </a:pPr>
            <a:r>
              <a:rPr lang="en-US" dirty="0">
                <a:latin typeface="Times New Roman" panose="02020603050405020304" pitchFamily="18" charset="0"/>
                <a:cs typeface="Times New Roman" panose="02020603050405020304" pitchFamily="18" charset="0"/>
              </a:rPr>
              <a:t>Metrics: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Accuracy Plot (Train and validation)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Confusion Matrix</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Classification Report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242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57270-63B8-8A08-9FF8-9FBA668B9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FA773-5F5E-5E9A-57E9-6D9670AF7B0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Assignment 2: RNN vs LSTM Comparison</a:t>
            </a:r>
          </a:p>
        </p:txBody>
      </p:sp>
      <p:sp>
        <p:nvSpPr>
          <p:cNvPr id="3" name="Content Placeholder 2">
            <a:extLst>
              <a:ext uri="{FF2B5EF4-FFF2-40B4-BE49-F238E27FC236}">
                <a16:creationId xmlns:a16="http://schemas.microsoft.com/office/drawing/2014/main" id="{EB2411C0-F9C9-FEAB-1E5C-7A736CC3ECD3}"/>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Implement on same dataset:</a:t>
            </a:r>
          </a:p>
          <a:p>
            <a:r>
              <a:rPr lang="en-US" dirty="0">
                <a:latin typeface="Times New Roman" panose="02020603050405020304" pitchFamily="18" charset="0"/>
                <a:cs typeface="Times New Roman" panose="02020603050405020304" pitchFamily="18" charset="0"/>
              </a:rPr>
              <a:t>Simple RNN model</a:t>
            </a:r>
          </a:p>
          <a:p>
            <a:r>
              <a:rPr lang="en-US" dirty="0">
                <a:latin typeface="Times New Roman" panose="02020603050405020304" pitchFamily="18" charset="0"/>
                <a:cs typeface="Times New Roman" panose="02020603050405020304" pitchFamily="18" charset="0"/>
              </a:rPr>
              <a:t>LSTM model</a:t>
            </a:r>
          </a:p>
          <a:p>
            <a:pPr marL="0" indent="0">
              <a:buNone/>
            </a:pPr>
            <a:r>
              <a:rPr lang="en-US" dirty="0">
                <a:latin typeface="Times New Roman" panose="02020603050405020304" pitchFamily="18" charset="0"/>
                <a:cs typeface="Times New Roman" panose="02020603050405020304" pitchFamily="18" charset="0"/>
              </a:rPr>
              <a:t>Then compare:</a:t>
            </a:r>
          </a:p>
          <a:p>
            <a:r>
              <a:rPr lang="en-US" dirty="0">
                <a:latin typeface="Times New Roman" panose="02020603050405020304" pitchFamily="18" charset="0"/>
                <a:cs typeface="Times New Roman" panose="02020603050405020304" pitchFamily="18" charset="0"/>
              </a:rPr>
              <a:t>Accuracy plot.</a:t>
            </a:r>
          </a:p>
        </p:txBody>
      </p:sp>
    </p:spTree>
    <p:extLst>
      <p:ext uri="{BB962C8B-B14F-4D97-AF65-F5344CB8AC3E}">
        <p14:creationId xmlns:p14="http://schemas.microsoft.com/office/powerpoint/2010/main" val="4101292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434</Words>
  <Application>Microsoft Office PowerPoint</Application>
  <PresentationFormat>Widescreen</PresentationFormat>
  <Paragraphs>73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Cambria Math</vt:lpstr>
      <vt:lpstr>Times New Roman</vt:lpstr>
      <vt:lpstr>Office Theme</vt:lpstr>
      <vt:lpstr>Lab Assignment: LSTM for ECG Heartbeat Classification</vt:lpstr>
      <vt:lpstr>Assignment 1</vt:lpstr>
      <vt:lpstr>Dataset Overview</vt:lpstr>
      <vt:lpstr>LSTM Architecture Overview</vt:lpstr>
      <vt:lpstr>Data Processing</vt:lpstr>
      <vt:lpstr>Build the LSTM Model</vt:lpstr>
      <vt:lpstr>Compile and Train the Model</vt:lpstr>
      <vt:lpstr>Evaluate the Model</vt:lpstr>
      <vt:lpstr>Assignment 2: RNN vs LSTM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Mainak Ghosh</dc:creator>
  <cp:lastModifiedBy>Mainak Ghosh</cp:lastModifiedBy>
  <cp:revision>1</cp:revision>
  <dcterms:created xsi:type="dcterms:W3CDTF">2026-03-15T16:37:24Z</dcterms:created>
  <dcterms:modified xsi:type="dcterms:W3CDTF">2026-03-15T16:43:36Z</dcterms:modified>
</cp:coreProperties>
</file>