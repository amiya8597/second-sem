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5E0A-12C1-E687-9412-BDE689501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A7B13-5C03-4C8C-C821-667C2A0C7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D0C72-4CE8-AFF0-EA09-122916F2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EB82E-B267-B0AE-6DDE-69868A77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7B6D-F6DC-A346-037D-DB56DC41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2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9CB5-3F5C-FFDF-E9E7-E1B657D0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33F3-745A-A708-E702-8219A364D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DC161-0F81-D088-BBEE-59282172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2E1F-498D-CB23-8C32-487A628C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5C5AD-3D77-964A-2CB4-700C881A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0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65E6-40D6-C091-F9C5-C14B6033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21A00-3496-A8E4-AC6D-CE9FA91C3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E4F8-9688-DF9E-C6A0-DD232BC0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9ED8E-BCFB-5E1E-6042-AA170E66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2BE8E-AE31-80BA-2619-35DDBA51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3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DA94-E62C-128B-AD34-2FC00184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54D7-9161-78CF-9062-C8945325A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14065-43AF-65C2-A1E7-BB1DCA233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DA604-F574-FA09-20F2-A6C79A68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05A3B-0FAB-A5DE-990F-F7EBB97F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7990A-0076-5BEB-7019-D3218EF3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2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AEE4-725E-9FD8-A617-23CA6CC7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95F4F-0342-A824-4DD4-DFAFA889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BD6B0-51F3-B342-691D-4CA29D3D2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5661E-E97D-FB93-C9DA-7B5B38EA5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DF0AC-D60F-6DF8-0C1E-27009AEF4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1959C-9D00-068B-C69C-7A2E405C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5DF2E-ADC4-17DC-956B-2A519DC4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D48B0-F701-5556-FD4B-C19401F7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5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D115-2561-A17C-5FAE-1F7D5FC6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DF4E8-E008-A1F0-C909-33D70286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FE734-2B71-1D62-A38E-E360EB9A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97824-A92C-1CCE-1F89-8B888F55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80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B11DC-8480-F63C-3488-65D680CE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82C6D-A4A3-82D6-7E1F-50DFC709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80725-EB22-A016-3549-B6A3C06D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7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43F-E973-51A9-E9B7-1FA43964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6CD3-7DAD-0296-6DAD-DEC22E2BD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CAD5A-99F1-530D-2A73-46BDF8E45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9ABBF-9DF7-507C-76E3-71CE5135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1F553-CC83-C48B-41E6-85D43575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F6D8C-87E4-7961-E823-5912B5EA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88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CC9-E6C8-FAD2-B143-4C3BD2F7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88C28-266D-5421-6B21-E1CB69ECD6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1AE46-57C1-BF3A-785F-067077CB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008FA-5C80-6C9F-505A-811BEECC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02C20-D5F8-C913-84E4-D8726337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A8C21-CD3B-F0F7-3521-C8961BD4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034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68F0-2D6A-A77A-F7F5-61599104B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87AAE-CD93-176B-791F-10F523DD9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A815-BABE-3A69-3B91-D1FAC6A02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E0ECF-51C9-E78A-D386-6E0AABFF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D0071-421E-AFE7-7241-8055D74C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68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A1651-2D0B-2632-D17B-FDC71D0A8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33B72-0918-86CA-2EFA-A1C077D99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D9D46-EE67-BC1D-7932-FAAD1A71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E22B0-5AD2-ACBE-1737-1C3D9B36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13F08-028A-E913-4B48-250DC266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6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59D9D-A97F-5B2C-15A0-78CAEE34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A1EBB-11D6-A1C0-0253-1A0C4A35E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F5FD-795C-DF36-DAA9-D12AB769B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8AB59-CE5B-4051-AC29-28CBED5759F5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29AD3-1BA8-F6E8-B29C-B1CF494FD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C28F-1C99-4BFD-1038-84A8650EA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8AEC3-B007-4109-AEAF-1762D455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29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D880-9215-5BBD-18F8-B434B07AE7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Transformer and 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236625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4FEA-8532-9935-C5C1-B804C45D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A47A-094C-572C-3162-8DD58AA49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Small synthetic dataset for sentiment classification 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"I love this movie" → Positive </a:t>
            </a:r>
          </a:p>
          <a:p>
            <a:pPr lvl="1"/>
            <a:r>
              <a:rPr lang="en-US" dirty="0"/>
              <a:t>"This is amazing" → Positive </a:t>
            </a:r>
          </a:p>
          <a:p>
            <a:pPr lvl="1"/>
            <a:r>
              <a:rPr lang="en-US" dirty="0"/>
              <a:t>"I hate this" → Negative </a:t>
            </a:r>
          </a:p>
          <a:p>
            <a:pPr lvl="1"/>
            <a:r>
              <a:rPr lang="en-US" dirty="0"/>
              <a:t>"This is bad" → Negative </a:t>
            </a:r>
          </a:p>
          <a:p>
            <a:r>
              <a:rPr lang="en-US" dirty="0"/>
              <a:t>Total samples: ~150–160</a:t>
            </a:r>
          </a:p>
          <a:p>
            <a:pPr marL="0" indent="0">
              <a:buNone/>
            </a:pPr>
            <a:r>
              <a:rPr lang="en-IN" dirty="0"/>
              <a:t>texts = [</a:t>
            </a:r>
            <a:r>
              <a:rPr lang="en-US" dirty="0"/>
              <a:t>   </a:t>
            </a:r>
          </a:p>
          <a:p>
            <a:pPr marL="0" indent="0">
              <a:buNone/>
            </a:pPr>
            <a:r>
              <a:rPr lang="en-US" dirty="0"/>
              <a:t> "</a:t>
            </a:r>
            <a:r>
              <a:rPr lang="en-US" dirty="0" err="1"/>
              <a:t>i</a:t>
            </a:r>
            <a:r>
              <a:rPr lang="en-US" dirty="0"/>
              <a:t> love this movie", "this is amazing", "</a:t>
            </a:r>
            <a:r>
              <a:rPr lang="en-US" dirty="0" err="1"/>
              <a:t>i</a:t>
            </a:r>
            <a:r>
              <a:rPr lang="en-US" dirty="0"/>
              <a:t> like it", "so good",</a:t>
            </a:r>
          </a:p>
          <a:p>
            <a:pPr marL="0" indent="0">
              <a:buNone/>
            </a:pPr>
            <a:r>
              <a:rPr lang="en-US" dirty="0"/>
              <a:t>    "</a:t>
            </a:r>
            <a:r>
              <a:rPr lang="en-US" dirty="0" err="1"/>
              <a:t>i</a:t>
            </a:r>
            <a:r>
              <a:rPr lang="en-US" dirty="0"/>
              <a:t> hate this", "this is bad", "terrible experience", "not good"</a:t>
            </a:r>
          </a:p>
          <a:p>
            <a:pPr marL="0" indent="0">
              <a:buNone/>
            </a:pPr>
            <a:r>
              <a:rPr lang="en-US" dirty="0"/>
              <a:t>] * 20   # total ~160 samples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labels = [1,1,1,1,0,0,0,0] * 20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8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6C2A-E688-107F-2F80-622AA1B8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86E9-01B3-43EA-2669-66A98D22D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/>
              <a:t>vocab_size</a:t>
            </a:r>
            <a:r>
              <a:rPr lang="en-IN" dirty="0"/>
              <a:t> = 1000</a:t>
            </a:r>
          </a:p>
          <a:p>
            <a:pPr marL="0" indent="0">
              <a:buNone/>
            </a:pPr>
            <a:r>
              <a:rPr lang="en-IN" dirty="0" err="1"/>
              <a:t>max_len</a:t>
            </a:r>
            <a:r>
              <a:rPr lang="en-IN" dirty="0"/>
              <a:t> = 10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vectorizer = </a:t>
            </a:r>
            <a:r>
              <a:rPr lang="en-IN" dirty="0" err="1"/>
              <a:t>layers.TextVectorization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    </a:t>
            </a:r>
            <a:r>
              <a:rPr lang="en-IN" dirty="0" err="1"/>
              <a:t>max_tokens</a:t>
            </a:r>
            <a:r>
              <a:rPr lang="en-IN" dirty="0"/>
              <a:t>=</a:t>
            </a:r>
            <a:r>
              <a:rPr lang="en-IN" dirty="0" err="1"/>
              <a:t>vocab_size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    </a:t>
            </a:r>
            <a:r>
              <a:rPr lang="en-IN" dirty="0" err="1"/>
              <a:t>output_mode</a:t>
            </a:r>
            <a:r>
              <a:rPr lang="en-IN" dirty="0"/>
              <a:t>="int",</a:t>
            </a:r>
          </a:p>
          <a:p>
            <a:pPr marL="0" indent="0">
              <a:buNone/>
            </a:pPr>
            <a:r>
              <a:rPr lang="en-IN" dirty="0"/>
              <a:t>    </a:t>
            </a:r>
            <a:r>
              <a:rPr lang="en-IN" dirty="0" err="1"/>
              <a:t>output_sequence_length</a:t>
            </a:r>
            <a:r>
              <a:rPr lang="en-IN" dirty="0"/>
              <a:t>=</a:t>
            </a:r>
            <a:r>
              <a:rPr lang="en-IN" dirty="0" err="1"/>
              <a:t>max_len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)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vectorizer.adapt</a:t>
            </a:r>
            <a:r>
              <a:rPr lang="en-IN" dirty="0"/>
              <a:t>(texts)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X = vectorizer(</a:t>
            </a:r>
            <a:r>
              <a:rPr lang="en-IN" dirty="0" err="1"/>
              <a:t>np.array</a:t>
            </a:r>
            <a:r>
              <a:rPr lang="en-IN" dirty="0"/>
              <a:t>(texts))</a:t>
            </a:r>
          </a:p>
          <a:p>
            <a:pPr marL="0" indent="0">
              <a:buNone/>
            </a:pP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(labels)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42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337F-0365-ADCF-62FA-57022986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Positional Encoding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FADC1-A2D3-0F0A-85A5-EC24094F6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PositionalEmbedding</a:t>
            </a:r>
            <a:r>
              <a:rPr lang="en-IN" dirty="0"/>
              <a:t>(</a:t>
            </a:r>
            <a:r>
              <a:rPr lang="en-IN" dirty="0" err="1"/>
              <a:t>layers.Layer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def __</a:t>
            </a:r>
            <a:r>
              <a:rPr lang="en-IN" dirty="0" err="1"/>
              <a:t>init</a:t>
            </a:r>
            <a:r>
              <a:rPr lang="en-IN" dirty="0"/>
              <a:t>__(self, </a:t>
            </a:r>
            <a:r>
              <a:rPr lang="en-IN" dirty="0" err="1"/>
              <a:t>max_len</a:t>
            </a:r>
            <a:r>
              <a:rPr lang="en-IN" dirty="0"/>
              <a:t>, 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embed_dim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    super().__</a:t>
            </a:r>
            <a:r>
              <a:rPr lang="en-IN" dirty="0" err="1"/>
              <a:t>init</a:t>
            </a:r>
            <a:r>
              <a:rPr lang="en-IN" dirty="0"/>
              <a:t>__()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self.token_emb</a:t>
            </a:r>
            <a:r>
              <a:rPr lang="en-IN" dirty="0"/>
              <a:t> = </a:t>
            </a:r>
            <a:r>
              <a:rPr lang="en-IN" dirty="0" err="1"/>
              <a:t>layers.Embedding</a:t>
            </a:r>
            <a:r>
              <a:rPr lang="en-IN" dirty="0"/>
              <a:t>(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embed_dim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self.pos_emb</a:t>
            </a:r>
            <a:r>
              <a:rPr lang="en-IN" dirty="0"/>
              <a:t> = </a:t>
            </a:r>
            <a:r>
              <a:rPr lang="en-IN" dirty="0" err="1"/>
              <a:t>layers.Embedding</a:t>
            </a:r>
            <a:r>
              <a:rPr lang="en-IN" dirty="0"/>
              <a:t>(</a:t>
            </a:r>
            <a:r>
              <a:rPr lang="en-IN" dirty="0" err="1"/>
              <a:t>input_dim</a:t>
            </a:r>
            <a:r>
              <a:rPr lang="en-IN" dirty="0"/>
              <a:t>=</a:t>
            </a:r>
            <a:r>
              <a:rPr lang="en-IN" dirty="0" err="1"/>
              <a:t>max_len</a:t>
            </a:r>
            <a:r>
              <a:rPr lang="en-IN" dirty="0"/>
              <a:t>, </a:t>
            </a:r>
            <a:r>
              <a:rPr lang="en-IN" dirty="0" err="1"/>
              <a:t>output_dim</a:t>
            </a:r>
            <a:r>
              <a:rPr lang="en-IN" dirty="0"/>
              <a:t>=</a:t>
            </a:r>
            <a:r>
              <a:rPr lang="en-IN" dirty="0" err="1"/>
              <a:t>embed_dim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    def call(self, x):</a:t>
            </a:r>
          </a:p>
          <a:p>
            <a:pPr marL="0" indent="0">
              <a:buNone/>
            </a:pPr>
            <a:r>
              <a:rPr lang="en-IN" dirty="0"/>
              <a:t>        positions = </a:t>
            </a:r>
            <a:r>
              <a:rPr lang="en-IN" dirty="0" err="1"/>
              <a:t>tf.range</a:t>
            </a:r>
            <a:r>
              <a:rPr lang="en-IN" dirty="0"/>
              <a:t>(start=0, limit=</a:t>
            </a:r>
            <a:r>
              <a:rPr lang="en-IN" dirty="0" err="1"/>
              <a:t>tf.shape</a:t>
            </a:r>
            <a:r>
              <a:rPr lang="en-IN" dirty="0"/>
              <a:t>(x)[-1], delta=1)</a:t>
            </a:r>
          </a:p>
          <a:p>
            <a:pPr marL="0" indent="0">
              <a:buNone/>
            </a:pPr>
            <a:r>
              <a:rPr lang="en-IN" dirty="0"/>
              <a:t>        return </a:t>
            </a:r>
            <a:r>
              <a:rPr lang="en-IN" dirty="0" err="1"/>
              <a:t>self.token_emb</a:t>
            </a:r>
            <a:r>
              <a:rPr lang="en-IN" dirty="0"/>
              <a:t>(x) + </a:t>
            </a:r>
            <a:r>
              <a:rPr lang="en-IN" dirty="0" err="1"/>
              <a:t>self.pos_emb</a:t>
            </a:r>
            <a:r>
              <a:rPr lang="en-IN" dirty="0"/>
              <a:t>(positions)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23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8CAD-BA18-F70D-E82F-BBBD853B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Transformer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F082-BE87-790C-36E8-6BA50A17C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11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TransformerBlock</a:t>
            </a:r>
            <a:r>
              <a:rPr lang="en-IN" dirty="0"/>
              <a:t>(</a:t>
            </a:r>
            <a:r>
              <a:rPr lang="en-IN" dirty="0" err="1"/>
              <a:t>layers.Layer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def __</a:t>
            </a:r>
            <a:r>
              <a:rPr lang="en-IN" dirty="0" err="1"/>
              <a:t>init</a:t>
            </a:r>
            <a:r>
              <a:rPr lang="en-IN" dirty="0"/>
              <a:t>__(self, </a:t>
            </a:r>
            <a:r>
              <a:rPr lang="en-IN" dirty="0" err="1"/>
              <a:t>embed_dim</a:t>
            </a:r>
            <a:r>
              <a:rPr lang="en-IN" dirty="0"/>
              <a:t>, </a:t>
            </a:r>
            <a:r>
              <a:rPr lang="en-IN" dirty="0" err="1"/>
              <a:t>num_heads</a:t>
            </a:r>
            <a:r>
              <a:rPr lang="en-IN" dirty="0"/>
              <a:t>, </a:t>
            </a:r>
            <a:r>
              <a:rPr lang="en-IN" dirty="0" err="1"/>
              <a:t>ff_dim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    super().__</a:t>
            </a:r>
            <a:r>
              <a:rPr lang="en-IN" dirty="0" err="1"/>
              <a:t>init</a:t>
            </a:r>
            <a:r>
              <a:rPr lang="en-IN" dirty="0"/>
              <a:t>__()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self.att</a:t>
            </a:r>
            <a:r>
              <a:rPr lang="en-IN" dirty="0"/>
              <a:t> = </a:t>
            </a:r>
            <a:r>
              <a:rPr lang="en-IN" dirty="0" err="1"/>
              <a:t>layers.MultiHeadAttention</a:t>
            </a:r>
            <a:r>
              <a:rPr lang="en-IN" dirty="0"/>
              <a:t>(</a:t>
            </a:r>
            <a:r>
              <a:rPr lang="en-IN" dirty="0" err="1"/>
              <a:t>num_heads</a:t>
            </a:r>
            <a:r>
              <a:rPr lang="en-IN" dirty="0"/>
              <a:t>=</a:t>
            </a:r>
            <a:r>
              <a:rPr lang="en-IN" dirty="0" err="1"/>
              <a:t>num_heads</a:t>
            </a:r>
            <a:r>
              <a:rPr lang="en-IN" dirty="0"/>
              <a:t>, </a:t>
            </a:r>
            <a:r>
              <a:rPr lang="en-IN" dirty="0" err="1"/>
              <a:t>key_dim</a:t>
            </a:r>
            <a:r>
              <a:rPr lang="en-IN" dirty="0"/>
              <a:t>=</a:t>
            </a:r>
            <a:r>
              <a:rPr lang="en-IN" dirty="0" err="1"/>
              <a:t>embed_dim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self.ffn</a:t>
            </a:r>
            <a:r>
              <a:rPr lang="en-IN" dirty="0"/>
              <a:t> = </a:t>
            </a:r>
            <a:r>
              <a:rPr lang="en-IN" dirty="0" err="1"/>
              <a:t>keras.Sequential</a:t>
            </a:r>
            <a:r>
              <a:rPr lang="en-IN" dirty="0"/>
              <a:t>([</a:t>
            </a:r>
          </a:p>
          <a:p>
            <a:pPr marL="0" indent="0">
              <a:buNone/>
            </a:pPr>
            <a:r>
              <a:rPr lang="en-IN" dirty="0"/>
              <a:t>            </a:t>
            </a:r>
            <a:r>
              <a:rPr lang="en-IN" dirty="0" err="1"/>
              <a:t>layers.Dense</a:t>
            </a:r>
            <a:r>
              <a:rPr lang="en-IN" dirty="0"/>
              <a:t>(</a:t>
            </a:r>
            <a:r>
              <a:rPr lang="en-IN" dirty="0" err="1"/>
              <a:t>ff_dim</a:t>
            </a:r>
            <a:r>
              <a:rPr lang="en-IN" dirty="0"/>
              <a:t>, activation="</a:t>
            </a:r>
            <a:r>
              <a:rPr lang="en-IN" dirty="0" err="1"/>
              <a:t>relu</a:t>
            </a:r>
            <a:r>
              <a:rPr lang="en-IN" dirty="0"/>
              <a:t>"),</a:t>
            </a:r>
          </a:p>
          <a:p>
            <a:pPr marL="0" indent="0">
              <a:buNone/>
            </a:pPr>
            <a:r>
              <a:rPr lang="en-IN" dirty="0"/>
              <a:t>            </a:t>
            </a:r>
            <a:r>
              <a:rPr lang="en-IN" dirty="0" err="1"/>
              <a:t>layers.Dense</a:t>
            </a:r>
            <a:r>
              <a:rPr lang="en-IN" dirty="0"/>
              <a:t>(</a:t>
            </a:r>
            <a:r>
              <a:rPr lang="en-IN" dirty="0" err="1"/>
              <a:t>embed_dim</a:t>
            </a:r>
            <a:r>
              <a:rPr lang="en-IN" dirty="0"/>
              <a:t>),</a:t>
            </a:r>
          </a:p>
          <a:p>
            <a:pPr marL="0" indent="0">
              <a:buNone/>
            </a:pPr>
            <a:r>
              <a:rPr lang="en-IN" dirty="0"/>
              <a:t>        ])</a:t>
            </a:r>
          </a:p>
          <a:p>
            <a:pPr marL="0" indent="0">
              <a:buNone/>
            </a:pPr>
            <a:r>
              <a:rPr lang="en-IN" dirty="0"/>
              <a:t>        self.norm1 = </a:t>
            </a:r>
            <a:r>
              <a:rPr lang="en-IN" dirty="0" err="1"/>
              <a:t>layers.LayerNormalization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        self.norm2 = </a:t>
            </a:r>
            <a:r>
              <a:rPr lang="en-IN" dirty="0" err="1"/>
              <a:t>layers.LayerNormalization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    def call(self, inputs):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attn_output</a:t>
            </a:r>
            <a:r>
              <a:rPr lang="en-IN" dirty="0"/>
              <a:t> = </a:t>
            </a:r>
            <a:r>
              <a:rPr lang="en-IN" dirty="0" err="1"/>
              <a:t>self.att</a:t>
            </a:r>
            <a:r>
              <a:rPr lang="en-IN" dirty="0"/>
              <a:t>(inputs, inputs)</a:t>
            </a:r>
          </a:p>
          <a:p>
            <a:pPr marL="0" indent="0">
              <a:buNone/>
            </a:pPr>
            <a:r>
              <a:rPr lang="en-IN" dirty="0"/>
              <a:t>        out1 = self.norm1(inputs + </a:t>
            </a:r>
            <a:r>
              <a:rPr lang="en-IN" dirty="0" err="1"/>
              <a:t>attn_output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ffn_output</a:t>
            </a:r>
            <a:r>
              <a:rPr lang="en-IN" dirty="0"/>
              <a:t> = </a:t>
            </a:r>
            <a:r>
              <a:rPr lang="en-IN" dirty="0" err="1"/>
              <a:t>self.ffn</a:t>
            </a:r>
            <a:r>
              <a:rPr lang="en-IN" dirty="0"/>
              <a:t>(out1)</a:t>
            </a:r>
          </a:p>
          <a:p>
            <a:pPr marL="0" indent="0">
              <a:buNone/>
            </a:pPr>
            <a:r>
              <a:rPr lang="en-IN" dirty="0"/>
              <a:t>        return self.norm2(out1 + </a:t>
            </a:r>
            <a:r>
              <a:rPr lang="en-IN" dirty="0" err="1"/>
              <a:t>ffn_output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710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E41A-FC51-A588-E46C-9DE2DF1E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Build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5BAC0-6F51-1326-66B7-6A6FA4FDB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 = </a:t>
            </a:r>
            <a:r>
              <a:rPr lang="en-US" dirty="0" err="1"/>
              <a:t>layers.Input</a:t>
            </a:r>
            <a:r>
              <a:rPr lang="en-US" dirty="0"/>
              <a:t>(shape=(</a:t>
            </a:r>
            <a:r>
              <a:rPr lang="en-US" dirty="0" err="1"/>
              <a:t>max_len</a:t>
            </a:r>
            <a:r>
              <a:rPr lang="en-US" dirty="0"/>
              <a:t>,))</a:t>
            </a:r>
          </a:p>
          <a:p>
            <a:r>
              <a:rPr lang="en-US" dirty="0"/>
              <a:t>Parameter: </a:t>
            </a:r>
          </a:p>
          <a:p>
            <a:pPr marL="457200" lvl="1" indent="0">
              <a:buNone/>
            </a:pPr>
            <a:r>
              <a:rPr lang="en-US" dirty="0" err="1"/>
              <a:t>embed_dim</a:t>
            </a:r>
            <a:r>
              <a:rPr lang="en-US" dirty="0"/>
              <a:t> = 32</a:t>
            </a:r>
          </a:p>
          <a:p>
            <a:pPr marL="457200" lvl="1" indent="0">
              <a:buNone/>
            </a:pPr>
            <a:r>
              <a:rPr lang="en-US" dirty="0" err="1"/>
              <a:t>num_heads</a:t>
            </a:r>
            <a:r>
              <a:rPr lang="en-US" dirty="0"/>
              <a:t> = 2</a:t>
            </a:r>
          </a:p>
          <a:p>
            <a:pPr marL="457200" lvl="1" indent="0">
              <a:buNone/>
            </a:pPr>
            <a:r>
              <a:rPr lang="en-US" dirty="0" err="1"/>
              <a:t>ff_dim</a:t>
            </a:r>
            <a:r>
              <a:rPr lang="en-US" dirty="0"/>
              <a:t> = 32</a:t>
            </a:r>
          </a:p>
          <a:p>
            <a:r>
              <a:rPr lang="en-IN" dirty="0"/>
              <a:t>Steps: Positional Embedding -&gt; Transformer Block -&gt; Global Average Pooling 1D -&gt; Dense(activation="</a:t>
            </a:r>
            <a:r>
              <a:rPr lang="en-IN" dirty="0" err="1"/>
              <a:t>relu</a:t>
            </a:r>
            <a:r>
              <a:rPr lang="en-IN" dirty="0"/>
              <a:t>") -&gt; Dense(activation="sigmoid")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95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2CAC4-83E2-BA7F-92B6-A17DDB8F5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Compile &amp; Train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73BF7-8DFE-D309-6346-34B82C5F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optimizer="</a:t>
            </a:r>
            <a:r>
              <a:rPr lang="en-IN" dirty="0" err="1"/>
              <a:t>adam</a:t>
            </a:r>
            <a:r>
              <a:rPr lang="en-IN" dirty="0"/>
              <a:t>",</a:t>
            </a:r>
          </a:p>
          <a:p>
            <a:r>
              <a:rPr lang="en-IN" dirty="0"/>
              <a:t>loss="</a:t>
            </a:r>
            <a:r>
              <a:rPr lang="en-IN" dirty="0" err="1"/>
              <a:t>binary_crossentropy</a:t>
            </a:r>
            <a:r>
              <a:rPr lang="en-IN" dirty="0"/>
              <a:t>",</a:t>
            </a:r>
          </a:p>
          <a:p>
            <a:r>
              <a:rPr lang="en-IN" dirty="0"/>
              <a:t>metrics=["accuracy"]</a:t>
            </a:r>
          </a:p>
          <a:p>
            <a:endParaRPr lang="en-IN" dirty="0"/>
          </a:p>
          <a:p>
            <a:r>
              <a:rPr lang="en-US" dirty="0"/>
              <a:t>epochs=10,</a:t>
            </a:r>
          </a:p>
          <a:p>
            <a:r>
              <a:rPr lang="en-US" dirty="0" err="1"/>
              <a:t>batch_size</a:t>
            </a:r>
            <a:r>
              <a:rPr lang="en-US" dirty="0"/>
              <a:t>=8,</a:t>
            </a:r>
          </a:p>
          <a:p>
            <a:r>
              <a:rPr lang="en-US" dirty="0" err="1"/>
              <a:t>validation_split</a:t>
            </a:r>
            <a:r>
              <a:rPr lang="en-US" dirty="0"/>
              <a:t>=0.2</a:t>
            </a:r>
          </a:p>
          <a:p>
            <a:endParaRPr lang="en-US" dirty="0"/>
          </a:p>
          <a:p>
            <a:r>
              <a:rPr lang="en-US" dirty="0"/>
              <a:t>Plot Accuracy and loss curve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28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BC7C-2817-EB36-2C66-05495C41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62E9F-CE71-996B-E5E3-6115EF191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Implement </a:t>
                </a:r>
                <a:r>
                  <a:rPr lang="en-US" b="1" dirty="0"/>
                  <a:t>Multi-Head Attention manually (without using built-in attention layers)</a:t>
                </a:r>
                <a:r>
                  <a:rPr lang="en-US" dirty="0"/>
                  <a:t> for a toy input sequence. Compute all intermediate matrices step-by-step and obtain the final output.</a:t>
                </a:r>
              </a:p>
              <a:p>
                <a:pPr marL="0" indent="0">
                  <a:buNone/>
                </a:pPr>
                <a:r>
                  <a:rPr lang="en-US" b="1" dirty="0"/>
                  <a:t>Given Input : </a:t>
                </a:r>
                <a:r>
                  <a:rPr lang="en-US" dirty="0"/>
                  <a:t>“I love AI”</a:t>
                </a:r>
              </a:p>
              <a:p>
                <a:pPr marL="0" indent="0">
                  <a:buNone/>
                </a:pPr>
                <a:r>
                  <a:rPr lang="en-US" b="1" dirty="0"/>
                  <a:t>Parameters:</a:t>
                </a:r>
              </a:p>
              <a:p>
                <a:r>
                  <a:rPr lang="en-US" dirty="0"/>
                  <a:t>Sequence length: </a:t>
                </a:r>
                <a:r>
                  <a:rPr lang="en-US" b="1" dirty="0"/>
                  <a:t>n = 3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Embedding dimension: </a:t>
                </a:r>
                <a:r>
                  <a:rPr lang="en-US" b="1" dirty="0" err="1"/>
                  <a:t>d_model</a:t>
                </a:r>
                <a:r>
                  <a:rPr lang="en-US" b="1" dirty="0"/>
                  <a:t> = 4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Number of heads: </a:t>
                </a:r>
                <a:r>
                  <a:rPr lang="en-US" b="1" dirty="0"/>
                  <a:t>h = 2</a:t>
                </a:r>
              </a:p>
              <a:p>
                <a:pPr marL="0" indent="0">
                  <a:buNone/>
                </a:pPr>
                <a:r>
                  <a:rPr lang="en-IN" dirty="0"/>
                  <a:t>Given embedding matrix:  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Choose weight matrix randomly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Attention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b="0" i="1"/>
                          <m:t>𝑄</m:t>
                        </m:r>
                      </m:e>
                      <m:e>
                        <m:r>
                          <a:rPr lang="ar-AE" b="0" i="1"/>
                          <m:t>𝐾</m:t>
                        </m:r>
                      </m:e>
                      <m:e>
                        <m:r>
                          <a:rPr lang="ar-AE" b="0" i="1"/>
                          <m:t>𝑉</m:t>
                        </m:r>
                      </m:e>
                    </m:d>
                    <m:r>
                      <a:rPr lang="ar-AE"/>
                      <m:t>=</m:t>
                    </m:r>
                    <m:r>
                      <m:rPr>
                        <m:nor/>
                      </m:rPr>
                      <a:rPr lang="en-IN" i="1"/>
                      <m:t>Softmax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f>
                          <m:fPr>
                            <m:ctrlPr>
                              <a:rPr lang="ar-AE" i="1"/>
                            </m:ctrlPr>
                          </m:fPr>
                          <m:num>
                            <m:r>
                              <a:rPr lang="ar-AE" i="1"/>
                              <m:t>𝑄</m:t>
                            </m:r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𝐾</m:t>
                                </m:r>
                              </m:e>
                              <m:sup>
                                <m:r>
                                  <a:rPr lang="ar-AE" i="1"/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ar-AE" i="1"/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ar-AE" i="1" smtClean="0"/>
                      <m:t>𝑉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Softmax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0" i="1"/>
                              <m:t>𝑥</m:t>
                            </m:r>
                          </m:e>
                          <m:sub>
                            <m:r>
                              <a:rPr lang="ar-AE" b="0" i="1"/>
                              <m:t>𝑖</m:t>
                            </m:r>
                          </m:sub>
                        </m:sSub>
                      </m:e>
                    </m:d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𝑥</m:t>
                                </m:r>
                              </m:e>
                              <m:sub>
                                <m:r>
                                  <a:rPr lang="ar-AE" i="1"/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/>
                            </m:ctrlPr>
                          </m:naryPr>
                          <m:sub>
                            <m:r>
                              <a:rPr lang="ar-AE" i="1"/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ar-AE" dirty="0"/>
              </a:p>
              <a:p>
                <a:r>
                  <a:rPr lang="en-IN" b="1" dirty="0"/>
                  <a:t>Final Linear Projection: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Output</m:t>
                    </m:r>
                    <m:r>
                      <a:rPr lang="en-IN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 i="1"/>
                          <m:t>𝑐𝑜𝑛𝑐𝑎𝑡</m:t>
                        </m:r>
                      </m:sub>
                    </m:sSub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𝑊</m:t>
                        </m:r>
                      </m:e>
                      <m:sub>
                        <m:r>
                          <a:rPr lang="ar-AE" i="1"/>
                          <m:t>𝑂</m:t>
                        </m:r>
                      </m:sub>
                    </m:sSub>
                  </m:oMath>
                </a14:m>
                <a:endParaRPr lang="ar-AE" b="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62E9F-CE71-996B-E5E3-6115EF1916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638" t="-2058" r="-116" b="-14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C1CA68-716E-6BA5-7366-D6E2714F1B38}"/>
                  </a:ext>
                </a:extLst>
              </p:cNvPr>
              <p:cNvSpPr txBox="1"/>
              <p:nvPr/>
            </p:nvSpPr>
            <p:spPr>
              <a:xfrm>
                <a:off x="6754809" y="3187649"/>
                <a:ext cx="406117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Expected Output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Compute all intermediate matrices: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/>
                      <m:t>𝑄</m:t>
                    </m:r>
                    <m:r>
                      <a:rPr lang="en-IN"/>
                      <m:t>,</m:t>
                    </m:r>
                    <m:r>
                      <a:rPr lang="en-IN" i="1"/>
                      <m:t>𝐾</m:t>
                    </m:r>
                    <m:r>
                      <a:rPr lang="en-IN"/>
                      <m:t>,</m:t>
                    </m:r>
                    <m:r>
                      <a:rPr lang="en-IN" i="1"/>
                      <m:t>𝑉</m:t>
                    </m:r>
                  </m:oMath>
                </a14:m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Attention scores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 err="1"/>
                  <a:t>Softmax</a:t>
                </a:r>
                <a:r>
                  <a:rPr lang="en-IN" dirty="0"/>
                  <a:t> matrix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Head outputs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Final output matrix after projection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C1CA68-716E-6BA5-7366-D6E2714F1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09" y="3187649"/>
                <a:ext cx="4061176" cy="2308324"/>
              </a:xfrm>
              <a:prstGeom prst="rect">
                <a:avLst/>
              </a:prstGeom>
              <a:blipFill>
                <a:blip r:embed="rId3"/>
                <a:stretch>
                  <a:fillRect l="-1201" t="-1319" r="-4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17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690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Transformer and Multi-head attention</vt:lpstr>
      <vt:lpstr>1. Dataset</vt:lpstr>
      <vt:lpstr>2. Tokenization</vt:lpstr>
      <vt:lpstr>3. Positional Encoding Layer</vt:lpstr>
      <vt:lpstr>4. Transformer Block</vt:lpstr>
      <vt:lpstr>5. Build Model</vt:lpstr>
      <vt:lpstr>6. Compile &amp; Train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525cs1001 (MAINAK GHOSH)</dc:creator>
  <cp:lastModifiedBy>525cs1001 (MAINAK GHOSH)</cp:lastModifiedBy>
  <cp:revision>1</cp:revision>
  <dcterms:created xsi:type="dcterms:W3CDTF">2026-04-03T08:44:55Z</dcterms:created>
  <dcterms:modified xsi:type="dcterms:W3CDTF">2026-04-03T09:00:56Z</dcterms:modified>
</cp:coreProperties>
</file>