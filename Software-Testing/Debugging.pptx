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Gill Sans"/>
      <p:regular r:id="rId36"/>
      <p:bold r:id="rId37"/>
    </p:embeddedFont>
    <p:embeddedFont>
      <p:font typeface="Cambria Math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GillSans-bold.fntdata"/><Relationship Id="rId14" Type="http://schemas.openxmlformats.org/officeDocument/2006/relationships/slide" Target="slides/slide9.xml"/><Relationship Id="rId36" Type="http://schemas.openxmlformats.org/officeDocument/2006/relationships/font" Target="fonts/GillSans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CambriaMath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2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4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5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6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7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8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9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0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11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5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20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21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22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23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24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25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26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27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432560" y="269923"/>
            <a:ext cx="7406640" cy="1104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432560" y="1387548"/>
            <a:ext cx="740664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1043608" y="123478"/>
            <a:ext cx="79928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1043608" y="843558"/>
            <a:ext cx="7992888" cy="424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" name="Google Shape;35;p5"/>
          <p:cNvSpPr txBox="1"/>
          <p:nvPr>
            <p:ph type="title"/>
          </p:nvPr>
        </p:nvSpPr>
        <p:spPr>
          <a:xfrm>
            <a:off x="2578392" y="1950244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2578392" y="800100"/>
            <a:ext cx="6400800" cy="11322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2286000" y="0"/>
            <a:ext cx="76200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1435608" y="1143000"/>
            <a:ext cx="3657600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5276088" y="1143000"/>
            <a:ext cx="3657600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57200" y="3870252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457200" y="246209"/>
            <a:ext cx="4023360" cy="48006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4663440" y="246209"/>
            <a:ext cx="4023360" cy="48006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3" type="body"/>
          </p:nvPr>
        </p:nvSpPr>
        <p:spPr>
          <a:xfrm>
            <a:off x="457200" y="727002"/>
            <a:ext cx="4023360" cy="30861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4" type="body"/>
          </p:nvPr>
        </p:nvSpPr>
        <p:spPr>
          <a:xfrm>
            <a:off x="4663440" y="727002"/>
            <a:ext cx="4023360" cy="30861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8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1014984" y="-41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457200" y="162583"/>
            <a:ext cx="3810000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b="1" sz="2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457200" y="1055223"/>
            <a:ext cx="3810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57200" y="1600201"/>
            <a:ext cx="8153400" cy="2994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5886896" y="800100"/>
            <a:ext cx="2743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b="1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0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8" name="Google Shape;78;p10"/>
          <p:cNvSpPr/>
          <p:nvPr>
            <p:ph idx="2" type="pic"/>
          </p:nvPr>
        </p:nvSpPr>
        <p:spPr>
          <a:xfrm>
            <a:off x="838200" y="857253"/>
            <a:ext cx="4419600" cy="2635898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79" name="Google Shape;79;p10"/>
          <p:cNvSpPr/>
          <p:nvPr/>
        </p:nvSpPr>
        <p:spPr>
          <a:xfrm rot="-2131329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" name="Google Shape;80;p10"/>
          <p:cNvSpPr/>
          <p:nvPr/>
        </p:nvSpPr>
        <p:spPr>
          <a:xfrm flipH="1" rot="2103354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" name="Google Shape;81;p10"/>
          <p:cNvSpPr txBox="1"/>
          <p:nvPr>
            <p:ph idx="1" type="body"/>
          </p:nvPr>
        </p:nvSpPr>
        <p:spPr>
          <a:xfrm>
            <a:off x="838200" y="3600450"/>
            <a:ext cx="441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1088136" y="51470"/>
            <a:ext cx="7948360" cy="448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 rot="5400000">
            <a:off x="2830068" y="-1114398"/>
            <a:ext cx="4464496" cy="79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title"/>
          </p:nvPr>
        </p:nvSpPr>
        <p:spPr>
          <a:xfrm rot="5400000">
            <a:off x="5578078" y="1485901"/>
            <a:ext cx="438864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" type="body"/>
          </p:nvPr>
        </p:nvSpPr>
        <p:spPr>
          <a:xfrm rot="5400000">
            <a:off x="1729978" y="-380998"/>
            <a:ext cx="4388644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1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Google Shape;14;p1"/>
          <p:cNvSpPr txBox="1"/>
          <p:nvPr>
            <p:ph type="title"/>
          </p:nvPr>
        </p:nvSpPr>
        <p:spPr>
          <a:xfrm>
            <a:off x="1088136" y="51470"/>
            <a:ext cx="7948360" cy="448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b="0" i="0" sz="36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"/>
          <p:cNvSpPr txBox="1"/>
          <p:nvPr>
            <p:ph idx="1" type="body"/>
          </p:nvPr>
        </p:nvSpPr>
        <p:spPr>
          <a:xfrm>
            <a:off x="1088136" y="627534"/>
            <a:ext cx="794836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1"/>
          <p:cNvSpPr/>
          <p:nvPr/>
        </p:nvSpPr>
        <p:spPr>
          <a:xfrm>
            <a:off x="1014984" y="-41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/>
          <p:nvPr>
            <p:ph type="ctrTitle"/>
          </p:nvPr>
        </p:nvSpPr>
        <p:spPr>
          <a:xfrm>
            <a:off x="1432560" y="269923"/>
            <a:ext cx="7406640" cy="1104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Software Debugging</a:t>
            </a:r>
            <a:endParaRPr/>
          </a:p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1475656" y="2427734"/>
            <a:ext cx="740664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 fontScale="77500" lnSpcReduction="20000"/>
          </a:bodyPr>
          <a:lstStyle/>
          <a:p>
            <a:pPr indent="0" lvl="0" marL="2743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GB"/>
              <a:t>Dr. Durga Prasad Mohapatra</a:t>
            </a:r>
            <a:endParaRPr/>
          </a:p>
          <a:p>
            <a:pPr indent="0" lvl="0" marL="2743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9999"/>
              <a:buNone/>
            </a:pPr>
            <a:r>
              <a:rPr lang="en-GB"/>
              <a:t>Professor</a:t>
            </a:r>
            <a:endParaRPr/>
          </a:p>
          <a:p>
            <a:pPr indent="0" lvl="0" marL="2743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9999"/>
              <a:buNone/>
            </a:pPr>
            <a:r>
              <a:rPr lang="en-GB"/>
              <a:t>National Institute of Technology</a:t>
            </a:r>
            <a:endParaRPr/>
          </a:p>
          <a:p>
            <a:pPr indent="0" lvl="0" marL="2743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9999"/>
              <a:buNone/>
            </a:pPr>
            <a:r>
              <a:rPr lang="en-GB"/>
              <a:t>Rourkela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406400" y="165498"/>
            <a:ext cx="7770813" cy="606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Debugging</a:t>
            </a:r>
            <a:endParaRPr/>
          </a:p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>
            <a:off x="970439" y="987574"/>
            <a:ext cx="8066058" cy="3315891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Once errors are identified: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it is necessary to identify the precise location of the errors and to fix them.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Each debugging approach has its own advantages and disadvantages: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each is useful in appropriate circumstances.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1043608" y="123478"/>
            <a:ext cx="79928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00" spcFirstLastPara="1" rIns="62200" wrap="square" tIns="31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Some Debugging Approaches</a:t>
            </a:r>
            <a:endParaRPr/>
          </a:p>
        </p:txBody>
      </p:sp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1151112" y="1059582"/>
            <a:ext cx="7992888" cy="43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00" spcFirstLastPara="1" rIns="62200" wrap="square" tIns="31100">
            <a:normAutofit/>
          </a:bodyPr>
          <a:lstStyle/>
          <a:p>
            <a:pPr indent="-237744" lvl="1" marL="640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GB" sz="2800"/>
              <a:t>Brute Force method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GB" sz="2800"/>
              <a:t>Symbolic Debugger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GB" sz="2800"/>
              <a:t>Backtracking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GB" sz="2800"/>
              <a:t>Cause-Elimination Method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GB" sz="2800"/>
              <a:t>Program Slicing</a:t>
            </a:r>
            <a:endParaRPr sz="28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-14122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 txBox="1"/>
          <p:nvPr>
            <p:ph idx="12" type="sldNum"/>
          </p:nvPr>
        </p:nvSpPr>
        <p:spPr>
          <a:xfrm>
            <a:off x="8613678" y="4728737"/>
            <a:ext cx="456876" cy="357518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00" spcFirstLastPara="1" rIns="62200" wrap="square" tIns="3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406400" y="171450"/>
            <a:ext cx="7770813" cy="672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GB" sz="4000"/>
              <a:t>Brute-force method</a:t>
            </a:r>
            <a:endParaRPr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971600" y="1059582"/>
            <a:ext cx="7992888" cy="367240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This is the most common method of debugging: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least efficient method.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program is loaded with print </a:t>
            </a:r>
            <a:r>
              <a:rPr lang="en-GB" sz="2400">
                <a:solidFill>
                  <a:srgbClr val="0000FF"/>
                </a:solidFill>
              </a:rPr>
              <a:t>statements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print the intermediate values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hope that some of printed values will help identify the error.</a:t>
            </a:r>
            <a:r>
              <a:rPr lang="en-GB"/>
              <a:t>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683569" y="0"/>
            <a:ext cx="7488832" cy="699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GB" sz="4000"/>
              <a:t>Symbolic Debugger</a:t>
            </a:r>
            <a:endParaRPr/>
          </a:p>
        </p:txBody>
      </p: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971600" y="1059582"/>
            <a:ext cx="7992888" cy="36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Brute force approach becomes more systematic:</a:t>
            </a:r>
            <a:endParaRPr/>
          </a:p>
          <a:p>
            <a:pPr indent="-237744" lvl="1" marL="640080" rtl="0" algn="l">
              <a:lnSpc>
                <a:spcPct val="95000"/>
              </a:lnSpc>
              <a:spcBef>
                <a:spcPts val="17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with the use of a </a:t>
            </a:r>
            <a:r>
              <a:rPr lang="en-GB" u="sng">
                <a:solidFill>
                  <a:srgbClr val="0000FF"/>
                </a:solidFill>
              </a:rPr>
              <a:t>symbolic debugger</a:t>
            </a:r>
            <a:r>
              <a:rPr lang="en-GB"/>
              <a:t>, </a:t>
            </a:r>
            <a:endParaRPr/>
          </a:p>
          <a:p>
            <a:pPr indent="-237744" lvl="1" marL="640080" rtl="0" algn="l">
              <a:lnSpc>
                <a:spcPct val="95000"/>
              </a:lnSpc>
              <a:spcBef>
                <a:spcPts val="17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symbolic debuggers get their name for historical reasons</a:t>
            </a:r>
            <a:endParaRPr/>
          </a:p>
          <a:p>
            <a:pPr indent="-237744" lvl="1" marL="640080" rtl="0" algn="l">
              <a:lnSpc>
                <a:spcPct val="95000"/>
              </a:lnSpc>
              <a:spcBef>
                <a:spcPts val="17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early debuggers let you only see values from a </a:t>
            </a:r>
            <a:r>
              <a:rPr lang="en-GB">
                <a:solidFill>
                  <a:srgbClr val="0000FF"/>
                </a:solidFill>
              </a:rPr>
              <a:t>program dump:</a:t>
            </a:r>
            <a:endParaRPr/>
          </a:p>
          <a:p>
            <a:pPr indent="-228599" lvl="2" marL="886967" rtl="0" algn="just">
              <a:lnSpc>
                <a:spcPct val="95000"/>
              </a:lnSpc>
              <a:spcBef>
                <a:spcPts val="150"/>
              </a:spcBef>
              <a:spcAft>
                <a:spcPts val="0"/>
              </a:spcAft>
              <a:buSzPts val="2000"/>
              <a:buChar char="●"/>
            </a:pPr>
            <a:r>
              <a:rPr lang="en-GB"/>
              <a:t>determine which variable it </a:t>
            </a:r>
            <a:r>
              <a:rPr lang="en-GB" sz="2000"/>
              <a:t>corresponds 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406401" y="171450"/>
            <a:ext cx="7477968" cy="672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GB" sz="4000"/>
              <a:t>Symbolic Debugger</a:t>
            </a:r>
            <a:endParaRPr/>
          </a:p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>
            <a:off x="899592" y="1131590"/>
            <a:ext cx="7770813" cy="30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Using a symbolic debugger: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values of different variables can be easily checked and modified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single stepping to execute one instruction at a time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break points</a:t>
            </a:r>
            <a:r>
              <a:rPr lang="en-GB"/>
              <a:t> and </a:t>
            </a:r>
            <a:r>
              <a:rPr lang="en-GB">
                <a:solidFill>
                  <a:srgbClr val="0000FF"/>
                </a:solidFill>
              </a:rPr>
              <a:t>watch points</a:t>
            </a:r>
            <a:r>
              <a:rPr lang="en-GB"/>
              <a:t> can be set to test the values of variables.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1115616" y="195486"/>
            <a:ext cx="7770813" cy="856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Backtracking</a:t>
            </a:r>
            <a:endParaRPr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1043608" y="1059582"/>
            <a:ext cx="7920880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This is a fairly common approach. 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Beginning at the statement where an error symptom has been observed: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source code is traced backwards until the error is discovered.</a:t>
            </a:r>
            <a:r>
              <a:rPr lang="en-GB">
                <a:solidFill>
                  <a:srgbClr val="FFFF00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611560" y="40545"/>
            <a:ext cx="7061597" cy="731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3131840" y="915566"/>
            <a:ext cx="3198813" cy="386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 main( ){</a:t>
            </a:r>
            <a:br>
              <a:rPr lang="en-GB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GB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int i, j, s;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i=1;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while(i&lt;=10){</a:t>
            </a:r>
            <a:br>
              <a:rPr lang="en-GB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GB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s=s+i;</a:t>
            </a:r>
            <a:br>
              <a:rPr lang="en-GB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GB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i++; 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j=j++;}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printf(“%d”,s);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406400" y="171450"/>
            <a:ext cx="7770813" cy="856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Backtracking</a:t>
            </a:r>
            <a:endParaRPr/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971600" y="1059582"/>
            <a:ext cx="7992888" cy="30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Unfortunately, as the number of source lines to be traced back increases,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the number of potential backward paths increases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becomes unmanageably large  for complex programs</a:t>
            </a:r>
            <a:r>
              <a:rPr lang="en-GB">
                <a:solidFill>
                  <a:srgbClr val="FFFF00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467544" y="30882"/>
            <a:ext cx="7770813" cy="856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Cause-elimination method</a:t>
            </a:r>
            <a:endParaRPr/>
          </a:p>
        </p:txBody>
      </p:sp>
      <p:sp>
        <p:nvSpPr>
          <p:cNvPr id="162" name="Google Shape;162;p22"/>
          <p:cNvSpPr txBox="1"/>
          <p:nvPr>
            <p:ph idx="1" type="body"/>
          </p:nvPr>
        </p:nvSpPr>
        <p:spPr>
          <a:xfrm>
            <a:off x="1115616" y="987574"/>
            <a:ext cx="7770813" cy="396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 fontScale="92500" lnSpcReduction="20000"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GB" sz="3000"/>
              <a:t>In this method, once a failure is observed, the symptoms of the failure  (e.g. certain variable is having a negative value though it should be positive) are noted.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80000"/>
              <a:buChar char="⚫"/>
            </a:pPr>
            <a:r>
              <a:rPr lang="en-GB" sz="3000"/>
              <a:t>Determine a list of causes: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ct val="100000"/>
              <a:buChar char="◦"/>
            </a:pPr>
            <a:r>
              <a:rPr lang="en-GB"/>
              <a:t>which could possibly have contributed to the error symptom.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ct val="100000"/>
              <a:buChar char="◦"/>
            </a:pPr>
            <a:r>
              <a:rPr lang="en-GB"/>
              <a:t>tests are conducted to eliminate each.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80000"/>
              <a:buChar char="⚫"/>
            </a:pPr>
            <a:r>
              <a:rPr lang="en-GB" sz="3000"/>
              <a:t>A related technique of identifying errors by examining error symptoms: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ct val="100000"/>
              <a:buChar char="◦"/>
            </a:pPr>
            <a:r>
              <a:rPr lang="en-GB">
                <a:solidFill>
                  <a:srgbClr val="0000FF"/>
                </a:solidFill>
              </a:rPr>
              <a:t>software fault tree analysis.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406400" y="171450"/>
            <a:ext cx="7770813" cy="672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Program Slicing</a:t>
            </a:r>
            <a:endParaRPr/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1115616" y="1131590"/>
            <a:ext cx="7770813" cy="3417094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This technique is similar to back tracking.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However, </a:t>
            </a:r>
            <a:r>
              <a:rPr lang="en-GB">
                <a:solidFill>
                  <a:srgbClr val="0000FF"/>
                </a:solidFill>
              </a:rPr>
              <a:t>the search space is reduced by defining slices.</a:t>
            </a:r>
            <a:r>
              <a:rPr lang="en-GB"/>
              <a:t> 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A slice is defined for a particular variable at a particular statement: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set of source lines preceding this statement which can influence the value of the variable.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1043608" y="123478"/>
            <a:ext cx="79928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Program Slicing       cont …</a:t>
            </a:r>
            <a:endParaRPr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1043608" y="843558"/>
            <a:ext cx="7992888" cy="424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Slice of a program w.r.t. program point </a:t>
            </a:r>
            <a:r>
              <a:rPr b="1" lang="en-GB"/>
              <a:t>p</a:t>
            </a:r>
            <a:r>
              <a:rPr lang="en-GB"/>
              <a:t> and variable </a:t>
            </a:r>
            <a:r>
              <a:rPr b="1" lang="en-GB"/>
              <a:t>x</a:t>
            </a:r>
            <a:r>
              <a:rPr lang="en-GB"/>
              <a:t>: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Font typeface="Gill Sans"/>
              <a:buNone/>
            </a:pPr>
            <a:r>
              <a:rPr lang="en-GB" sz="2800"/>
              <a:t>         - All statements and predicates that might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Font typeface="Gill Sans"/>
              <a:buNone/>
            </a:pPr>
            <a:r>
              <a:rPr lang="en-GB" sz="2800"/>
              <a:t>           affect the value of </a:t>
            </a:r>
            <a:r>
              <a:rPr b="1" lang="en-GB" sz="2800"/>
              <a:t>x</a:t>
            </a:r>
            <a:r>
              <a:rPr lang="en-GB" sz="2800"/>
              <a:t> at point </a:t>
            </a:r>
            <a:r>
              <a:rPr b="1" lang="en-GB" sz="2800"/>
              <a:t>p</a:t>
            </a:r>
            <a:r>
              <a:rPr lang="en-GB" sz="2800"/>
              <a:t>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Font typeface="Gill Sans"/>
              <a:buNone/>
            </a:pPr>
            <a:r>
              <a:t/>
            </a:r>
            <a:endParaRPr sz="28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&lt;</a:t>
            </a:r>
            <a:r>
              <a:rPr b="1" lang="en-GB"/>
              <a:t>p</a:t>
            </a:r>
            <a:r>
              <a:rPr lang="en-GB"/>
              <a:t>, </a:t>
            </a:r>
            <a:r>
              <a:rPr b="1" lang="en-GB"/>
              <a:t>x</a:t>
            </a:r>
            <a:r>
              <a:rPr lang="en-GB"/>
              <a:t>&gt; known as slicing criterion.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1043608" y="123478"/>
            <a:ext cx="79928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1115616" y="843558"/>
            <a:ext cx="8229600" cy="4299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b="1" lang="en-GB" sz="2300"/>
              <a:t>1 main( )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lang="en-GB" sz="2300"/>
              <a:t>2 {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lang="en-GB" sz="2300"/>
              <a:t>3   int i, sum;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lang="en-GB" sz="2300"/>
              <a:t>4   sum = 0;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b="1" lang="en-GB" sz="2300"/>
              <a:t>5   i = 1;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b="1" lang="en-GB" sz="2300"/>
              <a:t>6   while(i &lt;= 10)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lang="en-GB" sz="2300"/>
              <a:t>7          {</a:t>
            </a:r>
            <a:endParaRPr/>
          </a:p>
          <a:p>
            <a:pPr indent="-609625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lain" startAt="8"/>
            </a:pPr>
            <a:r>
              <a:rPr lang="en-GB" sz="2300"/>
              <a:t>Sum = sum + 1;</a:t>
            </a:r>
            <a:endParaRPr/>
          </a:p>
          <a:p>
            <a:pPr indent="-609625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lain" startAt="8"/>
            </a:pPr>
            <a:r>
              <a:rPr b="1" lang="en-GB" sz="2300"/>
              <a:t>++ i;</a:t>
            </a:r>
            <a:endParaRPr/>
          </a:p>
          <a:p>
            <a:pPr indent="-609625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lain" startAt="8"/>
            </a:pPr>
            <a:r>
              <a:rPr lang="en-GB" sz="2300"/>
              <a:t>  }</a:t>
            </a:r>
            <a:endParaRPr/>
          </a:p>
          <a:p>
            <a:pPr indent="-609625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lain" startAt="8"/>
            </a:pPr>
            <a:r>
              <a:rPr lang="en-GB" sz="2300"/>
              <a:t>printf(“%d”, sum);</a:t>
            </a:r>
            <a:endParaRPr/>
          </a:p>
          <a:p>
            <a:pPr indent="-609625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lain" startAt="8"/>
            </a:pPr>
            <a:r>
              <a:rPr b="1" lang="en-GB" sz="2300"/>
              <a:t>printf(“%d”, i);</a:t>
            </a:r>
            <a:endParaRPr/>
          </a:p>
          <a:p>
            <a:pPr indent="-609625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lain" startAt="8"/>
            </a:pPr>
            <a:r>
              <a:rPr lang="en-GB" sz="2300"/>
              <a:t>}</a:t>
            </a:r>
            <a:endParaRPr/>
          </a:p>
          <a:p>
            <a:pPr indent="-538734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9999"/>
              <a:buFont typeface="Gill Sans"/>
              <a:buNone/>
            </a:pPr>
            <a:r>
              <a:t/>
            </a:r>
            <a:endParaRPr sz="1800"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9999"/>
              <a:buFont typeface="Gill Sans"/>
              <a:buNone/>
            </a:pPr>
            <a:r>
              <a:rPr lang="en-GB" sz="1800"/>
              <a:t>   </a:t>
            </a:r>
            <a:r>
              <a:rPr lang="en-GB" sz="2600"/>
              <a:t>An Example Program &amp; its backward slice w.r.t. &lt;12, i&gt;</a:t>
            </a:r>
            <a:endParaRPr/>
          </a:p>
          <a:p>
            <a:pPr indent="-53086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 sz="2000"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 sz="2000"/>
          </a:p>
          <a:p>
            <a:pPr indent="-562356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 sz="1200"/>
          </a:p>
          <a:p>
            <a:pPr indent="-562356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 sz="1200"/>
          </a:p>
          <a:p>
            <a:pPr indent="-562356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 sz="1200"/>
          </a:p>
          <a:p>
            <a:pPr indent="-562356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1043608" y="123478"/>
            <a:ext cx="79928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Program Dependence Graph</a:t>
            </a:r>
            <a:endParaRPr/>
          </a:p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457200" y="1257301"/>
            <a:ext cx="8229600" cy="3394472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Font typeface="Gill Sans"/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88" name="Google Shape;188;p26"/>
          <p:cNvSpPr/>
          <p:nvPr/>
        </p:nvSpPr>
        <p:spPr>
          <a:xfrm>
            <a:off x="4114800" y="1371600"/>
            <a:ext cx="685800" cy="285750"/>
          </a:xfrm>
          <a:prstGeom prst="ellipse">
            <a:avLst/>
          </a:prstGeom>
          <a:solidFill>
            <a:srgbClr val="FFC000"/>
          </a:solidFill>
          <a:ln cap="flat" cmpd="sng" w="25400">
            <a:solidFill>
              <a:srgbClr val="2869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3962400" y="2286000"/>
            <a:ext cx="685800" cy="285750"/>
          </a:xfrm>
          <a:prstGeom prst="ellipse">
            <a:avLst/>
          </a:prstGeom>
          <a:solidFill>
            <a:srgbClr val="FFC000"/>
          </a:solidFill>
          <a:ln cap="flat" cmpd="sng" w="25400">
            <a:solidFill>
              <a:srgbClr val="2869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5105400" y="2228850"/>
            <a:ext cx="685800" cy="285750"/>
          </a:xfrm>
          <a:prstGeom prst="ellipse">
            <a:avLst/>
          </a:prstGeom>
          <a:solidFill>
            <a:srgbClr val="FFC000"/>
          </a:solidFill>
          <a:ln cap="flat" cmpd="sng" w="25400">
            <a:solidFill>
              <a:srgbClr val="2869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6096000" y="2171700"/>
            <a:ext cx="1066800" cy="40005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2869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11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4724400" y="3429000"/>
            <a:ext cx="685800" cy="28575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2869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8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1143000" y="2171700"/>
            <a:ext cx="685800" cy="28575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2869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239000" y="2057400"/>
            <a:ext cx="990600" cy="457200"/>
          </a:xfrm>
          <a:prstGeom prst="ellipse">
            <a:avLst/>
          </a:prstGeom>
          <a:solidFill>
            <a:srgbClr val="FFC000"/>
          </a:solidFill>
          <a:ln cap="flat" cmpd="sng" w="25400">
            <a:solidFill>
              <a:srgbClr val="2869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12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2667000" y="2286000"/>
            <a:ext cx="685800" cy="28575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2869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96" name="Google Shape;196;p26"/>
          <p:cNvCxnSpPr/>
          <p:nvPr/>
        </p:nvCxnSpPr>
        <p:spPr>
          <a:xfrm flipH="1">
            <a:off x="1828800" y="1543050"/>
            <a:ext cx="2209800" cy="657225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7" name="Google Shape;197;p26"/>
          <p:cNvCxnSpPr>
            <a:stCxn id="188" idx="3"/>
          </p:cNvCxnSpPr>
          <p:nvPr/>
        </p:nvCxnSpPr>
        <p:spPr>
          <a:xfrm flipH="1">
            <a:off x="3277133" y="1615503"/>
            <a:ext cx="938100" cy="670200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8" name="Google Shape;198;p26"/>
          <p:cNvCxnSpPr>
            <a:stCxn id="188" idx="4"/>
            <a:endCxn id="189" idx="0"/>
          </p:cNvCxnSpPr>
          <p:nvPr/>
        </p:nvCxnSpPr>
        <p:spPr>
          <a:xfrm flipH="1">
            <a:off x="4305300" y="1657350"/>
            <a:ext cx="152400" cy="628500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9" name="Google Shape;199;p26"/>
          <p:cNvCxnSpPr>
            <a:stCxn id="188" idx="5"/>
            <a:endCxn id="190" idx="0"/>
          </p:cNvCxnSpPr>
          <p:nvPr/>
        </p:nvCxnSpPr>
        <p:spPr>
          <a:xfrm>
            <a:off x="4700167" y="1615503"/>
            <a:ext cx="748200" cy="613200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0" name="Google Shape;200;p26"/>
          <p:cNvCxnSpPr>
            <a:stCxn id="188" idx="6"/>
          </p:cNvCxnSpPr>
          <p:nvPr/>
        </p:nvCxnSpPr>
        <p:spPr>
          <a:xfrm>
            <a:off x="4800600" y="1514475"/>
            <a:ext cx="1600200" cy="657300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1" name="Google Shape;201;p26"/>
          <p:cNvCxnSpPr>
            <a:stCxn id="188" idx="7"/>
          </p:cNvCxnSpPr>
          <p:nvPr/>
        </p:nvCxnSpPr>
        <p:spPr>
          <a:xfrm>
            <a:off x="4700167" y="1413447"/>
            <a:ext cx="2766900" cy="644100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2" name="Google Shape;202;p26"/>
          <p:cNvSpPr/>
          <p:nvPr/>
        </p:nvSpPr>
        <p:spPr>
          <a:xfrm>
            <a:off x="6324600" y="3429000"/>
            <a:ext cx="685800" cy="285750"/>
          </a:xfrm>
          <a:prstGeom prst="ellipse">
            <a:avLst/>
          </a:prstGeom>
          <a:solidFill>
            <a:srgbClr val="FFC000"/>
          </a:solidFill>
          <a:ln cap="flat" cmpd="sng" w="25400">
            <a:solidFill>
              <a:srgbClr val="2869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03" name="Google Shape;203;p26"/>
          <p:cNvCxnSpPr>
            <a:stCxn id="190" idx="4"/>
          </p:cNvCxnSpPr>
          <p:nvPr/>
        </p:nvCxnSpPr>
        <p:spPr>
          <a:xfrm flipH="1">
            <a:off x="5181600" y="2514600"/>
            <a:ext cx="266700" cy="857400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4" name="Google Shape;204;p26"/>
          <p:cNvCxnSpPr>
            <a:stCxn id="190" idx="5"/>
            <a:endCxn id="202" idx="0"/>
          </p:cNvCxnSpPr>
          <p:nvPr/>
        </p:nvCxnSpPr>
        <p:spPr>
          <a:xfrm>
            <a:off x="5690767" y="2472753"/>
            <a:ext cx="976800" cy="956100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5" name="Google Shape;205;p26"/>
          <p:cNvCxnSpPr>
            <a:stCxn id="189" idx="6"/>
            <a:endCxn id="190" idx="2"/>
          </p:cNvCxnSpPr>
          <p:nvPr/>
        </p:nvCxnSpPr>
        <p:spPr>
          <a:xfrm flipH="1" rot="10800000">
            <a:off x="4648200" y="2371875"/>
            <a:ext cx="457200" cy="57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6" name="Google Shape;206;p26"/>
          <p:cNvCxnSpPr>
            <a:stCxn id="189" idx="4"/>
            <a:endCxn id="202" idx="3"/>
          </p:cNvCxnSpPr>
          <p:nvPr/>
        </p:nvCxnSpPr>
        <p:spPr>
          <a:xfrm flipH="1" rot="-5400000">
            <a:off x="4814550" y="2062500"/>
            <a:ext cx="1101300" cy="2119800"/>
          </a:xfrm>
          <a:prstGeom prst="bentConnector3">
            <a:avLst>
              <a:gd fmla="val 119373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7" name="Google Shape;207;p26"/>
          <p:cNvCxnSpPr>
            <a:endCxn id="202" idx="6"/>
          </p:cNvCxnSpPr>
          <p:nvPr/>
        </p:nvCxnSpPr>
        <p:spPr>
          <a:xfrm flipH="1" rot="10800000">
            <a:off x="6788100" y="3571875"/>
            <a:ext cx="222300" cy="147600"/>
          </a:xfrm>
          <a:prstGeom prst="bentConnector3">
            <a:avLst>
              <a:gd fmla="val 202834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8" name="Google Shape;208;p26"/>
          <p:cNvCxnSpPr>
            <a:stCxn id="195" idx="4"/>
          </p:cNvCxnSpPr>
          <p:nvPr/>
        </p:nvCxnSpPr>
        <p:spPr>
          <a:xfrm>
            <a:off x="3009900" y="2571750"/>
            <a:ext cx="1790700" cy="857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9" name="Google Shape;209;p26"/>
          <p:cNvCxnSpPr/>
          <p:nvPr/>
        </p:nvCxnSpPr>
        <p:spPr>
          <a:xfrm flipH="1" rot="10800000">
            <a:off x="5181600" y="3600488"/>
            <a:ext cx="222300" cy="147600"/>
          </a:xfrm>
          <a:prstGeom prst="bentConnector3">
            <a:avLst>
              <a:gd fmla="val 202811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0" name="Google Shape;210;p26"/>
          <p:cNvCxnSpPr>
            <a:endCxn id="191" idx="3"/>
          </p:cNvCxnSpPr>
          <p:nvPr/>
        </p:nvCxnSpPr>
        <p:spPr>
          <a:xfrm flipH="1" rot="10800000">
            <a:off x="5334529" y="2513164"/>
            <a:ext cx="917700" cy="91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1" name="Google Shape;211;p26"/>
          <p:cNvCxnSpPr>
            <a:stCxn id="202" idx="7"/>
          </p:cNvCxnSpPr>
          <p:nvPr/>
        </p:nvCxnSpPr>
        <p:spPr>
          <a:xfrm flipH="1" rot="10800000">
            <a:off x="6909967" y="2514747"/>
            <a:ext cx="633300" cy="95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2" name="Google Shape;212;p26"/>
          <p:cNvCxnSpPr>
            <a:stCxn id="189" idx="6"/>
            <a:endCxn id="190" idx="2"/>
          </p:cNvCxnSpPr>
          <p:nvPr/>
        </p:nvCxnSpPr>
        <p:spPr>
          <a:xfrm flipH="1" rot="10800000">
            <a:off x="4648200" y="2371875"/>
            <a:ext cx="457200" cy="5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3" name="Google Shape;213;p26"/>
          <p:cNvCxnSpPr>
            <a:stCxn id="202" idx="1"/>
          </p:cNvCxnSpPr>
          <p:nvPr/>
        </p:nvCxnSpPr>
        <p:spPr>
          <a:xfrm rot="10800000">
            <a:off x="5563133" y="2514747"/>
            <a:ext cx="861900" cy="95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4" name="Google Shape;214;p26"/>
          <p:cNvCxnSpPr>
            <a:stCxn id="189" idx="3"/>
            <a:endCxn id="194" idx="5"/>
          </p:cNvCxnSpPr>
          <p:nvPr/>
        </p:nvCxnSpPr>
        <p:spPr>
          <a:xfrm rot="-5400000">
            <a:off x="6032633" y="477903"/>
            <a:ext cx="82200" cy="4021800"/>
          </a:xfrm>
          <a:prstGeom prst="bentConnector3">
            <a:avLst>
              <a:gd fmla="val -259370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5" name="Google Shape;215;p26"/>
          <p:cNvCxnSpPr/>
          <p:nvPr/>
        </p:nvCxnSpPr>
        <p:spPr>
          <a:xfrm>
            <a:off x="838200" y="3600450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6" name="Google Shape;216;p26"/>
          <p:cNvCxnSpPr/>
          <p:nvPr/>
        </p:nvCxnSpPr>
        <p:spPr>
          <a:xfrm>
            <a:off x="914400" y="4057650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7" name="Google Shape;217;p26"/>
          <p:cNvSpPr txBox="1"/>
          <p:nvPr/>
        </p:nvSpPr>
        <p:spPr>
          <a:xfrm>
            <a:off x="838200" y="3657601"/>
            <a:ext cx="1905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Control Dependency Edge</a:t>
            </a:r>
            <a:endParaRPr sz="1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914400" y="4171951"/>
            <a:ext cx="1905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 Dependency Edge</a:t>
            </a:r>
            <a:endParaRPr sz="1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406400" y="171450"/>
            <a:ext cx="7770813" cy="856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225" name="Google Shape;225;p27"/>
          <p:cNvSpPr txBox="1"/>
          <p:nvPr/>
        </p:nvSpPr>
        <p:spPr>
          <a:xfrm>
            <a:off x="3779912" y="915566"/>
            <a:ext cx="3198813" cy="4001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-514350" lvl="0" marL="5143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AutoNum type="arabicPeriod"/>
            </a:pPr>
            <a:r>
              <a:rPr lang="en-GB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 main( ){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marR="0" rtl="0" algn="l">
              <a:lnSpc>
                <a:spcPct val="85000"/>
              </a:lnSpc>
              <a:spcBef>
                <a:spcPts val="725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Gill Sans"/>
              <a:buAutoNum type="arabicPeriod"/>
            </a:pPr>
            <a:r>
              <a:rPr lang="en-GB" sz="24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int  </a:t>
            </a:r>
            <a:r>
              <a:rPr lang="en-GB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i, s;</a:t>
            </a:r>
            <a:endParaRPr/>
          </a:p>
          <a:p>
            <a:pPr indent="-514350" lvl="0" marL="514350" marR="0" rtl="0" algn="l">
              <a:lnSpc>
                <a:spcPct val="85000"/>
              </a:lnSpc>
              <a:spcBef>
                <a:spcPts val="72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AutoNum type="arabicPeriod"/>
            </a:pPr>
            <a:r>
              <a:rPr lang="en-GB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GB" sz="24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i=1;</a:t>
            </a:r>
            <a:r>
              <a:rPr lang="en-GB" sz="2400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2400">
              <a:solidFill>
                <a:srgbClr val="FFFF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marR="0" rtl="0" algn="l">
              <a:lnSpc>
                <a:spcPct val="85000"/>
              </a:lnSpc>
              <a:spcBef>
                <a:spcPts val="72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AutoNum type="arabicPeriod"/>
            </a:pPr>
            <a:r>
              <a:rPr lang="en-GB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s=1;</a:t>
            </a:r>
            <a:endParaRPr/>
          </a:p>
          <a:p>
            <a:pPr indent="-514350" lvl="0" marL="514350" marR="0" rtl="0" algn="l">
              <a:lnSpc>
                <a:spcPct val="85000"/>
              </a:lnSpc>
              <a:spcBef>
                <a:spcPts val="72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AutoNum type="arabicPeriod"/>
            </a:pPr>
            <a:r>
              <a:rPr lang="en-GB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GB" sz="24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while(i&lt;=10){</a:t>
            </a:r>
            <a:endParaRPr sz="2400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marR="0" rtl="0" algn="l">
              <a:lnSpc>
                <a:spcPct val="85000"/>
              </a:lnSpc>
              <a:spcBef>
                <a:spcPts val="72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AutoNum type="arabicPeriod"/>
            </a:pPr>
            <a:r>
              <a:rPr lang="en-GB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s=s+i;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marR="0" rtl="0" algn="l">
              <a:lnSpc>
                <a:spcPct val="85000"/>
              </a:lnSpc>
              <a:spcBef>
                <a:spcPts val="725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Gill Sans"/>
              <a:buAutoNum type="arabicPeriod"/>
            </a:pPr>
            <a:r>
              <a:rPr lang="en-GB" sz="24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       i++;}</a:t>
            </a:r>
            <a:endParaRPr/>
          </a:p>
          <a:p>
            <a:pPr indent="-514350" lvl="0" marL="514350" marR="0" rtl="0" algn="l">
              <a:lnSpc>
                <a:spcPct val="85000"/>
              </a:lnSpc>
              <a:spcBef>
                <a:spcPts val="72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AutoNum type="arabicPeriod"/>
            </a:pPr>
            <a:r>
              <a:rPr lang="en-GB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printf(“%d”,s);</a:t>
            </a:r>
            <a:endParaRPr/>
          </a:p>
          <a:p>
            <a:pPr indent="-514350" lvl="0" marL="514350" marR="0" rtl="0" algn="l">
              <a:lnSpc>
                <a:spcPct val="85000"/>
              </a:lnSpc>
              <a:spcBef>
                <a:spcPts val="725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Gill Sans"/>
              <a:buAutoNum type="arabicPeriod"/>
            </a:pPr>
            <a:r>
              <a:rPr lang="en-GB" sz="24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printf(“%d”,i);</a:t>
            </a:r>
            <a:endParaRPr/>
          </a:p>
          <a:p>
            <a:pPr indent="-514350" lvl="0" marL="514350" marR="0" rtl="0" algn="l">
              <a:lnSpc>
                <a:spcPct val="85000"/>
              </a:lnSpc>
              <a:spcBef>
                <a:spcPts val="72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AutoNum type="arabicPeriod"/>
            </a:pPr>
            <a:r>
              <a:rPr lang="en-GB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/>
          </a:p>
        </p:txBody>
      </p:sp>
      <p:cxnSp>
        <p:nvCxnSpPr>
          <p:cNvPr id="226" name="Google Shape;226;p27"/>
          <p:cNvCxnSpPr/>
          <p:nvPr/>
        </p:nvCxnSpPr>
        <p:spPr>
          <a:xfrm rot="10800000">
            <a:off x="5181600" y="3886200"/>
            <a:ext cx="1600200" cy="0"/>
          </a:xfrm>
          <a:prstGeom prst="straightConnector1">
            <a:avLst/>
          </a:prstGeom>
          <a:noFill/>
          <a:ln cap="flat" cmpd="sng" w="38150">
            <a:solidFill>
              <a:srgbClr val="FFFFFF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227" name="Google Shape;227;p27"/>
          <p:cNvSpPr/>
          <p:nvPr/>
        </p:nvSpPr>
        <p:spPr>
          <a:xfrm>
            <a:off x="1115616" y="915566"/>
            <a:ext cx="288032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7030A0"/>
                </a:solidFill>
                <a:latin typeface="Cambria Math"/>
                <a:ea typeface="Cambria Math"/>
                <a:cs typeface="Cambria Math"/>
                <a:sym typeface="Cambria Math"/>
              </a:rPr>
              <a:t>An Example Program</a:t>
            </a:r>
            <a:endParaRPr/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7030A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7030A0"/>
                </a:solidFill>
                <a:latin typeface="Cambria Math"/>
                <a:ea typeface="Cambria Math"/>
                <a:cs typeface="Cambria Math"/>
                <a:sym typeface="Cambria Math"/>
              </a:rPr>
              <a:t>&amp; its slice w.r.t. &lt;9, i&gt;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1043608" y="9178"/>
            <a:ext cx="7992888" cy="546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Types of Slices</a:t>
            </a:r>
            <a:endParaRPr/>
          </a:p>
        </p:txBody>
      </p:sp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1043608" y="627534"/>
            <a:ext cx="7992888" cy="433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82296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GB" sz="2400"/>
              <a:t>Static Slice: </a:t>
            </a:r>
            <a:r>
              <a:rPr lang="en-GB" sz="2400"/>
              <a:t>Statements that may affect value of a variable at a program point for </a:t>
            </a:r>
            <a:r>
              <a:rPr i="1" lang="en-GB" sz="2400"/>
              <a:t>all possible executions</a:t>
            </a:r>
            <a:r>
              <a:rPr lang="en-GB" sz="2400"/>
              <a:t>.</a:t>
            </a:r>
            <a:endParaRPr/>
          </a:p>
          <a:p>
            <a:pPr indent="0" lvl="0" marL="82296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0" lvl="0" marL="82296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b="1" lang="en-GB" sz="2400"/>
              <a:t>Dynamic Slice:</a:t>
            </a:r>
            <a:r>
              <a:rPr lang="en-GB" sz="2400"/>
              <a:t> Statements that actually affect value of a variable at a program point for </a:t>
            </a:r>
            <a:r>
              <a:rPr i="1" lang="en-GB" sz="2400"/>
              <a:t>that particular execution</a:t>
            </a:r>
            <a:r>
              <a:rPr lang="en-GB" sz="2400"/>
              <a:t>.</a:t>
            </a:r>
            <a:endParaRPr/>
          </a:p>
          <a:p>
            <a:pPr indent="0" lvl="0" marL="82296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0" lvl="0" marL="82296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b="1" lang="en-GB" sz="2400"/>
              <a:t>Backward Slice:</a:t>
            </a:r>
            <a:r>
              <a:rPr lang="en-GB" sz="2400"/>
              <a:t> Statements that </a:t>
            </a:r>
            <a:r>
              <a:rPr i="1" lang="en-GB" sz="2400"/>
              <a:t>might have</a:t>
            </a:r>
            <a:r>
              <a:rPr lang="en-GB" sz="2400"/>
              <a:t> affected the variable at a program point.</a:t>
            </a:r>
            <a:endParaRPr/>
          </a:p>
          <a:p>
            <a:pPr indent="0" lvl="0" marL="82296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0" lvl="0" marL="82296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b="1" lang="en-GB" sz="2400"/>
              <a:t>Forward Slice:</a:t>
            </a:r>
            <a:r>
              <a:rPr lang="en-GB" sz="2400"/>
              <a:t> Statements that </a:t>
            </a:r>
            <a:r>
              <a:rPr i="1" lang="en-GB" sz="2400"/>
              <a:t>might be</a:t>
            </a:r>
            <a:r>
              <a:rPr lang="en-GB" sz="2400"/>
              <a:t> affected by the variable at a program point.</a:t>
            </a:r>
            <a:endParaRPr/>
          </a:p>
          <a:p>
            <a:pPr indent="0" lvl="0" marL="82296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type="title"/>
          </p:nvPr>
        </p:nvSpPr>
        <p:spPr>
          <a:xfrm>
            <a:off x="1043608" y="123478"/>
            <a:ext cx="79928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Example of Forward Slice</a:t>
            </a:r>
            <a:endParaRPr/>
          </a:p>
        </p:txBody>
      </p:sp>
      <p:sp>
        <p:nvSpPr>
          <p:cNvPr id="239" name="Google Shape;239;p29"/>
          <p:cNvSpPr txBox="1"/>
          <p:nvPr>
            <p:ph idx="1" type="body"/>
          </p:nvPr>
        </p:nvSpPr>
        <p:spPr>
          <a:xfrm>
            <a:off x="1115616" y="915566"/>
            <a:ext cx="8229600" cy="3939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lang="en-GB" sz="2300"/>
              <a:t>1 main( )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lang="en-GB" sz="2300"/>
              <a:t>2 {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lang="en-GB" sz="2300"/>
              <a:t>3   int i, sum;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lang="en-GB" sz="2300"/>
              <a:t>4   sum = 0;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b="1" lang="en-GB" sz="2300"/>
              <a:t>5   i = 1;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b="1" lang="en-GB" sz="2300"/>
              <a:t>6   while(i &lt;= 10)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lang="en-GB" sz="2300"/>
              <a:t>7          {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lain" startAt="8"/>
            </a:pPr>
            <a:r>
              <a:rPr b="1" lang="en-GB" sz="2300"/>
              <a:t>sum = sum + 1;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lain" startAt="8"/>
            </a:pPr>
            <a:r>
              <a:rPr b="1" lang="en-GB" sz="2300"/>
              <a:t>++ i;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lain" startAt="8"/>
            </a:pPr>
            <a:r>
              <a:rPr b="1" lang="en-GB" sz="2300"/>
              <a:t>  }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lain" startAt="8"/>
            </a:pPr>
            <a:r>
              <a:rPr b="1" lang="en-GB" sz="2300"/>
              <a:t>printf(“%d”, sum);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lain" startAt="8"/>
            </a:pPr>
            <a:r>
              <a:rPr b="1" lang="en-GB" sz="2300"/>
              <a:t>printf(“%d”, i);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lain" startAt="8"/>
            </a:pPr>
            <a:r>
              <a:rPr lang="en-GB" sz="2300"/>
              <a:t>}</a:t>
            </a:r>
            <a:endParaRPr/>
          </a:p>
          <a:p>
            <a:pPr indent="-545592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9999"/>
              <a:buFont typeface="Gill Sans"/>
              <a:buNone/>
            </a:pPr>
            <a:r>
              <a:t/>
            </a:r>
            <a:endParaRPr sz="1800"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rPr lang="en-GB" sz="2900"/>
              <a:t>   An Example Program &amp; its forward slice w.r.t. &lt;5, i&gt;</a:t>
            </a:r>
            <a:endParaRPr/>
          </a:p>
          <a:p>
            <a:pPr indent="-53848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 sz="2000"/>
          </a:p>
          <a:p>
            <a:pPr indent="-609600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 sz="2000"/>
          </a:p>
          <a:p>
            <a:pPr indent="-566928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 sz="1200"/>
          </a:p>
          <a:p>
            <a:pPr indent="-566928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 sz="1200"/>
          </a:p>
          <a:p>
            <a:pPr indent="-566928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 sz="1200"/>
          </a:p>
          <a:p>
            <a:pPr indent="-566928" lvl="0" marL="609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>
            <p:ph type="title"/>
          </p:nvPr>
        </p:nvSpPr>
        <p:spPr>
          <a:xfrm>
            <a:off x="1043608" y="123478"/>
            <a:ext cx="79928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Types of Slices    </a:t>
            </a:r>
            <a:r>
              <a:rPr lang="en-GB" sz="2400"/>
              <a:t>cont …</a:t>
            </a:r>
            <a:endParaRPr sz="2400"/>
          </a:p>
        </p:txBody>
      </p:sp>
      <p:sp>
        <p:nvSpPr>
          <p:cNvPr id="245" name="Google Shape;245;p30"/>
          <p:cNvSpPr txBox="1"/>
          <p:nvPr>
            <p:ph idx="1" type="body"/>
          </p:nvPr>
        </p:nvSpPr>
        <p:spPr>
          <a:xfrm>
            <a:off x="1043608" y="843558"/>
            <a:ext cx="7992888" cy="424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b="1" lang="en-GB" sz="2800"/>
              <a:t>Intra-Procedural Slice: </a:t>
            </a:r>
            <a:r>
              <a:rPr lang="en-GB" sz="2800"/>
              <a:t>for programs having only one procedure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 sz="2400"/>
              <a:t>Not applicable for OOPs</a:t>
            </a:r>
            <a:endParaRPr sz="2400"/>
          </a:p>
          <a:p>
            <a:pPr indent="-85344" lvl="1" marL="640080" rtl="0" algn="just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b="1" lang="en-GB" sz="2800"/>
              <a:t>Inter-Procedural Slice: </a:t>
            </a:r>
            <a:r>
              <a:rPr lang="en-GB" sz="2800"/>
              <a:t>for programs having more than one procedure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 sz="2400"/>
              <a:t>Applicable for OOPs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title"/>
          </p:nvPr>
        </p:nvSpPr>
        <p:spPr>
          <a:xfrm>
            <a:off x="1043608" y="123478"/>
            <a:ext cx="79928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 sz="3600"/>
              <a:t>Applications of Slicing</a:t>
            </a:r>
            <a:endParaRPr/>
          </a:p>
        </p:txBody>
      </p:sp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1043608" y="843558"/>
            <a:ext cx="7992888" cy="424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Debugging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Program understanding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Testing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Software maintenance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Complexity measurement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Program integration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 sz="2800">
                <a:highlight>
                  <a:srgbClr val="00FF00"/>
                </a:highlight>
              </a:rPr>
              <a:t>Reverse engineering</a:t>
            </a:r>
            <a:endParaRPr>
              <a:highlight>
                <a:srgbClr val="00FF00"/>
              </a:highlight>
            </a:endParaRPr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Software reuse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type="title"/>
          </p:nvPr>
        </p:nvSpPr>
        <p:spPr>
          <a:xfrm>
            <a:off x="406400" y="171450"/>
            <a:ext cx="7770813" cy="856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Debugging Guidelines</a:t>
            </a:r>
            <a:endParaRPr/>
          </a:p>
        </p:txBody>
      </p:sp>
      <p:sp>
        <p:nvSpPr>
          <p:cNvPr id="258" name="Google Shape;258;p32"/>
          <p:cNvSpPr txBox="1"/>
          <p:nvPr>
            <p:ph idx="1" type="body"/>
          </p:nvPr>
        </p:nvSpPr>
        <p:spPr>
          <a:xfrm>
            <a:off x="1043608" y="843558"/>
            <a:ext cx="7992888" cy="424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Debugging usually requires a thorough understanding of the program design.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Debugging may sometimes require full redesign of the system. 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40"/>
              <a:buChar char="⚫"/>
            </a:pPr>
            <a:r>
              <a:rPr lang="en-GB">
                <a:solidFill>
                  <a:srgbClr val="0000FF"/>
                </a:solidFill>
              </a:rPr>
              <a:t>A common mistake novice programmers often make: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not fixing the error but the error  symptoms.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/>
          <p:nvPr>
            <p:ph type="title"/>
          </p:nvPr>
        </p:nvSpPr>
        <p:spPr>
          <a:xfrm>
            <a:off x="539552" y="51470"/>
            <a:ext cx="7770813" cy="856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Debugging Guidelines</a:t>
            </a:r>
            <a:endParaRPr/>
          </a:p>
        </p:txBody>
      </p:sp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1043608" y="843558"/>
            <a:ext cx="7992888" cy="424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Be aware of the possibility: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an error correction may introduce new errors.</a:t>
            </a:r>
            <a:r>
              <a:rPr lang="en-GB">
                <a:solidFill>
                  <a:srgbClr val="FFFF00"/>
                </a:solidFill>
              </a:rPr>
              <a:t>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After every round of </a:t>
            </a:r>
            <a:r>
              <a:rPr lang="en-GB" sz="2800"/>
              <a:t>error-fixing: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regression testing  must be carried out.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type="title"/>
          </p:nvPr>
        </p:nvSpPr>
        <p:spPr>
          <a:xfrm>
            <a:off x="611560" y="0"/>
            <a:ext cx="7770813" cy="823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Program Analysis Tools</a:t>
            </a:r>
            <a:endParaRPr/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1043608" y="1131590"/>
            <a:ext cx="7920880" cy="31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An automated tool: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takes program source code as input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produces reports regarding several important characteristics of the program,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such as size, complexity, adequacy of commenting, adherence to programming</a:t>
            </a:r>
            <a:r>
              <a:rPr lang="en-GB" sz="2400"/>
              <a:t> </a:t>
            </a:r>
            <a:r>
              <a:rPr lang="en-GB"/>
              <a:t>standards, etc.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971600" y="171450"/>
            <a:ext cx="7205613" cy="528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Program Analysis Tools</a:t>
            </a:r>
            <a:endParaRPr/>
          </a:p>
        </p:txBody>
      </p:sp>
      <p:sp>
        <p:nvSpPr>
          <p:cNvPr id="279" name="Google Shape;279;p35"/>
          <p:cNvSpPr txBox="1"/>
          <p:nvPr>
            <p:ph idx="1" type="body"/>
          </p:nvPr>
        </p:nvSpPr>
        <p:spPr>
          <a:xfrm>
            <a:off x="1043608" y="843558"/>
            <a:ext cx="7992888" cy="424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Some program analysis tools: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produce reports regarding the adequacy of the test cases.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There are essentially two categories of program analysis tools: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Static analysis tools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Dynamic analysis tools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>
            <p:ph type="title"/>
          </p:nvPr>
        </p:nvSpPr>
        <p:spPr>
          <a:xfrm>
            <a:off x="406400" y="171450"/>
            <a:ext cx="7770813" cy="856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Static Analysis Tools</a:t>
            </a:r>
            <a:endParaRPr/>
          </a:p>
        </p:txBody>
      </p:sp>
      <p:sp>
        <p:nvSpPr>
          <p:cNvPr id="286" name="Google Shape;286;p36"/>
          <p:cNvSpPr txBox="1"/>
          <p:nvPr>
            <p:ph idx="1" type="body"/>
          </p:nvPr>
        </p:nvSpPr>
        <p:spPr>
          <a:xfrm>
            <a:off x="1043608" y="843558"/>
            <a:ext cx="7992888" cy="424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Static analysis tools: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Assess  properties of a program without executing it.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Analyze the source code </a:t>
            </a:r>
            <a:endParaRPr/>
          </a:p>
          <a:p>
            <a:pPr indent="-228599" lvl="2" marL="886967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-GB">
                <a:solidFill>
                  <a:srgbClr val="0000FF"/>
                </a:solidFill>
              </a:rPr>
              <a:t>provide analytical conclusions.</a:t>
            </a:r>
            <a:r>
              <a:rPr lang="en-GB">
                <a:solidFill>
                  <a:srgbClr val="FFFF00"/>
                </a:solidFill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type="title"/>
          </p:nvPr>
        </p:nvSpPr>
        <p:spPr>
          <a:xfrm>
            <a:off x="406400" y="171450"/>
            <a:ext cx="7770813" cy="856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Static Analysis Tools</a:t>
            </a:r>
            <a:endParaRPr/>
          </a:p>
        </p:txBody>
      </p:sp>
      <p:sp>
        <p:nvSpPr>
          <p:cNvPr id="293" name="Google Shape;293;p37"/>
          <p:cNvSpPr txBox="1"/>
          <p:nvPr>
            <p:ph idx="1" type="body"/>
          </p:nvPr>
        </p:nvSpPr>
        <p:spPr>
          <a:xfrm>
            <a:off x="1115616" y="1059582"/>
            <a:ext cx="8177213" cy="374441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Whether coding standards have been adhered to?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Commenting is adequate?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Programming errors such as: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uninitialized variables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mismatch between actual and formal parameters.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Variables declared but never used, etc.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>
            <p:ph type="title"/>
          </p:nvPr>
        </p:nvSpPr>
        <p:spPr>
          <a:xfrm>
            <a:off x="406400" y="171450"/>
            <a:ext cx="7770813" cy="856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Static Analysis Tools</a:t>
            </a:r>
            <a:endParaRPr/>
          </a:p>
        </p:txBody>
      </p:sp>
      <p:sp>
        <p:nvSpPr>
          <p:cNvPr id="300" name="Google Shape;300;p38"/>
          <p:cNvSpPr txBox="1"/>
          <p:nvPr>
            <p:ph idx="1" type="body"/>
          </p:nvPr>
        </p:nvSpPr>
        <p:spPr>
          <a:xfrm>
            <a:off x="1043608" y="928095"/>
            <a:ext cx="7992888" cy="424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Code walk through and inspection can also be considered as static analysis methods: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however, the term </a:t>
            </a:r>
            <a:r>
              <a:rPr lang="en-GB" u="sng">
                <a:solidFill>
                  <a:srgbClr val="0000FF"/>
                </a:solidFill>
              </a:rPr>
              <a:t>static program analysis</a:t>
            </a:r>
            <a:r>
              <a:rPr lang="en-GB">
                <a:solidFill>
                  <a:srgbClr val="0000FF"/>
                </a:solidFill>
              </a:rPr>
              <a:t> is generally used for automated analysis tools.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406400" y="171450"/>
            <a:ext cx="7770813" cy="856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Dynamic Analysis Tools</a:t>
            </a:r>
            <a:endParaRPr/>
          </a:p>
        </p:txBody>
      </p:sp>
      <p:sp>
        <p:nvSpPr>
          <p:cNvPr id="307" name="Google Shape;307;p39"/>
          <p:cNvSpPr txBox="1"/>
          <p:nvPr>
            <p:ph idx="1" type="body"/>
          </p:nvPr>
        </p:nvSpPr>
        <p:spPr>
          <a:xfrm>
            <a:off x="971600" y="1203598"/>
            <a:ext cx="7986837" cy="30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Dynamic program analysis tools require the program to be executed: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its behaviour recorded.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2400"/>
              <a:buChar char="◦"/>
            </a:pPr>
            <a:r>
              <a:rPr lang="en-GB">
                <a:solidFill>
                  <a:srgbClr val="0000FF"/>
                </a:solidFill>
              </a:rPr>
              <a:t>Produce reports such as, extent of coverage achieved,  adequacy of test cases, etc.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/>
          <p:nvPr>
            <p:ph type="title"/>
          </p:nvPr>
        </p:nvSpPr>
        <p:spPr>
          <a:xfrm>
            <a:off x="1043608" y="123478"/>
            <a:ext cx="79928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00" spcFirstLastPara="1" rIns="62200" wrap="square" tIns="31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313" name="Google Shape;313;p40"/>
          <p:cNvSpPr txBox="1"/>
          <p:nvPr>
            <p:ph idx="1" type="body"/>
          </p:nvPr>
        </p:nvSpPr>
        <p:spPr>
          <a:xfrm>
            <a:off x="1151112" y="771550"/>
            <a:ext cx="7992888" cy="43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00" spcFirstLastPara="1" rIns="62200" wrap="square" tIns="31100">
            <a:normAutofit lnSpcReduction="100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Discussed different debugging approaches.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Brute Force method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Symbolic Debugger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Backtracking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Cause-Elimination Method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Program Slicing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Presented some debugging guidelines.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/>
              <a:t>Explained the Program Analysis Tools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Static analysis tools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/>
              <a:t>Dynamic analysis tools</a:t>
            </a:r>
            <a:endParaRPr/>
          </a:p>
          <a:p>
            <a:pPr indent="-14122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314" name="Google Shape;314;p40"/>
          <p:cNvSpPr txBox="1"/>
          <p:nvPr>
            <p:ph idx="12" type="sldNum"/>
          </p:nvPr>
        </p:nvSpPr>
        <p:spPr>
          <a:xfrm>
            <a:off x="8613678" y="4728737"/>
            <a:ext cx="456876" cy="357518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00" spcFirstLastPara="1" rIns="62200" wrap="square" tIns="3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/>
        </p:nvSpPr>
        <p:spPr>
          <a:xfrm>
            <a:off x="1127609" y="209542"/>
            <a:ext cx="7864100" cy="645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9475" lIns="11325" spcFirstLastPara="1" rIns="11325" wrap="square" tIns="29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References </a:t>
            </a:r>
            <a:endParaRPr/>
          </a:p>
        </p:txBody>
      </p:sp>
      <p:sp>
        <p:nvSpPr>
          <p:cNvPr id="320" name="Google Shape;320;p41"/>
          <p:cNvSpPr/>
          <p:nvPr/>
        </p:nvSpPr>
        <p:spPr>
          <a:xfrm>
            <a:off x="1143811" y="1047710"/>
            <a:ext cx="7847898" cy="1370203"/>
          </a:xfrm>
          <a:prstGeom prst="rect">
            <a:avLst/>
          </a:prstGeom>
          <a:noFill/>
          <a:ln>
            <a:noFill/>
          </a:ln>
        </p:spPr>
        <p:txBody>
          <a:bodyPr anchorCtr="0" anchor="t" bIns="38375" lIns="76775" spcFirstLastPara="1" rIns="76775" wrap="square" tIns="38375">
            <a:noAutofit/>
          </a:bodyPr>
          <a:lstStyle/>
          <a:p>
            <a:pPr indent="-287971" lvl="0" marL="287971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ill Sans"/>
              <a:buAutoNum type="arabicPeriod"/>
            </a:pPr>
            <a:r>
              <a:rPr lang="en-GB" sz="2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Rajib Mall, Fundamentals of Software Engineering, (Chapter – 10), Fifth Edition, PHI Learning Pvt. Ltd., 2018.</a:t>
            </a:r>
            <a:endParaRPr/>
          </a:p>
          <a:p>
            <a:pPr indent="-287971" lvl="0" marL="287971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2"/>
          <p:cNvSpPr txBox="1"/>
          <p:nvPr>
            <p:ph type="title"/>
          </p:nvPr>
        </p:nvSpPr>
        <p:spPr>
          <a:xfrm>
            <a:off x="1043608" y="123478"/>
            <a:ext cx="79928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326" name="Google Shape;326;p42"/>
          <p:cNvSpPr txBox="1"/>
          <p:nvPr>
            <p:ph idx="1" type="body"/>
          </p:nvPr>
        </p:nvSpPr>
        <p:spPr>
          <a:xfrm>
            <a:off x="1043608" y="843558"/>
            <a:ext cx="7992888" cy="424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0" lvl="0" marL="8229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840"/>
              <a:buNone/>
            </a:pPr>
            <a:r>
              <a:rPr lang="en-GB" sz="4800"/>
              <a:t>Thank You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