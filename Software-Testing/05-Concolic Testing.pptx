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8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9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86" r:id="rId2"/>
    <p:sldMasterId id="2147483694" r:id="rId3"/>
    <p:sldMasterId id="2147483705" r:id="rId4"/>
    <p:sldMasterId id="2147483708" r:id="rId5"/>
    <p:sldMasterId id="2147483711" r:id="rId6"/>
    <p:sldMasterId id="2147483722" r:id="rId7"/>
    <p:sldMasterId id="2147483725" r:id="rId8"/>
    <p:sldMasterId id="2147483728" r:id="rId9"/>
    <p:sldMasterId id="2147483739" r:id="rId10"/>
  </p:sldMasterIdLst>
  <p:notesMasterIdLst>
    <p:notesMasterId r:id="rId51"/>
  </p:notesMasterIdLst>
  <p:sldIdLst>
    <p:sldId id="256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441" r:id="rId30"/>
    <p:sldId id="442" r:id="rId31"/>
    <p:sldId id="443" r:id="rId32"/>
    <p:sldId id="444" r:id="rId33"/>
    <p:sldId id="445" r:id="rId34"/>
    <p:sldId id="446" r:id="rId35"/>
    <p:sldId id="447" r:id="rId36"/>
    <p:sldId id="448" r:id="rId37"/>
    <p:sldId id="449" r:id="rId38"/>
    <p:sldId id="450" r:id="rId39"/>
    <p:sldId id="451" r:id="rId40"/>
    <p:sldId id="452" r:id="rId41"/>
    <p:sldId id="453" r:id="rId42"/>
    <p:sldId id="465" r:id="rId43"/>
    <p:sldId id="466" r:id="rId44"/>
    <p:sldId id="467" r:id="rId45"/>
    <p:sldId id="456" r:id="rId46"/>
    <p:sldId id="457" r:id="rId47"/>
    <p:sldId id="458" r:id="rId48"/>
    <p:sldId id="459" r:id="rId49"/>
    <p:sldId id="462" r:id="rId5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492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slide" Target="slides/slide3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8" Type="http://schemas.openxmlformats.org/officeDocument/2006/relationships/slideMaster" Target="slideMasters/slideMaster8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E58A282A-8D29-4A7B-ACBC-F9F8C0BE6E63}" type="slidenum">
              <a:rPr lang="en-IN" sz="1400">
                <a:latin typeface="Times New Roman"/>
              </a:rPr>
              <a:pPr algn="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940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>
            <a:normAutofit/>
          </a:bodyPr>
          <a:lstStyle>
            <a:lvl1pPr algn="l">
              <a:defRPr sz="360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t>3/22/2019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1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t>3/22/2019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4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>
            <a:normAutofit/>
          </a:bodyPr>
          <a:lstStyle>
            <a:lvl1pPr algn="l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1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4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>
            <a:normAutofit/>
          </a:bodyPr>
          <a:lstStyle>
            <a:lvl1pPr algn="l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1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4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>
            <a:normAutofit/>
          </a:bodyPr>
          <a:lstStyle>
            <a:lvl1pPr algn="l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1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4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>
            <a:normAutofit/>
          </a:bodyPr>
          <a:lstStyle>
            <a:lvl1pPr algn="ctr">
              <a:defRPr sz="36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7555992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3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257022F1-C60D-45F3-B5AD-6B06FE379946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0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06/03/18</a:t>
            </a:r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>
              <a:lnSpc>
                <a:spcPct val="100000"/>
              </a:lnSpc>
            </a:pPr>
            <a:fld id="{43311109-1F47-4745-9269-F613E9DAC307}" type="slidenum">
              <a:rPr lang="en-IN" sz="1200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990600" y="1646320"/>
            <a:ext cx="8076840" cy="11021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pc="-97" dirty="0"/>
              <a:t>Concolic </a:t>
            </a:r>
            <a:r>
              <a:rPr lang="en-US" sz="4400" spc="-53" dirty="0" smtClean="0"/>
              <a:t>Testing</a:t>
            </a:r>
            <a:endParaRPr sz="4400" dirty="0"/>
          </a:p>
        </p:txBody>
      </p:sp>
      <p:sp>
        <p:nvSpPr>
          <p:cNvPr id="84" name="TextShape 2"/>
          <p:cNvSpPr txBox="1"/>
          <p:nvPr/>
        </p:nvSpPr>
        <p:spPr>
          <a:xfrm>
            <a:off x="1867080" y="3098890"/>
            <a:ext cx="6400440" cy="131409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sz="3200">
                <a:solidFill>
                  <a:srgbClr val="8B8B8B"/>
                </a:solidFill>
                <a:latin typeface="Calibri"/>
              </a:rPr>
              <a:t>.</a:t>
            </a:r>
            <a:endParaRPr/>
          </a:p>
        </p:txBody>
      </p:sp>
      <p:sp>
        <p:nvSpPr>
          <p:cNvPr id="85" name="CustomShape 3"/>
          <p:cNvSpPr/>
          <p:nvPr/>
        </p:nvSpPr>
        <p:spPr>
          <a:xfrm>
            <a:off x="762000" y="3098890"/>
            <a:ext cx="8153400" cy="200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dirty="0">
                <a:solidFill>
                  <a:srgbClr val="000000"/>
                </a:solidFill>
                <a:latin typeface="Calibri"/>
              </a:rPr>
              <a:t>Prof. Durga Prasad Mohapatra</a:t>
            </a:r>
            <a:endParaRPr sz="2800" dirty="0"/>
          </a:p>
          <a:p>
            <a:pPr algn="ctr">
              <a:lnSpc>
                <a:spcPct val="100000"/>
              </a:lnSpc>
            </a:pPr>
            <a:r>
              <a:rPr lang="en-IN" sz="2800" dirty="0">
                <a:solidFill>
                  <a:srgbClr val="000000"/>
                </a:solidFill>
                <a:latin typeface="Calibri"/>
              </a:rPr>
              <a:t>Professor </a:t>
            </a:r>
            <a:endParaRPr lang="en-IN" sz="2800" dirty="0" smtClean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IN" sz="2800" dirty="0" err="1" smtClean="0">
                <a:solidFill>
                  <a:srgbClr val="000000"/>
                </a:solidFill>
                <a:latin typeface="Calibri"/>
              </a:rPr>
              <a:t>Dept.of</a:t>
            </a:r>
            <a:r>
              <a:rPr lang="en-IN" sz="2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lang="en-IN" sz="2800" dirty="0">
                <a:solidFill>
                  <a:srgbClr val="000000"/>
                </a:solidFill>
                <a:latin typeface="Calibri"/>
              </a:rPr>
              <a:t>CSE, NIT Rourkela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69615" y="133350"/>
            <a:ext cx="8224663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Basic Concepts</a:t>
            </a:r>
            <a:endParaRPr sz="36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4038" y="4168085"/>
            <a:ext cx="201521" cy="151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26637" y="1691402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26637" y="1672527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26637" y="1653652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44737" y="717994"/>
            <a:ext cx="8199263" cy="4922263"/>
          </a:xfrm>
          <a:prstGeom prst="rect">
            <a:avLst/>
          </a:prstGeom>
        </p:spPr>
        <p:txBody>
          <a:bodyPr vert="horz" wrap="square" lIns="0" tIns="104539" rIns="0" bIns="0" rtlCol="0">
            <a:spAutoFit/>
          </a:bodyPr>
          <a:lstStyle/>
          <a:p>
            <a:pPr marL="365760" marR="76437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 smtClean="0"/>
              <a:t>The </a:t>
            </a:r>
            <a:r>
              <a:rPr sz="2400" dirty="0"/>
              <a:t>concept of CONCOLIC testing combines the CONCrete constraints  execution and </a:t>
            </a:r>
            <a:r>
              <a:rPr sz="2400" dirty="0" err="1" smtClean="0"/>
              <a:t>sym</a:t>
            </a:r>
            <a:r>
              <a:rPr lang="en-US" sz="2400" dirty="0" err="1" smtClean="0"/>
              <a:t>b</a:t>
            </a:r>
            <a:r>
              <a:rPr sz="2400" dirty="0" err="1" smtClean="0"/>
              <a:t>OLIC</a:t>
            </a:r>
            <a:r>
              <a:rPr sz="2400" dirty="0" smtClean="0"/>
              <a:t> </a:t>
            </a:r>
            <a:r>
              <a:rPr sz="2400" dirty="0"/>
              <a:t>constraints execution to automatically generate  test cases for full path coverage.</a:t>
            </a:r>
          </a:p>
          <a:p>
            <a:pPr marL="365760" marR="158495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This testing </a:t>
            </a:r>
            <a:r>
              <a:rPr lang="en-US" sz="2400" dirty="0" smtClean="0"/>
              <a:t>strategy </a:t>
            </a:r>
            <a:r>
              <a:rPr sz="2400" dirty="0" smtClean="0"/>
              <a:t>generates </a:t>
            </a:r>
            <a:r>
              <a:rPr sz="2400" dirty="0"/>
              <a:t>test suites by executing the program with random  values.</a:t>
            </a:r>
          </a:p>
          <a:p>
            <a:pPr marL="365760" marR="682315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At execution time both concrete and symbolic values are saved for  execution path.</a:t>
            </a:r>
          </a:p>
          <a:p>
            <a:pPr marL="365760" marR="255165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During execution, the variables are stored in some symbolic values such  as x</a:t>
            </a:r>
            <a:r>
              <a:rPr sz="2400" baseline="-25000" dirty="0"/>
              <a:t>0</a:t>
            </a:r>
            <a:r>
              <a:rPr sz="2400" dirty="0"/>
              <a:t>, and y</a:t>
            </a:r>
            <a:r>
              <a:rPr sz="2400" baseline="-25000" dirty="0"/>
              <a:t>0</a:t>
            </a:r>
            <a:r>
              <a:rPr sz="2400" dirty="0"/>
              <a:t>, </a:t>
            </a:r>
            <a:r>
              <a:rPr lang="en-US" sz="2400" dirty="0" smtClean="0"/>
              <a:t>(i</a:t>
            </a:r>
            <a:r>
              <a:rPr lang="en-US" sz="2400" baseline="-25000" dirty="0" smtClean="0"/>
              <a:t>0</a:t>
            </a:r>
            <a:r>
              <a:rPr lang="en-US" sz="2400" dirty="0" smtClean="0"/>
              <a:t> and i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</a:t>
            </a:r>
            <a:r>
              <a:rPr sz="2400" dirty="0" smtClean="0"/>
              <a:t>instead </a:t>
            </a:r>
            <a:r>
              <a:rPr sz="2400" dirty="0"/>
              <a:t>of x and y</a:t>
            </a:r>
            <a:r>
              <a:rPr sz="2400" dirty="0" smtClean="0"/>
              <a:t>.</a:t>
            </a:r>
            <a:endParaRPr lang="en-US" sz="2400" dirty="0" smtClean="0"/>
          </a:p>
          <a:p>
            <a:pPr marL="365760" marR="255165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/>
              <a:t>The next iteration of the process forces the selection of different paths.</a:t>
            </a:r>
          </a:p>
          <a:p>
            <a:pPr marL="365760" marR="255165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sz="240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254798" y="4971386"/>
            <a:ext cx="48994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63">
              <a:lnSpc>
                <a:spcPts val="1213"/>
              </a:lnSpc>
            </a:pPr>
            <a:r>
              <a:rPr spc="-9" dirty="0"/>
              <a:t>19</a:t>
            </a:r>
            <a:r>
              <a:rPr spc="89" dirty="0"/>
              <a:t>/35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4294967295"/>
          </p:nvPr>
        </p:nvSpPr>
        <p:spPr>
          <a:xfrm>
            <a:off x="2392126" y="4971386"/>
            <a:ext cx="21008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pc="27" dirty="0"/>
              <a:t>Dr. </a:t>
            </a:r>
            <a:r>
              <a:rPr spc="-27" dirty="0"/>
              <a:t>Durga </a:t>
            </a:r>
            <a:r>
              <a:rPr spc="-44" dirty="0"/>
              <a:t>Prasad</a:t>
            </a:r>
            <a:r>
              <a:rPr spc="-53" dirty="0"/>
              <a:t> </a:t>
            </a:r>
            <a:r>
              <a:rPr spc="-9" dirty="0"/>
              <a:t>Mohapatra</a:t>
            </a:r>
          </a:p>
        </p:txBody>
      </p:sp>
    </p:spTree>
    <p:extLst>
      <p:ext uri="{BB962C8B-B14F-4D97-AF65-F5344CB8AC3E}">
        <p14:creationId xmlns:p14="http://schemas.microsoft.com/office/powerpoint/2010/main" val="14132274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68277" y="43815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Basic </a:t>
            </a: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Concepts                            </a:t>
            </a:r>
            <a:r>
              <a:rPr lang="en-US" sz="2800" dirty="0" err="1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cont</a:t>
            </a:r>
            <a:r>
              <a:rPr lang="en-US" sz="28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…</a:t>
            </a:r>
            <a:endParaRPr lang="en-US" sz="28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4038" y="3680670"/>
            <a:ext cx="201521" cy="151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26637" y="2016361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26637" y="1997485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26637" y="1978610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09396" y="868958"/>
            <a:ext cx="7762322" cy="4275932"/>
          </a:xfrm>
          <a:prstGeom prst="rect">
            <a:avLst/>
          </a:prstGeom>
        </p:spPr>
        <p:txBody>
          <a:bodyPr vert="horz" wrap="square" lIns="0" tIns="104539" rIns="0" bIns="0" rtlCol="0">
            <a:spAutoFit/>
          </a:bodyPr>
          <a:lstStyle/>
          <a:p>
            <a:pPr marL="22482">
              <a:spcBef>
                <a:spcPts val="823"/>
              </a:spcBef>
            </a:pPr>
            <a:r>
              <a:rPr sz="1600" spc="-62" dirty="0">
                <a:solidFill>
                  <a:srgbClr val="FFFFFF"/>
                </a:solidFill>
                <a:latin typeface="Arial"/>
                <a:cs typeface="Arial"/>
              </a:rPr>
              <a:t>Concolic</a:t>
            </a:r>
            <a:r>
              <a:rPr sz="1600" spc="8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4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1600" dirty="0">
              <a:latin typeface="Arial"/>
              <a:cs typeface="Arial"/>
            </a:endParaRPr>
          </a:p>
          <a:p>
            <a:pPr marL="365760" marR="474360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The tester selects a value from the path constraints and negates the  values to create a new path value. </a:t>
            </a:r>
            <a:r>
              <a:rPr lang="en-US" sz="2400" dirty="0"/>
              <a:t>T</a:t>
            </a:r>
            <a:r>
              <a:rPr sz="2400" dirty="0" smtClean="0"/>
              <a:t>hen </a:t>
            </a:r>
            <a:r>
              <a:rPr sz="2400" dirty="0"/>
              <a:t>the tester finds concrete  constraints to satisfy the new path values</a:t>
            </a:r>
            <a:r>
              <a:rPr sz="2400" dirty="0" smtClean="0"/>
              <a:t>.</a:t>
            </a:r>
            <a:endParaRPr sz="2400" dirty="0"/>
          </a:p>
          <a:p>
            <a:pPr marL="365760" marR="109034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The selection of values is </a:t>
            </a:r>
            <a:r>
              <a:rPr lang="en-US" sz="2400" dirty="0" smtClean="0"/>
              <a:t>performed </a:t>
            </a:r>
            <a:r>
              <a:rPr sz="2400" dirty="0" smtClean="0"/>
              <a:t>by </a:t>
            </a:r>
            <a:r>
              <a:rPr sz="2400" dirty="0"/>
              <a:t>the Constraint Solver which is a  part of </a:t>
            </a:r>
            <a:r>
              <a:rPr sz="2400" dirty="0" err="1"/>
              <a:t>Concolic</a:t>
            </a:r>
            <a:r>
              <a:rPr sz="2400" dirty="0"/>
              <a:t> </a:t>
            </a:r>
            <a:r>
              <a:rPr lang="en-US" sz="2400" dirty="0" smtClean="0"/>
              <a:t>T</a:t>
            </a:r>
            <a:r>
              <a:rPr sz="2400" dirty="0" smtClean="0"/>
              <a:t>ester</a:t>
            </a:r>
            <a:r>
              <a:rPr sz="2400" dirty="0" smtClean="0"/>
              <a:t>.</a:t>
            </a:r>
            <a:endParaRPr sz="2400" dirty="0"/>
          </a:p>
          <a:p>
            <a:pPr marL="365760" marR="8993" indent="-283464" algn="just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These constraints are inputs for all next executions. This concolic testing  is performed iteratively until exceeds </a:t>
            </a:r>
            <a:r>
              <a:rPr lang="en-US" sz="2400" dirty="0" smtClean="0"/>
              <a:t>some </a:t>
            </a:r>
            <a:r>
              <a:rPr sz="2400" dirty="0" smtClean="0"/>
              <a:t>threshold </a:t>
            </a:r>
            <a:r>
              <a:rPr sz="2400" dirty="0"/>
              <a:t>value or sufficient code  coverage is obtained.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254798" y="4971386"/>
            <a:ext cx="48994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63">
              <a:lnSpc>
                <a:spcPts val="1213"/>
              </a:lnSpc>
            </a:pPr>
            <a:r>
              <a:rPr spc="-9" dirty="0"/>
              <a:t>20</a:t>
            </a:r>
            <a:r>
              <a:rPr spc="89" dirty="0"/>
              <a:t>/35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2392126" y="4971386"/>
            <a:ext cx="21008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pc="27" dirty="0"/>
              <a:t>Dr. </a:t>
            </a:r>
            <a:r>
              <a:rPr spc="-27" dirty="0"/>
              <a:t>Durga </a:t>
            </a:r>
            <a:r>
              <a:rPr spc="-44" dirty="0"/>
              <a:t>Prasad</a:t>
            </a:r>
            <a:r>
              <a:rPr spc="-53" dirty="0"/>
              <a:t> </a:t>
            </a:r>
            <a:r>
              <a:rPr spc="-9" dirty="0"/>
              <a:t>Mohapatra</a:t>
            </a:r>
          </a:p>
        </p:txBody>
      </p:sp>
    </p:spTree>
    <p:extLst>
      <p:ext uri="{BB962C8B-B14F-4D97-AF65-F5344CB8AC3E}">
        <p14:creationId xmlns:p14="http://schemas.microsoft.com/office/powerpoint/2010/main" val="27439280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66800" y="590980"/>
            <a:ext cx="80734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Concolic Testing Example</a:t>
            </a:r>
          </a:p>
        </p:txBody>
      </p:sp>
      <p:sp>
        <p:nvSpPr>
          <p:cNvPr id="6" name="object 6"/>
          <p:cNvSpPr/>
          <p:nvPr/>
        </p:nvSpPr>
        <p:spPr>
          <a:xfrm>
            <a:off x="1447800" y="1809750"/>
            <a:ext cx="6314838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26658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24456" y="590980"/>
            <a:ext cx="8115766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 err="1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Concolic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 Testing </a:t>
            </a: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Example       </a:t>
            </a:r>
            <a:r>
              <a:rPr lang="en-US" sz="2800" dirty="0" err="1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cont</a:t>
            </a:r>
            <a:r>
              <a:rPr lang="en-US" sz="28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 …</a:t>
            </a:r>
            <a:endParaRPr lang="en-US" sz="28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7800" y="1581150"/>
            <a:ext cx="624210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60684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66701" y="630486"/>
            <a:ext cx="8115766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r>
              <a:rPr lang="en-US" sz="3600" spc="-80" dirty="0" smtClean="0">
                <a:latin typeface="+mj-lt"/>
                <a:cs typeface="Tahoma"/>
              </a:rPr>
              <a:t>                               </a:t>
            </a:r>
            <a:endParaRPr sz="36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657350"/>
            <a:ext cx="6308225" cy="1659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8456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44745" y="590980"/>
            <a:ext cx="839547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504950"/>
            <a:ext cx="6328062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9988" y="4971386"/>
            <a:ext cx="464757" cy="15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z="1100" b="1" spc="44" dirty="0">
                <a:solidFill>
                  <a:srgbClr val="FFFFFF"/>
                </a:solidFill>
                <a:latin typeface="Arial"/>
                <a:cs typeface="Arial"/>
              </a:rPr>
              <a:t>21/35</a:t>
            </a:r>
            <a:endParaRPr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45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44745" y="590980"/>
            <a:ext cx="839547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7800" y="1657350"/>
            <a:ext cx="6295000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20720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69615" y="590980"/>
            <a:ext cx="817060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400" y="1428750"/>
            <a:ext cx="626855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67261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24456" y="590980"/>
            <a:ext cx="8115766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352550"/>
            <a:ext cx="6288389" cy="2948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08102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1504950"/>
            <a:ext cx="6295000" cy="2933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7299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4400" y="590980"/>
            <a:ext cx="82258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1581150"/>
            <a:ext cx="6281776" cy="2868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34973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45479" y="1352550"/>
            <a:ext cx="6295000" cy="2883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2392126" y="4971386"/>
            <a:ext cx="21008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pc="27" dirty="0"/>
              <a:t>Dr. </a:t>
            </a:r>
            <a:r>
              <a:rPr spc="-27" dirty="0"/>
              <a:t>Durga </a:t>
            </a:r>
            <a:r>
              <a:rPr spc="-44" dirty="0"/>
              <a:t>Prasad</a:t>
            </a:r>
            <a:r>
              <a:rPr spc="-53" dirty="0"/>
              <a:t> </a:t>
            </a:r>
            <a:r>
              <a:rPr spc="-9" dirty="0"/>
              <a:t>Mohapatra</a:t>
            </a:r>
          </a:p>
        </p:txBody>
      </p:sp>
    </p:spTree>
    <p:extLst>
      <p:ext uri="{BB962C8B-B14F-4D97-AF65-F5344CB8AC3E}">
        <p14:creationId xmlns:p14="http://schemas.microsoft.com/office/powerpoint/2010/main" val="2388392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66800" y="377376"/>
            <a:ext cx="80734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>
                <a:latin typeface="+mj-lt"/>
                <a:cs typeface="Tahoma"/>
              </a:rPr>
              <a:t>Concolic </a:t>
            </a:r>
            <a:r>
              <a:rPr sz="3600" spc="-71" dirty="0">
                <a:latin typeface="+mj-lt"/>
                <a:cs typeface="Tahoma"/>
              </a:rPr>
              <a:t>Testing</a:t>
            </a:r>
            <a:r>
              <a:rPr sz="3600" spc="133" dirty="0">
                <a:latin typeface="+mj-lt"/>
                <a:cs typeface="Tahoma"/>
              </a:rPr>
              <a:t> </a:t>
            </a:r>
            <a:r>
              <a:rPr sz="3600" spc="-80" dirty="0" smtClean="0">
                <a:latin typeface="+mj-lt"/>
                <a:cs typeface="Tahoma"/>
              </a:rPr>
              <a:t>Example</a:t>
            </a:r>
            <a:r>
              <a:rPr lang="en-US" sz="3600" spc="-80" dirty="0" smtClean="0">
                <a:latin typeface="+mj-lt"/>
                <a:cs typeface="Tahoma"/>
              </a:rPr>
              <a:t>               </a:t>
            </a:r>
            <a:r>
              <a:rPr lang="en-US" sz="2800" spc="-80" dirty="0" err="1" smtClean="0">
                <a:latin typeface="+mj-lt"/>
                <a:cs typeface="Tahoma"/>
              </a:rPr>
              <a:t>cont</a:t>
            </a:r>
            <a:r>
              <a:rPr lang="en-US" sz="2800" spc="-80" dirty="0" smtClean="0">
                <a:latin typeface="+mj-lt"/>
                <a:cs typeface="Tahoma"/>
              </a:rPr>
              <a:t> …</a:t>
            </a:r>
            <a:endParaRPr sz="3600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6800" y="1428750"/>
            <a:ext cx="6308225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37825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590980"/>
            <a:ext cx="83782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581150"/>
            <a:ext cx="67818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38282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590980"/>
            <a:ext cx="83782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0" y="1428750"/>
            <a:ext cx="6242100" cy="2928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48759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4400" y="590980"/>
            <a:ext cx="82258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6800" y="1276350"/>
            <a:ext cx="723900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2392126" y="4971386"/>
            <a:ext cx="210085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pc="27" dirty="0"/>
              <a:t>Dr. </a:t>
            </a:r>
            <a:r>
              <a:rPr spc="-27" dirty="0"/>
              <a:t>Durga </a:t>
            </a:r>
            <a:r>
              <a:rPr spc="-44" dirty="0"/>
              <a:t>Prasad</a:t>
            </a:r>
            <a:r>
              <a:rPr spc="-53" dirty="0"/>
              <a:t> </a:t>
            </a:r>
            <a:r>
              <a:rPr spc="-9" dirty="0"/>
              <a:t>Mohapatra</a:t>
            </a:r>
          </a:p>
        </p:txBody>
      </p:sp>
    </p:spTree>
    <p:extLst>
      <p:ext uri="{BB962C8B-B14F-4D97-AF65-F5344CB8AC3E}">
        <p14:creationId xmlns:p14="http://schemas.microsoft.com/office/powerpoint/2010/main" val="30237255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590980"/>
            <a:ext cx="83782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352550"/>
            <a:ext cx="66294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535184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69615" y="590980"/>
            <a:ext cx="817060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0" y="1276350"/>
            <a:ext cx="70104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22377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400" y="1352550"/>
            <a:ext cx="6328062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95347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354989"/>
            <a:ext cx="6308225" cy="3245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9988" y="4971386"/>
            <a:ext cx="464757" cy="15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82">
              <a:lnSpc>
                <a:spcPts val="1213"/>
              </a:lnSpc>
            </a:pPr>
            <a:r>
              <a:rPr sz="1100" b="1" spc="44" dirty="0">
                <a:solidFill>
                  <a:srgbClr val="FFFFFF"/>
                </a:solidFill>
                <a:latin typeface="Arial"/>
                <a:cs typeface="Arial"/>
              </a:rPr>
              <a:t>21/35</a:t>
            </a:r>
            <a:endParaRPr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112412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400" y="1581150"/>
            <a:ext cx="6629400" cy="3240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47781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0" y="1352550"/>
            <a:ext cx="6934200" cy="3225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52197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200150"/>
            <a:ext cx="6295000" cy="3255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17229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0" y="1504950"/>
            <a:ext cx="6781800" cy="32503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24513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44745" y="590980"/>
            <a:ext cx="839547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445125"/>
            <a:ext cx="6314838" cy="3260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73680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590980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352550"/>
            <a:ext cx="6275163" cy="3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14297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590980"/>
            <a:ext cx="83782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44" dirty="0" err="1">
                <a:latin typeface="+mj-lt"/>
                <a:cs typeface="Tahoma"/>
              </a:rPr>
              <a:t>Concolic</a:t>
            </a:r>
            <a:r>
              <a:rPr lang="en-US" sz="3600" spc="-44" dirty="0">
                <a:latin typeface="+mj-lt"/>
                <a:cs typeface="Tahoma"/>
              </a:rPr>
              <a:t> Testing Example               </a:t>
            </a:r>
            <a:r>
              <a:rPr lang="en-US" sz="3600" spc="-44" dirty="0" err="1">
                <a:latin typeface="+mj-lt"/>
                <a:cs typeface="Tahoma"/>
              </a:rPr>
              <a:t>cont</a:t>
            </a:r>
            <a:r>
              <a:rPr lang="en-US" sz="3600" spc="-44" dirty="0">
                <a:latin typeface="+mj-lt"/>
                <a:cs typeface="Tahoma"/>
              </a:rPr>
              <a:t> …</a:t>
            </a:r>
            <a:endParaRPr lang="en-US" sz="3600" spc="-44" dirty="0">
              <a:latin typeface="+mj-lt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1657350"/>
            <a:ext cx="6858000" cy="3255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13540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20945" y="209550"/>
            <a:ext cx="839547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53" dirty="0" err="1">
                <a:latin typeface="+mj-lt"/>
                <a:cs typeface="Tahoma"/>
              </a:rPr>
              <a:t>Concolic</a:t>
            </a:r>
            <a:r>
              <a:rPr lang="en-US" sz="3600" spc="-53" dirty="0">
                <a:latin typeface="+mj-lt"/>
                <a:cs typeface="Tahoma"/>
              </a:rPr>
              <a:t> Testing Example               </a:t>
            </a:r>
            <a:r>
              <a:rPr lang="en-US" sz="3600" spc="-53" dirty="0" err="1">
                <a:latin typeface="+mj-lt"/>
                <a:cs typeface="Tahoma"/>
              </a:rPr>
              <a:t>cont</a:t>
            </a:r>
            <a:r>
              <a:rPr lang="en-US" sz="3600" spc="-53" dirty="0">
                <a:latin typeface="+mj-lt"/>
                <a:cs typeface="Tahoma"/>
              </a:rPr>
              <a:t> …</a:t>
            </a:r>
            <a:endParaRPr lang="en-US" sz="3600" spc="-53" dirty="0">
              <a:latin typeface="+mj-lt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26637" y="1810971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26637" y="1792096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26637" y="1773221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7002" y="841830"/>
            <a:ext cx="7759805" cy="2780908"/>
          </a:xfrm>
          <a:prstGeom prst="rect">
            <a:avLst/>
          </a:prstGeom>
        </p:spPr>
        <p:txBody>
          <a:bodyPr vert="horz" wrap="square" lIns="0" tIns="104539" rIns="0" bIns="0" rtlCol="0">
            <a:spAutoFit/>
          </a:bodyPr>
          <a:lstStyle/>
          <a:p>
            <a:pPr marL="22482">
              <a:spcBef>
                <a:spcPts val="823"/>
              </a:spcBef>
            </a:pPr>
            <a:r>
              <a:rPr sz="1600" spc="-62" dirty="0">
                <a:solidFill>
                  <a:srgbClr val="FFFFFF"/>
                </a:solidFill>
                <a:latin typeface="Arial"/>
                <a:cs typeface="Arial"/>
              </a:rPr>
              <a:t>Concolic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Testing: </a:t>
            </a:r>
            <a:r>
              <a:rPr sz="1600" spc="-27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1600" spc="-2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8" dirty="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endParaRPr sz="1600" dirty="0">
              <a:latin typeface="Arial"/>
              <a:cs typeface="Arial"/>
            </a:endParaRPr>
          </a:p>
          <a:p>
            <a:pPr marL="855479" marR="749759" indent="-342900" algn="just">
              <a:lnSpc>
                <a:spcPct val="66400"/>
              </a:lnSpc>
              <a:spcBef>
                <a:spcPts val="1283"/>
              </a:spcBef>
              <a:buFont typeface="Arial" pitchFamily="34" charset="0"/>
              <a:buChar char="•"/>
            </a:pPr>
            <a:r>
              <a:rPr sz="2400" dirty="0"/>
              <a:t>Concolic testing technique explored total 3 </a:t>
            </a:r>
            <a:r>
              <a:rPr sz="2400" dirty="0" smtClean="0"/>
              <a:t>paths</a:t>
            </a:r>
            <a:r>
              <a:rPr lang="en-US" sz="2400" dirty="0" smtClean="0"/>
              <a:t> </a:t>
            </a:r>
            <a:r>
              <a:rPr sz="2400" dirty="0" smtClean="0"/>
              <a:t>for </a:t>
            </a:r>
            <a:r>
              <a:rPr sz="2400" dirty="0"/>
              <a:t>the example  program.</a:t>
            </a:r>
          </a:p>
          <a:p>
            <a:pPr marL="855479" indent="-342900" algn="just">
              <a:spcBef>
                <a:spcPts val="202"/>
              </a:spcBef>
              <a:buFont typeface="Arial" pitchFamily="34" charset="0"/>
              <a:buChar char="•"/>
            </a:pPr>
            <a:r>
              <a:rPr sz="2400" dirty="0"/>
              <a:t>It has generated total three test cases for the variables x and y. These </a:t>
            </a:r>
            <a:r>
              <a:rPr sz="2400" dirty="0" smtClean="0"/>
              <a:t>are</a:t>
            </a:r>
            <a:r>
              <a:rPr lang="en-US" sz="2400" dirty="0" smtClean="0"/>
              <a:t> shown in Table 1.</a:t>
            </a:r>
            <a:endParaRPr lang="en-US" sz="2400" dirty="0" smtClean="0"/>
          </a:p>
          <a:p>
            <a:pPr marL="512579">
              <a:spcBef>
                <a:spcPts val="202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248" algn="ctr"/>
            <a:r>
              <a:rPr spc="-89" dirty="0">
                <a:solidFill>
                  <a:srgbClr val="A91717"/>
                </a:solidFill>
                <a:latin typeface="Arial"/>
                <a:cs typeface="Arial"/>
              </a:rPr>
              <a:t>Table  </a:t>
            </a:r>
            <a:r>
              <a:rPr spc="-53" dirty="0">
                <a:solidFill>
                  <a:srgbClr val="A91717"/>
                </a:solidFill>
                <a:latin typeface="Arial"/>
                <a:cs typeface="Arial"/>
              </a:rPr>
              <a:t>1: </a:t>
            </a:r>
            <a:r>
              <a:rPr sz="2400" dirty="0"/>
              <a:t>Test </a:t>
            </a:r>
            <a:r>
              <a:rPr sz="2400" dirty="0"/>
              <a:t>cases</a:t>
            </a:r>
            <a:r>
              <a:rPr lang="en-US" sz="2400" dirty="0"/>
              <a:t> generated by </a:t>
            </a:r>
            <a:r>
              <a:rPr lang="en-US" sz="2400" dirty="0" err="1"/>
              <a:t>Concolic</a:t>
            </a:r>
            <a:r>
              <a:rPr lang="en-US" sz="2400" dirty="0"/>
              <a:t> Tester</a:t>
            </a:r>
          </a:p>
          <a:p>
            <a:pPr marL="2248" algn="ctr"/>
            <a:endParaRPr dirty="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492296"/>
              </p:ext>
            </p:extLst>
          </p:nvPr>
        </p:nvGraphicFramePr>
        <p:xfrm>
          <a:off x="3079963" y="3409950"/>
          <a:ext cx="3633881" cy="1293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775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8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87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870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43155">
                <a:tc>
                  <a:txBody>
                    <a:bodyPr/>
                    <a:lstStyle/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3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3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1300" spc="-30" dirty="0" smtClean="0">
                          <a:latin typeface="Arial"/>
                          <a:cs typeface="Arial"/>
                        </a:rPr>
                        <a:t>Test</a:t>
                      </a:r>
                      <a:r>
                        <a:rPr sz="1300" spc="5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80" dirty="0">
                          <a:latin typeface="Arial"/>
                          <a:cs typeface="Arial"/>
                        </a:rPr>
                        <a:t>cases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1300" spc="-10" dirty="0" smtClean="0">
                          <a:latin typeface="Arial"/>
                          <a:cs typeface="Arial"/>
                        </a:rPr>
                        <a:t>TC1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1300" spc="-10" dirty="0" smtClean="0">
                          <a:latin typeface="Arial"/>
                          <a:cs typeface="Arial"/>
                        </a:rPr>
                        <a:t>TC2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endParaRPr lang="en-US" sz="1300" spc="-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80"/>
                        </a:lnSpc>
                      </a:pPr>
                      <a:r>
                        <a:rPr sz="1300" spc="-10" dirty="0" smtClean="0">
                          <a:latin typeface="Arial"/>
                          <a:cs typeface="Arial"/>
                        </a:rPr>
                        <a:t>TC3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031"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dirty="0" smtClean="0">
                          <a:latin typeface="Arial"/>
                          <a:cs typeface="Arial"/>
                        </a:rPr>
                        <a:t>x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dirty="0" smtClean="0">
                          <a:latin typeface="Arial"/>
                          <a:cs typeface="Arial"/>
                        </a:rPr>
                        <a:t>5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spc="-45" dirty="0" smtClean="0">
                          <a:latin typeface="Arial"/>
                          <a:cs typeface="Arial"/>
                        </a:rPr>
                        <a:t>20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spc="-45" dirty="0" smtClean="0">
                          <a:latin typeface="Arial"/>
                          <a:cs typeface="Arial"/>
                        </a:rPr>
                        <a:t>100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4976"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dirty="0" smtClean="0">
                          <a:latin typeface="Arial"/>
                          <a:cs typeface="Arial"/>
                        </a:rPr>
                        <a:t>y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spc="-4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spc="-45" dirty="0" smtClean="0">
                          <a:latin typeface="Arial"/>
                          <a:cs typeface="Arial"/>
                        </a:rPr>
                        <a:t>10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dirty="0" smtClean="0">
                          <a:latin typeface="Arial"/>
                          <a:cs typeface="Arial"/>
                        </a:rPr>
                        <a:t>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endParaRPr lang="en-US" sz="13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0"/>
                        </a:lnSpc>
                      </a:pPr>
                      <a:r>
                        <a:rPr sz="1300" dirty="0" smtClean="0">
                          <a:latin typeface="Arial"/>
                          <a:cs typeface="Arial"/>
                        </a:rPr>
                        <a:t>4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4747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4210" y="298658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spc="-53" dirty="0">
                <a:latin typeface="+mj-lt"/>
                <a:cs typeface="Tahoma"/>
              </a:rPr>
              <a:t>Distributed </a:t>
            </a:r>
            <a:r>
              <a:rPr lang="en-US" sz="3600" spc="-53" dirty="0" err="1">
                <a:latin typeface="+mj-lt"/>
                <a:cs typeface="Tahoma"/>
              </a:rPr>
              <a:t>Concolic</a:t>
            </a:r>
            <a:r>
              <a:rPr lang="en-US" sz="3600" spc="-53" dirty="0">
                <a:latin typeface="+mj-lt"/>
                <a:cs typeface="Tahoma"/>
              </a:rPr>
              <a:t> Testing </a:t>
            </a:r>
            <a:endParaRPr sz="3600" spc="-53" dirty="0">
              <a:latin typeface="+mj-lt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26637" y="1955475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26637" y="1936600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26637" y="1917725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81100" y="1001895"/>
            <a:ext cx="7834300" cy="3845367"/>
          </a:xfrm>
          <a:prstGeom prst="rect">
            <a:avLst/>
          </a:prstGeom>
        </p:spPr>
        <p:txBody>
          <a:bodyPr vert="horz" wrap="square" lIns="0" tIns="115780" rIns="0" bIns="0" rtlCol="0">
            <a:spAutoFit/>
          </a:bodyPr>
          <a:lstStyle/>
          <a:p>
            <a:pPr marL="22482">
              <a:spcBef>
                <a:spcPts val="912"/>
              </a:spcBef>
            </a:pPr>
            <a:r>
              <a:rPr sz="1600" spc="-9" dirty="0">
                <a:solidFill>
                  <a:srgbClr val="FFFFFF"/>
                </a:solidFill>
                <a:latin typeface="Arial"/>
                <a:cs typeface="Arial"/>
              </a:rPr>
              <a:t>Distributed </a:t>
            </a:r>
            <a:r>
              <a:rPr sz="1600" spc="-53" dirty="0">
                <a:solidFill>
                  <a:srgbClr val="FFFFFF"/>
                </a:solidFill>
                <a:latin typeface="Arial"/>
                <a:cs typeface="Arial"/>
              </a:rPr>
              <a:t>Concolic</a:t>
            </a:r>
            <a:r>
              <a:rPr sz="160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4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1600" dirty="0">
              <a:latin typeface="Arial"/>
              <a:cs typeface="Arial"/>
            </a:endParaRP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Distributed Concolic Testing (DCT) is an extension of the original  concolic testing approach that uses several computing nodes in a  distributed manner.</a:t>
            </a:r>
            <a:endParaRPr lang="en-US" sz="2400" dirty="0"/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sz="2400" dirty="0"/>
          </a:p>
          <a:p>
            <a:pPr marL="365760" marR="547425" indent="-283464" algn="just">
              <a:lnSpc>
                <a:spcPts val="1593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It significantly reduces the time to generate test cases with better  efficiency.</a:t>
            </a:r>
            <a:endParaRPr lang="en-US" sz="2400" dirty="0"/>
          </a:p>
          <a:p>
            <a:pPr marL="365760" marR="547425" indent="-283464" algn="just">
              <a:lnSpc>
                <a:spcPts val="1593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sz="2400" dirty="0"/>
          </a:p>
          <a:p>
            <a:pPr marL="365760" marR="8993" indent="-283464" algn="just">
              <a:lnSpc>
                <a:spcPct val="827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Concolic testing is the combination of concrete and symbolic testing. In  addition, distributed concolic testing is scalable and achieves a linear  speedup by using a large number of computing nodes for test case  generation.</a:t>
            </a:r>
          </a:p>
        </p:txBody>
      </p:sp>
    </p:spTree>
    <p:extLst>
      <p:ext uri="{BB962C8B-B14F-4D97-AF65-F5344CB8AC3E}">
        <p14:creationId xmlns:p14="http://schemas.microsoft.com/office/powerpoint/2010/main" val="320453217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36195" y="209550"/>
            <a:ext cx="8224663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53" dirty="0" err="1">
                <a:latin typeface="+mj-lt"/>
                <a:cs typeface="Tahoma"/>
              </a:rPr>
              <a:t>Concolic</a:t>
            </a:r>
            <a:r>
              <a:rPr sz="3600" spc="35" dirty="0">
                <a:latin typeface="+mj-lt"/>
                <a:cs typeface="Tahoma"/>
              </a:rPr>
              <a:t> </a:t>
            </a:r>
            <a:r>
              <a:rPr sz="3600" spc="-97" dirty="0" smtClean="0">
                <a:latin typeface="+mj-lt"/>
                <a:cs typeface="Tahoma"/>
              </a:rPr>
              <a:t>Test</a:t>
            </a:r>
            <a:r>
              <a:rPr lang="en-US" sz="3600" spc="-97" dirty="0" smtClean="0">
                <a:latin typeface="+mj-lt"/>
                <a:cs typeface="Tahoma"/>
              </a:rPr>
              <a:t>ing Tools</a:t>
            </a:r>
            <a:endParaRPr sz="3600" dirty="0">
              <a:latin typeface="+mj-lt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26637" y="1595699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26637" y="1576823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26637" y="1557948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526637" y="2952857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26637" y="2933982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26637" y="2915107"/>
            <a:ext cx="0" cy="18875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36196" y="809636"/>
            <a:ext cx="8131604" cy="4299878"/>
          </a:xfrm>
          <a:prstGeom prst="rect">
            <a:avLst/>
          </a:prstGeom>
        </p:spPr>
        <p:txBody>
          <a:bodyPr vert="horz" wrap="square" lIns="0" tIns="12365" rIns="0" bIns="0" rtlCol="0">
            <a:spAutoFit/>
          </a:bodyPr>
          <a:lstStyle/>
          <a:p>
            <a:pPr marL="365760" marR="8993" indent="-283464" algn="just">
              <a:lnSpc>
                <a:spcPct val="1026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In Table </a:t>
            </a:r>
            <a:r>
              <a:rPr lang="en-US" sz="2400" dirty="0" smtClean="0"/>
              <a:t>2</a:t>
            </a:r>
            <a:r>
              <a:rPr sz="2400" dirty="0" smtClean="0"/>
              <a:t>, </a:t>
            </a:r>
            <a:r>
              <a:rPr sz="2400" dirty="0"/>
              <a:t>we have compared concolic testing tools with respect  to the following parameters/features: 1) variables types; 2)  pointers; 3) native calls; 4) non-linear arithmetic operations; 5)  bitwise operations; 6) array offsets and 7) function pointers</a:t>
            </a:r>
            <a:r>
              <a:rPr sz="2400" dirty="0" smtClean="0"/>
              <a:t>.</a:t>
            </a:r>
            <a:endParaRPr sz="2400" dirty="0"/>
          </a:p>
          <a:p>
            <a:pPr marL="365760" marR="1139814" indent="-283464" algn="just">
              <a:lnSpc>
                <a:spcPct val="125299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sz="2400" dirty="0"/>
              <a:t>The abbreviation used </a:t>
            </a:r>
            <a:r>
              <a:rPr sz="2400"/>
              <a:t>in </a:t>
            </a:r>
            <a:r>
              <a:rPr sz="2400" smtClean="0"/>
              <a:t>Table</a:t>
            </a:r>
            <a:r>
              <a:rPr lang="en-US" sz="2400" smtClean="0"/>
              <a:t> 2 </a:t>
            </a:r>
            <a:r>
              <a:rPr sz="2400" smtClean="0"/>
              <a:t>are </a:t>
            </a:r>
            <a:r>
              <a:rPr sz="2400" dirty="0"/>
              <a:t>the following:  “</a:t>
            </a:r>
            <a:r>
              <a:rPr sz="2400" dirty="0" smtClean="0"/>
              <a:t>Y”</a:t>
            </a:r>
            <a:r>
              <a:rPr lang="en-US" sz="2400" dirty="0" smtClean="0"/>
              <a:t> </a:t>
            </a:r>
            <a:r>
              <a:rPr lang="en-US" sz="2400" dirty="0" smtClean="0"/>
              <a:t>m</a:t>
            </a:r>
            <a:r>
              <a:rPr sz="2400" dirty="0" smtClean="0"/>
              <a:t>eans</a:t>
            </a:r>
            <a:r>
              <a:rPr lang="en-US" sz="2400" dirty="0" smtClean="0"/>
              <a:t> </a:t>
            </a:r>
            <a:r>
              <a:rPr sz="2400" dirty="0" smtClean="0"/>
              <a:t>the</a:t>
            </a:r>
            <a:r>
              <a:rPr lang="en-US" sz="2400" dirty="0" smtClean="0"/>
              <a:t> </a:t>
            </a:r>
            <a:r>
              <a:rPr sz="2400" dirty="0" smtClean="0"/>
              <a:t>tool </a:t>
            </a:r>
            <a:r>
              <a:rPr sz="2400" dirty="0"/>
              <a:t>supports the feature.  </a:t>
            </a:r>
            <a:r>
              <a:rPr lang="en-US" sz="2400" dirty="0" smtClean="0"/>
              <a:t>“</a:t>
            </a:r>
            <a:r>
              <a:rPr sz="2400" dirty="0" smtClean="0"/>
              <a:t>N”</a:t>
            </a:r>
            <a:r>
              <a:rPr lang="en-US" sz="2400" dirty="0" smtClean="0"/>
              <a:t> </a:t>
            </a:r>
            <a:r>
              <a:rPr sz="2400" dirty="0" smtClean="0"/>
              <a:t>means </a:t>
            </a:r>
            <a:r>
              <a:rPr sz="2400" dirty="0"/>
              <a:t>the tool does not support the feature</a:t>
            </a:r>
            <a:r>
              <a:rPr sz="2400" dirty="0" smtClean="0"/>
              <a:t>.“</a:t>
            </a:r>
            <a:r>
              <a:rPr sz="2400" dirty="0"/>
              <a:t>P”means the tool can partially support the feature.  “NA”means unknown.</a:t>
            </a:r>
          </a:p>
        </p:txBody>
      </p:sp>
    </p:spTree>
    <p:extLst>
      <p:ext uri="{BB962C8B-B14F-4D97-AF65-F5344CB8AC3E}">
        <p14:creationId xmlns:p14="http://schemas.microsoft.com/office/powerpoint/2010/main" val="240728815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90397" y="237391"/>
            <a:ext cx="82258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z="3600" spc="-44" dirty="0" err="1">
                <a:latin typeface="+mj-lt"/>
                <a:cs typeface="Tahoma"/>
              </a:rPr>
              <a:t>Concolic</a:t>
            </a:r>
            <a:r>
              <a:rPr sz="3600" spc="35" dirty="0">
                <a:latin typeface="+mj-lt"/>
                <a:cs typeface="Tahoma"/>
              </a:rPr>
              <a:t> </a:t>
            </a:r>
            <a:r>
              <a:rPr sz="3600" spc="-97" dirty="0" smtClean="0">
                <a:latin typeface="+mj-lt"/>
                <a:cs typeface="Tahoma"/>
              </a:rPr>
              <a:t>Test</a:t>
            </a:r>
            <a:r>
              <a:rPr lang="en-US" sz="3600" spc="-97" dirty="0" smtClean="0">
                <a:latin typeface="+mj-lt"/>
                <a:cs typeface="Tahoma"/>
              </a:rPr>
              <a:t>ing Tools</a:t>
            </a:r>
            <a:endParaRPr sz="3600" dirty="0">
              <a:latin typeface="+mj-lt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4273" y="841294"/>
            <a:ext cx="6117412" cy="298564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pc="-89" dirty="0">
                <a:solidFill>
                  <a:srgbClr val="A91717"/>
                </a:solidFill>
                <a:latin typeface="Arial"/>
                <a:cs typeface="Arial"/>
              </a:rPr>
              <a:t>Table </a:t>
            </a:r>
            <a:r>
              <a:rPr spc="-53" dirty="0">
                <a:solidFill>
                  <a:srgbClr val="A91717"/>
                </a:solidFill>
                <a:latin typeface="Arial"/>
                <a:cs typeface="Arial"/>
              </a:rPr>
              <a:t>2: </a:t>
            </a:r>
            <a:r>
              <a:rPr spc="-97" dirty="0">
                <a:latin typeface="Arial"/>
                <a:cs typeface="Arial"/>
              </a:rPr>
              <a:t>Summary </a:t>
            </a:r>
            <a:r>
              <a:rPr spc="-35" dirty="0">
                <a:latin typeface="Arial"/>
                <a:cs typeface="Arial"/>
              </a:rPr>
              <a:t>of </a:t>
            </a:r>
            <a:r>
              <a:rPr spc="-71" dirty="0">
                <a:latin typeface="Arial"/>
                <a:cs typeface="Arial"/>
              </a:rPr>
              <a:t>concolic </a:t>
            </a:r>
            <a:r>
              <a:rPr spc="-53" dirty="0">
                <a:latin typeface="Arial"/>
                <a:cs typeface="Arial"/>
              </a:rPr>
              <a:t>tester </a:t>
            </a:r>
            <a:r>
              <a:rPr dirty="0">
                <a:latin typeface="Arial"/>
                <a:cs typeface="Arial"/>
              </a:rPr>
              <a:t>with </a:t>
            </a:r>
            <a:r>
              <a:rPr spc="-27" dirty="0">
                <a:latin typeface="Arial"/>
                <a:cs typeface="Arial"/>
              </a:rPr>
              <a:t>their</a:t>
            </a:r>
            <a:r>
              <a:rPr spc="292" dirty="0">
                <a:latin typeface="Arial"/>
                <a:cs typeface="Arial"/>
              </a:rPr>
              <a:t> </a:t>
            </a:r>
            <a:r>
              <a:rPr spc="-62" dirty="0">
                <a:latin typeface="Arial"/>
                <a:cs typeface="Arial"/>
              </a:rPr>
              <a:t>properties.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05791" y="2605018"/>
            <a:ext cx="26450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32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05791" y="2735866"/>
            <a:ext cx="26450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32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05791" y="2866706"/>
            <a:ext cx="26450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32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07560"/>
              </p:ext>
            </p:extLst>
          </p:nvPr>
        </p:nvGraphicFramePr>
        <p:xfrm>
          <a:off x="1029135" y="1328390"/>
          <a:ext cx="8038664" cy="3505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49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688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693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868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0270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6793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7298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0248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9771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3815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57245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59887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90" dirty="0" smtClean="0">
                          <a:latin typeface="+mj-lt"/>
                          <a:cs typeface="Times New Roman" panose="02020603050405020304" pitchFamily="18" charset="0"/>
                        </a:rPr>
                        <a:t>Tool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10" dirty="0" smtClean="0">
                          <a:latin typeface="+mj-lt"/>
                          <a:cs typeface="Times New Roman" panose="02020603050405020304" pitchFamily="18" charset="0"/>
                        </a:rPr>
                        <a:t>Name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874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8740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n-lt"/>
                          <a:cs typeface="Times New Roman" panose="02020603050405020304" pitchFamily="18" charset="0"/>
                        </a:rPr>
                        <a:t>Supporting</a:t>
                      </a:r>
                      <a:endParaRPr sz="800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10" dirty="0">
                          <a:latin typeface="+mn-lt"/>
                          <a:cs typeface="Times New Roman" panose="02020603050405020304" pitchFamily="18" charset="0"/>
                        </a:rPr>
                        <a:t>Language</a:t>
                      </a:r>
                      <a:endParaRPr sz="8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935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935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Supporting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Platform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95" dirty="0">
                          <a:latin typeface="+mj-lt"/>
                          <a:cs typeface="Times New Roman" panose="02020603050405020304" pitchFamily="18" charset="0"/>
                        </a:rPr>
                        <a:t>Constraints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95" dirty="0">
                          <a:latin typeface="+mj-lt"/>
                          <a:cs typeface="Times New Roman" panose="02020603050405020304" pitchFamily="18" charset="0"/>
                        </a:rPr>
                        <a:t>Solver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2384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2384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+mj-lt"/>
                          <a:cs typeface="Times New Roman" panose="02020603050405020304" pitchFamily="18" charset="0"/>
                        </a:rPr>
                        <a:t>Sup</a:t>
                      </a:r>
                      <a:r>
                        <a:rPr sz="800" b="1" spc="10" dirty="0" smtClean="0">
                          <a:latin typeface="+mj-lt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sz="800" b="1" spc="-15" dirty="0" smtClean="0">
                          <a:latin typeface="+mj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 smtClean="0">
                          <a:latin typeface="+mj-lt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sz="800" b="1" spc="-15" dirty="0" smtClean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dirty="0">
                          <a:latin typeface="+mj-lt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sz="800" b="1" spc="-15" dirty="0">
                          <a:latin typeface="+mj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>
                          <a:latin typeface="+mj-lt"/>
                          <a:cs typeface="Times New Roman" panose="02020603050405020304" pitchFamily="18" charset="0"/>
                        </a:rPr>
                        <a:t>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75" dirty="0">
                          <a:latin typeface="+mj-lt"/>
                          <a:cs typeface="Times New Roman" panose="02020603050405020304" pitchFamily="18" charset="0"/>
                        </a:rPr>
                        <a:t>float/double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 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for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lang="en-US" sz="800" b="1" spc="-85" dirty="0" smtClean="0">
                          <a:latin typeface="+mj-lt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sz="800" b="1" spc="-85" dirty="0" smtClean="0">
                          <a:latin typeface="+mj-lt"/>
                          <a:cs typeface="Times New Roman" panose="02020603050405020304" pitchFamily="18" charset="0"/>
                        </a:rPr>
                        <a:t>ointer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+mj-lt"/>
                          <a:cs typeface="Times New Roman" panose="02020603050405020304" pitchFamily="18" charset="0"/>
                        </a:rPr>
                        <a:t>Sup</a:t>
                      </a:r>
                      <a:r>
                        <a:rPr sz="800" b="1" spc="10" dirty="0" smtClean="0">
                          <a:latin typeface="+mj-lt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sz="800" b="1" spc="-15" dirty="0" smtClean="0">
                          <a:latin typeface="+mj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 smtClean="0">
                          <a:latin typeface="+mj-lt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sz="800" b="1" spc="-15" dirty="0" smtClean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dirty="0">
                          <a:latin typeface="+mj-lt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sz="800" b="1" spc="-15" dirty="0">
                          <a:latin typeface="+mj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>
                          <a:latin typeface="+mj-lt"/>
                          <a:cs typeface="Times New Roman" panose="02020603050405020304" pitchFamily="18" charset="0"/>
                        </a:rPr>
                        <a:t>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368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native</a:t>
                      </a:r>
                      <a:r>
                        <a:rPr sz="800" b="1" spc="-75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80" dirty="0">
                          <a:latin typeface="+mj-lt"/>
                          <a:cs typeface="Times New Roman" panose="02020603050405020304" pitchFamily="18" charset="0"/>
                        </a:rPr>
                        <a:t>call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</a:t>
                      </a:r>
                      <a:r>
                        <a:rPr sz="800" b="1" spc="-70" dirty="0" smtClean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for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90" dirty="0">
                          <a:latin typeface="+mj-lt"/>
                          <a:cs typeface="Times New Roman" panose="02020603050405020304" pitchFamily="18" charset="0"/>
                        </a:rPr>
                        <a:t>non-linear </a:t>
                      </a:r>
                      <a:r>
                        <a:rPr sz="800" b="1" spc="-80" dirty="0">
                          <a:latin typeface="+mj-lt"/>
                          <a:cs typeface="Times New Roman" panose="02020603050405020304" pitchFamily="18" charset="0"/>
                        </a:rPr>
                        <a:t>arithmetic</a:t>
                      </a:r>
                      <a:r>
                        <a:rPr sz="800" b="1" spc="-75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90" dirty="0">
                          <a:latin typeface="+mj-lt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sz="800" b="1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+mn-lt"/>
                          <a:cs typeface="Times New Roman" panose="02020603050405020304" pitchFamily="18" charset="0"/>
                        </a:rPr>
                        <a:t>Sup</a:t>
                      </a:r>
                      <a:r>
                        <a:rPr sz="800" b="1" spc="10" dirty="0" smtClean="0">
                          <a:latin typeface="+mn-lt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sz="800" b="1" spc="-15" dirty="0" smtClean="0">
                          <a:latin typeface="+mn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 smtClean="0">
                          <a:latin typeface="+mn-lt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sz="800" b="1" spc="-15" dirty="0" smtClean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dirty="0">
                          <a:latin typeface="+mn-lt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sz="800" b="1" spc="-15" dirty="0">
                          <a:latin typeface="+mn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dirty="0">
                          <a:latin typeface="+mn-lt"/>
                          <a:cs typeface="Times New Roman" panose="02020603050405020304" pitchFamily="18" charset="0"/>
                        </a:rPr>
                        <a:t>r</a:t>
                      </a:r>
                      <a:endParaRPr sz="800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90" dirty="0">
                          <a:latin typeface="+mn-lt"/>
                          <a:cs typeface="Times New Roman" panose="02020603050405020304" pitchFamily="18" charset="0"/>
                        </a:rPr>
                        <a:t>bitwise</a:t>
                      </a:r>
                      <a:r>
                        <a:rPr sz="800" b="1" spc="-85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90" dirty="0">
                          <a:latin typeface="+mn-lt"/>
                          <a:cs typeface="Times New Roman" panose="02020603050405020304" pitchFamily="18" charset="0"/>
                        </a:rPr>
                        <a:t>op.</a:t>
                      </a:r>
                      <a:endParaRPr sz="8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 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for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lang="en-US" sz="800" b="1" spc="-85" dirty="0" smtClean="0">
                          <a:latin typeface="+mj-lt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800" b="1" spc="-85" dirty="0" smtClean="0">
                          <a:latin typeface="+mj-lt"/>
                          <a:cs typeface="Times New Roman" panose="02020603050405020304" pitchFamily="18" charset="0"/>
                        </a:rPr>
                        <a:t>ffset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0485">
                        <a:lnSpc>
                          <a:spcPts val="580"/>
                        </a:lnSpc>
                      </a:pPr>
                      <a:endParaRPr lang="en-US" sz="800" b="1" spc="-95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0485">
                        <a:lnSpc>
                          <a:spcPts val="580"/>
                        </a:lnSpc>
                      </a:pPr>
                      <a:r>
                        <a:rPr sz="800" b="1" spc="-95" dirty="0" smtClean="0">
                          <a:latin typeface="+mj-lt"/>
                          <a:cs typeface="Times New Roman" panose="02020603050405020304" pitchFamily="18" charset="0"/>
                        </a:rPr>
                        <a:t>Support</a:t>
                      </a:r>
                      <a:r>
                        <a:rPr sz="800" b="1" spc="-75" dirty="0" smtClean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for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function</a:t>
                      </a:r>
                      <a:r>
                        <a:rPr sz="800" b="1" spc="-45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800" b="1" spc="-85" dirty="0">
                          <a:latin typeface="+mj-lt"/>
                          <a:cs typeface="Times New Roman" panose="02020603050405020304" pitchFamily="18" charset="0"/>
                        </a:rPr>
                        <a:t>pointer</a:t>
                      </a:r>
                      <a:endParaRPr sz="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DART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0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05" dirty="0" smtClean="0">
                          <a:latin typeface="Arial"/>
                          <a:cs typeface="Arial"/>
                        </a:rPr>
                        <a:t>LP</a:t>
                      </a:r>
                      <a:r>
                        <a:rPr sz="800" spc="-9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30" dirty="0">
                          <a:latin typeface="Arial"/>
                          <a:cs typeface="Arial"/>
                        </a:rPr>
                        <a:t>SOLVER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382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565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SMART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0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05" dirty="0" smtClean="0">
                          <a:latin typeface="Arial"/>
                          <a:cs typeface="Arial"/>
                        </a:rPr>
                        <a:t>LP</a:t>
                      </a:r>
                      <a:r>
                        <a:rPr sz="800" spc="-9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30" dirty="0">
                          <a:latin typeface="Arial"/>
                          <a:cs typeface="Arial"/>
                        </a:rPr>
                        <a:t>SOLVER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382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CUTE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0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05" dirty="0" smtClean="0">
                          <a:latin typeface="Arial"/>
                          <a:cs typeface="Arial"/>
                        </a:rPr>
                        <a:t>LP</a:t>
                      </a:r>
                      <a:r>
                        <a:rPr sz="800" spc="-9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30" dirty="0">
                          <a:latin typeface="Arial"/>
                          <a:cs typeface="Arial"/>
                        </a:rPr>
                        <a:t>SOLVER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382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8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85" dirty="0" err="1" smtClean="0">
                          <a:latin typeface="Arial"/>
                          <a:cs typeface="Arial"/>
                        </a:rPr>
                        <a:t>jCUTE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20" dirty="0" smtClean="0">
                          <a:latin typeface="Arial"/>
                          <a:cs typeface="Arial"/>
                        </a:rPr>
                        <a:t>JAVA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8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80" dirty="0" smtClean="0">
                          <a:latin typeface="Arial"/>
                          <a:cs typeface="Arial"/>
                        </a:rPr>
                        <a:t>LINUX/WINDOWS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0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30175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-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0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0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0565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10" dirty="0" smtClean="0">
                          <a:latin typeface="Arial"/>
                          <a:cs typeface="Arial"/>
                        </a:rPr>
                        <a:t>CREST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8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80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9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90" dirty="0" smtClean="0">
                          <a:latin typeface="Arial"/>
                          <a:cs typeface="Arial"/>
                        </a:rPr>
                        <a:t>YICES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30175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5875"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0" dirty="0" smtClean="0">
                          <a:latin typeface="Arial"/>
                          <a:cs typeface="Arial"/>
                        </a:rPr>
                        <a:t>EXE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STP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509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KLEE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STP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509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0565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5" dirty="0" smtClean="0">
                          <a:latin typeface="Arial"/>
                          <a:cs typeface="Arial"/>
                        </a:rPr>
                        <a:t>RWSET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STP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25095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0" dirty="0" err="1" smtClean="0">
                          <a:latin typeface="Arial"/>
                          <a:cs typeface="Arial"/>
                        </a:rPr>
                        <a:t>jFUZZ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0" dirty="0" smtClean="0">
                          <a:latin typeface="Arial"/>
                          <a:cs typeface="Arial"/>
                        </a:rPr>
                        <a:t>JAVA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LINUX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5" dirty="0" smtClean="0">
                          <a:latin typeface="Arial"/>
                          <a:cs typeface="Arial"/>
                        </a:rPr>
                        <a:t>BUILT </a:t>
                      </a:r>
                      <a:r>
                        <a:rPr sz="800" spc="-12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5" dirty="0">
                          <a:latin typeface="Arial"/>
                          <a:cs typeface="Arial"/>
                        </a:rPr>
                        <a:t>JPF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09220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PATH</a:t>
                      </a:r>
                      <a:r>
                        <a:rPr sz="800" spc="-1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35" dirty="0">
                          <a:latin typeface="Arial"/>
                          <a:cs typeface="Arial"/>
                        </a:rPr>
                        <a:t>CRAWLER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17475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09220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0565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PEX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9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90" dirty="0" smtClean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90" dirty="0">
                          <a:latin typeface="Arial"/>
                          <a:cs typeface="Arial"/>
                        </a:rPr>
                        <a:t>NET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0" dirty="0" smtClean="0">
                          <a:latin typeface="Arial"/>
                          <a:cs typeface="Arial"/>
                        </a:rPr>
                        <a:t>WINDOWS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00" dirty="0" smtClean="0">
                          <a:latin typeface="Arial"/>
                          <a:cs typeface="Arial"/>
                        </a:rPr>
                        <a:t>Z3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marL="132080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09220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4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40" dirty="0" smtClean="0">
                          <a:latin typeface="Arial"/>
                          <a:cs typeface="Arial"/>
                        </a:rPr>
                        <a:t>SAGE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MACHINE</a:t>
                      </a:r>
                      <a:r>
                        <a:rPr sz="800" spc="-8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30" dirty="0">
                          <a:latin typeface="Arial"/>
                          <a:cs typeface="Arial"/>
                        </a:rPr>
                        <a:t>CODE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0" dirty="0" smtClean="0">
                          <a:latin typeface="Arial"/>
                          <a:cs typeface="Arial"/>
                        </a:rPr>
                        <a:t>WINDOWS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DISOLVER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17475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09220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05673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APOLLO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4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4" dirty="0" smtClean="0">
                          <a:latin typeface="Arial"/>
                          <a:cs typeface="Arial"/>
                        </a:rPr>
                        <a:t>PHP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20" dirty="0" smtClean="0">
                          <a:latin typeface="Arial"/>
                          <a:cs typeface="Arial"/>
                        </a:rPr>
                        <a:t>WINDOWS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3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35" dirty="0" smtClean="0">
                          <a:latin typeface="Arial"/>
                          <a:cs typeface="Arial"/>
                        </a:rPr>
                        <a:t>CHOCO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17475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marL="109220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spc="-11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spc="-11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05659"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2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20" dirty="0" smtClean="0">
                          <a:latin typeface="Arial"/>
                          <a:cs typeface="Arial"/>
                        </a:rPr>
                        <a:t>SCORE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6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65" dirty="0" smtClean="0">
                          <a:latin typeface="Arial"/>
                          <a:cs typeface="Arial"/>
                        </a:rPr>
                        <a:t>LINIX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8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80" dirty="0" smtClean="0">
                          <a:latin typeface="Arial"/>
                          <a:cs typeface="Arial"/>
                        </a:rPr>
                        <a:t>Z3 </a:t>
                      </a:r>
                      <a:r>
                        <a:rPr sz="800" b="1" spc="-85" dirty="0">
                          <a:latin typeface="Arial"/>
                          <a:cs typeface="Arial"/>
                        </a:rPr>
                        <a:t>SMT</a:t>
                      </a:r>
                      <a:r>
                        <a:rPr sz="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95" dirty="0" smtClean="0">
                          <a:latin typeface="Arial"/>
                          <a:cs typeface="Arial"/>
                        </a:rPr>
                        <a:t>Solver</a:t>
                      </a:r>
                      <a:endParaRPr lang="en-US" sz="800" b="1" spc="-95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marL="131445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dirty="0" smtClean="0">
                          <a:latin typeface="Arial"/>
                          <a:cs typeface="Arial"/>
                        </a:rPr>
                        <a:t>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580"/>
                        </a:lnSpc>
                      </a:pPr>
                      <a:endParaRPr lang="en-US" sz="800" b="1" spc="-100" dirty="0" smtClean="0">
                        <a:latin typeface="Arial"/>
                        <a:cs typeface="Arial"/>
                      </a:endParaRPr>
                    </a:p>
                    <a:p>
                      <a:pPr marL="106045">
                        <a:lnSpc>
                          <a:spcPts val="580"/>
                        </a:lnSpc>
                      </a:pPr>
                      <a:r>
                        <a:rPr sz="800" b="1" spc="-10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0"/>
                        </a:lnSpc>
                      </a:pPr>
                      <a:endParaRPr lang="en-US" sz="800" b="1" spc="-1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80"/>
                        </a:lnSpc>
                      </a:pPr>
                      <a:r>
                        <a:rPr sz="800" b="1" spc="-100" dirty="0" smtClean="0">
                          <a:latin typeface="Arial"/>
                          <a:cs typeface="Arial"/>
                        </a:rPr>
                        <a:t>NA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231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/>
          <p:cNvSpPr txBox="1"/>
          <p:nvPr/>
        </p:nvSpPr>
        <p:spPr>
          <a:xfrm>
            <a:off x="914210" y="298658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 err="1"/>
              <a:t>j</a:t>
            </a:r>
            <a:r>
              <a:rPr lang="en-US" sz="3600" dirty="0" err="1" smtClean="0"/>
              <a:t>CUTE</a:t>
            </a:r>
            <a:endParaRPr sz="3600" spc="-53" dirty="0">
              <a:latin typeface="+mj-lt"/>
              <a:cs typeface="Tahoma"/>
            </a:endParaRPr>
          </a:p>
        </p:txBody>
      </p:sp>
      <p:sp>
        <p:nvSpPr>
          <p:cNvPr id="3" name="object 19"/>
          <p:cNvSpPr txBox="1"/>
          <p:nvPr/>
        </p:nvSpPr>
        <p:spPr>
          <a:xfrm>
            <a:off x="1081100" y="865708"/>
            <a:ext cx="7834300" cy="3810229"/>
          </a:xfrm>
          <a:prstGeom prst="rect">
            <a:avLst/>
          </a:prstGeom>
        </p:spPr>
        <p:txBody>
          <a:bodyPr vert="horz" wrap="square" lIns="0" tIns="115780" rIns="0" bIns="0" rtlCol="0">
            <a:spAutoFit/>
          </a:bodyPr>
          <a:lstStyle/>
          <a:p>
            <a:pPr marL="22482">
              <a:spcBef>
                <a:spcPts val="912"/>
              </a:spcBef>
            </a:pPr>
            <a:r>
              <a:rPr sz="1600" spc="-9" dirty="0">
                <a:solidFill>
                  <a:srgbClr val="FFFFFF"/>
                </a:solidFill>
                <a:latin typeface="Arial"/>
                <a:cs typeface="Arial"/>
              </a:rPr>
              <a:t>Distributed </a:t>
            </a:r>
            <a:r>
              <a:rPr sz="1600" spc="-53" dirty="0">
                <a:solidFill>
                  <a:srgbClr val="FFFFFF"/>
                </a:solidFill>
                <a:latin typeface="Arial"/>
                <a:cs typeface="Arial"/>
              </a:rPr>
              <a:t>Concolic</a:t>
            </a:r>
            <a:r>
              <a:rPr sz="160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4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1600" dirty="0">
              <a:latin typeface="Arial"/>
              <a:cs typeface="Arial"/>
            </a:endParaRP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 err="1"/>
              <a:t>j</a:t>
            </a:r>
            <a:r>
              <a:rPr lang="en-US" sz="2400" dirty="0" err="1" smtClean="0"/>
              <a:t>CUTE</a:t>
            </a:r>
            <a:r>
              <a:rPr lang="en-US" sz="2400" dirty="0"/>
              <a:t>, the Concolic Unit Testing Engine for Java (JCUTE), consists of two </a:t>
            </a:r>
            <a:r>
              <a:rPr lang="en-US" sz="2400" dirty="0" smtClean="0"/>
              <a:t>main modules</a:t>
            </a:r>
            <a:r>
              <a:rPr lang="en-US" sz="2400" dirty="0"/>
              <a:t>: an instrumentation module and a library to perform symbolic execution</a:t>
            </a:r>
            <a:r>
              <a:rPr lang="en-US" sz="2400" dirty="0" smtClean="0"/>
              <a:t>.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/>
              <a:t>These modules support to solve constraints, and to control the thread schedules</a:t>
            </a:r>
            <a:r>
              <a:rPr lang="en-US" sz="2400" dirty="0" smtClean="0"/>
              <a:t>.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/>
              <a:t>The </a:t>
            </a:r>
            <a:r>
              <a:rPr lang="en-US" sz="2400" dirty="0" smtClean="0"/>
              <a:t>instrumental program </a:t>
            </a:r>
            <a:r>
              <a:rPr lang="en-US" sz="2400" dirty="0"/>
              <a:t>calls the library at runtime for performing the symbolic </a:t>
            </a:r>
            <a:r>
              <a:rPr lang="en-US" sz="2400" dirty="0" smtClean="0"/>
              <a:t>execution.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 smtClean="0"/>
              <a:t>JCUTE </a:t>
            </a:r>
            <a:r>
              <a:rPr lang="en-US" sz="2400" dirty="0"/>
              <a:t>uses CIL </a:t>
            </a:r>
            <a:r>
              <a:rPr lang="en-US" sz="2400" dirty="0" smtClean="0"/>
              <a:t> </a:t>
            </a:r>
            <a:r>
              <a:rPr lang="en-US" sz="2400" dirty="0"/>
              <a:t>and the SOOT </a:t>
            </a:r>
            <a:r>
              <a:rPr lang="en-US" sz="2400" dirty="0" smtClean="0"/>
              <a:t>compiler </a:t>
            </a:r>
            <a:r>
              <a:rPr lang="en-US" sz="2400" dirty="0"/>
              <a:t>framework to instrument Java </a:t>
            </a:r>
            <a:r>
              <a:rPr lang="en-US" sz="2400" dirty="0" smtClean="0"/>
              <a:t>programs.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2651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/>
          <p:cNvSpPr txBox="1"/>
          <p:nvPr/>
        </p:nvSpPr>
        <p:spPr>
          <a:xfrm>
            <a:off x="914210" y="298658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/>
              <a:t>j</a:t>
            </a:r>
            <a:r>
              <a:rPr lang="en-US" sz="3600" dirty="0" smtClean="0"/>
              <a:t>CUTE</a:t>
            </a:r>
            <a:endParaRPr sz="3600" spc="-53" dirty="0">
              <a:latin typeface="+mj-lt"/>
              <a:cs typeface="Tahoma"/>
            </a:endParaRPr>
          </a:p>
        </p:txBody>
      </p:sp>
      <p:sp>
        <p:nvSpPr>
          <p:cNvPr id="3" name="object 19"/>
          <p:cNvSpPr txBox="1"/>
          <p:nvPr/>
        </p:nvSpPr>
        <p:spPr>
          <a:xfrm>
            <a:off x="1081100" y="865708"/>
            <a:ext cx="7834300" cy="3810229"/>
          </a:xfrm>
          <a:prstGeom prst="rect">
            <a:avLst/>
          </a:prstGeom>
        </p:spPr>
        <p:txBody>
          <a:bodyPr vert="horz" wrap="square" lIns="0" tIns="115780" rIns="0" bIns="0" rtlCol="0">
            <a:spAutoFit/>
          </a:bodyPr>
          <a:lstStyle/>
          <a:p>
            <a:pPr marL="22482">
              <a:spcBef>
                <a:spcPts val="912"/>
              </a:spcBef>
            </a:pPr>
            <a:r>
              <a:rPr sz="1600" spc="-9" dirty="0">
                <a:solidFill>
                  <a:srgbClr val="FFFFFF"/>
                </a:solidFill>
                <a:latin typeface="Arial"/>
                <a:cs typeface="Arial"/>
              </a:rPr>
              <a:t>Distributed </a:t>
            </a:r>
            <a:r>
              <a:rPr sz="1600" spc="-53" dirty="0">
                <a:solidFill>
                  <a:srgbClr val="FFFFFF"/>
                </a:solidFill>
                <a:latin typeface="Arial"/>
                <a:cs typeface="Arial"/>
              </a:rPr>
              <a:t>Concolic</a:t>
            </a:r>
            <a:r>
              <a:rPr sz="160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4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1600" dirty="0">
              <a:latin typeface="Arial"/>
              <a:cs typeface="Arial"/>
            </a:endParaRP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/>
              <a:t>Instrumentation of JCUTE </a:t>
            </a:r>
            <a:r>
              <a:rPr lang="en-US" sz="2400" dirty="0" smtClean="0"/>
              <a:t>associates a </a:t>
            </a:r>
            <a:r>
              <a:rPr lang="en-US" sz="2400" dirty="0"/>
              <a:t>semaphore with each thread and adds operation on these semaphores before </a:t>
            </a:r>
            <a:r>
              <a:rPr lang="en-US" sz="2400" dirty="0" smtClean="0"/>
              <a:t>each shared-memory </a:t>
            </a:r>
            <a:r>
              <a:rPr lang="en-US" sz="2400" dirty="0"/>
              <a:t>access.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 smtClean="0"/>
              <a:t>To </a:t>
            </a:r>
            <a:r>
              <a:rPr lang="en-US" sz="2400" dirty="0"/>
              <a:t>solve arithmetic inequalities, a library for integer linear </a:t>
            </a:r>
            <a:r>
              <a:rPr lang="en-US" sz="2400" dirty="0" smtClean="0"/>
              <a:t>programming is provided.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 smtClean="0"/>
              <a:t> </a:t>
            </a:r>
            <a:r>
              <a:rPr lang="en-US" sz="2400" dirty="0" smtClean="0"/>
              <a:t>JCUTE </a:t>
            </a:r>
            <a:r>
              <a:rPr lang="en-US" sz="2400" dirty="0"/>
              <a:t>saves all the generated inputs and the schedules in the file-system</a:t>
            </a:r>
            <a:r>
              <a:rPr lang="en-US" sz="2400" dirty="0" smtClean="0"/>
              <a:t>. </a:t>
            </a:r>
          </a:p>
          <a:p>
            <a:pPr marL="365760" marR="510331" indent="-283464" algn="just">
              <a:lnSpc>
                <a:spcPct val="853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400" dirty="0"/>
              <a:t>For sequential programs, JCUTE generates Junit test cases </a:t>
            </a:r>
            <a:r>
              <a:rPr lang="en-US" sz="2400" dirty="0" smtClean="0"/>
              <a:t>and also </a:t>
            </a:r>
            <a:r>
              <a:rPr lang="en-US" sz="2400" dirty="0"/>
              <a:t>allows the user to graphically visualize the multi-threaded </a:t>
            </a:r>
            <a:r>
              <a:rPr lang="en-US" sz="2400" dirty="0" smtClean="0"/>
              <a:t>execution.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823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Swadhin\submitted\IJSAEM\LaTeX-springer-MCDC\jcutecod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66750"/>
            <a:ext cx="8001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5"/>
          <p:cNvSpPr txBox="1"/>
          <p:nvPr/>
        </p:nvSpPr>
        <p:spPr>
          <a:xfrm>
            <a:off x="904482" y="52923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lang="en-US" sz="3600" dirty="0" smtClean="0"/>
              <a:t>jCUTE screen shot</a:t>
            </a:r>
            <a:endParaRPr sz="3600" spc="-53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411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480332"/>
            <a:ext cx="84544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pc="-115" dirty="0" smtClean="0">
                <a:cs typeface="Tahoma"/>
              </a:rPr>
              <a:t>References</a:t>
            </a:r>
            <a:endParaRPr spc="-257" dirty="0"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78436"/>
            <a:ext cx="9139843" cy="75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744" y="1672773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0421" y="1655704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8470" y="1631780"/>
            <a:ext cx="7161539" cy="466663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Palacios,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Garc´ıa-Fanjul,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J.,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Tuya,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Spanoudakis,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G., 2015.  </a:t>
            </a:r>
            <a:r>
              <a:rPr sz="1400" spc="-71" dirty="0">
                <a:solidFill>
                  <a:srgbClr val="A91717"/>
                </a:solidFill>
                <a:latin typeface="Arial"/>
                <a:cs typeface="Arial"/>
              </a:rPr>
              <a:t>Coverage-based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testing for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service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level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agreements.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IEEE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Transactions on 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Services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Computing,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8(2),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124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299-313.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3744" y="2389108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0421" y="2372039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8469" y="2348114"/>
            <a:ext cx="7166579" cy="684672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Fraser, G.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Arcuri,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A.,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2014.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A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large-scale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evaluation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automated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unit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test 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generation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using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EvoSuite.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ACM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Transactions 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Engineering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Methodology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(TOSEM),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24(2),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page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8.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3744" y="3105442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0421" y="3088373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469" y="3064447"/>
            <a:ext cx="7161540" cy="684672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Jones,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JA.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Harrold,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MJ.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2013.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Test-suite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reduction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prioritization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for 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modified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condition/decision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coverage.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IEEE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Transactions 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Engineering.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29(3),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115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195-209.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3744" y="3821776"/>
            <a:ext cx="226540" cy="1697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70421" y="3804706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470" y="3780782"/>
            <a:ext cx="7161540" cy="684672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Baluda,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Braione,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P., Denaro,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G.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124" dirty="0">
                <a:solidFill>
                  <a:srgbClr val="A91717"/>
                </a:solidFill>
                <a:latin typeface="Arial"/>
                <a:cs typeface="Arial"/>
              </a:rPr>
              <a:t>Pezz`e,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2011. Enhancing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structural 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coverage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by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incrementally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computing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branch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executability.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Quality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Journal,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19(4),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89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725-751.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0185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480332"/>
            <a:ext cx="8302022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pc="-115" dirty="0" smtClean="0">
                <a:latin typeface="Tahoma"/>
                <a:cs typeface="Tahoma"/>
              </a:rPr>
              <a:t>References</a:t>
            </a:r>
            <a:endParaRPr spc="-221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78436"/>
            <a:ext cx="9139843" cy="75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744" y="1340476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0421" y="1323407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8470" y="1299482"/>
            <a:ext cx="7198066" cy="684672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Jiang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B,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Tse </a:t>
            </a:r>
            <a:r>
              <a:rPr sz="1400" spc="71" dirty="0">
                <a:solidFill>
                  <a:srgbClr val="A91717"/>
                </a:solidFill>
                <a:latin typeface="Arial"/>
                <a:cs typeface="Arial"/>
              </a:rPr>
              <a:t>TH,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Grieskamp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W,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Kicillof N, </a:t>
            </a:r>
            <a:r>
              <a:rPr sz="1400" spc="-71" dirty="0">
                <a:solidFill>
                  <a:srgbClr val="A91717"/>
                </a:solidFill>
                <a:latin typeface="Arial"/>
                <a:cs typeface="Arial"/>
              </a:rPr>
              <a:t>Cao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Y,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Li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X,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Chan </a:t>
            </a:r>
            <a:r>
              <a:rPr sz="1400" spc="62" dirty="0">
                <a:solidFill>
                  <a:srgbClr val="A91717"/>
                </a:solidFill>
                <a:latin typeface="Arial"/>
                <a:cs typeface="Arial"/>
              </a:rPr>
              <a:t>WK.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2011.  </a:t>
            </a:r>
            <a:r>
              <a:rPr sz="1400" i="1" spc="-97" dirty="0">
                <a:solidFill>
                  <a:srgbClr val="A91717"/>
                </a:solidFill>
                <a:latin typeface="Lucida Sans"/>
                <a:cs typeface="Lucida Sans"/>
              </a:rPr>
              <a:t>Assuring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the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model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evolution of protocol </a:t>
            </a:r>
            <a:r>
              <a:rPr sz="1400" i="1" spc="-115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specifications </a:t>
            </a:r>
            <a:r>
              <a:rPr sz="1400" i="1" spc="-115" dirty="0">
                <a:solidFill>
                  <a:srgbClr val="A91717"/>
                </a:solidFill>
                <a:latin typeface="Lucida Sans"/>
                <a:cs typeface="Lucida Sans"/>
              </a:rPr>
              <a:t>by </a:t>
            </a:r>
            <a:r>
              <a:rPr sz="1400" i="1" spc="-106" dirty="0">
                <a:solidFill>
                  <a:srgbClr val="A91717"/>
                </a:solidFill>
                <a:latin typeface="Lucida Sans"/>
                <a:cs typeface="Lucida Sans"/>
              </a:rPr>
              <a:t>regression 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testing </a:t>
            </a:r>
            <a:r>
              <a:rPr sz="1400" i="1" spc="-106" dirty="0">
                <a:solidFill>
                  <a:srgbClr val="A91717"/>
                </a:solidFill>
                <a:latin typeface="Lucida Sans"/>
                <a:cs typeface="Lucida Sans"/>
              </a:rPr>
              <a:t>process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improvement</a:t>
            </a:r>
            <a:r>
              <a:rPr sz="1400" spc="-89" dirty="0">
                <a:solidFill>
                  <a:srgbClr val="A91717"/>
                </a:solidFill>
                <a:latin typeface="Arial"/>
                <a:cs typeface="Arial"/>
              </a:rPr>
              <a:t>.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Software: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Practice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Experience.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41(10).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 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1073-1103.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3744" y="2194354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0421" y="2153359"/>
            <a:ext cx="7466115" cy="466663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60786" marR="8993" indent="-239428" algn="just">
              <a:lnSpc>
                <a:spcPts val="1682"/>
              </a:lnSpc>
              <a:spcBef>
                <a:spcPts val="239"/>
              </a:spcBef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6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McMinn,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P.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2004.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Search-based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test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data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generation: </a:t>
            </a:r>
            <a:r>
              <a:rPr sz="1400" spc="-71" dirty="0">
                <a:solidFill>
                  <a:srgbClr val="A91717"/>
                </a:solidFill>
                <a:latin typeface="Arial"/>
                <a:cs typeface="Arial"/>
              </a:rPr>
              <a:t>a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survey: 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Research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articles.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Testing,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Verification </a:t>
            </a:r>
            <a:r>
              <a:rPr sz="1400" i="1" spc="-115" dirty="0">
                <a:solidFill>
                  <a:srgbClr val="A91717"/>
                </a:solidFill>
                <a:latin typeface="Lucida Sans"/>
                <a:cs typeface="Lucida Sans"/>
              </a:rPr>
              <a:t>and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Reliability, </a:t>
            </a:r>
            <a:r>
              <a:rPr sz="1400" i="1" spc="-35" dirty="0">
                <a:solidFill>
                  <a:srgbClr val="A91717"/>
                </a:solidFill>
                <a:latin typeface="Lucida Sans"/>
                <a:cs typeface="Lucida Sans"/>
              </a:rPr>
              <a:t>14(2)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 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105–156.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3744" y="2869577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70421" y="2852507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470" y="2828583"/>
            <a:ext cx="7198066" cy="684672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Harman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Hu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L.,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Hierons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R.,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Wegener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J.,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Sthamer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H.,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Baresel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A.,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Roper 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2004.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Testability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Transformation. </a:t>
            </a:r>
            <a:r>
              <a:rPr sz="1400" i="1" spc="89" dirty="0">
                <a:solidFill>
                  <a:srgbClr val="A91717"/>
                </a:solidFill>
                <a:latin typeface="Lucida Sans"/>
                <a:cs typeface="Lucida Sans"/>
              </a:rPr>
              <a:t>IEEE </a:t>
            </a:r>
            <a:r>
              <a:rPr sz="1400" i="1" spc="35" dirty="0">
                <a:solidFill>
                  <a:srgbClr val="A91717"/>
                </a:solidFill>
                <a:latin typeface="Lucida Sans"/>
                <a:cs typeface="Lucida Sans"/>
              </a:rPr>
              <a:t>TRANSACTIONS </a:t>
            </a:r>
            <a:r>
              <a:rPr sz="1400" i="1" dirty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62" dirty="0">
                <a:solidFill>
                  <a:srgbClr val="A91717"/>
                </a:solidFill>
                <a:latin typeface="Lucida Sans"/>
                <a:cs typeface="Lucida Sans"/>
              </a:rPr>
              <a:t>SOFTWARE  </a:t>
            </a:r>
            <a:r>
              <a:rPr sz="1400" i="1" spc="35" dirty="0">
                <a:solidFill>
                  <a:srgbClr val="A91717"/>
                </a:solidFill>
                <a:latin typeface="Lucida Sans"/>
                <a:cs typeface="Lucida Sans"/>
              </a:rPr>
              <a:t>ENGINEERING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30(1),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1-14.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3744" y="3582419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0421" y="3565350"/>
            <a:ext cx="133507" cy="19084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22482">
              <a:spcBef>
                <a:spcPts val="168"/>
              </a:spcBef>
            </a:pPr>
            <a:r>
              <a:rPr sz="1100" b="1" spc="-9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470" y="3541424"/>
            <a:ext cx="7141388" cy="466663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2482" marR="8993" algn="just">
              <a:lnSpc>
                <a:spcPts val="1682"/>
              </a:lnSpc>
              <a:spcBef>
                <a:spcPts val="239"/>
              </a:spcBef>
            </a:pP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Wegener,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J.,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Baresel,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A.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Sthamer,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H.,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2001.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Evolutionary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test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environment 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for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automatic structural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testing.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Information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Software Technology,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43(14), 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97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841-854.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3744" y="4286899"/>
            <a:ext cx="226540" cy="1697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0422" y="4245906"/>
            <a:ext cx="7409436" cy="466663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60786" marR="8993" indent="-239428" algn="just">
              <a:lnSpc>
                <a:spcPts val="1682"/>
              </a:lnSpc>
              <a:spcBef>
                <a:spcPts val="239"/>
              </a:spcBef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9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Duran,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J.W.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Ntafos,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S.C., 1984.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An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evaluation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random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testing.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IEEE 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transactions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on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engineering,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(4),</a:t>
            </a:r>
            <a:r>
              <a:rPr sz="1400" spc="97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438-444.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69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4745" y="480332"/>
            <a:ext cx="8395477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pc="-115" dirty="0" smtClean="0">
                <a:latin typeface="Tahoma"/>
                <a:cs typeface="Tahoma"/>
              </a:rPr>
              <a:t>References</a:t>
            </a:r>
            <a:endParaRPr spc="-212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78436"/>
            <a:ext cx="9139843" cy="75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744" y="1243193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3744" y="1775606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3744" y="2486656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3744" y="3197705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3744" y="3908772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3744" y="4441186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3058" y="1202199"/>
            <a:ext cx="8188542" cy="3716271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410288" marR="121400" indent="-276523" algn="just">
              <a:lnSpc>
                <a:spcPts val="1682"/>
              </a:lnSpc>
              <a:spcBef>
                <a:spcPts val="239"/>
              </a:spcBef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10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Miller,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W.,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Spooner,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DL.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1976.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Automatic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generation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floating-point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test 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data. </a:t>
            </a:r>
            <a:r>
              <a:rPr sz="1400" i="1" spc="89" dirty="0">
                <a:solidFill>
                  <a:srgbClr val="A91717"/>
                </a:solidFill>
                <a:latin typeface="Lucida Sans"/>
                <a:cs typeface="Lucida Sans"/>
              </a:rPr>
              <a:t>IEEE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Transactions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Engineering</a:t>
            </a:r>
            <a:r>
              <a:rPr sz="1400" spc="-71" dirty="0">
                <a:solidFill>
                  <a:srgbClr val="A91717"/>
                </a:solidFill>
                <a:latin typeface="Arial"/>
                <a:cs typeface="Arial"/>
              </a:rPr>
              <a:t>,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2(3):</a:t>
            </a:r>
            <a:r>
              <a:rPr sz="1400" spc="-9" dirty="0" smtClean="0">
                <a:solidFill>
                  <a:srgbClr val="A91717"/>
                </a:solidFill>
                <a:latin typeface="Arial"/>
                <a:cs typeface="Arial"/>
              </a:rPr>
              <a:t>223-226</a:t>
            </a:r>
            <a:r>
              <a:rPr lang="en-US" sz="1400" spc="-9" dirty="0" smtClean="0">
                <a:solidFill>
                  <a:srgbClr val="A91717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1400" dirty="0" smtClean="0">
              <a:latin typeface="Times New Roman"/>
              <a:cs typeface="Times New Roman"/>
            </a:endParaRPr>
          </a:p>
          <a:p>
            <a:pPr marL="410288" marR="780109" indent="-276523" algn="just">
              <a:lnSpc>
                <a:spcPts val="1682"/>
              </a:lnSpc>
            </a:pPr>
            <a:r>
              <a:rPr sz="1600" b="1" spc="-12" baseline="4629" dirty="0" smtClean="0">
                <a:solidFill>
                  <a:srgbClr val="FFFFFF"/>
                </a:solidFill>
                <a:latin typeface="Arial"/>
                <a:cs typeface="Arial"/>
              </a:rPr>
              <a:t>11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Kuhn, DR.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1999.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Fault </a:t>
            </a:r>
            <a:r>
              <a:rPr sz="1400" spc="-89" dirty="0" smtClean="0">
                <a:solidFill>
                  <a:srgbClr val="A91717"/>
                </a:solidFill>
                <a:latin typeface="Arial"/>
                <a:cs typeface="Arial"/>
              </a:rPr>
              <a:t>classes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18" dirty="0" smtClean="0">
                <a:solidFill>
                  <a:srgbClr val="A91717"/>
                </a:solidFill>
                <a:latin typeface="Arial"/>
                <a:cs typeface="Arial"/>
              </a:rPr>
              <a:t>error </a:t>
            </a:r>
            <a:r>
              <a:rPr sz="1400" spc="-9" dirty="0" smtClean="0">
                <a:solidFill>
                  <a:srgbClr val="A91717"/>
                </a:solidFill>
                <a:latin typeface="Arial"/>
                <a:cs typeface="Arial"/>
              </a:rPr>
              <a:t>detection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capability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of 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specification-based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testing. </a:t>
            </a:r>
            <a:r>
              <a:rPr sz="1400" i="1" spc="27" dirty="0" smtClean="0">
                <a:solidFill>
                  <a:srgbClr val="A91717"/>
                </a:solidFill>
                <a:latin typeface="Lucida Sans"/>
                <a:cs typeface="Lucida Sans"/>
              </a:rPr>
              <a:t>ACM </a:t>
            </a:r>
            <a:r>
              <a:rPr sz="1400" i="1" spc="-89" dirty="0" smtClean="0">
                <a:solidFill>
                  <a:srgbClr val="A91717"/>
                </a:solidFill>
                <a:latin typeface="Lucida Sans"/>
                <a:cs typeface="Lucida Sans"/>
              </a:rPr>
              <a:t>Transactions </a:t>
            </a:r>
            <a:r>
              <a:rPr sz="1400" i="1" spc="-80" dirty="0" smtClean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-89" dirty="0" smtClean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80" dirty="0" smtClean="0">
                <a:solidFill>
                  <a:srgbClr val="A91717"/>
                </a:solidFill>
                <a:latin typeface="Lucida Sans"/>
                <a:cs typeface="Lucida Sans"/>
              </a:rPr>
              <a:t>Engineering  </a:t>
            </a:r>
            <a:r>
              <a:rPr sz="1400" i="1" spc="-44" dirty="0" smtClean="0">
                <a:solidFill>
                  <a:srgbClr val="A91717"/>
                </a:solidFill>
                <a:latin typeface="Lucida Sans"/>
                <a:cs typeface="Lucida Sans"/>
              </a:rPr>
              <a:t>Methodology</a:t>
            </a:r>
            <a:r>
              <a:rPr sz="1400" spc="-44" dirty="0" smtClean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27" dirty="0" smtClean="0">
                <a:solidFill>
                  <a:srgbClr val="A91717"/>
                </a:solidFill>
                <a:latin typeface="Arial"/>
                <a:cs typeface="Arial"/>
              </a:rPr>
              <a:t>8(4), </a:t>
            </a:r>
            <a:r>
              <a:rPr sz="1400" spc="-80" dirty="0" smtClean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-18" dirty="0" smtClean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411-424.</a:t>
            </a:r>
            <a:endParaRPr sz="1400" dirty="0" smtClean="0">
              <a:latin typeface="Arial"/>
              <a:cs typeface="Arial"/>
            </a:endParaRPr>
          </a:p>
          <a:p>
            <a:pPr algn="just">
              <a:spcBef>
                <a:spcPts val="97"/>
              </a:spcBef>
            </a:pPr>
            <a:endParaRPr sz="1300" dirty="0" smtClean="0">
              <a:latin typeface="Times New Roman"/>
              <a:cs typeface="Times New Roman"/>
            </a:endParaRPr>
          </a:p>
          <a:p>
            <a:pPr marL="410288" marR="119152" indent="-276523" algn="just">
              <a:lnSpc>
                <a:spcPts val="1682"/>
              </a:lnSpc>
            </a:pPr>
            <a:r>
              <a:rPr sz="1600" b="1" spc="-12" baseline="4629" dirty="0" smtClean="0">
                <a:solidFill>
                  <a:srgbClr val="FFFFFF"/>
                </a:solidFill>
                <a:latin typeface="Arial"/>
                <a:cs typeface="Arial"/>
              </a:rPr>
              <a:t>12 </a:t>
            </a:r>
            <a:r>
              <a:rPr sz="1400" spc="-44" dirty="0" smtClean="0">
                <a:solidFill>
                  <a:srgbClr val="A91717"/>
                </a:solidFill>
                <a:latin typeface="Arial"/>
                <a:cs typeface="Arial"/>
              </a:rPr>
              <a:t>Ferguson, </a:t>
            </a:r>
            <a:r>
              <a:rPr sz="1400" spc="-18" dirty="0" smtClean="0">
                <a:solidFill>
                  <a:srgbClr val="A91717"/>
                </a:solidFill>
                <a:latin typeface="Arial"/>
                <a:cs typeface="Arial"/>
              </a:rPr>
              <a:t>R.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9" dirty="0" err="1" smtClean="0">
                <a:solidFill>
                  <a:srgbClr val="A91717"/>
                </a:solidFill>
                <a:latin typeface="Arial"/>
                <a:cs typeface="Arial"/>
              </a:rPr>
              <a:t>Korel</a:t>
            </a:r>
            <a:r>
              <a:rPr sz="1400" spc="-9" dirty="0" smtClean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27" dirty="0" smtClean="0">
                <a:solidFill>
                  <a:srgbClr val="A91717"/>
                </a:solidFill>
                <a:latin typeface="Arial"/>
                <a:cs typeface="Arial"/>
              </a:rPr>
              <a:t>B.,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1996.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The </a:t>
            </a:r>
            <a:r>
              <a:rPr sz="1400" spc="-18" dirty="0" smtClean="0">
                <a:solidFill>
                  <a:srgbClr val="A91717"/>
                </a:solidFill>
                <a:latin typeface="Arial"/>
                <a:cs typeface="Arial"/>
              </a:rPr>
              <a:t>chaining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approach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for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software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test </a:t>
            </a:r>
            <a:r>
              <a:rPr sz="1400" spc="-9" dirty="0" smtClean="0">
                <a:solidFill>
                  <a:srgbClr val="A91717"/>
                </a:solidFill>
                <a:latin typeface="Arial"/>
                <a:cs typeface="Arial"/>
              </a:rPr>
              <a:t>data  </a:t>
            </a:r>
            <a:r>
              <a:rPr sz="1400" spc="-18" dirty="0" smtClean="0">
                <a:solidFill>
                  <a:srgbClr val="A91717"/>
                </a:solidFill>
                <a:latin typeface="Arial"/>
                <a:cs typeface="Arial"/>
              </a:rPr>
              <a:t>generation. </a:t>
            </a:r>
            <a:r>
              <a:rPr sz="1400" spc="18" dirty="0" smtClean="0">
                <a:solidFill>
                  <a:srgbClr val="A91717"/>
                </a:solidFill>
                <a:latin typeface="Arial"/>
                <a:cs typeface="Arial"/>
              </a:rPr>
              <a:t>ACM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Transactions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on Software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Engineering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Methodology  </a:t>
            </a:r>
            <a:r>
              <a:rPr sz="1400" spc="44" dirty="0" smtClean="0">
                <a:solidFill>
                  <a:srgbClr val="A91717"/>
                </a:solidFill>
                <a:latin typeface="Arial"/>
                <a:cs typeface="Arial"/>
              </a:rPr>
              <a:t>(TOSEM), </a:t>
            </a:r>
            <a:r>
              <a:rPr sz="1400" spc="27" dirty="0" smtClean="0">
                <a:solidFill>
                  <a:srgbClr val="A91717"/>
                </a:solidFill>
                <a:latin typeface="Arial"/>
                <a:cs typeface="Arial"/>
              </a:rPr>
              <a:t>5(1), </a:t>
            </a:r>
            <a:r>
              <a:rPr sz="1400" spc="-62" dirty="0" smtClean="0">
                <a:solidFill>
                  <a:srgbClr val="A91717"/>
                </a:solidFill>
                <a:latin typeface="Arial"/>
                <a:cs typeface="Arial"/>
              </a:rPr>
              <a:t>pages.</a:t>
            </a:r>
            <a:r>
              <a:rPr sz="1400" spc="71" dirty="0" smtClean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63-86.</a:t>
            </a:r>
            <a:endParaRPr sz="1400" dirty="0" smtClean="0">
              <a:latin typeface="Arial"/>
              <a:cs typeface="Arial"/>
            </a:endParaRPr>
          </a:p>
          <a:p>
            <a:pPr algn="just">
              <a:spcBef>
                <a:spcPts val="9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10288" marR="107911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13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DeMillo,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R.,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Offutt,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1993.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Experimental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results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from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an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Automatic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Test  </a:t>
            </a:r>
            <a:r>
              <a:rPr sz="1400" spc="-106" dirty="0">
                <a:solidFill>
                  <a:srgbClr val="A91717"/>
                </a:solidFill>
                <a:latin typeface="Arial"/>
                <a:cs typeface="Arial"/>
              </a:rPr>
              <a:t>Case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Generation. </a:t>
            </a:r>
            <a:r>
              <a:rPr sz="1400" i="1" spc="35" dirty="0">
                <a:solidFill>
                  <a:srgbClr val="A91717"/>
                </a:solidFill>
                <a:latin typeface="Lucida Sans"/>
                <a:cs typeface="Lucida Sans"/>
              </a:rPr>
              <a:t>ACM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Transaction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Engineering </a:t>
            </a:r>
            <a:r>
              <a:rPr sz="1400" i="1" spc="-44" dirty="0">
                <a:solidFill>
                  <a:srgbClr val="A91717"/>
                </a:solidFill>
                <a:latin typeface="Lucida Sans"/>
                <a:cs typeface="Lucida Sans"/>
              </a:rPr>
              <a:t>Methodology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, 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2(2),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177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109-175.</a:t>
            </a:r>
            <a:endParaRPr sz="1400" dirty="0">
              <a:latin typeface="Arial"/>
              <a:cs typeface="Arial"/>
            </a:endParaRPr>
          </a:p>
          <a:p>
            <a:pPr algn="just">
              <a:spcBef>
                <a:spcPts val="9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10288" marR="327106" indent="-276523" algn="just">
              <a:lnSpc>
                <a:spcPts val="1682"/>
              </a:lnSpc>
            </a:pPr>
            <a:r>
              <a:rPr sz="1600" b="1" spc="-12" baseline="4629" dirty="0" smtClean="0">
                <a:solidFill>
                  <a:srgbClr val="FFFFFF"/>
                </a:solidFill>
                <a:latin typeface="Arial"/>
                <a:cs typeface="Arial"/>
              </a:rPr>
              <a:t>14 </a:t>
            </a:r>
            <a:r>
              <a:rPr sz="1400" dirty="0" err="1" smtClean="0">
                <a:solidFill>
                  <a:srgbClr val="A91717"/>
                </a:solidFill>
                <a:latin typeface="Arial"/>
                <a:cs typeface="Arial"/>
              </a:rPr>
              <a:t>Ntafos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S.C., 1988. </a:t>
            </a:r>
            <a:r>
              <a:rPr sz="1400" spc="53" dirty="0" smtClean="0">
                <a:solidFill>
                  <a:srgbClr val="A91717"/>
                </a:solidFill>
                <a:latin typeface="Arial"/>
                <a:cs typeface="Arial"/>
              </a:rPr>
              <a:t>A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comparison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-80" dirty="0" smtClean="0">
                <a:solidFill>
                  <a:srgbClr val="A91717"/>
                </a:solidFill>
                <a:latin typeface="Arial"/>
                <a:cs typeface="Arial"/>
              </a:rPr>
              <a:t>some </a:t>
            </a:r>
            <a:r>
              <a:rPr sz="1400" spc="9" dirty="0" smtClean="0">
                <a:solidFill>
                  <a:srgbClr val="A91717"/>
                </a:solidFill>
                <a:latin typeface="Arial"/>
                <a:cs typeface="Arial"/>
              </a:rPr>
              <a:t>structural </a:t>
            </a:r>
            <a:r>
              <a:rPr sz="1400" dirty="0" smtClean="0">
                <a:solidFill>
                  <a:srgbClr val="A91717"/>
                </a:solidFill>
                <a:latin typeface="Arial"/>
                <a:cs typeface="Arial"/>
              </a:rPr>
              <a:t>testing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strategies.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IEEE 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Transactions on </a:t>
            </a:r>
            <a:r>
              <a:rPr sz="1400" spc="-35" dirty="0" smtClean="0">
                <a:solidFill>
                  <a:srgbClr val="A91717"/>
                </a:solidFill>
                <a:latin typeface="Arial"/>
                <a:cs typeface="Arial"/>
              </a:rPr>
              <a:t>software engineering, </a:t>
            </a:r>
            <a:r>
              <a:rPr sz="1400" spc="18" dirty="0" smtClean="0">
                <a:solidFill>
                  <a:srgbClr val="A91717"/>
                </a:solidFill>
                <a:latin typeface="Arial"/>
                <a:cs typeface="Arial"/>
              </a:rPr>
              <a:t>14(6), </a:t>
            </a:r>
            <a:r>
              <a:rPr sz="1400" spc="-80" dirty="0" smtClean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35" dirty="0" smtClean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 smtClean="0">
                <a:solidFill>
                  <a:srgbClr val="A91717"/>
                </a:solidFill>
                <a:latin typeface="Arial"/>
                <a:cs typeface="Arial"/>
              </a:rPr>
              <a:t>868-874.</a:t>
            </a:r>
            <a:endParaRPr sz="1400" dirty="0" smtClean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410288" marR="316990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15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Chilenski,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Miller.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S.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1994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Application of Modified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Condition/Decision 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Coverage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to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Software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Testing.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Engineering </a:t>
            </a:r>
            <a:r>
              <a:rPr sz="1400" i="1" spc="-62" dirty="0">
                <a:solidFill>
                  <a:srgbClr val="A91717"/>
                </a:solidFill>
                <a:latin typeface="Lucida Sans"/>
                <a:cs typeface="Lucida Sans"/>
              </a:rPr>
              <a:t>Journal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115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193-200.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71808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8251" y="480332"/>
            <a:ext cx="8311971" cy="584644"/>
          </a:xfrm>
          <a:prstGeom prst="rect">
            <a:avLst/>
          </a:prstGeom>
        </p:spPr>
        <p:txBody>
          <a:bodyPr vert="horz" wrap="square" lIns="0" tIns="30350" rIns="0" bIns="0" rtlCol="0">
            <a:spAutoFit/>
          </a:bodyPr>
          <a:lstStyle/>
          <a:p>
            <a:pPr marL="295632">
              <a:spcBef>
                <a:spcPts val="239"/>
              </a:spcBef>
            </a:pPr>
            <a:r>
              <a:rPr spc="-115" dirty="0" smtClean="0">
                <a:latin typeface="Tahoma"/>
                <a:cs typeface="Tahoma"/>
              </a:rPr>
              <a:t>References</a:t>
            </a:r>
            <a:endParaRPr spc="-44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78436"/>
            <a:ext cx="9139843" cy="75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744" y="1395270"/>
            <a:ext cx="226540" cy="169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3744" y="1930478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3744" y="2635959"/>
            <a:ext cx="226540" cy="1697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3744" y="3171165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3744" y="4026024"/>
            <a:ext cx="226540" cy="16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28251" y="1354295"/>
            <a:ext cx="7621260" cy="3463533"/>
          </a:xfrm>
          <a:prstGeom prst="rect">
            <a:avLst/>
          </a:prstGeom>
        </p:spPr>
        <p:txBody>
          <a:bodyPr vert="horz" wrap="square" lIns="0" tIns="21357" rIns="0" bIns="0" rtlCol="0">
            <a:spAutoFit/>
          </a:bodyPr>
          <a:lstStyle/>
          <a:p>
            <a:pPr marL="112408" algn="just">
              <a:lnSpc>
                <a:spcPts val="1691"/>
              </a:lnSpc>
              <a:spcBef>
                <a:spcPts val="168"/>
              </a:spcBef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16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Das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A.,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Mall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R.,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2013.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Automatic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Generation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80" dirty="0">
                <a:solidFill>
                  <a:srgbClr val="A91717"/>
                </a:solidFill>
                <a:latin typeface="Arial"/>
                <a:cs typeface="Arial"/>
              </a:rPr>
              <a:t>MC/DC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Test</a:t>
            </a:r>
            <a:r>
              <a:rPr sz="1400" spc="142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Data.</a:t>
            </a:r>
            <a:endParaRPr sz="1400" dirty="0">
              <a:latin typeface="Arial"/>
              <a:cs typeface="Arial"/>
            </a:endParaRPr>
          </a:p>
          <a:p>
            <a:pPr marL="387807" algn="just">
              <a:lnSpc>
                <a:spcPts val="1691"/>
              </a:lnSpc>
            </a:pP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International</a:t>
            </a:r>
            <a:r>
              <a:rPr sz="1400" i="1" spc="35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Journal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of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Engineering,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44" dirty="0">
                <a:solidFill>
                  <a:srgbClr val="A91717"/>
                </a:solidFill>
                <a:latin typeface="Lucida Sans"/>
                <a:cs typeface="Lucida Sans"/>
              </a:rPr>
              <a:t>Acta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Press</a:t>
            </a:r>
            <a:r>
              <a:rPr sz="1400" i="1" spc="62" dirty="0">
                <a:solidFill>
                  <a:srgbClr val="A91717"/>
                </a:solidFill>
                <a:latin typeface="Lucida Sans"/>
                <a:cs typeface="Lucida Sans"/>
              </a:rPr>
              <a:t>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2(1).</a:t>
            </a:r>
            <a:endParaRPr sz="1400" dirty="0">
              <a:latin typeface="Arial"/>
              <a:cs typeface="Arial"/>
            </a:endParaRPr>
          </a:p>
          <a:p>
            <a:pPr algn="just">
              <a:spcBef>
                <a:spcPts val="89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87807" marR="193341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17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Majumder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R.,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89" dirty="0">
                <a:solidFill>
                  <a:srgbClr val="A91717"/>
                </a:solidFill>
                <a:latin typeface="Arial"/>
                <a:cs typeface="Arial"/>
              </a:rPr>
              <a:t>Sen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K.,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2007.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Hybrid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Concolic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Testing.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Proceedings of the  </a:t>
            </a:r>
            <a:r>
              <a:rPr sz="1400" i="1" spc="-106" dirty="0">
                <a:solidFill>
                  <a:srgbClr val="A91717"/>
                </a:solidFill>
                <a:latin typeface="Lucida Sans"/>
                <a:cs typeface="Lucida Sans"/>
              </a:rPr>
              <a:t>29th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International </a:t>
            </a:r>
            <a:r>
              <a:rPr sz="1400" i="1" spc="-97" dirty="0">
                <a:solidFill>
                  <a:srgbClr val="A91717"/>
                </a:solidFill>
                <a:latin typeface="Lucida Sans"/>
                <a:cs typeface="Lucida Sans"/>
              </a:rPr>
              <a:t>Conference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35" dirty="0">
                <a:solidFill>
                  <a:srgbClr val="A91717"/>
                </a:solidFill>
                <a:latin typeface="Lucida Sans"/>
                <a:cs typeface="Lucida Sans"/>
              </a:rPr>
              <a:t>Engineering,IEEE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Computer  </a:t>
            </a:r>
            <a:r>
              <a:rPr sz="1400" i="1" spc="-62" dirty="0">
                <a:solidFill>
                  <a:srgbClr val="A91717"/>
                </a:solidFill>
                <a:latin typeface="Lucida Sans"/>
                <a:cs typeface="Lucida Sans"/>
              </a:rPr>
              <a:t>Society,Washington, </a:t>
            </a:r>
            <a:r>
              <a:rPr sz="1400" i="1" spc="-9" dirty="0">
                <a:solidFill>
                  <a:srgbClr val="A91717"/>
                </a:solidFill>
                <a:latin typeface="Lucida Sans"/>
                <a:cs typeface="Lucida Sans"/>
              </a:rPr>
              <a:t>DC, </a:t>
            </a:r>
            <a:r>
              <a:rPr sz="1400" i="1" spc="35" dirty="0">
                <a:solidFill>
                  <a:srgbClr val="A91717"/>
                </a:solidFill>
                <a:latin typeface="Lucida Sans"/>
                <a:cs typeface="Lucida Sans"/>
              </a:rPr>
              <a:t>USA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416-426.</a:t>
            </a:r>
            <a:endParaRPr sz="1400" dirty="0">
              <a:latin typeface="Arial"/>
              <a:cs typeface="Arial"/>
            </a:endParaRPr>
          </a:p>
          <a:p>
            <a:pPr algn="just">
              <a:spcBef>
                <a:spcPts val="44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387807" marR="256290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18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Hayhurst,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KJ.,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Veerhusen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DS.,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Chilenski,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JJ.,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Rierson,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LK.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2001.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A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Practical 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Tutorial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on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Modified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Condition/Decision </a:t>
            </a:r>
            <a:r>
              <a:rPr sz="1400" spc="-62" dirty="0">
                <a:solidFill>
                  <a:srgbClr val="A91717"/>
                </a:solidFill>
                <a:latin typeface="Arial"/>
                <a:cs typeface="Arial"/>
              </a:rPr>
              <a:t>Coverage,</a:t>
            </a:r>
            <a:r>
              <a:rPr sz="1400" spc="202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NASA/TM-2001-210876.</a:t>
            </a:r>
            <a:endParaRPr sz="1400" dirty="0">
              <a:latin typeface="Arial"/>
              <a:cs typeface="Arial"/>
            </a:endParaRPr>
          </a:p>
          <a:p>
            <a:pPr algn="just">
              <a:spcBef>
                <a:spcPts val="27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87807" marR="53956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19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Kim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Y.,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44" dirty="0">
                <a:solidFill>
                  <a:srgbClr val="A91717"/>
                </a:solidFill>
                <a:latin typeface="Arial"/>
                <a:cs typeface="Arial"/>
              </a:rPr>
              <a:t>Kim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2011.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SCORE: </a:t>
            </a:r>
            <a:r>
              <a:rPr sz="1400" spc="-71" dirty="0">
                <a:solidFill>
                  <a:srgbClr val="A91717"/>
                </a:solidFill>
                <a:latin typeface="Arial"/>
                <a:cs typeface="Arial"/>
              </a:rPr>
              <a:t>a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scalable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concolic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testing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tool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for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reliable  </a:t>
            </a:r>
            <a:r>
              <a:rPr sz="1400" spc="-53" dirty="0">
                <a:solidFill>
                  <a:srgbClr val="A91717"/>
                </a:solidFill>
                <a:latin typeface="Arial"/>
                <a:cs typeface="Arial"/>
              </a:rPr>
              <a:t>embedded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software.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Proceedings of the </a:t>
            </a:r>
            <a:r>
              <a:rPr sz="1400" i="1" spc="-106" dirty="0">
                <a:solidFill>
                  <a:srgbClr val="A91717"/>
                </a:solidFill>
                <a:latin typeface="Lucida Sans"/>
                <a:cs typeface="Lucida Sans"/>
              </a:rPr>
              <a:t>19th </a:t>
            </a:r>
            <a:r>
              <a:rPr sz="1400" i="1" spc="27" dirty="0">
                <a:solidFill>
                  <a:srgbClr val="A91717"/>
                </a:solidFill>
                <a:latin typeface="Lucida Sans"/>
                <a:cs typeface="Lucida Sans"/>
              </a:rPr>
              <a:t>ACM </a:t>
            </a:r>
            <a:r>
              <a:rPr sz="1400" i="1" spc="44" dirty="0">
                <a:solidFill>
                  <a:srgbClr val="A91717"/>
                </a:solidFill>
                <a:latin typeface="Lucida Sans"/>
                <a:cs typeface="Lucida Sans"/>
              </a:rPr>
              <a:t>SIGSOFT </a:t>
            </a:r>
            <a:r>
              <a:rPr sz="1400" i="1" spc="-97" dirty="0">
                <a:solidFill>
                  <a:srgbClr val="A91717"/>
                </a:solidFill>
                <a:latin typeface="Lucida Sans"/>
                <a:cs typeface="Lucida Sans"/>
              </a:rPr>
              <a:t>symposium </a:t>
            </a:r>
            <a:r>
              <a:rPr sz="1400" i="1" spc="-115" dirty="0">
                <a:solidFill>
                  <a:srgbClr val="A91717"/>
                </a:solidFill>
                <a:latin typeface="Lucida Sans"/>
                <a:cs typeface="Lucida Sans"/>
              </a:rPr>
              <a:t>and 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the </a:t>
            </a:r>
            <a:r>
              <a:rPr sz="1400" i="1" spc="-106" dirty="0">
                <a:solidFill>
                  <a:srgbClr val="A91717"/>
                </a:solidFill>
                <a:latin typeface="Lucida Sans"/>
                <a:cs typeface="Lucida Sans"/>
              </a:rPr>
              <a:t>13th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European </a:t>
            </a:r>
            <a:r>
              <a:rPr sz="1400" i="1" spc="-89" dirty="0">
                <a:solidFill>
                  <a:srgbClr val="A91717"/>
                </a:solidFill>
                <a:latin typeface="Lucida Sans"/>
                <a:cs typeface="Lucida Sans"/>
              </a:rPr>
              <a:t>conference </a:t>
            </a:r>
            <a:r>
              <a:rPr sz="1400" i="1" spc="-80" dirty="0">
                <a:solidFill>
                  <a:srgbClr val="A91717"/>
                </a:solidFill>
                <a:latin typeface="Lucida Sans"/>
                <a:cs typeface="Lucida Sans"/>
              </a:rPr>
              <a:t>on </a:t>
            </a:r>
            <a:r>
              <a:rPr sz="1400" i="1" spc="-71" dirty="0">
                <a:solidFill>
                  <a:srgbClr val="A91717"/>
                </a:solidFill>
                <a:latin typeface="Lucida Sans"/>
                <a:cs typeface="Lucida Sans"/>
              </a:rPr>
              <a:t>Foundations of </a:t>
            </a:r>
            <a:r>
              <a:rPr sz="1400" i="1" spc="-115" dirty="0">
                <a:solidFill>
                  <a:srgbClr val="A91717"/>
                </a:solidFill>
                <a:latin typeface="Lucida Sans"/>
                <a:cs typeface="Lucida Sans"/>
              </a:rPr>
              <a:t>software </a:t>
            </a:r>
            <a:r>
              <a:rPr sz="1400" i="1" spc="-97" dirty="0">
                <a:solidFill>
                  <a:srgbClr val="A91717"/>
                </a:solidFill>
                <a:latin typeface="Lucida Sans"/>
                <a:cs typeface="Lucida Sans"/>
              </a:rPr>
              <a:t>engineering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 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420-423.</a:t>
            </a:r>
            <a:endParaRPr sz="1400" dirty="0">
              <a:latin typeface="Arial"/>
              <a:cs typeface="Arial"/>
            </a:endParaRPr>
          </a:p>
          <a:p>
            <a:pPr algn="just">
              <a:spcBef>
                <a:spcPts val="71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387807" marR="80934" indent="-276523" algn="just">
              <a:lnSpc>
                <a:spcPts val="1682"/>
              </a:lnSpc>
            </a:pPr>
            <a:r>
              <a:rPr sz="1600" b="1" spc="-12" baseline="4629" dirty="0">
                <a:solidFill>
                  <a:srgbClr val="FFFFFF"/>
                </a:solidFill>
                <a:latin typeface="Arial"/>
                <a:cs typeface="Arial"/>
              </a:rPr>
              <a:t>20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Kim, </a:t>
            </a:r>
            <a:r>
              <a:rPr sz="1400" spc="53" dirty="0">
                <a:solidFill>
                  <a:srgbClr val="A91717"/>
                </a:solidFill>
                <a:latin typeface="Arial"/>
                <a:cs typeface="Arial"/>
              </a:rPr>
              <a:t>M., </a:t>
            </a:r>
            <a:r>
              <a:rPr sz="1400" spc="35" dirty="0">
                <a:solidFill>
                  <a:srgbClr val="A91717"/>
                </a:solidFill>
                <a:latin typeface="Arial"/>
                <a:cs typeface="Arial"/>
              </a:rPr>
              <a:t>Kim, Y.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and </a:t>
            </a:r>
            <a:r>
              <a:rPr sz="1400" spc="-18" dirty="0">
                <a:solidFill>
                  <a:srgbClr val="A91717"/>
                </a:solidFill>
                <a:latin typeface="Arial"/>
                <a:cs typeface="Arial"/>
              </a:rPr>
              <a:t>Choi, </a:t>
            </a:r>
            <a:r>
              <a:rPr sz="1400" spc="27" dirty="0">
                <a:solidFill>
                  <a:srgbClr val="A91717"/>
                </a:solidFill>
                <a:latin typeface="Arial"/>
                <a:cs typeface="Arial"/>
              </a:rPr>
              <a:t>Y.,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2012. Concolic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testing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the multi-sector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read 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operation </a:t>
            </a:r>
            <a:r>
              <a:rPr sz="1400" dirty="0">
                <a:solidFill>
                  <a:srgbClr val="A91717"/>
                </a:solidFill>
                <a:latin typeface="Arial"/>
                <a:cs typeface="Arial"/>
              </a:rPr>
              <a:t>for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flash </a:t>
            </a:r>
            <a:r>
              <a:rPr sz="1400" spc="-44" dirty="0">
                <a:solidFill>
                  <a:srgbClr val="A91717"/>
                </a:solidFill>
                <a:latin typeface="Arial"/>
                <a:cs typeface="Arial"/>
              </a:rPr>
              <a:t>storage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platform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software. Formal </a:t>
            </a:r>
            <a:r>
              <a:rPr sz="1400" spc="-35" dirty="0">
                <a:solidFill>
                  <a:srgbClr val="A91717"/>
                </a:solidFill>
                <a:latin typeface="Arial"/>
                <a:cs typeface="Arial"/>
              </a:rPr>
              <a:t>Aspects </a:t>
            </a:r>
            <a:r>
              <a:rPr sz="1400" spc="9" dirty="0">
                <a:solidFill>
                  <a:srgbClr val="A91717"/>
                </a:solidFill>
                <a:latin typeface="Arial"/>
                <a:cs typeface="Arial"/>
              </a:rPr>
              <a:t>of </a:t>
            </a:r>
            <a:r>
              <a:rPr sz="1400" spc="-9" dirty="0">
                <a:solidFill>
                  <a:srgbClr val="A91717"/>
                </a:solidFill>
                <a:latin typeface="Arial"/>
                <a:cs typeface="Arial"/>
              </a:rPr>
              <a:t>Computing,  </a:t>
            </a:r>
            <a:r>
              <a:rPr sz="1400" spc="18" dirty="0">
                <a:solidFill>
                  <a:srgbClr val="A91717"/>
                </a:solidFill>
                <a:latin typeface="Arial"/>
                <a:cs typeface="Arial"/>
              </a:rPr>
              <a:t>24(3), </a:t>
            </a:r>
            <a:r>
              <a:rPr sz="1400" spc="-80" dirty="0">
                <a:solidFill>
                  <a:srgbClr val="A91717"/>
                </a:solidFill>
                <a:latin typeface="Arial"/>
                <a:cs typeface="Arial"/>
              </a:rPr>
              <a:t>pages</a:t>
            </a:r>
            <a:r>
              <a:rPr sz="1400" spc="186" dirty="0">
                <a:solidFill>
                  <a:srgbClr val="A91717"/>
                </a:solidFill>
                <a:latin typeface="Arial"/>
                <a:cs typeface="Arial"/>
              </a:rPr>
              <a:t> </a:t>
            </a:r>
            <a:r>
              <a:rPr sz="1400" spc="-27" dirty="0">
                <a:solidFill>
                  <a:srgbClr val="A91717"/>
                </a:solidFill>
                <a:latin typeface="Arial"/>
                <a:cs typeface="Arial"/>
              </a:rPr>
              <a:t>355-374.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98106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594816"/>
            <a:ext cx="9139843" cy="752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98852" y="2761035"/>
            <a:ext cx="2142417" cy="587963"/>
          </a:xfrm>
          <a:custGeom>
            <a:avLst/>
            <a:gdLst/>
            <a:ahLst/>
            <a:cxnLst/>
            <a:rect l="l" t="t" r="r" b="b"/>
            <a:pathLst>
              <a:path w="1080135" h="395605">
                <a:moveTo>
                  <a:pt x="1080013" y="395234"/>
                </a:moveTo>
                <a:lnTo>
                  <a:pt x="1052320" y="337048"/>
                </a:lnTo>
                <a:lnTo>
                  <a:pt x="1024628" y="284216"/>
                </a:lnTo>
                <a:lnTo>
                  <a:pt x="996935" y="236550"/>
                </a:lnTo>
                <a:lnTo>
                  <a:pt x="969242" y="193866"/>
                </a:lnTo>
                <a:lnTo>
                  <a:pt x="941550" y="155978"/>
                </a:lnTo>
                <a:lnTo>
                  <a:pt x="913857" y="122699"/>
                </a:lnTo>
                <a:lnTo>
                  <a:pt x="886164" y="93845"/>
                </a:lnTo>
                <a:lnTo>
                  <a:pt x="830779" y="48666"/>
                </a:lnTo>
                <a:lnTo>
                  <a:pt x="775394" y="18956"/>
                </a:lnTo>
                <a:lnTo>
                  <a:pt x="720008" y="3229"/>
                </a:lnTo>
                <a:lnTo>
                  <a:pt x="664623" y="0"/>
                </a:lnTo>
                <a:lnTo>
                  <a:pt x="636930" y="2607"/>
                </a:lnTo>
                <a:lnTo>
                  <a:pt x="581545" y="15337"/>
                </a:lnTo>
                <a:lnTo>
                  <a:pt x="526160" y="36850"/>
                </a:lnTo>
                <a:lnTo>
                  <a:pt x="470775" y="65661"/>
                </a:lnTo>
                <a:lnTo>
                  <a:pt x="415389" y="100283"/>
                </a:lnTo>
                <a:lnTo>
                  <a:pt x="360004" y="139231"/>
                </a:lnTo>
                <a:lnTo>
                  <a:pt x="304619" y="181019"/>
                </a:lnTo>
                <a:lnTo>
                  <a:pt x="249233" y="224162"/>
                </a:lnTo>
                <a:lnTo>
                  <a:pt x="221541" y="245777"/>
                </a:lnTo>
                <a:lnTo>
                  <a:pt x="166155" y="288166"/>
                </a:lnTo>
                <a:lnTo>
                  <a:pt x="110770" y="328196"/>
                </a:lnTo>
                <a:lnTo>
                  <a:pt x="55385" y="364380"/>
                </a:lnTo>
                <a:lnTo>
                  <a:pt x="27692" y="380566"/>
                </a:lnTo>
                <a:lnTo>
                  <a:pt x="0" y="395234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8852" y="1743290"/>
            <a:ext cx="2142417" cy="701215"/>
          </a:xfrm>
          <a:custGeom>
            <a:avLst/>
            <a:gdLst/>
            <a:ahLst/>
            <a:cxnLst/>
            <a:rect l="l" t="t" r="r" b="b"/>
            <a:pathLst>
              <a:path w="1080135" h="471805">
                <a:moveTo>
                  <a:pt x="0" y="0"/>
                </a:moveTo>
                <a:lnTo>
                  <a:pt x="25714" y="61739"/>
                </a:lnTo>
                <a:lnTo>
                  <a:pt x="51429" y="118485"/>
                </a:lnTo>
                <a:lnTo>
                  <a:pt x="77143" y="170385"/>
                </a:lnTo>
                <a:lnTo>
                  <a:pt x="102858" y="217588"/>
                </a:lnTo>
                <a:lnTo>
                  <a:pt x="128572" y="260243"/>
                </a:lnTo>
                <a:lnTo>
                  <a:pt x="154287" y="298499"/>
                </a:lnTo>
                <a:lnTo>
                  <a:pt x="180002" y="332504"/>
                </a:lnTo>
                <a:lnTo>
                  <a:pt x="205716" y="362406"/>
                </a:lnTo>
                <a:lnTo>
                  <a:pt x="257146" y="410500"/>
                </a:lnTo>
                <a:lnTo>
                  <a:pt x="308575" y="443970"/>
                </a:lnTo>
                <a:lnTo>
                  <a:pt x="360004" y="464006"/>
                </a:lnTo>
                <a:lnTo>
                  <a:pt x="411433" y="471796"/>
                </a:lnTo>
                <a:lnTo>
                  <a:pt x="437148" y="471471"/>
                </a:lnTo>
                <a:lnTo>
                  <a:pt x="488577" y="463124"/>
                </a:lnTo>
                <a:lnTo>
                  <a:pt x="540006" y="445506"/>
                </a:lnTo>
                <a:lnTo>
                  <a:pt x="591435" y="419806"/>
                </a:lnTo>
                <a:lnTo>
                  <a:pt x="642865" y="387213"/>
                </a:lnTo>
                <a:lnTo>
                  <a:pt x="694294" y="348918"/>
                </a:lnTo>
                <a:lnTo>
                  <a:pt x="745723" y="306110"/>
                </a:lnTo>
                <a:lnTo>
                  <a:pt x="797152" y="259978"/>
                </a:lnTo>
                <a:lnTo>
                  <a:pt x="848581" y="211713"/>
                </a:lnTo>
                <a:lnTo>
                  <a:pt x="900011" y="162502"/>
                </a:lnTo>
                <a:lnTo>
                  <a:pt x="925725" y="137914"/>
                </a:lnTo>
                <a:lnTo>
                  <a:pt x="977154" y="89517"/>
                </a:lnTo>
                <a:lnTo>
                  <a:pt x="1028584" y="43149"/>
                </a:lnTo>
                <a:lnTo>
                  <a:pt x="1054298" y="21098"/>
                </a:lnTo>
                <a:lnTo>
                  <a:pt x="1080013" y="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 rot="19800000">
            <a:off x="3137302" y="2353880"/>
            <a:ext cx="2979991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4"/>
              </a:lnSpc>
            </a:pPr>
            <a:r>
              <a:rPr sz="4300" spc="-150" dirty="0">
                <a:latin typeface="Tahoma"/>
                <a:cs typeface="Tahoma"/>
              </a:rPr>
              <a:t>Thank</a:t>
            </a:r>
            <a:r>
              <a:rPr sz="4300" spc="-239" dirty="0">
                <a:latin typeface="Tahoma"/>
                <a:cs typeface="Tahoma"/>
              </a:rPr>
              <a:t> </a:t>
            </a:r>
            <a:r>
              <a:rPr sz="6500" spc="-304" baseline="2267" dirty="0">
                <a:latin typeface="Tahoma"/>
                <a:cs typeface="Tahoma"/>
              </a:rPr>
              <a:t>Y</a:t>
            </a:r>
            <a:r>
              <a:rPr sz="6500" spc="-304" baseline="3401" dirty="0">
                <a:latin typeface="Tahoma"/>
                <a:cs typeface="Tahoma"/>
              </a:rPr>
              <a:t>ou!</a:t>
            </a:r>
            <a:endParaRPr sz="6500" baseline="3401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879266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Theme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5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_Theme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1647</Words>
  <Application>Microsoft Office PowerPoint</Application>
  <PresentationFormat>On-screen Show (16:9)</PresentationFormat>
  <Paragraphs>510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Solstice</vt:lpstr>
      <vt:lpstr>1_Solstice</vt:lpstr>
      <vt:lpstr>Theme1</vt:lpstr>
      <vt:lpstr>2_Solstice</vt:lpstr>
      <vt:lpstr>3_Solstice</vt:lpstr>
      <vt:lpstr>1_Theme1</vt:lpstr>
      <vt:lpstr>4_Solstice</vt:lpstr>
      <vt:lpstr>5_Solstice</vt:lpstr>
      <vt:lpstr>2_Theme1</vt:lpstr>
      <vt:lpstr>6_Solstice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References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D7</dc:creator>
  <cp:lastModifiedBy>D.P.MOHAPATRA</cp:lastModifiedBy>
  <cp:revision>68</cp:revision>
  <dcterms:modified xsi:type="dcterms:W3CDTF">2019-03-22T07:59:49Z</dcterms:modified>
</cp:coreProperties>
</file>