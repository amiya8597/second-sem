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3387" y="2810992"/>
            <a:ext cx="426720" cy="4362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46680" y="330796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67063" y="330400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44865" y="330400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305694" y="329765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42526" y="330400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6877" y="331035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7976" y="330400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94177" y="32976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5C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9640" y="3297655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3439" y="330400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9640" y="3335756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E5C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5090" y="329765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328136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301641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9765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A025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43387" y="2810992"/>
            <a:ext cx="426720" cy="4362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46680" y="330796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67063" y="330400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44865" y="330400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305694" y="329765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42526" y="330400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6877" y="331035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7976" y="330400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94177" y="32976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5C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9640" y="3297655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3439" y="330400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9640" y="3335756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E5C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5090" y="329765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328136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301641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9765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D19D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2053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830" y="936503"/>
            <a:ext cx="4364990" cy="1605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84149" y="3379346"/>
            <a:ext cx="619125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949462" y="3379346"/>
            <a:ext cx="377189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-38100" y="3379346"/>
            <a:ext cx="219075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10"/>
              <a:t>/14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29" y="735659"/>
            <a:ext cx="4457065" cy="82550"/>
          </a:xfrm>
          <a:custGeom>
            <a:avLst/>
            <a:gdLst/>
            <a:ahLst/>
            <a:cxnLst/>
            <a:rect l="l" t="t" r="r" b="b"/>
            <a:pathLst>
              <a:path w="4457065" h="82550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56606" y="82384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A0256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5729" y="780080"/>
            <a:ext cx="4507865" cy="383540"/>
            <a:chOff x="75729" y="780080"/>
            <a:chExt cx="4507865" cy="3835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530" y="1061808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330" y="1049108"/>
              <a:ext cx="4405806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2336" y="786231"/>
              <a:ext cx="50800" cy="2755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729" y="780080"/>
              <a:ext cx="4457065" cy="332740"/>
            </a:xfrm>
            <a:custGeom>
              <a:avLst/>
              <a:gdLst/>
              <a:ahLst/>
              <a:cxnLst/>
              <a:rect l="l" t="t" r="r" b="b"/>
              <a:pathLst>
                <a:path w="4457065" h="332740">
                  <a:moveTo>
                    <a:pt x="4456606" y="0"/>
                  </a:moveTo>
                  <a:lnTo>
                    <a:pt x="0" y="0"/>
                  </a:lnTo>
                  <a:lnTo>
                    <a:pt x="0" y="281728"/>
                  </a:lnTo>
                  <a:lnTo>
                    <a:pt x="4008" y="301453"/>
                  </a:lnTo>
                  <a:lnTo>
                    <a:pt x="14922" y="317605"/>
                  </a:lnTo>
                  <a:lnTo>
                    <a:pt x="31075" y="328520"/>
                  </a:lnTo>
                  <a:lnTo>
                    <a:pt x="50800" y="332528"/>
                  </a:lnTo>
                  <a:lnTo>
                    <a:pt x="4405806" y="332528"/>
                  </a:lnTo>
                  <a:lnTo>
                    <a:pt x="4425531" y="328520"/>
                  </a:lnTo>
                  <a:lnTo>
                    <a:pt x="4441684" y="317605"/>
                  </a:lnTo>
                  <a:lnTo>
                    <a:pt x="4452598" y="301453"/>
                  </a:lnTo>
                  <a:lnTo>
                    <a:pt x="4456606" y="281728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A025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32336" y="824317"/>
              <a:ext cx="0" cy="256540"/>
            </a:xfrm>
            <a:custGeom>
              <a:avLst/>
              <a:gdLst/>
              <a:ahLst/>
              <a:cxnLst/>
              <a:rect l="l" t="t" r="r" b="b"/>
              <a:pathLst>
                <a:path w="0" h="256540">
                  <a:moveTo>
                    <a:pt x="0" y="25654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32336" y="8116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32336" y="798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32336" y="786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185760" y="787448"/>
            <a:ext cx="223647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Example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Mutation</a:t>
            </a:r>
            <a:r>
              <a:rPr dirty="0" spc="-65"/>
              <a:t> </a:t>
            </a:r>
            <a:r>
              <a:rPr dirty="0" spc="-20"/>
              <a:t>Testing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03312" y="1314353"/>
            <a:ext cx="2001520" cy="981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Dr.</a:t>
            </a:r>
            <a:r>
              <a:rPr dirty="0" sz="1000" spc="1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P.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Mohapatra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20">
                <a:latin typeface="Tahoma"/>
                <a:cs typeface="Tahoma"/>
              </a:rPr>
              <a:t>Associate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Professor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ts val="819"/>
              </a:lnSpc>
            </a:pPr>
            <a:r>
              <a:rPr dirty="0" sz="700">
                <a:latin typeface="Arial MT"/>
                <a:cs typeface="Arial MT"/>
              </a:rPr>
              <a:t>Department</a:t>
            </a:r>
            <a:r>
              <a:rPr dirty="0" sz="700" spc="4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5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CSE</a:t>
            </a:r>
            <a:endParaRPr sz="700">
              <a:latin typeface="Arial MT"/>
              <a:cs typeface="Arial MT"/>
            </a:endParaRPr>
          </a:p>
          <a:p>
            <a:pPr algn="ctr" marL="12700" marR="5080">
              <a:lnSpc>
                <a:spcPts val="800"/>
              </a:lnSpc>
              <a:spcBef>
                <a:spcPts val="40"/>
              </a:spcBef>
            </a:pPr>
            <a:r>
              <a:rPr dirty="0" sz="700">
                <a:latin typeface="Arial MT"/>
                <a:cs typeface="Arial MT"/>
              </a:rPr>
              <a:t>National</a:t>
            </a:r>
            <a:r>
              <a:rPr dirty="0" sz="700" spc="8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Institute</a:t>
            </a:r>
            <a:r>
              <a:rPr dirty="0" sz="700" spc="8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</a:t>
            </a:r>
            <a:r>
              <a:rPr dirty="0" sz="700" spc="8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Technology,</a:t>
            </a:r>
            <a:r>
              <a:rPr dirty="0" sz="700" spc="85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Rourkela-769008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Odisha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12700" y="3364226"/>
            <a:ext cx="16002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latin typeface="Arial MT"/>
                <a:cs typeface="Arial MT"/>
              </a:rPr>
              <a:t>1/14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0538" y="3364226"/>
            <a:ext cx="6191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latin typeface="Arial MT"/>
                <a:cs typeface="Arial MT"/>
              </a:rPr>
              <a:t>Dr.</a:t>
            </a:r>
            <a:r>
              <a:rPr dirty="0" sz="500" spc="10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D.</a:t>
            </a:r>
            <a:r>
              <a:rPr dirty="0" sz="500" spc="4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P.</a:t>
            </a:r>
            <a:r>
              <a:rPr dirty="0" sz="500" spc="4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Mohapatra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5851" y="3364226"/>
            <a:ext cx="37719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latin typeface="Arial MT"/>
                <a:cs typeface="Arial MT"/>
              </a:rPr>
              <a:t>May</a:t>
            </a:r>
            <a:r>
              <a:rPr dirty="0" sz="500" spc="3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6,</a:t>
            </a:r>
            <a:r>
              <a:rPr dirty="0" sz="500" spc="35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2016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A025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527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830" y="394352"/>
            <a:ext cx="4124960" cy="2910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Consider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following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program.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Generate </a:t>
            </a:r>
            <a:r>
              <a:rPr dirty="0" sz="1000" spc="-20">
                <a:latin typeface="Tahoma"/>
                <a:cs typeface="Tahoma"/>
              </a:rPr>
              <a:t>five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mutants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0">
                <a:latin typeface="Tahoma"/>
                <a:cs typeface="Tahoma"/>
              </a:rPr>
              <a:t> design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test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cases taking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account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each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mutant,</a:t>
            </a:r>
            <a:r>
              <a:rPr dirty="0" sz="1000" spc="-35">
                <a:latin typeface="Tahoma"/>
                <a:cs typeface="Tahoma"/>
              </a:rPr>
              <a:t> using </a:t>
            </a:r>
            <a:r>
              <a:rPr dirty="0" sz="1000" spc="-20">
                <a:latin typeface="Tahoma"/>
                <a:cs typeface="Tahoma"/>
              </a:rPr>
              <a:t>mutation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testing.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Calculate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mutation </a:t>
            </a:r>
            <a:r>
              <a:rPr dirty="0" sz="1000" spc="-50">
                <a:latin typeface="Tahoma"/>
                <a:cs typeface="Tahoma"/>
              </a:rPr>
              <a:t>score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your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test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suite.</a:t>
            </a:r>
            <a:endParaRPr sz="1000">
              <a:latin typeface="Tahoma"/>
              <a:cs typeface="Tahoma"/>
            </a:endParaRPr>
          </a:p>
          <a:p>
            <a:pPr marL="12700" marR="3307079" indent="66040">
              <a:lnSpc>
                <a:spcPts val="1200"/>
              </a:lnSpc>
              <a:spcBef>
                <a:spcPts val="25"/>
              </a:spcBef>
            </a:pPr>
            <a:r>
              <a:rPr dirty="0" sz="1000" spc="70">
                <a:latin typeface="Calibri"/>
                <a:cs typeface="Calibri"/>
              </a:rPr>
              <a:t>main()</a:t>
            </a:r>
            <a:r>
              <a:rPr dirty="0" sz="1000" spc="70" i="1">
                <a:latin typeface="Georgia"/>
                <a:cs typeface="Georgia"/>
              </a:rPr>
              <a:t>{ </a:t>
            </a:r>
            <a:r>
              <a:rPr dirty="0" sz="1000" spc="145">
                <a:latin typeface="Calibri"/>
                <a:cs typeface="Calibri"/>
              </a:rPr>
              <a:t>float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70">
                <a:latin typeface="Calibri"/>
                <a:cs typeface="Calibri"/>
              </a:rPr>
              <a:t>x,y,z;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50"/>
              </a:lnSpc>
            </a:pPr>
            <a:r>
              <a:rPr dirty="0" sz="1000" spc="120">
                <a:latin typeface="Calibri"/>
                <a:cs typeface="Calibri"/>
              </a:rPr>
              <a:t>printf("Enter</a:t>
            </a:r>
            <a:r>
              <a:rPr dirty="0" sz="1000" spc="310">
                <a:latin typeface="Calibri"/>
                <a:cs typeface="Calibri"/>
              </a:rPr>
              <a:t> </a:t>
            </a:r>
            <a:r>
              <a:rPr dirty="0" sz="1000" spc="90">
                <a:latin typeface="Calibri"/>
                <a:cs typeface="Calibri"/>
              </a:rPr>
              <a:t>values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05">
                <a:latin typeface="Calibri"/>
                <a:cs typeface="Calibri"/>
              </a:rPr>
              <a:t>of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75">
                <a:latin typeface="Calibri"/>
                <a:cs typeface="Calibri"/>
              </a:rPr>
              <a:t>three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20">
                <a:latin typeface="Calibri"/>
                <a:cs typeface="Calibri"/>
              </a:rPr>
              <a:t>variables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65">
                <a:latin typeface="Calibri"/>
                <a:cs typeface="Calibri"/>
              </a:rPr>
              <a:t>x,y,z");</a:t>
            </a:r>
            <a:endParaRPr sz="1000">
              <a:latin typeface="Calibri"/>
              <a:cs typeface="Calibri"/>
            </a:endParaRPr>
          </a:p>
          <a:p>
            <a:pPr marL="12700" marR="2443480">
              <a:lnSpc>
                <a:spcPts val="1200"/>
              </a:lnSpc>
              <a:spcBef>
                <a:spcPts val="40"/>
              </a:spcBef>
            </a:pPr>
            <a:r>
              <a:rPr dirty="0" sz="1000" spc="70">
                <a:latin typeface="Calibri"/>
                <a:cs typeface="Calibri"/>
              </a:rPr>
              <a:t>scanf("%f%f%f",&amp;x,&amp;y,&amp;z); </a:t>
            </a:r>
            <a:r>
              <a:rPr dirty="0" sz="1000" spc="130">
                <a:latin typeface="Calibri"/>
                <a:cs typeface="Calibri"/>
              </a:rPr>
              <a:t>if(x</a:t>
            </a:r>
            <a:r>
              <a:rPr dirty="0" sz="1000" spc="130" i="1">
                <a:latin typeface="Verdana"/>
                <a:cs typeface="Verdana"/>
              </a:rPr>
              <a:t>&gt;</a:t>
            </a:r>
            <a:r>
              <a:rPr dirty="0" sz="1000" spc="130">
                <a:latin typeface="Calibri"/>
                <a:cs typeface="Calibri"/>
              </a:rPr>
              <a:t>y)</a:t>
            </a:r>
            <a:r>
              <a:rPr dirty="0" sz="1000" spc="130" i="1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50"/>
              </a:lnSpc>
            </a:pPr>
            <a:r>
              <a:rPr dirty="0" sz="1000" spc="150">
                <a:latin typeface="Calibri"/>
                <a:cs typeface="Calibri"/>
              </a:rPr>
              <a:t>if(x</a:t>
            </a:r>
            <a:r>
              <a:rPr dirty="0" sz="1000" spc="150" i="1">
                <a:latin typeface="Verdana"/>
                <a:cs typeface="Verdana"/>
              </a:rPr>
              <a:t>&gt;</a:t>
            </a:r>
            <a:r>
              <a:rPr dirty="0" sz="1000" spc="150">
                <a:latin typeface="Calibri"/>
                <a:cs typeface="Calibri"/>
              </a:rPr>
              <a:t>z)</a:t>
            </a:r>
            <a:endParaRPr sz="1000">
              <a:latin typeface="Calibri"/>
              <a:cs typeface="Calibri"/>
            </a:endParaRPr>
          </a:p>
          <a:p>
            <a:pPr marL="12700" marR="2310130">
              <a:lnSpc>
                <a:spcPts val="1200"/>
              </a:lnSpc>
              <a:spcBef>
                <a:spcPts val="35"/>
              </a:spcBef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greatest",x); </a:t>
            </a:r>
            <a:r>
              <a:rPr dirty="0" sz="1000" spc="95">
                <a:latin typeface="Calibri"/>
                <a:cs typeface="Calibri"/>
              </a:rPr>
              <a:t>else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50"/>
              </a:lnSpc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greatest",z);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20" i="1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  <a:p>
            <a:pPr marL="12700" marR="3606800">
              <a:lnSpc>
                <a:spcPts val="1200"/>
              </a:lnSpc>
              <a:spcBef>
                <a:spcPts val="40"/>
              </a:spcBef>
            </a:pPr>
            <a:r>
              <a:rPr dirty="0" sz="1000" spc="95">
                <a:latin typeface="Calibri"/>
                <a:cs typeface="Calibri"/>
              </a:rPr>
              <a:t>else</a:t>
            </a:r>
            <a:r>
              <a:rPr dirty="0" sz="1000" spc="95" i="1">
                <a:latin typeface="Georgia"/>
                <a:cs typeface="Georgia"/>
              </a:rPr>
              <a:t>{ </a:t>
            </a:r>
            <a:r>
              <a:rPr dirty="0" sz="1000" spc="145">
                <a:latin typeface="Calibri"/>
                <a:cs typeface="Calibri"/>
              </a:rPr>
              <a:t>if(y</a:t>
            </a:r>
            <a:r>
              <a:rPr dirty="0" sz="1000" spc="145" i="1">
                <a:latin typeface="Verdana"/>
                <a:cs typeface="Verdana"/>
              </a:rPr>
              <a:t>&gt;</a:t>
            </a:r>
            <a:r>
              <a:rPr dirty="0" sz="1000" spc="145">
                <a:latin typeface="Calibri"/>
                <a:cs typeface="Calibri"/>
              </a:rPr>
              <a:t>z)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50"/>
              </a:lnSpc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greatest",y);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95">
                <a:latin typeface="Calibri"/>
                <a:cs typeface="Calibri"/>
              </a:rPr>
              <a:t>else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greatest",z);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dirty="0" sz="1000" spc="20" i="1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38100" y="3300963"/>
            <a:ext cx="2660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2/14</a:t>
            </a:r>
            <a:r>
              <a:rPr dirty="0" baseline="8333" sz="1500" spc="-15" i="1">
                <a:latin typeface="Georgia"/>
                <a:cs typeface="Georgia"/>
              </a:rPr>
              <a:t>}</a:t>
            </a:r>
            <a:endParaRPr baseline="8333" sz="15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0538" y="3364226"/>
            <a:ext cx="234251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77389" algn="l"/>
              </a:tabLst>
            </a:pPr>
            <a:r>
              <a:rPr dirty="0" sz="500">
                <a:latin typeface="Arial MT"/>
                <a:cs typeface="Arial MT"/>
              </a:rPr>
              <a:t>Dr.</a:t>
            </a:r>
            <a:r>
              <a:rPr dirty="0" sz="500" spc="10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D.</a:t>
            </a:r>
            <a:r>
              <a:rPr dirty="0" sz="500" spc="4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P.</a:t>
            </a:r>
            <a:r>
              <a:rPr dirty="0" sz="500" spc="4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Mohapatra</a:t>
            </a:r>
            <a:r>
              <a:rPr dirty="0" sz="500">
                <a:latin typeface="Arial MT"/>
                <a:cs typeface="Arial MT"/>
              </a:rPr>
              <a:t>	May</a:t>
            </a:r>
            <a:r>
              <a:rPr dirty="0" sz="500" spc="3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6,</a:t>
            </a:r>
            <a:r>
              <a:rPr dirty="0" sz="500" spc="35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2016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A025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3436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Solution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830" y="472673"/>
            <a:ext cx="2257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instrumented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program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given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below.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251" y="624502"/>
            <a:ext cx="920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577" y="624502"/>
            <a:ext cx="3230245" cy="2606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412365" indent="15875">
              <a:lnSpc>
                <a:spcPct val="100000"/>
              </a:lnSpc>
              <a:spcBef>
                <a:spcPts val="95"/>
              </a:spcBef>
            </a:pPr>
            <a:r>
              <a:rPr dirty="0" sz="1000" spc="70">
                <a:latin typeface="Calibri"/>
                <a:cs typeface="Calibri"/>
              </a:rPr>
              <a:t>main()</a:t>
            </a:r>
            <a:r>
              <a:rPr dirty="0" sz="1000" spc="70" i="1">
                <a:latin typeface="Georgia"/>
                <a:cs typeface="Georgia"/>
              </a:rPr>
              <a:t>{ </a:t>
            </a:r>
            <a:r>
              <a:rPr dirty="0" sz="1000" spc="145">
                <a:latin typeface="Calibri"/>
                <a:cs typeface="Calibri"/>
              </a:rPr>
              <a:t>float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70">
                <a:latin typeface="Calibri"/>
                <a:cs typeface="Calibri"/>
              </a:rPr>
              <a:t>x,y,z;</a:t>
            </a:r>
            <a:endParaRPr sz="1000">
              <a:latin typeface="Calibri"/>
              <a:cs typeface="Calibri"/>
            </a:endParaRPr>
          </a:p>
          <a:p>
            <a:pPr marL="28575" marR="5080">
              <a:lnSpc>
                <a:spcPts val="1200"/>
              </a:lnSpc>
              <a:spcBef>
                <a:spcPts val="30"/>
              </a:spcBef>
            </a:pPr>
            <a:r>
              <a:rPr dirty="0" sz="1000" spc="120">
                <a:latin typeface="Calibri"/>
                <a:cs typeface="Calibri"/>
              </a:rPr>
              <a:t>printf("Enter</a:t>
            </a:r>
            <a:r>
              <a:rPr dirty="0" sz="1000" spc="310">
                <a:latin typeface="Calibri"/>
                <a:cs typeface="Calibri"/>
              </a:rPr>
              <a:t> </a:t>
            </a:r>
            <a:r>
              <a:rPr dirty="0" sz="1000" spc="90">
                <a:latin typeface="Calibri"/>
                <a:cs typeface="Calibri"/>
              </a:rPr>
              <a:t>values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05">
                <a:latin typeface="Calibri"/>
                <a:cs typeface="Calibri"/>
              </a:rPr>
              <a:t>of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75">
                <a:latin typeface="Calibri"/>
                <a:cs typeface="Calibri"/>
              </a:rPr>
              <a:t>three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20">
                <a:latin typeface="Calibri"/>
                <a:cs typeface="Calibri"/>
              </a:rPr>
              <a:t>variables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 spc="165">
                <a:latin typeface="Calibri"/>
                <a:cs typeface="Calibri"/>
              </a:rPr>
              <a:t>x,y,z"); </a:t>
            </a:r>
            <a:r>
              <a:rPr dirty="0" sz="1000" spc="70">
                <a:latin typeface="Calibri"/>
                <a:cs typeface="Calibri"/>
              </a:rPr>
              <a:t>scanf("%f%f%f",&amp;x,&amp;y,&amp;z);</a:t>
            </a:r>
            <a:endParaRPr sz="1000">
              <a:latin typeface="Calibri"/>
              <a:cs typeface="Calibri"/>
            </a:endParaRPr>
          </a:p>
          <a:p>
            <a:pPr marL="28575">
              <a:lnSpc>
                <a:spcPts val="1150"/>
              </a:lnSpc>
            </a:pPr>
            <a:r>
              <a:rPr dirty="0" sz="1000" spc="130">
                <a:latin typeface="Calibri"/>
                <a:cs typeface="Calibri"/>
              </a:rPr>
              <a:t>if(x</a:t>
            </a:r>
            <a:r>
              <a:rPr dirty="0" sz="1000" spc="130" i="1">
                <a:latin typeface="Verdana"/>
                <a:cs typeface="Verdana"/>
              </a:rPr>
              <a:t>&gt;</a:t>
            </a:r>
            <a:r>
              <a:rPr dirty="0" sz="1000" spc="130">
                <a:latin typeface="Calibri"/>
                <a:cs typeface="Calibri"/>
              </a:rPr>
              <a:t>y)</a:t>
            </a:r>
            <a:r>
              <a:rPr dirty="0" sz="1000" spc="130" i="1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28575">
              <a:lnSpc>
                <a:spcPts val="1195"/>
              </a:lnSpc>
            </a:pPr>
            <a:r>
              <a:rPr dirty="0" sz="1000" spc="150">
                <a:latin typeface="Calibri"/>
                <a:cs typeface="Calibri"/>
              </a:rPr>
              <a:t>if(x</a:t>
            </a:r>
            <a:r>
              <a:rPr dirty="0" sz="1000" spc="150" i="1">
                <a:latin typeface="Verdana"/>
                <a:cs typeface="Verdana"/>
              </a:rPr>
              <a:t>&gt;</a:t>
            </a:r>
            <a:r>
              <a:rPr dirty="0" sz="1000" spc="150">
                <a:latin typeface="Calibri"/>
                <a:cs typeface="Calibri"/>
              </a:rPr>
              <a:t>z)</a:t>
            </a:r>
            <a:endParaRPr sz="1000">
              <a:latin typeface="Calibri"/>
              <a:cs typeface="Calibri"/>
            </a:endParaRPr>
          </a:p>
          <a:p>
            <a:pPr marL="78740" marR="1399540" indent="-50165">
              <a:lnSpc>
                <a:spcPts val="1200"/>
              </a:lnSpc>
              <a:spcBef>
                <a:spcPts val="40"/>
              </a:spcBef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greatest",x); </a:t>
            </a:r>
            <a:r>
              <a:rPr dirty="0" sz="1000" spc="95">
                <a:latin typeface="Calibri"/>
                <a:cs typeface="Calibri"/>
              </a:rPr>
              <a:t>else</a:t>
            </a:r>
            <a:endParaRPr sz="1000">
              <a:latin typeface="Calibri"/>
              <a:cs typeface="Calibri"/>
            </a:endParaRPr>
          </a:p>
          <a:p>
            <a:pPr marL="28575">
              <a:lnSpc>
                <a:spcPts val="1150"/>
              </a:lnSpc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greatest",z);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20" i="1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  <a:p>
            <a:pPr marL="28575" marR="2696210" indent="-16510">
              <a:lnSpc>
                <a:spcPts val="1200"/>
              </a:lnSpc>
              <a:spcBef>
                <a:spcPts val="35"/>
              </a:spcBef>
            </a:pPr>
            <a:r>
              <a:rPr dirty="0" sz="1000" spc="95">
                <a:latin typeface="Calibri"/>
                <a:cs typeface="Calibri"/>
              </a:rPr>
              <a:t>else</a:t>
            </a:r>
            <a:r>
              <a:rPr dirty="0" sz="1000" spc="95" i="1">
                <a:latin typeface="Georgia"/>
                <a:cs typeface="Georgia"/>
              </a:rPr>
              <a:t>{ </a:t>
            </a:r>
            <a:r>
              <a:rPr dirty="0" sz="1000" spc="145">
                <a:latin typeface="Calibri"/>
                <a:cs typeface="Calibri"/>
              </a:rPr>
              <a:t>if(y</a:t>
            </a:r>
            <a:r>
              <a:rPr dirty="0" sz="1000" spc="145" i="1">
                <a:latin typeface="Verdana"/>
                <a:cs typeface="Verdana"/>
              </a:rPr>
              <a:t>&gt;</a:t>
            </a:r>
            <a:r>
              <a:rPr dirty="0" sz="1000" spc="145">
                <a:latin typeface="Calibri"/>
                <a:cs typeface="Calibri"/>
              </a:rPr>
              <a:t>z)</a:t>
            </a:r>
            <a:endParaRPr sz="1000">
              <a:latin typeface="Calibri"/>
              <a:cs typeface="Calibri"/>
            </a:endParaRPr>
          </a:p>
          <a:p>
            <a:pPr marL="28575">
              <a:lnSpc>
                <a:spcPts val="1150"/>
              </a:lnSpc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greatest",y);</a:t>
            </a:r>
            <a:endParaRPr sz="1000">
              <a:latin typeface="Calibri"/>
              <a:cs typeface="Calibri"/>
            </a:endParaRPr>
          </a:p>
          <a:p>
            <a:pPr marL="78740">
              <a:lnSpc>
                <a:spcPts val="1195"/>
              </a:lnSpc>
            </a:pPr>
            <a:r>
              <a:rPr dirty="0" sz="1000" spc="95">
                <a:latin typeface="Calibri"/>
                <a:cs typeface="Calibri"/>
              </a:rPr>
              <a:t>else</a:t>
            </a:r>
            <a:endParaRPr sz="1000">
              <a:latin typeface="Calibri"/>
              <a:cs typeface="Calibri"/>
            </a:endParaRPr>
          </a:p>
          <a:p>
            <a:pPr marL="95250">
              <a:lnSpc>
                <a:spcPts val="1195"/>
              </a:lnSpc>
            </a:pPr>
            <a:r>
              <a:rPr dirty="0" sz="1000" spc="100">
                <a:latin typeface="Calibri"/>
                <a:cs typeface="Calibri"/>
              </a:rPr>
              <a:t>printf("%d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 spc="210">
                <a:latin typeface="Calibri"/>
                <a:cs typeface="Calibri"/>
              </a:rPr>
              <a:t>is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125">
                <a:latin typeface="Calibri"/>
                <a:cs typeface="Calibri"/>
              </a:rPr>
              <a:t>greatest",z);</a:t>
            </a:r>
            <a:endParaRPr sz="1000">
              <a:latin typeface="Calibri"/>
              <a:cs typeface="Calibri"/>
            </a:endParaRPr>
          </a:p>
          <a:p>
            <a:pPr marL="78740">
              <a:lnSpc>
                <a:spcPts val="1195"/>
              </a:lnSpc>
            </a:pPr>
            <a:r>
              <a:rPr dirty="0" sz="1000" spc="20" i="1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  <a:p>
            <a:pPr marL="28575">
              <a:lnSpc>
                <a:spcPts val="1200"/>
              </a:lnSpc>
            </a:pPr>
            <a:r>
              <a:rPr dirty="0" sz="1000" spc="20" i="1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830" y="928159"/>
            <a:ext cx="9207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50"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-50"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-50"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00" spc="-5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dirty="0" sz="1000" spc="-50"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830" y="1839155"/>
            <a:ext cx="920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830" y="2294641"/>
            <a:ext cx="9207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50"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dirty="0" sz="1000" spc="-50"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830" y="2750139"/>
            <a:ext cx="1587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830" y="3053796"/>
            <a:ext cx="1587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74993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dirty="0" sz="14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suite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0" y="904664"/>
            <a:ext cx="289179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Consider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test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suite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given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Table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Tahoma"/>
              <a:cs typeface="Tahoma"/>
            </a:endParaRPr>
          </a:p>
          <a:p>
            <a:pPr marL="1501140">
              <a:lnSpc>
                <a:spcPct val="100000"/>
              </a:lnSpc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1:</a:t>
            </a:r>
            <a:r>
              <a:rPr dirty="0" sz="900" spc="9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Test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suite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25" b="1">
                <a:latin typeface="Sitka Text"/>
                <a:cs typeface="Sitka Text"/>
                <a:hlinkClick r:id="rId2" action="ppaction://hlinksldjump"/>
              </a:rPr>
              <a:t>??</a:t>
            </a:r>
            <a:endParaRPr sz="900">
              <a:latin typeface="Sitka Text"/>
              <a:cs typeface="Sitka Tex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9778" y="1523987"/>
          <a:ext cx="2082800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495"/>
                <a:gridCol w="278130"/>
                <a:gridCol w="278130"/>
                <a:gridCol w="278130"/>
                <a:gridCol w="634364"/>
              </a:tblGrid>
              <a:tr h="30861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Sl.</a:t>
                      </a:r>
                      <a:r>
                        <a:rPr dirty="0" sz="1000" spc="10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No.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Corbel"/>
                          <a:cs typeface="Corbel"/>
                        </a:rPr>
                        <a:t>x</a:t>
                      </a:r>
                      <a:endParaRPr sz="10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Corbel"/>
                          <a:cs typeface="Corbel"/>
                        </a:rPr>
                        <a:t>y</a:t>
                      </a:r>
                      <a:endParaRPr sz="10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Corbel"/>
                          <a:cs typeface="Corbel"/>
                        </a:rPr>
                        <a:t>z</a:t>
                      </a:r>
                      <a:endParaRPr sz="10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26364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15532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Mutated</a:t>
            </a:r>
            <a:r>
              <a:rPr dirty="0" sz="14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Statements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4279" y="1019004"/>
            <a:ext cx="146050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2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2:</a:t>
            </a:r>
            <a:r>
              <a:rPr dirty="0" sz="900" spc="114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Mutated</a:t>
            </a:r>
            <a:r>
              <a:rPr dirty="0" sz="900" spc="2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statements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6553" y="1288554"/>
          <a:ext cx="2788920" cy="124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465"/>
                <a:gridCol w="372109"/>
                <a:gridCol w="841375"/>
                <a:gridCol w="948689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Mutant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No.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Line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6200">
                        <a:lnSpc>
                          <a:spcPts val="120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No.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Original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6200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line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Modified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line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M1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spc="17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&gt;</a:t>
                      </a:r>
                      <a:r>
                        <a:rPr dirty="0" sz="1000" spc="-6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5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spc="-9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spc="17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&lt;</a:t>
                      </a:r>
                      <a:r>
                        <a:rPr dirty="0" sz="1000" spc="-6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5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spc="-9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M2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spc="17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&gt;</a:t>
                      </a:r>
                      <a:r>
                        <a:rPr dirty="0" sz="1000" spc="-6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5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spc="-9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spc="17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&gt;</a:t>
                      </a:r>
                      <a:r>
                        <a:rPr dirty="0" sz="1000" spc="-6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spc="13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z</a:t>
                      </a:r>
                      <a:r>
                        <a:rPr dirty="0" sz="1000" spc="-114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))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M3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spc="17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&gt;</a:t>
                      </a:r>
                      <a:r>
                        <a:rPr dirty="0" sz="1000" spc="-6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z</a:t>
                      </a:r>
                      <a:r>
                        <a:rPr dirty="0" sz="1000" spc="-114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spc="175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&lt;</a:t>
                      </a:r>
                      <a:r>
                        <a:rPr dirty="0" sz="1000" spc="-6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z</a:t>
                      </a:r>
                      <a:r>
                        <a:rPr dirty="0" sz="1000" spc="-114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M4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spc="170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 i="1">
                          <a:latin typeface="Verdana"/>
                          <a:cs typeface="Verdana"/>
                        </a:rPr>
                        <a:t>&gt;</a:t>
                      </a:r>
                      <a:r>
                        <a:rPr dirty="0" sz="1000" spc="-75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z</a:t>
                      </a:r>
                      <a:r>
                        <a:rPr dirty="0" sz="1000" spc="-114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if(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spc="190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z</a:t>
                      </a:r>
                      <a:r>
                        <a:rPr dirty="0" sz="1000" spc="-114" i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M5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printf(”%d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is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6200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greatest”,z);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printf(”%d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is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6200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greatest”,y);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A025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Actual</a:t>
            </a:r>
            <a:r>
              <a:rPr dirty="0" spc="-45"/>
              <a:t> </a:t>
            </a:r>
            <a:r>
              <a:rPr dirty="0"/>
              <a:t>Output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mutant</a:t>
            </a:r>
            <a:r>
              <a:rPr dirty="0" spc="-40"/>
              <a:t> </a:t>
            </a:r>
            <a:r>
              <a:rPr dirty="0" spc="-25"/>
              <a:t>M1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830" y="843932"/>
            <a:ext cx="4159885" cy="664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mutated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line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numbers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changed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lines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given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Table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2.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actual </a:t>
            </a:r>
            <a:r>
              <a:rPr dirty="0" sz="1000" spc="-20">
                <a:latin typeface="Tahoma"/>
                <a:cs typeface="Tahoma"/>
              </a:rPr>
              <a:t>output </a:t>
            </a:r>
            <a:r>
              <a:rPr dirty="0" sz="1000" spc="-30">
                <a:latin typeface="Tahoma"/>
                <a:cs typeface="Tahoma"/>
              </a:rPr>
              <a:t>obtained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executing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mutants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M1-M5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shown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Tables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3–</a:t>
            </a:r>
            <a:r>
              <a:rPr dirty="0" sz="1000" spc="-25">
                <a:latin typeface="Tahoma"/>
                <a:cs typeface="Tahoma"/>
              </a:rPr>
              <a:t>7.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000">
              <a:latin typeface="Tahoma"/>
              <a:cs typeface="Tahoma"/>
            </a:endParaRPr>
          </a:p>
          <a:p>
            <a:pPr marL="1261745">
              <a:lnSpc>
                <a:spcPct val="100000"/>
              </a:lnSpc>
              <a:spcBef>
                <a:spcPts val="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4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3:</a:t>
            </a:r>
            <a:r>
              <a:rPr dirty="0" sz="900" spc="14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mutant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M1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05458" y="1615084"/>
          <a:ext cx="2431415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/>
                <a:gridCol w="278130"/>
                <a:gridCol w="278130"/>
                <a:gridCol w="278129"/>
                <a:gridCol w="634364"/>
                <a:gridCol w="502285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Actual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1628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Actual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mutant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M2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3230" y="1148570"/>
            <a:ext cx="18808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4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4:</a:t>
            </a:r>
            <a:r>
              <a:rPr dirty="0" sz="900" spc="14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mutant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M2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5458" y="1418120"/>
          <a:ext cx="2431415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/>
                <a:gridCol w="278130"/>
                <a:gridCol w="278130"/>
                <a:gridCol w="278129"/>
                <a:gridCol w="634364"/>
                <a:gridCol w="502285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Actual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1628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Actual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mutant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M3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3230" y="1148570"/>
            <a:ext cx="18808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4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5:</a:t>
            </a:r>
            <a:r>
              <a:rPr dirty="0" sz="900" spc="14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mutant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M3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5458" y="1418120"/>
          <a:ext cx="2431415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/>
                <a:gridCol w="278130"/>
                <a:gridCol w="278130"/>
                <a:gridCol w="278129"/>
                <a:gridCol w="634364"/>
                <a:gridCol w="502285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Actual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1628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Actual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mutant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M4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3230" y="1148570"/>
            <a:ext cx="18808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4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6:</a:t>
            </a:r>
            <a:r>
              <a:rPr dirty="0" sz="900" spc="14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mutant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M4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5458" y="1418120"/>
          <a:ext cx="2431415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/>
                <a:gridCol w="278130"/>
                <a:gridCol w="278130"/>
                <a:gridCol w="278129"/>
                <a:gridCol w="634364"/>
                <a:gridCol w="502285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Actual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1628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Actual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mutant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M5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3230" y="1148570"/>
            <a:ext cx="18808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4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7:</a:t>
            </a:r>
            <a:r>
              <a:rPr dirty="0" sz="900" spc="14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mutant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M5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5458" y="1418120"/>
          <a:ext cx="2431415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/>
                <a:gridCol w="278130"/>
                <a:gridCol w="278130"/>
                <a:gridCol w="278129"/>
                <a:gridCol w="634364"/>
                <a:gridCol w="502285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Actual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14909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Additional</a:t>
            </a:r>
            <a:r>
              <a:rPr dirty="0" sz="14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dirty="0" sz="14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case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4375" y="1391495"/>
            <a:ext cx="143954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1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8:</a:t>
            </a:r>
            <a:r>
              <a:rPr dirty="0" sz="900" spc="10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Additional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 spc="-45">
                <a:latin typeface="Arial MT"/>
                <a:cs typeface="Arial MT"/>
              </a:rPr>
              <a:t>case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70838" y="1661045"/>
          <a:ext cx="2500630" cy="313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/>
              </a:tblGrid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  <a:tabLst>
                          <a:tab pos="745490" algn="l"/>
                          <a:tab pos="995680" algn="l"/>
                          <a:tab pos="1219835" algn="l"/>
                          <a:tab pos="1437640" algn="l"/>
                        </a:tabLst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50" i="1">
                          <a:latin typeface="Corbel"/>
                          <a:cs typeface="Corbel"/>
                        </a:rPr>
                        <a:t>x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	</a:t>
                      </a:r>
                      <a:r>
                        <a:rPr dirty="0" sz="1000" spc="-50" i="1">
                          <a:latin typeface="Corbel"/>
                          <a:cs typeface="Corbel"/>
                        </a:rPr>
                        <a:t>y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	</a:t>
                      </a:r>
                      <a:r>
                        <a:rPr dirty="0" sz="1000" spc="-50" i="1">
                          <a:latin typeface="Corbel"/>
                          <a:cs typeface="Corbel"/>
                        </a:rPr>
                        <a:t>z</a:t>
                      </a:r>
                      <a:r>
                        <a:rPr dirty="0" sz="1000" i="1">
                          <a:latin typeface="Corbel"/>
                          <a:cs typeface="Corbel"/>
                        </a:rPr>
                        <a:t>	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Expected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288925">
                        <a:lnSpc>
                          <a:spcPts val="1055"/>
                        </a:lnSpc>
                        <a:tabLst>
                          <a:tab pos="717550" algn="l"/>
                          <a:tab pos="1000125" algn="l"/>
                          <a:tab pos="1221105" algn="l"/>
                          <a:tab pos="1826895" algn="l"/>
                        </a:tabLst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19704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Tahoma"/>
                <a:cs typeface="Tahoma"/>
              </a:rPr>
              <a:t>added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case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7454" y="1330764"/>
            <a:ext cx="17532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2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9:</a:t>
            </a:r>
            <a:r>
              <a:rPr dirty="0" sz="900" spc="12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30">
                <a:latin typeface="Arial MT"/>
                <a:cs typeface="Arial MT"/>
              </a:rPr>
              <a:t>added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-45">
                <a:latin typeface="Arial MT"/>
                <a:cs typeface="Arial MT"/>
              </a:rPr>
              <a:t>case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68717" y="1600314"/>
          <a:ext cx="2305050" cy="465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/>
                <a:gridCol w="278130"/>
                <a:gridCol w="214629"/>
                <a:gridCol w="214629"/>
                <a:gridCol w="633730"/>
                <a:gridCol w="501650"/>
              </a:tblGrid>
              <a:tr h="308610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Test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case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Expected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Actual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13658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Revised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dirty="0" sz="14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suite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6605" y="1148570"/>
            <a:ext cx="141541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A0256C"/>
                </a:solidFill>
                <a:latin typeface="Arial MT"/>
                <a:cs typeface="Arial MT"/>
              </a:rPr>
              <a:t>Table</a:t>
            </a:r>
            <a:r>
              <a:rPr dirty="0" sz="900" spc="-10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0256C"/>
                </a:solidFill>
                <a:latin typeface="Arial MT"/>
                <a:cs typeface="Arial MT"/>
              </a:rPr>
              <a:t>10:</a:t>
            </a:r>
            <a:r>
              <a:rPr dirty="0" sz="900" spc="75">
                <a:solidFill>
                  <a:srgbClr val="A0256C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Revised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Test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suite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8374" y="1418120"/>
          <a:ext cx="2505710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495"/>
                <a:gridCol w="278130"/>
                <a:gridCol w="278130"/>
                <a:gridCol w="278130"/>
                <a:gridCol w="1057275"/>
              </a:tblGrid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Sl.</a:t>
                      </a:r>
                      <a:r>
                        <a:rPr dirty="0" sz="1000" spc="10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No.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Corbel"/>
                          <a:cs typeface="Corbel"/>
                        </a:rPr>
                        <a:t>x</a:t>
                      </a:r>
                      <a:endParaRPr sz="10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Corbel"/>
                          <a:cs typeface="Corbel"/>
                        </a:rPr>
                        <a:t>y</a:t>
                      </a:r>
                      <a:endParaRPr sz="10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Corbel"/>
                          <a:cs typeface="Corbel"/>
                        </a:rPr>
                        <a:t>z</a:t>
                      </a:r>
                      <a:endParaRPr sz="10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Expected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Output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A025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703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Mutation</a:t>
            </a:r>
            <a:r>
              <a:rPr dirty="0" spc="-25"/>
              <a:t> </a:t>
            </a:r>
            <a:r>
              <a:rPr dirty="0" spc="-35"/>
              <a:t>Score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Dr.</a:t>
            </a:r>
            <a:r>
              <a:rPr dirty="0" spc="100"/>
              <a:t> </a:t>
            </a:r>
            <a:r>
              <a:rPr dirty="0"/>
              <a:t>D.</a:t>
            </a:r>
            <a:r>
              <a:rPr dirty="0" spc="45"/>
              <a:t> </a:t>
            </a:r>
            <a:r>
              <a:rPr dirty="0"/>
              <a:t>P.</a:t>
            </a:r>
            <a:r>
              <a:rPr dirty="0" spc="45"/>
              <a:t> </a:t>
            </a:r>
            <a:r>
              <a:rPr dirty="0" spc="-10"/>
              <a:t>Mohapatra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May</a:t>
            </a:r>
            <a:r>
              <a:rPr dirty="0" spc="35"/>
              <a:t> </a:t>
            </a:r>
            <a:r>
              <a:rPr dirty="0"/>
              <a:t>6,</a:t>
            </a:r>
            <a:r>
              <a:rPr dirty="0" spc="35"/>
              <a:t> </a:t>
            </a:r>
            <a:r>
              <a:rPr dirty="0" spc="-20"/>
              <a:t>2016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Mutation</a:t>
            </a:r>
            <a:r>
              <a:rPr dirty="0" spc="-25"/>
              <a:t> </a:t>
            </a:r>
            <a:r>
              <a:rPr dirty="0" spc="-35"/>
              <a:t>score=Number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5"/>
              <a:t> mutants </a:t>
            </a:r>
            <a:r>
              <a:rPr dirty="0"/>
              <a:t>killed/Total</a:t>
            </a:r>
            <a:r>
              <a:rPr dirty="0" spc="-20"/>
              <a:t> </a:t>
            </a:r>
            <a:r>
              <a:rPr dirty="0" spc="-40"/>
              <a:t>number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mutants=4/5=0.8</a:t>
            </a:r>
          </a:p>
          <a:p>
            <a:pPr>
              <a:lnSpc>
                <a:spcPct val="100000"/>
              </a:lnSpc>
              <a:spcBef>
                <a:spcPts val="225"/>
              </a:spcBef>
            </a:pPr>
          </a:p>
          <a:p>
            <a:pPr marL="12700" marR="33655">
              <a:lnSpc>
                <a:spcPct val="100000"/>
              </a:lnSpc>
              <a:spcBef>
                <a:spcPts val="5"/>
              </a:spcBef>
            </a:pPr>
            <a:r>
              <a:rPr dirty="0" spc="-20"/>
              <a:t>Higher</a:t>
            </a:r>
            <a:r>
              <a:rPr dirty="0" spc="-55"/>
              <a:t> </a:t>
            </a:r>
            <a:r>
              <a:rPr dirty="0" spc="-10"/>
              <a:t>the</a:t>
            </a:r>
            <a:r>
              <a:rPr dirty="0" spc="-40"/>
              <a:t> </a:t>
            </a:r>
            <a:r>
              <a:rPr dirty="0" spc="-20"/>
              <a:t>mutant</a:t>
            </a:r>
            <a:r>
              <a:rPr dirty="0" spc="-45"/>
              <a:t> </a:t>
            </a:r>
            <a:r>
              <a:rPr dirty="0" spc="-40"/>
              <a:t>score,</a:t>
            </a:r>
            <a:r>
              <a:rPr dirty="0" spc="-35"/>
              <a:t> </a:t>
            </a:r>
            <a:r>
              <a:rPr dirty="0" spc="-20"/>
              <a:t>better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20"/>
              <a:t>the</a:t>
            </a:r>
            <a:r>
              <a:rPr dirty="0" spc="-45"/>
              <a:t> effectiveness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the</a:t>
            </a:r>
            <a:r>
              <a:rPr dirty="0" spc="-40"/>
              <a:t> </a:t>
            </a:r>
            <a:r>
              <a:rPr dirty="0" spc="-10"/>
              <a:t>test</a:t>
            </a:r>
            <a:r>
              <a:rPr dirty="0" spc="-45"/>
              <a:t> </a:t>
            </a:r>
            <a:r>
              <a:rPr dirty="0" spc="-10"/>
              <a:t>suite.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mutant </a:t>
            </a:r>
            <a:r>
              <a:rPr dirty="0"/>
              <a:t>M2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10"/>
              <a:t>live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 spc="-10"/>
              <a:t>the</a:t>
            </a:r>
            <a:r>
              <a:rPr dirty="0" spc="-20"/>
              <a:t> </a:t>
            </a:r>
            <a:r>
              <a:rPr dirty="0" spc="-35"/>
              <a:t>example.</a:t>
            </a:r>
            <a:r>
              <a:rPr dirty="0" spc="70"/>
              <a:t> </a:t>
            </a:r>
            <a:r>
              <a:rPr dirty="0"/>
              <a:t>We</a:t>
            </a:r>
            <a:r>
              <a:rPr dirty="0" spc="-20"/>
              <a:t> </a:t>
            </a:r>
            <a:r>
              <a:rPr dirty="0" spc="-45"/>
              <a:t>may</a:t>
            </a:r>
            <a:r>
              <a:rPr dirty="0" spc="-30"/>
              <a:t> </a:t>
            </a:r>
            <a:r>
              <a:rPr dirty="0" spc="-50"/>
              <a:t>have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 spc="-10"/>
              <a:t>write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20"/>
              <a:t>specific</a:t>
            </a:r>
            <a:r>
              <a:rPr dirty="0" spc="-25"/>
              <a:t> </a:t>
            </a:r>
            <a:r>
              <a:rPr dirty="0" spc="-10"/>
              <a:t>test</a:t>
            </a:r>
            <a:r>
              <a:rPr dirty="0" spc="-30"/>
              <a:t> </a:t>
            </a:r>
            <a:r>
              <a:rPr dirty="0" spc="-50"/>
              <a:t>case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kill</a:t>
            </a:r>
            <a:r>
              <a:rPr dirty="0" spc="-25"/>
              <a:t> </a:t>
            </a:r>
            <a:r>
              <a:rPr dirty="0" spc="-20"/>
              <a:t>this </a:t>
            </a:r>
            <a:r>
              <a:rPr dirty="0" spc="-10"/>
              <a:t>mutant.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20"/>
              <a:t>additional</a:t>
            </a:r>
            <a:r>
              <a:rPr dirty="0" spc="-40"/>
              <a:t> </a:t>
            </a:r>
            <a:r>
              <a:rPr dirty="0" spc="-10"/>
              <a:t>test</a:t>
            </a:r>
            <a:r>
              <a:rPr dirty="0" spc="-40"/>
              <a:t> </a:t>
            </a:r>
            <a:r>
              <a:rPr dirty="0" spc="-50"/>
              <a:t>case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30"/>
              <a:t>given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20"/>
              <a:t>Table</a:t>
            </a:r>
            <a:r>
              <a:rPr dirty="0" spc="-35"/>
              <a:t> </a:t>
            </a:r>
            <a:r>
              <a:rPr dirty="0" spc="-25"/>
              <a:t>8.</a:t>
            </a:r>
          </a:p>
          <a:p>
            <a:pPr>
              <a:lnSpc>
                <a:spcPct val="100000"/>
              </a:lnSpc>
              <a:spcBef>
                <a:spcPts val="215"/>
              </a:spcBef>
            </a:p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Now,</a:t>
            </a:r>
            <a:r>
              <a:rPr dirty="0" spc="-70"/>
              <a:t> </a:t>
            </a:r>
            <a:r>
              <a:rPr dirty="0" spc="-55"/>
              <a:t>when</a:t>
            </a:r>
            <a:r>
              <a:rPr dirty="0" spc="-25"/>
              <a:t> </a:t>
            </a:r>
            <a:r>
              <a:rPr dirty="0" spc="-80"/>
              <a:t>we</a:t>
            </a:r>
            <a:r>
              <a:rPr dirty="0" spc="5"/>
              <a:t> </a:t>
            </a:r>
            <a:r>
              <a:rPr dirty="0" spc="-45"/>
              <a:t>execute</a:t>
            </a:r>
            <a:r>
              <a:rPr dirty="0" spc="-35"/>
              <a:t> </a:t>
            </a:r>
            <a:r>
              <a:rPr dirty="0" spc="-10"/>
              <a:t>test</a:t>
            </a:r>
            <a:r>
              <a:rPr dirty="0" spc="-50"/>
              <a:t> </a:t>
            </a:r>
            <a:r>
              <a:rPr dirty="0" spc="-55"/>
              <a:t>case</a:t>
            </a:r>
            <a:r>
              <a:rPr dirty="0" spc="-25"/>
              <a:t> </a:t>
            </a:r>
            <a:r>
              <a:rPr dirty="0"/>
              <a:t>5,</a:t>
            </a:r>
            <a:r>
              <a:rPr dirty="0" spc="-30"/>
              <a:t> </a:t>
            </a:r>
            <a:r>
              <a:rPr dirty="0" spc="-10"/>
              <a:t>the</a:t>
            </a:r>
            <a:r>
              <a:rPr dirty="0" spc="-35"/>
              <a:t> </a:t>
            </a:r>
            <a:r>
              <a:rPr dirty="0" spc="-10"/>
              <a:t>actual</a:t>
            </a:r>
            <a:r>
              <a:rPr dirty="0" spc="-30"/>
              <a:t> </a:t>
            </a:r>
            <a:r>
              <a:rPr dirty="0" spc="-20"/>
              <a:t>output</a:t>
            </a:r>
            <a:r>
              <a:rPr dirty="0" spc="-35"/>
              <a:t> </a:t>
            </a:r>
            <a:r>
              <a:rPr dirty="0"/>
              <a:t>will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 spc="-30"/>
              <a:t>different</a:t>
            </a:r>
            <a:r>
              <a:rPr dirty="0" spc="-35"/>
              <a:t> </a:t>
            </a:r>
            <a:r>
              <a:rPr dirty="0" spc="-10"/>
              <a:t>from</a:t>
            </a:r>
            <a:r>
              <a:rPr dirty="0" spc="-35"/>
              <a:t> </a:t>
            </a:r>
            <a:r>
              <a:rPr dirty="0" spc="-25"/>
              <a:t>the </a:t>
            </a:r>
            <a:r>
              <a:rPr dirty="0" spc="-40"/>
              <a:t>expected </a:t>
            </a:r>
            <a:r>
              <a:rPr dirty="0" spc="-20"/>
              <a:t>output</a:t>
            </a:r>
            <a:r>
              <a:rPr dirty="0" spc="-45"/>
              <a:t> </a:t>
            </a:r>
            <a:r>
              <a:rPr dirty="0" spc="-20"/>
              <a:t>(Table</a:t>
            </a:r>
            <a:r>
              <a:rPr dirty="0" spc="-35"/>
              <a:t> </a:t>
            </a:r>
            <a:r>
              <a:rPr dirty="0"/>
              <a:t>9),</a:t>
            </a:r>
            <a:r>
              <a:rPr dirty="0" spc="-35"/>
              <a:t> </a:t>
            </a:r>
            <a:r>
              <a:rPr dirty="0" spc="-55"/>
              <a:t>hence</a:t>
            </a:r>
            <a:r>
              <a:rPr dirty="0" spc="-20"/>
              <a:t> the</a:t>
            </a:r>
            <a:r>
              <a:rPr dirty="0" spc="-40"/>
              <a:t> </a:t>
            </a:r>
            <a:r>
              <a:rPr dirty="0" spc="-20"/>
              <a:t>mutant</a:t>
            </a:r>
            <a:r>
              <a:rPr dirty="0" spc="-30"/>
              <a:t> </a:t>
            </a:r>
            <a:r>
              <a:rPr dirty="0"/>
              <a:t>will</a:t>
            </a:r>
            <a:r>
              <a:rPr dirty="0" spc="-30"/>
              <a:t> </a:t>
            </a:r>
            <a:r>
              <a:rPr dirty="0" spc="-10"/>
              <a:t>be</a:t>
            </a:r>
            <a:r>
              <a:rPr dirty="0" spc="-35"/>
              <a:t> </a:t>
            </a:r>
            <a:r>
              <a:rPr dirty="0"/>
              <a:t>killed.</a:t>
            </a:r>
            <a:r>
              <a:rPr dirty="0" spc="60"/>
              <a:t>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 spc="-10"/>
              <a:t>test</a:t>
            </a:r>
            <a:r>
              <a:rPr dirty="0" spc="-35"/>
              <a:t> </a:t>
            </a:r>
            <a:r>
              <a:rPr dirty="0" spc="-50"/>
              <a:t>case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 spc="-20"/>
              <a:t>very important</a:t>
            </a:r>
            <a:r>
              <a:rPr dirty="0" spc="-50"/>
              <a:t> </a:t>
            </a:r>
            <a:r>
              <a:rPr dirty="0" spc="-25"/>
              <a:t>and</a:t>
            </a:r>
            <a:r>
              <a:rPr dirty="0" spc="-35"/>
              <a:t> </a:t>
            </a:r>
            <a:r>
              <a:rPr dirty="0" spc="-30"/>
              <a:t>should</a:t>
            </a:r>
            <a:r>
              <a:rPr dirty="0" spc="-35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 spc="-45"/>
              <a:t>added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10"/>
              <a:t>the</a:t>
            </a:r>
            <a:r>
              <a:rPr dirty="0" spc="-35"/>
              <a:t> </a:t>
            </a:r>
            <a:r>
              <a:rPr dirty="0" spc="-30"/>
              <a:t>given</a:t>
            </a:r>
            <a:r>
              <a:rPr dirty="0" spc="-35"/>
              <a:t> </a:t>
            </a:r>
            <a:r>
              <a:rPr dirty="0" spc="-10"/>
              <a:t>test</a:t>
            </a:r>
            <a:r>
              <a:rPr dirty="0" spc="-35"/>
              <a:t> </a:t>
            </a:r>
            <a:r>
              <a:rPr dirty="0" spc="-10"/>
              <a:t>suite.</a:t>
            </a:r>
            <a:r>
              <a:rPr dirty="0" spc="55"/>
              <a:t> </a:t>
            </a:r>
            <a:r>
              <a:rPr dirty="0" spc="-35"/>
              <a:t>Therefore,</a:t>
            </a:r>
            <a:r>
              <a:rPr dirty="0" spc="-40"/>
              <a:t> </a:t>
            </a:r>
            <a:r>
              <a:rPr dirty="0" spc="-20"/>
              <a:t>the</a:t>
            </a:r>
            <a:r>
              <a:rPr dirty="0" spc="-40"/>
              <a:t> </a:t>
            </a:r>
            <a:r>
              <a:rPr dirty="0" spc="-45"/>
              <a:t>revised</a:t>
            </a:r>
            <a:r>
              <a:rPr dirty="0" spc="-30"/>
              <a:t> </a:t>
            </a:r>
            <a:r>
              <a:rPr dirty="0" spc="-20"/>
              <a:t>test </a:t>
            </a:r>
            <a:r>
              <a:rPr dirty="0" spc="-25"/>
              <a:t>suite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 spc="-30"/>
              <a:t>given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0"/>
              <a:t>Table</a:t>
            </a:r>
            <a:r>
              <a:rPr dirty="0" spc="-40"/>
              <a:t> </a:t>
            </a:r>
            <a:r>
              <a:rPr dirty="0" spc="-25"/>
              <a:t>10.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D. P. Mohapatra0.5cm Associate Professor</dc:creator>
  <dc:title>Example on Mutation Testing</dc:title>
  <dcterms:created xsi:type="dcterms:W3CDTF">2026-04-18T17:57:22Z</dcterms:created>
  <dcterms:modified xsi:type="dcterms:W3CDTF">2026-04-18T17:57:22Z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2016-05-06T00:00:00Z</vt:filetime>
  </property>
  <property fmtid="{D5CDD505-2E9C-101B-9397-08002B2CF9AE}" pid="4" name="Creator">
    <vt:lpwstr>LaTeX with Beamer class version 3.33</vt:lpwstr>
  </property>
  <property fmtid="{D5CDD505-2E9C-101B-9397-08002B2CF9AE}" pid="5" name="LastSaved">
    <vt:filetime>2026-04-18T00:00:00Z</vt:filetime>
  </property>
  <property fmtid="{D5CDD505-2E9C-101B-9397-08002B2CF9AE}" pid="6" name="PTEX.Fullbanner">
    <vt:lpwstr>This is MiKTeX-pdfTeX 2.9.4902 (1.40.14)</vt:lpwstr>
  </property>
  <property fmtid="{D5CDD505-2E9C-101B-9397-08002B2CF9AE}" pid="7" name="Producer">
    <vt:lpwstr>pdfTeX-1.40.14</vt:lpwstr>
  </property>
</Properties>
</file>