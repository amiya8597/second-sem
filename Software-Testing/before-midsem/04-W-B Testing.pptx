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16"/>
  </p:notesMasterIdLst>
  <p:sldIdLst>
    <p:sldId id="256" r:id="rId2"/>
    <p:sldId id="342" r:id="rId3"/>
    <p:sldId id="344" r:id="rId4"/>
    <p:sldId id="258" r:id="rId5"/>
    <p:sldId id="259" r:id="rId6"/>
    <p:sldId id="260" r:id="rId7"/>
    <p:sldId id="345" r:id="rId8"/>
    <p:sldId id="340" r:id="rId9"/>
    <p:sldId id="346" r:id="rId10"/>
    <p:sldId id="261" r:id="rId11"/>
    <p:sldId id="262" r:id="rId12"/>
    <p:sldId id="339" r:id="rId13"/>
    <p:sldId id="347" r:id="rId14"/>
    <p:sldId id="348" r:id="rId15"/>
    <p:sldId id="349" r:id="rId16"/>
    <p:sldId id="350" r:id="rId17"/>
    <p:sldId id="351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352" r:id="rId31"/>
    <p:sldId id="353" r:id="rId32"/>
    <p:sldId id="354" r:id="rId33"/>
    <p:sldId id="355" r:id="rId34"/>
    <p:sldId id="356" r:id="rId35"/>
    <p:sldId id="357" r:id="rId36"/>
    <p:sldId id="407" r:id="rId37"/>
    <p:sldId id="358" r:id="rId38"/>
    <p:sldId id="359" r:id="rId39"/>
    <p:sldId id="360" r:id="rId40"/>
    <p:sldId id="361" r:id="rId41"/>
    <p:sldId id="362" r:id="rId42"/>
    <p:sldId id="406" r:id="rId43"/>
    <p:sldId id="363" r:id="rId44"/>
    <p:sldId id="364" r:id="rId45"/>
    <p:sldId id="408" r:id="rId46"/>
    <p:sldId id="409" r:id="rId47"/>
    <p:sldId id="410" r:id="rId48"/>
    <p:sldId id="365" r:id="rId49"/>
    <p:sldId id="366" r:id="rId50"/>
    <p:sldId id="411" r:id="rId51"/>
    <p:sldId id="422" r:id="rId52"/>
    <p:sldId id="423" r:id="rId53"/>
    <p:sldId id="424" r:id="rId54"/>
    <p:sldId id="412" r:id="rId55"/>
    <p:sldId id="415" r:id="rId56"/>
    <p:sldId id="416" r:id="rId57"/>
    <p:sldId id="417" r:id="rId58"/>
    <p:sldId id="413" r:id="rId59"/>
    <p:sldId id="414" r:id="rId60"/>
    <p:sldId id="418" r:id="rId61"/>
    <p:sldId id="419" r:id="rId62"/>
    <p:sldId id="420" r:id="rId63"/>
    <p:sldId id="421" r:id="rId64"/>
    <p:sldId id="370" r:id="rId65"/>
    <p:sldId id="371" r:id="rId66"/>
    <p:sldId id="372" r:id="rId67"/>
    <p:sldId id="373" r:id="rId68"/>
    <p:sldId id="374" r:id="rId69"/>
    <p:sldId id="375" r:id="rId70"/>
    <p:sldId id="376" r:id="rId71"/>
    <p:sldId id="377" r:id="rId72"/>
    <p:sldId id="378" r:id="rId73"/>
    <p:sldId id="379" r:id="rId74"/>
    <p:sldId id="380" r:id="rId75"/>
    <p:sldId id="381" r:id="rId76"/>
    <p:sldId id="382" r:id="rId77"/>
    <p:sldId id="383" r:id="rId78"/>
    <p:sldId id="384" r:id="rId79"/>
    <p:sldId id="385" r:id="rId80"/>
    <p:sldId id="386" r:id="rId81"/>
    <p:sldId id="387" r:id="rId82"/>
    <p:sldId id="388" r:id="rId83"/>
    <p:sldId id="389" r:id="rId84"/>
    <p:sldId id="390" r:id="rId85"/>
    <p:sldId id="391" r:id="rId86"/>
    <p:sldId id="392" r:id="rId87"/>
    <p:sldId id="393" r:id="rId88"/>
    <p:sldId id="394" r:id="rId89"/>
    <p:sldId id="395" r:id="rId90"/>
    <p:sldId id="396" r:id="rId91"/>
    <p:sldId id="397" r:id="rId92"/>
    <p:sldId id="398" r:id="rId93"/>
    <p:sldId id="399" r:id="rId94"/>
    <p:sldId id="400" r:id="rId95"/>
    <p:sldId id="401" r:id="rId96"/>
    <p:sldId id="425" r:id="rId97"/>
    <p:sldId id="426" r:id="rId98"/>
    <p:sldId id="427" r:id="rId99"/>
    <p:sldId id="428" r:id="rId100"/>
    <p:sldId id="429" r:id="rId101"/>
    <p:sldId id="430" r:id="rId102"/>
    <p:sldId id="431" r:id="rId103"/>
    <p:sldId id="432" r:id="rId104"/>
    <p:sldId id="433" r:id="rId105"/>
    <p:sldId id="434" r:id="rId106"/>
    <p:sldId id="435" r:id="rId107"/>
    <p:sldId id="436" r:id="rId108"/>
    <p:sldId id="437" r:id="rId109"/>
    <p:sldId id="438" r:id="rId110"/>
    <p:sldId id="439" r:id="rId111"/>
    <p:sldId id="402" r:id="rId112"/>
    <p:sldId id="403" r:id="rId113"/>
    <p:sldId id="404" r:id="rId114"/>
    <p:sldId id="405" r:id="rId115"/>
  </p:sldIdLst>
  <p:sldSz cx="10080625" cy="7559675"/>
  <p:notesSz cx="7556500" cy="10691813"/>
  <p:defaultTextStyle>
    <a:defPPr>
      <a:defRPr lang="en-GB"/>
    </a:defPPr>
    <a:lvl1pPr algn="ctr" defTabSz="457200" rtl="0" fontAlgn="base">
      <a:lnSpc>
        <a:spcPct val="7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1pPr>
    <a:lvl2pPr marL="457200" algn="ctr" defTabSz="457200" rtl="0" fontAlgn="base">
      <a:lnSpc>
        <a:spcPct val="7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2pPr>
    <a:lvl3pPr marL="914400" algn="ctr" defTabSz="457200" rtl="0" fontAlgn="base">
      <a:lnSpc>
        <a:spcPct val="7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3pPr>
    <a:lvl4pPr marL="1371600" algn="ctr" defTabSz="457200" rtl="0" fontAlgn="base">
      <a:lnSpc>
        <a:spcPct val="7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4pPr>
    <a:lvl5pPr marL="1828800" algn="ctr" defTabSz="457200" rtl="0" fontAlgn="base">
      <a:lnSpc>
        <a:spcPct val="7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00FF"/>
    <a:srgbClr val="0000CC"/>
    <a:srgbClr val="6600FF"/>
    <a:srgbClr val="FFFF00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35" autoAdjust="0"/>
  </p:normalViewPr>
  <p:slideViewPr>
    <p:cSldViewPr>
      <p:cViewPr varScale="1">
        <p:scale>
          <a:sx n="94" d="100"/>
          <a:sy n="94" d="100"/>
        </p:scale>
        <p:origin x="-1734" y="-96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AutoShape 1">
            <a:extLst>
              <a:ext uri="{FF2B5EF4-FFF2-40B4-BE49-F238E27FC236}">
                <a16:creationId xmlns:a16="http://schemas.microsoft.com/office/drawing/2014/main" id="{9983A159-B52A-2D65-C3D9-1AD1BB511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AutoShape 2">
            <a:extLst>
              <a:ext uri="{FF2B5EF4-FFF2-40B4-BE49-F238E27FC236}">
                <a16:creationId xmlns:a16="http://schemas.microsoft.com/office/drawing/2014/main" id="{870FE9E2-532B-A5CB-DF84-6B7D0C82A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8" name="AutoShape 3">
            <a:extLst>
              <a:ext uri="{FF2B5EF4-FFF2-40B4-BE49-F238E27FC236}">
                <a16:creationId xmlns:a16="http://schemas.microsoft.com/office/drawing/2014/main" id="{B19732DE-BF08-3D20-F463-A9355C006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9" name="AutoShape 4">
            <a:extLst>
              <a:ext uri="{FF2B5EF4-FFF2-40B4-BE49-F238E27FC236}">
                <a16:creationId xmlns:a16="http://schemas.microsoft.com/office/drawing/2014/main" id="{6076ED0C-2220-2175-E94A-9857FD22A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90" name="AutoShape 5">
            <a:extLst>
              <a:ext uri="{FF2B5EF4-FFF2-40B4-BE49-F238E27FC236}">
                <a16:creationId xmlns:a16="http://schemas.microsoft.com/office/drawing/2014/main" id="{D57042FA-38FE-AE92-DBCD-A9898BF65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91" name="AutoShape 6">
            <a:extLst>
              <a:ext uri="{FF2B5EF4-FFF2-40B4-BE49-F238E27FC236}">
                <a16:creationId xmlns:a16="http://schemas.microsoft.com/office/drawing/2014/main" id="{E44AD8FF-8D75-ACA7-F177-37041A1B6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92" name="AutoShape 7">
            <a:extLst>
              <a:ext uri="{FF2B5EF4-FFF2-40B4-BE49-F238E27FC236}">
                <a16:creationId xmlns:a16="http://schemas.microsoft.com/office/drawing/2014/main" id="{1D86577D-1C49-845C-22F5-C1F55CCFE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93" name="AutoShape 8">
            <a:extLst>
              <a:ext uri="{FF2B5EF4-FFF2-40B4-BE49-F238E27FC236}">
                <a16:creationId xmlns:a16="http://schemas.microsoft.com/office/drawing/2014/main" id="{832F53A3-00CB-9BA6-024D-18120AFAD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94" name="AutoShape 9">
            <a:extLst>
              <a:ext uri="{FF2B5EF4-FFF2-40B4-BE49-F238E27FC236}">
                <a16:creationId xmlns:a16="http://schemas.microsoft.com/office/drawing/2014/main" id="{644C33D9-756C-A867-6F8D-E138646A2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95" name="Text Box 10">
            <a:extLst>
              <a:ext uri="{FF2B5EF4-FFF2-40B4-BE49-F238E27FC236}">
                <a16:creationId xmlns:a16="http://schemas.microsoft.com/office/drawing/2014/main" id="{B25E0C34-7655-4730-AB1B-BD6D40BB6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0BF22B7D-2EAE-4ED8-499F-E5F0D168FB7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6525" cy="4102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118797" name="Rectangle 12">
            <a:extLst>
              <a:ext uri="{FF2B5EF4-FFF2-40B4-BE49-F238E27FC236}">
                <a16:creationId xmlns:a16="http://schemas.microsoft.com/office/drawing/2014/main" id="{05E0AF5A-EEBB-BA7D-7EB5-95EE4336C874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1106488" y="812800"/>
            <a:ext cx="5335587" cy="40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1">
            <a:extLst>
              <a:ext uri="{FF2B5EF4-FFF2-40B4-BE49-F238E27FC236}">
                <a16:creationId xmlns:a16="http://schemas.microsoft.com/office/drawing/2014/main" id="{2E96902A-85F6-1423-3F95-2269F9E19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4778950B-37D4-68E7-6F75-C46D3395AC98}"/>
              </a:ext>
            </a:extLst>
          </p:cNvPr>
          <p:cNvSpPr>
            <a:spLocks noChangeArrowheads="1"/>
          </p:cNvSpPr>
          <p:nvPr>
            <p:ph type="body"/>
          </p:nvPr>
        </p:nvSpPr>
        <p:spPr>
          <a:xfrm>
            <a:off x="1169988" y="5086350"/>
            <a:ext cx="5218112" cy="4103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5D676620-301D-13B9-F334-789CECF6BC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069975"/>
            <a:ext cx="4883150" cy="3662363"/>
          </a:xfrm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3D0A10B4-91B4-B30A-C2D3-1BF59583B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113" y="5091113"/>
            <a:ext cx="5257800" cy="4064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67FFEA4F-2EB3-84AD-28F6-1FE7C7EF06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9" name="Text Box 3">
            <a:extLst>
              <a:ext uri="{FF2B5EF4-FFF2-40B4-BE49-F238E27FC236}">
                <a16:creationId xmlns:a16="http://schemas.microsoft.com/office/drawing/2014/main" id="{DD8F42C2-DE4B-40D5-F578-C90D84A08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2933C831-41F0-D57B-2B96-55AE64C1E0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3" name="Text Box 3">
            <a:extLst>
              <a:ext uri="{FF2B5EF4-FFF2-40B4-BE49-F238E27FC236}">
                <a16:creationId xmlns:a16="http://schemas.microsoft.com/office/drawing/2014/main" id="{F97403B0-A035-C6EA-1B2B-B79DD174D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3F212919-F9B9-2838-C5D5-9E7040D914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Text Box 3">
            <a:extLst>
              <a:ext uri="{FF2B5EF4-FFF2-40B4-BE49-F238E27FC236}">
                <a16:creationId xmlns:a16="http://schemas.microsoft.com/office/drawing/2014/main" id="{AF266F08-9A58-4564-2DB9-350A43247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5FB08B0B-D458-2DDD-8C61-F737430C83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58863" y="788988"/>
            <a:ext cx="5386387" cy="4040187"/>
          </a:xfrm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3A4847D1-E615-CB9C-FC29-9E665C291B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9013" y="5092700"/>
            <a:ext cx="5524500" cy="48244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631" tIns="51317" rIns="102631" bIns="51317"/>
          <a:lstStyle/>
          <a:p>
            <a:r>
              <a:rPr lang="en-US" altLang="en-US"/>
              <a:t>	(But, can think about doing this many tests today)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69899CCF-3862-EB9F-3636-16CA8CF2BD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955" name="Text Box 3">
            <a:extLst>
              <a:ext uri="{FF2B5EF4-FFF2-40B4-BE49-F238E27FC236}">
                <a16:creationId xmlns:a16="http://schemas.microsoft.com/office/drawing/2014/main" id="{FD08C9E8-4117-9F46-8BE3-412228B50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F6488525-0BCB-9F33-544B-AC4AC7B70F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6979" name="Text Box 3">
            <a:extLst>
              <a:ext uri="{FF2B5EF4-FFF2-40B4-BE49-F238E27FC236}">
                <a16:creationId xmlns:a16="http://schemas.microsoft.com/office/drawing/2014/main" id="{BB94819D-C184-7430-CE90-880398292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5C69AC8F-E646-F836-64D1-F470C8FA0D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003" name="Text Box 3">
            <a:extLst>
              <a:ext uri="{FF2B5EF4-FFF2-40B4-BE49-F238E27FC236}">
                <a16:creationId xmlns:a16="http://schemas.microsoft.com/office/drawing/2014/main" id="{85922505-A74C-20E4-94DE-487C77FBD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298750B4-AA2D-8405-0D12-CF24764E846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027" name="Text Box 3">
            <a:extLst>
              <a:ext uri="{FF2B5EF4-FFF2-40B4-BE49-F238E27FC236}">
                <a16:creationId xmlns:a16="http://schemas.microsoft.com/office/drawing/2014/main" id="{5539B7E4-FFFA-DE9D-015F-89DC4955D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A07BE1A7-E375-0E0D-044D-6C6B1B7EC0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AFE71690-8107-5F65-0BFF-26E2A162A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A8E3CD94-7DF1-C0EA-E0AA-F6C3118D149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1075" name="Text Box 3">
            <a:extLst>
              <a:ext uri="{FF2B5EF4-FFF2-40B4-BE49-F238E27FC236}">
                <a16:creationId xmlns:a16="http://schemas.microsoft.com/office/drawing/2014/main" id="{3CC0C220-5255-67E9-87AA-0EFAE07BB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31C467F8-A6B4-CB7F-5647-CD5E6ABB7B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099" name="Text Box 3">
            <a:extLst>
              <a:ext uri="{FF2B5EF4-FFF2-40B4-BE49-F238E27FC236}">
                <a16:creationId xmlns:a16="http://schemas.microsoft.com/office/drawing/2014/main" id="{EF58FC8D-B957-FFB8-5626-573B3A2C6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24AD370C-E721-8B0F-DEBA-7AE49E6C592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23" name="Text Box 3">
            <a:extLst>
              <a:ext uri="{FF2B5EF4-FFF2-40B4-BE49-F238E27FC236}">
                <a16:creationId xmlns:a16="http://schemas.microsoft.com/office/drawing/2014/main" id="{576C262F-83F3-28B8-BDC3-C4F91A66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188A95E-1A64-0F03-4256-D625E82C322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147" name="Text Box 3">
            <a:extLst>
              <a:ext uri="{FF2B5EF4-FFF2-40B4-BE49-F238E27FC236}">
                <a16:creationId xmlns:a16="http://schemas.microsoft.com/office/drawing/2014/main" id="{89614D70-7DF1-83F6-5F77-07EBE9519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1B94ADCB-5C44-88C3-638D-7FBCAE09899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1" name="Text Box 3">
            <a:extLst>
              <a:ext uri="{FF2B5EF4-FFF2-40B4-BE49-F238E27FC236}">
                <a16:creationId xmlns:a16="http://schemas.microsoft.com/office/drawing/2014/main" id="{23A8E321-68BA-D027-DC44-2140462A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DEAA04F6-65AC-8E4C-A048-B2C09D35FB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5" name="Text Box 3">
            <a:extLst>
              <a:ext uri="{FF2B5EF4-FFF2-40B4-BE49-F238E27FC236}">
                <a16:creationId xmlns:a16="http://schemas.microsoft.com/office/drawing/2014/main" id="{D24152AC-1BF6-9092-DC31-0FF8EB17B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049EE9CC-465A-A5CE-45AA-3BD5D7EAF62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219" name="Text Box 3">
            <a:extLst>
              <a:ext uri="{FF2B5EF4-FFF2-40B4-BE49-F238E27FC236}">
                <a16:creationId xmlns:a16="http://schemas.microsoft.com/office/drawing/2014/main" id="{B945DECE-A8C1-6882-10D8-185C137DB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69EEF6EE-813E-CCEE-59F0-2784F5867F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27100" y="354013"/>
            <a:ext cx="5702300" cy="4276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8243" name="Text Box 3">
            <a:extLst>
              <a:ext uri="{FF2B5EF4-FFF2-40B4-BE49-F238E27FC236}">
                <a16:creationId xmlns:a16="http://schemas.microsoft.com/office/drawing/2014/main" id="{4850D4D8-8A02-4E21-8B64-65A037EBB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160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defTabSz="1042988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7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66F75B8A-71B1-792A-F169-196B1DD37266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4900" y="801688"/>
            <a:ext cx="5346700" cy="4010025"/>
          </a:xfrm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33EB057C-F0B4-2039-2B13-A1A7EF83C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5200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en-US"/>
              <a:t>12.2 STATEMENT TESTING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08402E10-67B1-9B04-640C-F4A77CEE23AF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4900" y="801688"/>
            <a:ext cx="5346700" cy="4010025"/>
          </a:xfrm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7F9155FF-AEF5-0B58-E5BE-971A54AC6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5200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091B78CD-0A46-1AF1-CECD-4BF4DE95E47D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4900" y="801688"/>
            <a:ext cx="5346700" cy="4010025"/>
          </a:xfrm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91C7694D-B774-5D0E-5355-33D998337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5200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The example of two slides ago illustrates this point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37E53B44-16DD-D652-7A19-AFCDC5E0E794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4900" y="801688"/>
            <a:ext cx="5346700" cy="4010025"/>
          </a:xfrm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059323C1-05A1-619E-CD4D-91B8886E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5200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Recall we’re trying to exercise each of the significant cases in the code.  A single </a:t>
            </a:r>
          </a:p>
          <a:p>
            <a:r>
              <a:rPr lang="en-US" altLang="en-US"/>
              <a:t>branch statement (“if”, “while”, etc.) may actually combine different cases in a </a:t>
            </a:r>
          </a:p>
          <a:p>
            <a:r>
              <a:rPr lang="en-US" altLang="en-US"/>
              <a:t>complex condition, and exercising both outcomes of the branch may not exercise </a:t>
            </a:r>
          </a:p>
          <a:p>
            <a:r>
              <a:rPr lang="en-US" altLang="en-US"/>
              <a:t>each part of the complex condition.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ACD144E7-1AD6-1F57-1C7C-C3008C25F488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4900" y="801688"/>
            <a:ext cx="5346700" cy="4010025"/>
          </a:xfrm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5A183CF1-BE1B-2EEC-B820-7631561DB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5200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the total number of truth values that the  basic conditions can take is twice the number of basic conditions, since each basic condition can assume value </a:t>
            </a:r>
            <a:r>
              <a:rPr lang="en-US" altLang="en-US" i="1"/>
              <a:t>true</a:t>
            </a:r>
            <a:r>
              <a:rPr lang="en-US" altLang="en-US"/>
              <a:t> or </a:t>
            </a:r>
            <a:r>
              <a:rPr lang="en-US" altLang="en-US" i="1"/>
              <a:t>false</a:t>
            </a:r>
            <a:endParaRPr lang="en-US" altLang="en-US"/>
          </a:p>
          <a:p>
            <a:endParaRPr lang="it-IT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C764C41C-9FCD-DD86-FF34-746A68A5450F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4900" y="801688"/>
            <a:ext cx="5346700" cy="4010025"/>
          </a:xfrm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DDEFCE04-F22D-6267-62D9-C64365DC6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5200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If we don’t want to test all possible combinations, then we have to say which combinations are important.</a:t>
            </a:r>
          </a:p>
          <a:p>
            <a:r>
              <a:rPr lang="en-US" altLang="en-US"/>
              <a:t>One good choice is to choose combinations that show how each basic condition can affect the outcome, </a:t>
            </a:r>
          </a:p>
          <a:p>
            <a:r>
              <a:rPr lang="en-US" altLang="en-US"/>
              <a:t>i.e., how changing that one condition can change the value of the whole compound condition.  That’s </a:t>
            </a:r>
          </a:p>
          <a:p>
            <a:r>
              <a:rPr lang="en-US" altLang="en-US"/>
              <a:t>what the “modified condition/decision” criterion requires. 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1FEBD4AB-4706-54C1-DAF7-C426335DD5FA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8075" y="800100"/>
            <a:ext cx="5341938" cy="4006850"/>
          </a:xfrm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5BF5A2E4-9D3A-06E6-7865-6427AE605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3613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C9BCDF21-3443-BFDC-7286-09619A20CD06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8075" y="800100"/>
            <a:ext cx="5341938" cy="4006850"/>
          </a:xfrm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244EA2EA-B731-6C6E-D21D-E9C62FDA6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3613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AC7F4B31-1F1C-D98B-E56F-3097A1103ACB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8075" y="800100"/>
            <a:ext cx="5341938" cy="4006850"/>
          </a:xfrm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2ACA81BA-7728-F25A-87AF-6E44FAD5A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3613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B87BF5CD-5C24-A7B4-CBFA-142A7A8CBF64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4900" y="801688"/>
            <a:ext cx="5346700" cy="4010025"/>
          </a:xfrm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44750BD4-05E2-A3B6-F57C-E118C7B22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5200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This is the same table as two slides ago, omitting redundant cases. </a:t>
            </a:r>
          </a:p>
          <a:p>
            <a:r>
              <a:rPr lang="en-US" altLang="en-US"/>
              <a:t>Cases 4,5, 7-10, and 12 have been omitted. </a:t>
            </a:r>
          </a:p>
          <a:p>
            <a:endParaRPr lang="en-US" altLang="en-US"/>
          </a:p>
          <a:p>
            <a:r>
              <a:rPr lang="en-US" altLang="en-US"/>
              <a:t>In each column we find two rows in which that column is underlined.  For example, the “a” column </a:t>
            </a:r>
          </a:p>
          <a:p>
            <a:r>
              <a:rPr lang="en-US" altLang="en-US"/>
              <a:t>is underlined in rows (1) and (13).  All the </a:t>
            </a:r>
            <a:r>
              <a:rPr lang="en-US" altLang="en-US" i="1" u="sng"/>
              <a:t>evaluated</a:t>
            </a:r>
            <a:r>
              <a:rPr lang="en-US" altLang="en-US"/>
              <a:t> conditions in those two rows are the same</a:t>
            </a:r>
          </a:p>
          <a:p>
            <a:r>
              <a:rPr lang="en-US" altLang="en-US"/>
              <a:t>except for that column.  For example, to show that changing “a” from true to false in case (1) would</a:t>
            </a:r>
          </a:p>
          <a:p>
            <a:r>
              <a:rPr lang="en-US" altLang="en-US"/>
              <a:t>change the outcome, we </a:t>
            </a:r>
          </a:p>
          <a:p>
            <a:r>
              <a:rPr lang="en-US" altLang="en-US"/>
              <a:t>   * Fill in the “don’t care” columns in row 1 with values from row 13  (because this doesn’t change </a:t>
            </a:r>
          </a:p>
          <a:p>
            <a:r>
              <a:rPr lang="en-US" altLang="en-US"/>
              <a:t>     anything</a:t>
            </a:r>
          </a:p>
          <a:p>
            <a:r>
              <a:rPr lang="en-US" altLang="en-US"/>
              <a:t>   * Then see that the rows are completely identical except in column “a” and the outcome</a:t>
            </a:r>
          </a:p>
          <a:p>
            <a:r>
              <a:rPr lang="en-US" altLang="en-US"/>
              <a:t>    so clearly changing the value of “a” changed the outcome. </a:t>
            </a:r>
          </a:p>
          <a:p>
            <a:endParaRPr lang="en-US" altLang="en-US"/>
          </a:p>
          <a:p>
            <a:r>
              <a:rPr lang="en-US" altLang="en-US"/>
              <a:t>The number of test cases needed is hardly more than for basic condition coverage, but MC/DC is </a:t>
            </a:r>
          </a:p>
          <a:p>
            <a:r>
              <a:rPr lang="en-US" altLang="en-US"/>
              <a:t>much better than basic condition coverage at exposing faults in conditional expressions, so it is </a:t>
            </a:r>
          </a:p>
          <a:p>
            <a:r>
              <a:rPr lang="en-US" altLang="en-US"/>
              <a:t>clearly superior  (and therefore very widely used, and specified in some standards).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C615ADF5-FFA5-6CA1-8B1A-293C5FE75923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4900" y="801688"/>
            <a:ext cx="5346700" cy="4010025"/>
          </a:xfrm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FB6E683F-8108-8955-AA34-02B1D966B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5200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(This mainly restates comments on the previous slide, and can be used </a:t>
            </a:r>
          </a:p>
          <a:p>
            <a:r>
              <a:rPr lang="en-US" altLang="en-US"/>
              <a:t>or skipped depending on lecture style)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F1A4777C-6769-D7D7-89C2-78F57373F156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8075" y="800100"/>
            <a:ext cx="5341938" cy="4006850"/>
          </a:xfrm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FE927F13-E4E7-8A34-1A71-D72D30D20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3613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/>
              <a:t>(T,T)</a:t>
            </a:r>
            <a:r>
              <a:rPr lang="en-US" altLang="en-US"/>
              <a:t> test is required as it is the only one that returns true </a:t>
            </a:r>
          </a:p>
          <a:p>
            <a:endParaRPr lang="en-US" altLang="en-US"/>
          </a:p>
          <a:p>
            <a:r>
              <a:rPr lang="en-US" altLang="en-US" b="1"/>
              <a:t>(F,T) </a:t>
            </a:r>
            <a:r>
              <a:rPr lang="en-US" altLang="en-US"/>
              <a:t>test is required as it is the only test that changes the value of only </a:t>
            </a:r>
            <a:r>
              <a:rPr lang="en-US" altLang="en-US" b="1" i="1"/>
              <a:t>A</a:t>
            </a:r>
            <a:r>
              <a:rPr lang="en-US" altLang="en-US" b="1"/>
              <a:t> </a:t>
            </a:r>
            <a:r>
              <a:rPr lang="en-US" altLang="en-US"/>
              <a:t>and also changes the decision's outcome, thereby establishing the independence of </a:t>
            </a:r>
            <a:r>
              <a:rPr lang="en-US" altLang="en-US" b="1" i="1"/>
              <a:t>A</a:t>
            </a:r>
            <a:r>
              <a:rPr lang="en-US" altLang="en-US" b="1"/>
              <a:t> </a:t>
            </a:r>
            <a:r>
              <a:rPr lang="en-US" altLang="en-US"/>
              <a:t>In similar fashion</a:t>
            </a:r>
          </a:p>
          <a:p>
            <a:endParaRPr lang="en-US" altLang="en-US"/>
          </a:p>
          <a:p>
            <a:r>
              <a:rPr lang="en-US" altLang="en-US" b="1"/>
              <a:t>(T,T) </a:t>
            </a:r>
            <a:r>
              <a:rPr lang="en-US" altLang="en-US"/>
              <a:t>and (T,F) tests are required to show the independence of </a:t>
            </a:r>
            <a:r>
              <a:rPr lang="en-US" altLang="en-US" b="1" i="1"/>
              <a:t>B</a:t>
            </a:r>
            <a:r>
              <a:rPr lang="en-US" altLang="en-US" b="1"/>
              <a:t>. </a:t>
            </a:r>
          </a:p>
          <a:p>
            <a:endParaRPr lang="en-US" altLang="en-US" b="1"/>
          </a:p>
          <a:p>
            <a:r>
              <a:rPr lang="en-US" altLang="en-US"/>
              <a:t>Test set {(T,T), (T,F), (F,T)} satisfies MC/DC for the expression </a:t>
            </a:r>
            <a:r>
              <a:rPr lang="en-US" altLang="en-US" b="1" i="1"/>
              <a:t>A</a:t>
            </a:r>
            <a:r>
              <a:rPr lang="en-US" altLang="en-US" b="1"/>
              <a:t> </a:t>
            </a:r>
            <a:r>
              <a:rPr lang="en-US" altLang="en-US"/>
              <a:t>and </a:t>
            </a:r>
            <a:r>
              <a:rPr lang="en-US" altLang="en-US" b="1" i="1"/>
              <a:t>B</a:t>
            </a:r>
            <a:r>
              <a:rPr lang="en-US" altLang="en-US" b="1"/>
              <a:t>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E5F20973-515C-E385-6F15-C8B986106FDE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8075" y="800100"/>
            <a:ext cx="5341938" cy="4006850"/>
          </a:xfrm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CCA7173B-3009-7EFF-1541-349180BB5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3613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DAF97B7D-A275-1515-C7C3-A165B539BD8D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8075" y="800100"/>
            <a:ext cx="5341938" cy="4006850"/>
          </a:xfrm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8BBAE93B-5762-14A0-F2E2-F3DFC8E14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3613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E463CDAE-1C25-C5D9-3335-D6F9B24F83AF}"/>
              </a:ext>
            </a:extLst>
          </p:cNvPr>
          <p:cNvSpPr>
            <a:spLocks noGrp="1" noChangeArrowheads="1" noTextEdit="1"/>
          </p:cNvSpPr>
          <p:nvPr>
            <p:ph type="sldImg"/>
          </p:nvPr>
        </p:nvSpPr>
        <p:spPr>
          <a:xfrm>
            <a:off x="1108075" y="800100"/>
            <a:ext cx="5341938" cy="4006850"/>
          </a:xfrm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F8680D77-E822-3EDB-E14A-E62B72D24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3613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085ECD10-E914-B119-A823-A8652A08344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7" name="Text Box 3">
            <a:extLst>
              <a:ext uri="{FF2B5EF4-FFF2-40B4-BE49-F238E27FC236}">
                <a16:creationId xmlns:a16="http://schemas.microsoft.com/office/drawing/2014/main" id="{5B23DF0C-5FA6-B90B-E945-113C8E008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9148B75A-AC4A-48A3-84DC-3068B5D677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Text Box 3">
            <a:extLst>
              <a:ext uri="{FF2B5EF4-FFF2-40B4-BE49-F238E27FC236}">
                <a16:creationId xmlns:a16="http://schemas.microsoft.com/office/drawing/2014/main" id="{AF9BC134-DB07-045F-64DC-8922493B8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65583D41-EF7B-6071-C25A-07414B83F9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Text Box 3">
            <a:extLst>
              <a:ext uri="{FF2B5EF4-FFF2-40B4-BE49-F238E27FC236}">
                <a16:creationId xmlns:a16="http://schemas.microsoft.com/office/drawing/2014/main" id="{C1DE3B4F-09FE-7426-8E64-571E37580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E9180765-5AF7-E46A-DAA2-EE2C105D84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699" name="Text Box 3">
            <a:extLst>
              <a:ext uri="{FF2B5EF4-FFF2-40B4-BE49-F238E27FC236}">
                <a16:creationId xmlns:a16="http://schemas.microsoft.com/office/drawing/2014/main" id="{87334AD0-836C-C3A3-B1BA-EC6D79AC7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C65F1C22-3D9E-8DFE-E058-5947C3D5DAF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Text Box 3">
            <a:extLst>
              <a:ext uri="{FF2B5EF4-FFF2-40B4-BE49-F238E27FC236}">
                <a16:creationId xmlns:a16="http://schemas.microsoft.com/office/drawing/2014/main" id="{01B717BF-A368-E9A4-BE57-DDA81F1B3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4A208E56-19CE-B42F-6B8A-92CF69AFFE5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7" name="Text Box 3">
            <a:extLst>
              <a:ext uri="{FF2B5EF4-FFF2-40B4-BE49-F238E27FC236}">
                <a16:creationId xmlns:a16="http://schemas.microsoft.com/office/drawing/2014/main" id="{C1EDD5E7-A40A-64B0-D832-9236A39E9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88ABB417-67D5-8C9B-C950-64C7ECAF294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1" name="Text Box 3">
            <a:extLst>
              <a:ext uri="{FF2B5EF4-FFF2-40B4-BE49-F238E27FC236}">
                <a16:creationId xmlns:a16="http://schemas.microsoft.com/office/drawing/2014/main" id="{4BA4589D-1735-35AC-31F9-C7A04B643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8F59241F-E829-01B1-036A-CDA5B05692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795" name="Text Box 3">
            <a:extLst>
              <a:ext uri="{FF2B5EF4-FFF2-40B4-BE49-F238E27FC236}">
                <a16:creationId xmlns:a16="http://schemas.microsoft.com/office/drawing/2014/main" id="{9B7A1485-96F6-2D98-5968-485A31689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41EBF5D7-E126-ADED-4126-3BF116917AF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19" name="Text Box 3">
            <a:extLst>
              <a:ext uri="{FF2B5EF4-FFF2-40B4-BE49-F238E27FC236}">
                <a16:creationId xmlns:a16="http://schemas.microsoft.com/office/drawing/2014/main" id="{81A9D08D-A5BA-CB7C-5716-13D0B74B5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4DAB91F0-6C05-ECD5-F105-FC255C78F62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43" name="Text Box 3">
            <a:extLst>
              <a:ext uri="{FF2B5EF4-FFF2-40B4-BE49-F238E27FC236}">
                <a16:creationId xmlns:a16="http://schemas.microsoft.com/office/drawing/2014/main" id="{755F683B-6B23-9839-0646-286934E96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B4988F99-1932-2FAB-7567-E7C683D555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867" name="Text Box 3">
            <a:extLst>
              <a:ext uri="{FF2B5EF4-FFF2-40B4-BE49-F238E27FC236}">
                <a16:creationId xmlns:a16="http://schemas.microsoft.com/office/drawing/2014/main" id="{74AD0CFC-0943-2F11-5D47-1EBD41CD9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C30DF8D5-B82E-7CC0-256C-B4EDAC235F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891" name="Text Box 3">
            <a:extLst>
              <a:ext uri="{FF2B5EF4-FFF2-40B4-BE49-F238E27FC236}">
                <a16:creationId xmlns:a16="http://schemas.microsoft.com/office/drawing/2014/main" id="{272A0B0D-7CC1-ECE1-32C0-D54C45A5E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AD869298-17E4-7C91-FE97-8466B73DE0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5" name="Text Box 3">
            <a:extLst>
              <a:ext uri="{FF2B5EF4-FFF2-40B4-BE49-F238E27FC236}">
                <a16:creationId xmlns:a16="http://schemas.microsoft.com/office/drawing/2014/main" id="{7933C968-6CA4-07EE-649F-DBC4FEE2E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F6CD650E-777C-4630-0A2C-BDB048F990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000125" y="354013"/>
            <a:ext cx="5554663" cy="4165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Text Box 3">
            <a:extLst>
              <a:ext uri="{FF2B5EF4-FFF2-40B4-BE49-F238E27FC236}">
                <a16:creationId xmlns:a16="http://schemas.microsoft.com/office/drawing/2014/main" id="{4F365F44-1EE9-76D2-B126-2342718A4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046663"/>
            <a:ext cx="6450012" cy="47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en-US" altLang="en-US" sz="24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7FA45-20A5-1F42-0974-A5800310E55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415BB-9649-4D43-A4EB-CA545FE710D8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5AD147-43F8-6906-33FE-A9C7FE4B7250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86FBFB-26D9-4171-92AB-2EE2B8ADA3D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04997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76C266-2B6D-F267-50F5-6C67FFFF52A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EE46C-5E29-4F1F-8275-68F4507BABFA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53117D-E731-CA3F-CE22-529B6B9784BE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2FAAB4-000E-4496-A175-BCBA44AB26B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8055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B906F-E098-34A8-6044-94E4B2B4E03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0E492-E473-410B-A6AE-B94D92A64F60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9CCC91-3E58-2AC9-9DE0-15CC4E6925B8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26B6B5-A069-4F88-9AD0-DD10A0C18A8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038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7500" y="1763713"/>
            <a:ext cx="4549775" cy="5349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9675" y="1763713"/>
            <a:ext cx="4551363" cy="5349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90FF6A-7E44-935B-92D2-C6A80C6CFB5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8654B-69A1-41B1-9D8F-EB6847B6BA68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14347-68AD-085C-C31F-02E872AE951E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39D0C6-6FB6-4B9E-ADB5-C19FB352922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1975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538237E-750E-65FC-9161-8A6DA217E3D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053EF-63E9-4AF8-89C0-6965626A7253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831BEAC-B036-7476-27F1-410AB8C1BD2C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4E5E3F-FBD2-40F6-947C-43104A26744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1026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CE992BE-F7F3-39B5-D386-705C6FC8279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B05AE-082C-4AEE-9214-9C642EC1C2DC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39A0BE8-3776-C0B7-3902-3D2B21F74F04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C3ED5F-E364-4944-BD9B-8BD308CDCB8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4449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B593455-50C1-8E5D-3C67-983BA87AF6A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8F3343-8283-42A3-89D9-A6164441575B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B3C3CF-9078-8A63-4F1F-544258CD9826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92A2F1-9F62-4FDC-B26A-653F617E920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501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4F8EB90-0A70-B6F6-DCCE-B16065069F3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F4FA1-D521-4874-904A-D317D69FD63E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C7394B-9DFB-DD54-E030-303DCA9D9CC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799208-E3BF-444B-BE5C-D5FEA4B3EB7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416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 lIns="100800" tIns="50400" rIns="100800" bIns="5040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BF60D1B-E0FF-A181-AFAD-FCF374AA6CB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32450-32D5-406E-815F-02953016415B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61378-DA10-C009-9994-2C5118209CF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1C193A-050D-4458-A93D-EC5CC18FA10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5007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4BD270-855C-3109-5BCE-94548617EEB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7008B-E324-44A9-9C60-41CDFB3F6B83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9A45A-F4EE-C251-1386-B222A17D2196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034CCB-B5E6-479D-B97F-EFA3D7CF311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481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58050" y="-47625"/>
            <a:ext cx="2312988" cy="7161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7500" y="-47625"/>
            <a:ext cx="6788150" cy="7161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AC777-70A9-D689-0FC7-D53A30BEE92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FA6D49-1AF9-4832-B735-030483689805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3A647E-6BCB-95FF-212D-FD8FB620077E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88C323-E382-4B88-B733-F4F2BF988E8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123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BE2EAF3A-7837-52AB-35AF-DAA228C02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-47625"/>
            <a:ext cx="9066213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00790" tIns="50395" rIns="100790" bIns="5039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58E2FB07-E856-C2C8-D561-FE5FD8A29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7500" y="1763713"/>
            <a:ext cx="9253538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00790" tIns="50395" rIns="100790" bIns="503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25A4557-85ED-4645-1637-50CEE85DEF18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4825" y="6884988"/>
            <a:ext cx="2344738" cy="517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100790" tIns="50395" rIns="100790" bIns="50395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buFont typeface="Arial" pitchFamily="34" charset="0"/>
              <a:buNone/>
              <a:defRPr sz="15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F139EF92-973A-47E7-A466-3871F3FDC92F}" type="datetime1">
              <a:rPr lang="en-US"/>
              <a:pPr>
                <a:defRPr/>
              </a:pPr>
              <a:t>4/7/2026</a:t>
            </a:fld>
            <a:r>
              <a:rPr lang="en-GB"/>
              <a:t>08/10/1003/08/10</a:t>
            </a:r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D75123E7-CCC0-BDA0-2501-6C64A4CD4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6884988"/>
            <a:ext cx="3186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0" tIns="45716" rIns="91430" bIns="45716" anchor="ctr"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5pPr>
            <a:lvl6pPr marL="25146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6pPr>
            <a:lvl7pPr marL="29718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7pPr>
            <a:lvl8pPr marL="34290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8pPr>
            <a:lvl9pPr marL="3886200" indent="-228600" algn="ctr" defTabSz="457200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04D3EA6-2434-7B62-8629-CB793B7D936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4713" y="6884988"/>
            <a:ext cx="2346325" cy="517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100790" tIns="50395" rIns="100790" bIns="50395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5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fld id="{0556DDD4-40A6-49A0-BDF6-57BC8837948B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defRPr sz="6100" b="1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defRPr sz="6100" b="1">
          <a:solidFill>
            <a:srgbClr val="000000"/>
          </a:solidFill>
          <a:latin typeface="Comic Sans MS" pitchFamily="66" charset="0"/>
        </a:defRPr>
      </a:lvl2pPr>
      <a:lvl3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defRPr sz="6100" b="1">
          <a:solidFill>
            <a:srgbClr val="000000"/>
          </a:solidFill>
          <a:latin typeface="Comic Sans MS" pitchFamily="66" charset="0"/>
        </a:defRPr>
      </a:lvl3pPr>
      <a:lvl4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defRPr sz="6100" b="1">
          <a:solidFill>
            <a:srgbClr val="000000"/>
          </a:solidFill>
          <a:latin typeface="Comic Sans MS" pitchFamily="66" charset="0"/>
        </a:defRPr>
      </a:lvl4pPr>
      <a:lvl5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defRPr sz="6100" b="1">
          <a:solidFill>
            <a:srgbClr val="000000"/>
          </a:solidFill>
          <a:latin typeface="Comic Sans MS" pitchFamily="66" charset="0"/>
        </a:defRPr>
      </a:lvl5pPr>
      <a:lvl6pPr marL="457200"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6100" b="1">
          <a:solidFill>
            <a:srgbClr val="000000"/>
          </a:solidFill>
          <a:latin typeface="Comic Sans MS" pitchFamily="66" charset="0"/>
        </a:defRPr>
      </a:lvl6pPr>
      <a:lvl7pPr marL="914400"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6100" b="1">
          <a:solidFill>
            <a:srgbClr val="000000"/>
          </a:solidFill>
          <a:latin typeface="Comic Sans MS" pitchFamily="66" charset="0"/>
        </a:defRPr>
      </a:lvl7pPr>
      <a:lvl8pPr marL="1371600"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6100" b="1">
          <a:solidFill>
            <a:srgbClr val="000000"/>
          </a:solidFill>
          <a:latin typeface="Comic Sans MS" pitchFamily="66" charset="0"/>
        </a:defRPr>
      </a:lvl8pPr>
      <a:lvl9pPr marL="1828800"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6100" b="1">
          <a:solidFill>
            <a:srgbClr val="000000"/>
          </a:solidFill>
          <a:latin typeface="Comic Sans MS" pitchFamily="66" charset="0"/>
        </a:defRPr>
      </a:lvl9pPr>
    </p:titleStyle>
    <p:bodyStyle>
      <a:lvl1pPr marL="371475" indent="-371475" algn="l" defTabSz="457200" rtl="0" eaLnBrk="0" fontAlgn="base" hangingPunct="0">
        <a:lnSpc>
          <a:spcPct val="91000"/>
        </a:lnSpc>
        <a:spcBef>
          <a:spcPts val="975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buChar char="•"/>
        <a:defRPr sz="3900">
          <a:solidFill>
            <a:srgbClr val="000000"/>
          </a:solidFill>
          <a:latin typeface="+mn-lt"/>
          <a:ea typeface="+mn-ea"/>
          <a:cs typeface="+mn-cs"/>
        </a:defRPr>
      </a:lvl1pPr>
      <a:lvl2pPr marL="811213" indent="-311150" algn="l" defTabSz="457200" rtl="0" eaLnBrk="0" fontAlgn="base" hangingPunct="0">
        <a:lnSpc>
          <a:spcPct val="91000"/>
        </a:lnSpc>
        <a:spcBef>
          <a:spcPts val="863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"/>
        <a:defRPr sz="3500">
          <a:solidFill>
            <a:srgbClr val="000000"/>
          </a:solidFill>
          <a:latin typeface="+mn-lt"/>
        </a:defRPr>
      </a:lvl2pPr>
      <a:lvl3pPr marL="1252538" indent="-247650" algn="l" defTabSz="457200" rtl="0" eaLnBrk="0" fontAlgn="base" hangingPunct="0">
        <a:lnSpc>
          <a:spcPct val="91000"/>
        </a:lnSpc>
        <a:spcBef>
          <a:spcPts val="750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buChar char="•"/>
        <a:defRPr sz="3000">
          <a:solidFill>
            <a:srgbClr val="000000"/>
          </a:solidFill>
          <a:latin typeface="+mn-lt"/>
        </a:defRPr>
      </a:lvl3pPr>
      <a:lvl4pPr marL="1757363" indent="-246063" algn="l" defTabSz="457200" rtl="0" eaLnBrk="0" fontAlgn="base" hangingPunct="0">
        <a:lnSpc>
          <a:spcPct val="91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buChar char="–"/>
        <a:defRPr sz="2600">
          <a:solidFill>
            <a:srgbClr val="000000"/>
          </a:solidFill>
          <a:latin typeface="+mn-lt"/>
        </a:defRPr>
      </a:lvl4pPr>
      <a:lvl5pPr marL="2260600" indent="-247650" algn="l" defTabSz="457200" rtl="0" eaLnBrk="0" fontAlgn="base" hangingPunct="0">
        <a:lnSpc>
          <a:spcPct val="91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Comic Sans MS" panose="030F0702030302020204" pitchFamily="66" charset="0"/>
        <a:buChar char="»"/>
        <a:defRPr sz="2600">
          <a:solidFill>
            <a:srgbClr val="000000"/>
          </a:solidFill>
          <a:latin typeface="+mn-lt"/>
        </a:defRPr>
      </a:lvl5pPr>
      <a:lvl6pPr marL="2717800" indent="-247650" algn="l" defTabSz="457200" rtl="0" eaLnBrk="0" fontAlgn="base" hangingPunct="0">
        <a:lnSpc>
          <a:spcPct val="91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»"/>
        <a:defRPr sz="2600">
          <a:solidFill>
            <a:srgbClr val="000000"/>
          </a:solidFill>
          <a:latin typeface="+mn-lt"/>
        </a:defRPr>
      </a:lvl6pPr>
      <a:lvl7pPr marL="3175000" indent="-247650" algn="l" defTabSz="457200" rtl="0" eaLnBrk="0" fontAlgn="base" hangingPunct="0">
        <a:lnSpc>
          <a:spcPct val="91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»"/>
        <a:defRPr sz="2600">
          <a:solidFill>
            <a:srgbClr val="000000"/>
          </a:solidFill>
          <a:latin typeface="+mn-lt"/>
        </a:defRPr>
      </a:lvl7pPr>
      <a:lvl8pPr marL="3632200" indent="-247650" algn="l" defTabSz="457200" rtl="0" eaLnBrk="0" fontAlgn="base" hangingPunct="0">
        <a:lnSpc>
          <a:spcPct val="91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»"/>
        <a:defRPr sz="2600">
          <a:solidFill>
            <a:srgbClr val="000000"/>
          </a:solidFill>
          <a:latin typeface="+mn-lt"/>
        </a:defRPr>
      </a:lvl8pPr>
      <a:lvl9pPr marL="4089400" indent="-247650" algn="l" defTabSz="457200" rtl="0" eaLnBrk="0" fontAlgn="base" hangingPunct="0">
        <a:lnSpc>
          <a:spcPct val="91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»"/>
        <a:defRPr sz="26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>
            <a:extLst>
              <a:ext uri="{FF2B5EF4-FFF2-40B4-BE49-F238E27FC236}">
                <a16:creationId xmlns:a16="http://schemas.microsoft.com/office/drawing/2014/main" id="{36BEB04E-BF59-BE90-44A6-A1E782C6CD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BCAC8AB-4C68-45A5-AA51-7EB0BBFAF4A3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051" name="Text Box 1">
            <a:extLst>
              <a:ext uri="{FF2B5EF4-FFF2-40B4-BE49-F238E27FC236}">
                <a16:creationId xmlns:a16="http://schemas.microsoft.com/office/drawing/2014/main" id="{220D44F6-4747-F569-E2BB-F3ADCC89D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713" y="6884988"/>
            <a:ext cx="2347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90" tIns="50395" rIns="100790" bIns="50395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F71862E-62F7-4878-8210-E94B416506F6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052" name="Text Box 2">
            <a:extLst>
              <a:ext uri="{FF2B5EF4-FFF2-40B4-BE49-F238E27FC236}">
                <a16:creationId xmlns:a16="http://schemas.microsoft.com/office/drawing/2014/main" id="{692F481A-E27A-AF3E-5018-BFD5A4E9D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713" y="6884988"/>
            <a:ext cx="2347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90" tIns="50395" rIns="100790" bIns="50395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7317022-4ADA-434C-8B19-FFF38D60CA66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053" name="Text Box 3">
            <a:extLst>
              <a:ext uri="{FF2B5EF4-FFF2-40B4-BE49-F238E27FC236}">
                <a16:creationId xmlns:a16="http://schemas.microsoft.com/office/drawing/2014/main" id="{1ECD78E7-7722-E999-99C4-24B0027A1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6884988"/>
            <a:ext cx="234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90" tIns="50395" rIns="100790" bIns="50395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500">
                <a:latin typeface="Arial" panose="020B0604020202020204" pitchFamily="34" charset="0"/>
              </a:rPr>
              <a:t>03/08/10</a:t>
            </a:r>
          </a:p>
        </p:txBody>
      </p:sp>
      <p:sp>
        <p:nvSpPr>
          <p:cNvPr id="2054" name="Text Box 4">
            <a:extLst>
              <a:ext uri="{FF2B5EF4-FFF2-40B4-BE49-F238E27FC236}">
                <a16:creationId xmlns:a16="http://schemas.microsoft.com/office/drawing/2014/main" id="{2F27F3CC-0ADB-D965-27A4-A73C51AD7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713" y="6884988"/>
            <a:ext cx="2347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90" tIns="50395" rIns="100790" bIns="50395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896BEF8-883A-4C73-91B5-55493F8B619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055" name="Text Box 5">
            <a:extLst>
              <a:ext uri="{FF2B5EF4-FFF2-40B4-BE49-F238E27FC236}">
                <a16:creationId xmlns:a16="http://schemas.microsoft.com/office/drawing/2014/main" id="{5E8C88F9-38B1-9337-A8EB-62BCB54E6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713" y="6884988"/>
            <a:ext cx="23495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0790" tIns="50395" rIns="100790" bIns="50395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851A522-D39D-433E-BDDC-45FBB3E831B9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056" name="Text Box 6">
            <a:extLst>
              <a:ext uri="{FF2B5EF4-FFF2-40B4-BE49-F238E27FC236}">
                <a16:creationId xmlns:a16="http://schemas.microsoft.com/office/drawing/2014/main" id="{68D05E54-2BF1-AC41-65CE-C272BAF7E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561975"/>
            <a:ext cx="8607425" cy="1939925"/>
          </a:xfrm>
          <a:prstGeom prst="rect">
            <a:avLst/>
          </a:prstGeom>
          <a:solidFill>
            <a:srgbClr val="FFFF00"/>
          </a:solidFill>
          <a:ln w="38160">
            <a:solidFill>
              <a:srgbClr val="FF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Font typeface="Comic Sans MS" panose="030F0702030302020204" pitchFamily="66" charset="0"/>
              <a:buNone/>
            </a:pPr>
            <a:r>
              <a:rPr lang="en-GB" altLang="en-US" sz="6700" b="1"/>
              <a:t>White-Box Testing </a:t>
            </a:r>
            <a:r>
              <a:rPr lang="en-GB" altLang="en-US" sz="2900" b="1"/>
              <a:t>(Part 1)</a:t>
            </a:r>
          </a:p>
          <a:p>
            <a:pPr algn="ctr" eaLnBrk="1" hangingPunct="1">
              <a:lnSpc>
                <a:spcPct val="95000"/>
              </a:lnSpc>
              <a:spcBef>
                <a:spcPct val="0"/>
              </a:spcBef>
              <a:buFont typeface="Comic Sans MS" panose="030F0702030302020204" pitchFamily="66" charset="0"/>
              <a:buNone/>
            </a:pPr>
            <a:endParaRPr lang="en-GB" altLang="en-US" sz="1900" b="1">
              <a:solidFill>
                <a:srgbClr val="0000CC"/>
              </a:solidFill>
            </a:endParaRPr>
          </a:p>
        </p:txBody>
      </p:sp>
      <p:sp>
        <p:nvSpPr>
          <p:cNvPr id="2057" name="Rectangle 7">
            <a:extLst>
              <a:ext uri="{FF2B5EF4-FFF2-40B4-BE49-F238E27FC236}">
                <a16:creationId xmlns:a16="http://schemas.microsoft.com/office/drawing/2014/main" id="{F5A9AD2A-4254-C414-BBFD-E0370F6AA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3779838"/>
            <a:ext cx="7783512" cy="2819400"/>
          </a:xfrm>
          <a:prstGeom prst="rect">
            <a:avLst/>
          </a:prstGeom>
          <a:solidFill>
            <a:srgbClr val="66FFFF"/>
          </a:solidFill>
          <a:ln w="57240">
            <a:solidFill>
              <a:srgbClr val="0000FF"/>
            </a:solidFill>
            <a:round/>
            <a:headEnd/>
            <a:tailEnd/>
          </a:ln>
        </p:spPr>
        <p:txBody>
          <a:bodyPr lIns="89991" tIns="46795" rIns="89991" bIns="46795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2013" algn="l"/>
                <a:tab pos="6399213" algn="l"/>
                <a:tab pos="6858000" algn="l"/>
                <a:tab pos="7315200" algn="l"/>
                <a:tab pos="7770813" algn="l"/>
                <a:tab pos="8228013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Comic Sans MS" panose="030F0702030302020204" pitchFamily="66" charset="0"/>
              <a:buNone/>
            </a:pPr>
            <a:r>
              <a:rPr lang="en-GB" altLang="en-US" b="1"/>
              <a:t>Dr. Durga Prasad Mohapatra</a:t>
            </a:r>
          </a:p>
          <a:p>
            <a:pPr algn="ctr" eaLnBrk="1" hangingPunct="1">
              <a:lnSpc>
                <a:spcPct val="100000"/>
              </a:lnSpc>
              <a:spcBef>
                <a:spcPts val="650"/>
              </a:spcBef>
              <a:buFont typeface="Comic Sans MS" panose="030F0702030302020204" pitchFamily="66" charset="0"/>
              <a:buNone/>
            </a:pPr>
            <a:r>
              <a:rPr lang="en-GB" altLang="en-US" sz="2600" b="1"/>
              <a:t>Professor</a:t>
            </a:r>
          </a:p>
          <a:p>
            <a:pPr algn="ctr" eaLnBrk="1" hangingPunct="1">
              <a:lnSpc>
                <a:spcPct val="100000"/>
              </a:lnSpc>
              <a:spcBef>
                <a:spcPts val="650"/>
              </a:spcBef>
              <a:buFont typeface="Comic Sans MS" panose="030F0702030302020204" pitchFamily="66" charset="0"/>
              <a:buNone/>
            </a:pPr>
            <a:r>
              <a:rPr lang="en-GB" altLang="en-US" sz="2600" b="1"/>
              <a:t>Department Of Computer Sc. &amp; Engineering</a:t>
            </a:r>
          </a:p>
          <a:p>
            <a:pPr algn="ctr" eaLnBrk="1" hangingPunct="1">
              <a:lnSpc>
                <a:spcPct val="100000"/>
              </a:lnSpc>
              <a:spcBef>
                <a:spcPts val="650"/>
              </a:spcBef>
              <a:buFont typeface="Comic Sans MS" panose="030F0702030302020204" pitchFamily="66" charset="0"/>
              <a:buNone/>
            </a:pPr>
            <a:r>
              <a:rPr lang="en-GB" altLang="en-US" sz="2600" b="1"/>
              <a:t>NIT, Rourkela.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>
            <a:extLst>
              <a:ext uri="{FF2B5EF4-FFF2-40B4-BE49-F238E27FC236}">
                <a16:creationId xmlns:a16="http://schemas.microsoft.com/office/drawing/2014/main" id="{36248842-C29A-7AA8-0AB3-85F993431E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5158C0B-1759-4C19-914C-95415C7F92AF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87D26668-1AC2-4445-64D5-8EBD69C39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900"/>
              <a:t>Defect Reduction Techniques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F50D55EB-ADC3-0417-AF70-205719B23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5913" y="1570038"/>
            <a:ext cx="9253537" cy="534987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1100"/>
              </a:spcBef>
              <a:spcAft>
                <a:spcPct val="5000"/>
              </a:spcAft>
            </a:pPr>
            <a:r>
              <a:rPr lang="en-US" altLang="en-US" sz="4700"/>
              <a:t>Review</a:t>
            </a:r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ct val="5000"/>
              </a:spcAft>
            </a:pPr>
            <a:r>
              <a:rPr lang="en-US" altLang="en-US" sz="4700"/>
              <a:t>Testing</a:t>
            </a:r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ct val="5000"/>
              </a:spcAft>
            </a:pPr>
            <a:r>
              <a:rPr lang="en-US" altLang="en-US" sz="4700"/>
              <a:t>Formal verification</a:t>
            </a:r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ct val="5000"/>
              </a:spcAft>
            </a:pPr>
            <a:r>
              <a:rPr lang="en-US" altLang="en-US" sz="4700"/>
              <a:t>Development process</a:t>
            </a:r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ct val="5000"/>
              </a:spcAft>
            </a:pPr>
            <a:r>
              <a:rPr lang="en-US" altLang="en-US" sz="4700"/>
              <a:t>Systematic methodologies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A51A8C6F-D892-50B0-A0B1-A716EEA4BA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9FB3EB9-7434-4411-8110-939E79797DD9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714CE4FB-0060-048F-8ACB-76815F5C28B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04825" y="-47625"/>
            <a:ext cx="9066213" cy="1160463"/>
          </a:xfrm>
        </p:spPr>
        <p:txBody>
          <a:bodyPr lIns="0" tIns="0" rIns="0" bIns="0"/>
          <a:lstStyle/>
          <a:p>
            <a:pPr eaLnBrk="1"/>
            <a:r>
              <a:rPr lang="en-US" altLang="en-US" sz="4900"/>
              <a:t>Why Test?</a:t>
            </a:r>
          </a:p>
        </p:txBody>
      </p:sp>
      <p:pic>
        <p:nvPicPr>
          <p:cNvPr id="106500" name="Picture 4">
            <a:extLst>
              <a:ext uri="{FF2B5EF4-FFF2-40B4-BE49-F238E27FC236}">
                <a16:creationId xmlns:a16="http://schemas.microsoft.com/office/drawing/2014/main" id="{33A9AF6B-DB10-CFF5-FF18-E51AFF6CCE1F}"/>
              </a:ext>
            </a:extLst>
          </p:cNvPr>
          <p:cNvPicPr>
            <a:picLocks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500" y="1127125"/>
            <a:ext cx="1717675" cy="2598738"/>
          </a:xfrm>
        </p:spPr>
      </p:pic>
      <p:sp>
        <p:nvSpPr>
          <p:cNvPr id="106503" name="Rectangle 7">
            <a:extLst>
              <a:ext uri="{FF2B5EF4-FFF2-40B4-BE49-F238E27FC236}">
                <a16:creationId xmlns:a16="http://schemas.microsoft.com/office/drawing/2014/main" id="{B77A1D7C-17B8-457A-19AB-16198E931D9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39713" y="3829050"/>
            <a:ext cx="9448800" cy="3455988"/>
          </a:xfrm>
        </p:spPr>
        <p:txBody>
          <a:bodyPr lIns="0" tIns="0" rIns="0" bIns="0"/>
          <a:lstStyle/>
          <a:p>
            <a:pPr marL="342900" indent="-342900" eaLnBrk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</a:pPr>
            <a:r>
              <a:rPr lang="en-US" altLang="en-US" sz="2700"/>
              <a:t>Ariane 5 rocket self-destructed 37 seconds after launch</a:t>
            </a:r>
          </a:p>
          <a:p>
            <a:pPr marL="342900" indent="-342900" eaLnBrk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</a:pPr>
            <a:r>
              <a:rPr lang="en-US" altLang="en-US" sz="2700">
                <a:solidFill>
                  <a:srgbClr val="0000CC"/>
                </a:solidFill>
              </a:rPr>
              <a:t>Reason: A control software bug that went undetected</a:t>
            </a:r>
          </a:p>
          <a:p>
            <a:pPr marL="742950" lvl="1" indent="-285750" eaLnBrk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</a:pPr>
            <a:r>
              <a:rPr lang="en-US" altLang="en-US" sz="2300"/>
              <a:t>Conversion from 64-bit floating point to 16-bit signed integer value had caused an exception</a:t>
            </a:r>
          </a:p>
          <a:p>
            <a:pPr marL="1143000" lvl="2" indent="-228600" eaLnBrk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</a:pPr>
            <a:r>
              <a:rPr lang="en-US" altLang="en-US" sz="2000"/>
              <a:t>The floating point number was larger than </a:t>
            </a:r>
            <a:r>
              <a:rPr lang="en-US" altLang="en-US" sz="1800"/>
              <a:t>32767 </a:t>
            </a:r>
          </a:p>
          <a:p>
            <a:pPr marL="1143000" lvl="2" indent="-228600" eaLnBrk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</a:pPr>
            <a:r>
              <a:rPr lang="en-US" altLang="en-US" sz="2000"/>
              <a:t>Efficiency considerations had led to the disabling of the exception handler.</a:t>
            </a:r>
          </a:p>
          <a:p>
            <a:pPr marL="342900" indent="-342900" eaLnBrk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</a:pPr>
            <a:r>
              <a:rPr lang="en-US" altLang="en-US" sz="2700"/>
              <a:t>Total Cost: over $1 billion</a:t>
            </a:r>
          </a:p>
        </p:txBody>
      </p:sp>
      <p:pic>
        <p:nvPicPr>
          <p:cNvPr id="106504" name="Picture 8">
            <a:extLst>
              <a:ext uri="{FF2B5EF4-FFF2-40B4-BE49-F238E27FC236}">
                <a16:creationId xmlns:a16="http://schemas.microsoft.com/office/drawing/2014/main" id="{77DDBE86-A9A5-EE65-4502-309FAC814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463" y="960438"/>
            <a:ext cx="1785937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5" name="Picture 9">
            <a:extLst>
              <a:ext uri="{FF2B5EF4-FFF2-40B4-BE49-F238E27FC236}">
                <a16:creationId xmlns:a16="http://schemas.microsoft.com/office/drawing/2014/main" id="{B72D7E47-4505-E37F-1844-72B1CE8051C2}"/>
              </a:ext>
            </a:extLst>
          </p:cNvPr>
          <p:cNvPicPr>
            <a:picLocks noChangeAspect="1" noChangeArrowheads="1"/>
          </p:cNvPicPr>
          <p:nvPr>
            <p:ph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9738" y="1098550"/>
            <a:ext cx="4051300" cy="2627313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6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6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6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6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6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id="{59F63F0C-028E-9C17-ECAC-ACECDF8D919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42D2CCE-3D41-42AB-BFF2-8B7F9A21BC52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53409E25-9BE4-2B93-891D-7CB6410B4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888"/>
              </a:spcBef>
            </a:pPr>
            <a:r>
              <a:rPr lang="en-GB" altLang="en-US" sz="4900"/>
              <a:t>How Do You Test a Program?</a:t>
            </a:r>
          </a:p>
        </p:txBody>
      </p:sp>
      <p:sp>
        <p:nvSpPr>
          <p:cNvPr id="699395" name="Rectangle 3">
            <a:extLst>
              <a:ext uri="{FF2B5EF4-FFF2-40B4-BE49-F238E27FC236}">
                <a16:creationId xmlns:a16="http://schemas.microsoft.com/office/drawing/2014/main" id="{F0A8E3D4-92C1-CE28-E4F0-E207B1B00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4825" y="1931988"/>
            <a:ext cx="9336088" cy="45974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1088"/>
              </a:spcBef>
            </a:pPr>
            <a:r>
              <a:rPr lang="en-GB" altLang="en-US" sz="4500"/>
              <a:t>Input test data to the </a:t>
            </a:r>
            <a:r>
              <a:rPr lang="en-GB" altLang="en-US" sz="4000"/>
              <a:t>program.</a:t>
            </a:r>
          </a:p>
          <a:p>
            <a:pPr marL="342900" indent="-342900" defTabSz="914400">
              <a:lnSpc>
                <a:spcPct val="105000"/>
              </a:lnSpc>
              <a:spcBef>
                <a:spcPts val="1088"/>
              </a:spcBef>
            </a:pPr>
            <a:r>
              <a:rPr lang="en-GB" altLang="en-US" sz="4500"/>
              <a:t>Observe the output: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 sz="4100"/>
              <a:t>Check if the program behaved as expected.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>
            <a:extLst>
              <a:ext uri="{FF2B5EF4-FFF2-40B4-BE49-F238E27FC236}">
                <a16:creationId xmlns:a16="http://schemas.microsoft.com/office/drawing/2014/main" id="{11F83D50-1794-C2FD-3ECC-78CE233C3E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8A968B7-CA39-4125-8CCD-4DB3F407A6E8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pic>
        <p:nvPicPr>
          <p:cNvPr id="6147" name="Picture 34">
            <a:extLst>
              <a:ext uri="{FF2B5EF4-FFF2-40B4-BE49-F238E27FC236}">
                <a16:creationId xmlns:a16="http://schemas.microsoft.com/office/drawing/2014/main" id="{36C9C815-B198-CE1B-3F34-5FEA05412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2332038"/>
            <a:ext cx="2343150" cy="1952625"/>
          </a:xfrm>
          <a:prstGeom prst="rect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35">
            <a:extLst>
              <a:ext uri="{FF2B5EF4-FFF2-40B4-BE49-F238E27FC236}">
                <a16:creationId xmlns:a16="http://schemas.microsoft.com/office/drawing/2014/main" id="{6B494A91-064A-1057-A6A8-284BB0079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3322638"/>
            <a:ext cx="2481262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>
            <a:extLst>
              <a:ext uri="{FF2B5EF4-FFF2-40B4-BE49-F238E27FC236}">
                <a16:creationId xmlns:a16="http://schemas.microsoft.com/office/drawing/2014/main" id="{74BB9DE1-E5BD-C7F0-DC41-CB2A761D8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noFill/>
        </p:spPr>
        <p:txBody>
          <a:bodyPr lIns="19841" tIns="51588" rIns="19841" bIns="51588"/>
          <a:lstStyle/>
          <a:p>
            <a:pPr defTabSz="914400">
              <a:spcBef>
                <a:spcPts val="1000"/>
              </a:spcBef>
            </a:pPr>
            <a:r>
              <a:rPr lang="en-GB" altLang="en-US" sz="4900"/>
              <a:t>How Do You Test a Program?</a:t>
            </a:r>
          </a:p>
        </p:txBody>
      </p:sp>
      <p:sp>
        <p:nvSpPr>
          <p:cNvPr id="6150" name="Line 4">
            <a:extLst>
              <a:ext uri="{FF2B5EF4-FFF2-40B4-BE49-F238E27FC236}">
                <a16:creationId xmlns:a16="http://schemas.microsoft.com/office/drawing/2014/main" id="{FF11C989-7244-EF9C-7511-74EC721D90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0513" y="3703638"/>
            <a:ext cx="457200" cy="152400"/>
          </a:xfrm>
          <a:prstGeom prst="line">
            <a:avLst/>
          </a:prstGeom>
          <a:noFill/>
          <a:ln w="1908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1" name="Line 5">
            <a:extLst>
              <a:ext uri="{FF2B5EF4-FFF2-40B4-BE49-F238E27FC236}">
                <a16:creationId xmlns:a16="http://schemas.microsoft.com/office/drawing/2014/main" id="{4CEC9E8D-40D9-4AF6-F9A8-262BF93FED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0513" y="3856038"/>
            <a:ext cx="762000" cy="304800"/>
          </a:xfrm>
          <a:prstGeom prst="line">
            <a:avLst/>
          </a:prstGeom>
          <a:noFill/>
          <a:ln w="1908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2" name="Line 6">
            <a:extLst>
              <a:ext uri="{FF2B5EF4-FFF2-40B4-BE49-F238E27FC236}">
                <a16:creationId xmlns:a16="http://schemas.microsoft.com/office/drawing/2014/main" id="{4327244D-D257-65A7-508C-654FE7E4DE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2913" y="3932238"/>
            <a:ext cx="838200" cy="304800"/>
          </a:xfrm>
          <a:prstGeom prst="line">
            <a:avLst/>
          </a:prstGeom>
          <a:noFill/>
          <a:ln w="1908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3" name="Line 7">
            <a:extLst>
              <a:ext uri="{FF2B5EF4-FFF2-40B4-BE49-F238E27FC236}">
                <a16:creationId xmlns:a16="http://schemas.microsoft.com/office/drawing/2014/main" id="{36D12E35-C734-F7D5-1825-D19B66EEBC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0513" y="4008438"/>
            <a:ext cx="1143000" cy="457200"/>
          </a:xfrm>
          <a:prstGeom prst="line">
            <a:avLst/>
          </a:prstGeom>
          <a:noFill/>
          <a:ln w="1908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4" name="Line 8">
            <a:extLst>
              <a:ext uri="{FF2B5EF4-FFF2-40B4-BE49-F238E27FC236}">
                <a16:creationId xmlns:a16="http://schemas.microsoft.com/office/drawing/2014/main" id="{B125609F-1DEB-DB9D-3579-1CDD965A9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5138" y="3443288"/>
            <a:ext cx="1679575" cy="0"/>
          </a:xfrm>
          <a:prstGeom prst="line">
            <a:avLst/>
          </a:prstGeom>
          <a:noFill/>
          <a:ln w="1908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5" name="Line 9">
            <a:extLst>
              <a:ext uri="{FF2B5EF4-FFF2-40B4-BE49-F238E27FC236}">
                <a16:creationId xmlns:a16="http://schemas.microsoft.com/office/drawing/2014/main" id="{2F62AD68-D727-F8C9-5BC7-E04815268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5138" y="3779838"/>
            <a:ext cx="1679575" cy="0"/>
          </a:xfrm>
          <a:prstGeom prst="line">
            <a:avLst/>
          </a:prstGeom>
          <a:noFill/>
          <a:ln w="1908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6" name="Line 10">
            <a:extLst>
              <a:ext uri="{FF2B5EF4-FFF2-40B4-BE49-F238E27FC236}">
                <a16:creationId xmlns:a16="http://schemas.microsoft.com/office/drawing/2014/main" id="{FECBEB51-A00C-95AF-A1D6-326CB1AF0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5138" y="4116388"/>
            <a:ext cx="1679575" cy="0"/>
          </a:xfrm>
          <a:prstGeom prst="line">
            <a:avLst/>
          </a:prstGeom>
          <a:noFill/>
          <a:ln w="1908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7" name="Line 11">
            <a:extLst>
              <a:ext uri="{FF2B5EF4-FFF2-40B4-BE49-F238E27FC236}">
                <a16:creationId xmlns:a16="http://schemas.microsoft.com/office/drawing/2014/main" id="{E7387A1C-2D24-9D64-E4D8-D4CCB0733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5138" y="4451350"/>
            <a:ext cx="1679575" cy="0"/>
          </a:xfrm>
          <a:prstGeom prst="line">
            <a:avLst/>
          </a:prstGeom>
          <a:noFill/>
          <a:ln w="1908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6158" name="Group 12">
            <a:extLst>
              <a:ext uri="{FF2B5EF4-FFF2-40B4-BE49-F238E27FC236}">
                <a16:creationId xmlns:a16="http://schemas.microsoft.com/office/drawing/2014/main" id="{8F6F47B1-325D-1634-0CB2-C4090A739984}"/>
              </a:ext>
            </a:extLst>
          </p:cNvPr>
          <p:cNvGrpSpPr>
            <a:grpSpLocks/>
          </p:cNvGrpSpPr>
          <p:nvPr/>
        </p:nvGrpSpPr>
        <p:grpSpPr bwMode="auto">
          <a:xfrm>
            <a:off x="2601913" y="3703638"/>
            <a:ext cx="249237" cy="1343025"/>
            <a:chOff x="1296" y="1392"/>
            <a:chExt cx="143" cy="767"/>
          </a:xfrm>
        </p:grpSpPr>
        <p:sp>
          <p:nvSpPr>
            <p:cNvPr id="6174" name="Freeform 13">
              <a:extLst>
                <a:ext uri="{FF2B5EF4-FFF2-40B4-BE49-F238E27FC236}">
                  <a16:creationId xmlns:a16="http://schemas.microsoft.com/office/drawing/2014/main" id="{983816BF-D2DF-7C0B-0B6D-0ADD1D8AC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1392"/>
              <a:ext cx="69" cy="101"/>
            </a:xfrm>
            <a:custGeom>
              <a:avLst/>
              <a:gdLst>
                <a:gd name="T0" fmla="*/ 2 w 309"/>
                <a:gd name="T1" fmla="*/ 0 h 450"/>
                <a:gd name="T2" fmla="*/ 67 w 309"/>
                <a:gd name="T3" fmla="*/ 0 h 450"/>
                <a:gd name="T4" fmla="*/ 69 w 309"/>
                <a:gd name="T5" fmla="*/ 1 h 450"/>
                <a:gd name="T6" fmla="*/ 69 w 309"/>
                <a:gd name="T7" fmla="*/ 6 h 450"/>
                <a:gd name="T8" fmla="*/ 67 w 309"/>
                <a:gd name="T9" fmla="*/ 7 h 450"/>
                <a:gd name="T10" fmla="*/ 46 w 309"/>
                <a:gd name="T11" fmla="*/ 7 h 450"/>
                <a:gd name="T12" fmla="*/ 46 w 309"/>
                <a:gd name="T13" fmla="*/ 94 h 450"/>
                <a:gd name="T14" fmla="*/ 67 w 309"/>
                <a:gd name="T15" fmla="*/ 94 h 450"/>
                <a:gd name="T16" fmla="*/ 69 w 309"/>
                <a:gd name="T17" fmla="*/ 95 h 450"/>
                <a:gd name="T18" fmla="*/ 69 w 309"/>
                <a:gd name="T19" fmla="*/ 100 h 450"/>
                <a:gd name="T20" fmla="*/ 67 w 309"/>
                <a:gd name="T21" fmla="*/ 101 h 450"/>
                <a:gd name="T22" fmla="*/ 2 w 309"/>
                <a:gd name="T23" fmla="*/ 101 h 450"/>
                <a:gd name="T24" fmla="*/ 0 w 309"/>
                <a:gd name="T25" fmla="*/ 100 h 450"/>
                <a:gd name="T26" fmla="*/ 0 w 309"/>
                <a:gd name="T27" fmla="*/ 95 h 450"/>
                <a:gd name="T28" fmla="*/ 2 w 309"/>
                <a:gd name="T29" fmla="*/ 94 h 450"/>
                <a:gd name="T30" fmla="*/ 23 w 309"/>
                <a:gd name="T31" fmla="*/ 94 h 450"/>
                <a:gd name="T32" fmla="*/ 23 w 309"/>
                <a:gd name="T33" fmla="*/ 7 h 450"/>
                <a:gd name="T34" fmla="*/ 2 w 309"/>
                <a:gd name="T35" fmla="*/ 7 h 450"/>
                <a:gd name="T36" fmla="*/ 0 w 309"/>
                <a:gd name="T37" fmla="*/ 6 h 450"/>
                <a:gd name="T38" fmla="*/ 0 w 309"/>
                <a:gd name="T39" fmla="*/ 1 h 450"/>
                <a:gd name="T40" fmla="*/ 2 w 309"/>
                <a:gd name="T41" fmla="*/ 0 h 4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9"/>
                <a:gd name="T64" fmla="*/ 0 h 450"/>
                <a:gd name="T65" fmla="*/ 309 w 309"/>
                <a:gd name="T66" fmla="*/ 450 h 4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9" h="450">
                  <a:moveTo>
                    <a:pt x="10" y="0"/>
                  </a:moveTo>
                  <a:lnTo>
                    <a:pt x="299" y="0"/>
                  </a:lnTo>
                  <a:lnTo>
                    <a:pt x="308" y="4"/>
                  </a:lnTo>
                  <a:lnTo>
                    <a:pt x="308" y="26"/>
                  </a:lnTo>
                  <a:lnTo>
                    <a:pt x="299" y="31"/>
                  </a:lnTo>
                  <a:lnTo>
                    <a:pt x="204" y="31"/>
                  </a:lnTo>
                  <a:lnTo>
                    <a:pt x="204" y="418"/>
                  </a:lnTo>
                  <a:lnTo>
                    <a:pt x="299" y="418"/>
                  </a:lnTo>
                  <a:lnTo>
                    <a:pt x="308" y="423"/>
                  </a:lnTo>
                  <a:lnTo>
                    <a:pt x="308" y="445"/>
                  </a:lnTo>
                  <a:lnTo>
                    <a:pt x="299" y="449"/>
                  </a:lnTo>
                  <a:lnTo>
                    <a:pt x="10" y="449"/>
                  </a:lnTo>
                  <a:lnTo>
                    <a:pt x="0" y="445"/>
                  </a:lnTo>
                  <a:lnTo>
                    <a:pt x="0" y="423"/>
                  </a:lnTo>
                  <a:lnTo>
                    <a:pt x="10" y="418"/>
                  </a:lnTo>
                  <a:lnTo>
                    <a:pt x="104" y="418"/>
                  </a:lnTo>
                  <a:lnTo>
                    <a:pt x="104" y="31"/>
                  </a:lnTo>
                  <a:lnTo>
                    <a:pt x="10" y="31"/>
                  </a:lnTo>
                  <a:lnTo>
                    <a:pt x="0" y="26"/>
                  </a:lnTo>
                  <a:lnTo>
                    <a:pt x="0" y="4"/>
                  </a:lnTo>
                  <a:lnTo>
                    <a:pt x="10" y="0"/>
                  </a:lnTo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75" name="Freeform 14">
              <a:extLst>
                <a:ext uri="{FF2B5EF4-FFF2-40B4-BE49-F238E27FC236}">
                  <a16:creationId xmlns:a16="http://schemas.microsoft.com/office/drawing/2014/main" id="{63AE0FB3-92B0-E083-157D-2E1DB3275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1589"/>
              <a:ext cx="130" cy="71"/>
            </a:xfrm>
            <a:custGeom>
              <a:avLst/>
              <a:gdLst>
                <a:gd name="T0" fmla="*/ 1 w 579"/>
                <a:gd name="T1" fmla="*/ 0 h 317"/>
                <a:gd name="T2" fmla="*/ 34 w 579"/>
                <a:gd name="T3" fmla="*/ 0 h 317"/>
                <a:gd name="T4" fmla="*/ 35 w 579"/>
                <a:gd name="T5" fmla="*/ 1 h 317"/>
                <a:gd name="T6" fmla="*/ 35 w 579"/>
                <a:gd name="T7" fmla="*/ 11 h 317"/>
                <a:gd name="T8" fmla="*/ 46 w 579"/>
                <a:gd name="T9" fmla="*/ 11 h 317"/>
                <a:gd name="T10" fmla="*/ 46 w 579"/>
                <a:gd name="T11" fmla="*/ 6 h 317"/>
                <a:gd name="T12" fmla="*/ 48 w 579"/>
                <a:gd name="T13" fmla="*/ 5 h 317"/>
                <a:gd name="T14" fmla="*/ 57 w 579"/>
                <a:gd name="T15" fmla="*/ 5 h 317"/>
                <a:gd name="T16" fmla="*/ 57 w 579"/>
                <a:gd name="T17" fmla="*/ 1 h 317"/>
                <a:gd name="T18" fmla="*/ 59 w 579"/>
                <a:gd name="T19" fmla="*/ 0 h 317"/>
                <a:gd name="T20" fmla="*/ 94 w 579"/>
                <a:gd name="T21" fmla="*/ 0 h 317"/>
                <a:gd name="T22" fmla="*/ 96 w 579"/>
                <a:gd name="T23" fmla="*/ 1 h 317"/>
                <a:gd name="T24" fmla="*/ 96 w 579"/>
                <a:gd name="T25" fmla="*/ 5 h 317"/>
                <a:gd name="T26" fmla="*/ 106 w 579"/>
                <a:gd name="T27" fmla="*/ 5 h 317"/>
                <a:gd name="T28" fmla="*/ 107 w 579"/>
                <a:gd name="T29" fmla="*/ 6 h 317"/>
                <a:gd name="T30" fmla="*/ 107 w 579"/>
                <a:gd name="T31" fmla="*/ 11 h 317"/>
                <a:gd name="T32" fmla="*/ 118 w 579"/>
                <a:gd name="T33" fmla="*/ 11 h 317"/>
                <a:gd name="T34" fmla="*/ 120 w 579"/>
                <a:gd name="T35" fmla="*/ 12 h 317"/>
                <a:gd name="T36" fmla="*/ 120 w 579"/>
                <a:gd name="T37" fmla="*/ 64 h 317"/>
                <a:gd name="T38" fmla="*/ 129 w 579"/>
                <a:gd name="T39" fmla="*/ 64 h 317"/>
                <a:gd name="T40" fmla="*/ 130 w 579"/>
                <a:gd name="T41" fmla="*/ 65 h 317"/>
                <a:gd name="T42" fmla="*/ 130 w 579"/>
                <a:gd name="T43" fmla="*/ 70 h 317"/>
                <a:gd name="T44" fmla="*/ 129 w 579"/>
                <a:gd name="T45" fmla="*/ 71 h 317"/>
                <a:gd name="T46" fmla="*/ 84 w 579"/>
                <a:gd name="T47" fmla="*/ 71 h 317"/>
                <a:gd name="T48" fmla="*/ 82 w 579"/>
                <a:gd name="T49" fmla="*/ 70 h 317"/>
                <a:gd name="T50" fmla="*/ 82 w 579"/>
                <a:gd name="T51" fmla="*/ 65 h 317"/>
                <a:gd name="T52" fmla="*/ 84 w 579"/>
                <a:gd name="T53" fmla="*/ 64 h 317"/>
                <a:gd name="T54" fmla="*/ 94 w 579"/>
                <a:gd name="T55" fmla="*/ 64 h 317"/>
                <a:gd name="T56" fmla="*/ 94 w 579"/>
                <a:gd name="T57" fmla="*/ 18 h 317"/>
                <a:gd name="T58" fmla="*/ 84 w 579"/>
                <a:gd name="T59" fmla="*/ 18 h 317"/>
                <a:gd name="T60" fmla="*/ 82 w 579"/>
                <a:gd name="T61" fmla="*/ 17 h 317"/>
                <a:gd name="T62" fmla="*/ 82 w 579"/>
                <a:gd name="T63" fmla="*/ 12 h 317"/>
                <a:gd name="T64" fmla="*/ 48 w 579"/>
                <a:gd name="T65" fmla="*/ 12 h 317"/>
                <a:gd name="T66" fmla="*/ 48 w 579"/>
                <a:gd name="T67" fmla="*/ 17 h 317"/>
                <a:gd name="T68" fmla="*/ 46 w 579"/>
                <a:gd name="T69" fmla="*/ 18 h 317"/>
                <a:gd name="T70" fmla="*/ 35 w 579"/>
                <a:gd name="T71" fmla="*/ 18 h 317"/>
                <a:gd name="T72" fmla="*/ 35 w 579"/>
                <a:gd name="T73" fmla="*/ 64 h 317"/>
                <a:gd name="T74" fmla="*/ 46 w 579"/>
                <a:gd name="T75" fmla="*/ 64 h 317"/>
                <a:gd name="T76" fmla="*/ 48 w 579"/>
                <a:gd name="T77" fmla="*/ 65 h 317"/>
                <a:gd name="T78" fmla="*/ 48 w 579"/>
                <a:gd name="T79" fmla="*/ 70 h 317"/>
                <a:gd name="T80" fmla="*/ 46 w 579"/>
                <a:gd name="T81" fmla="*/ 71 h 317"/>
                <a:gd name="T82" fmla="*/ 1 w 579"/>
                <a:gd name="T83" fmla="*/ 71 h 317"/>
                <a:gd name="T84" fmla="*/ 0 w 579"/>
                <a:gd name="T85" fmla="*/ 70 h 317"/>
                <a:gd name="T86" fmla="*/ 0 w 579"/>
                <a:gd name="T87" fmla="*/ 65 h 317"/>
                <a:gd name="T88" fmla="*/ 1 w 579"/>
                <a:gd name="T89" fmla="*/ 64 h 317"/>
                <a:gd name="T90" fmla="*/ 12 w 579"/>
                <a:gd name="T91" fmla="*/ 64 h 317"/>
                <a:gd name="T92" fmla="*/ 12 w 579"/>
                <a:gd name="T93" fmla="*/ 6 h 317"/>
                <a:gd name="T94" fmla="*/ 1 w 579"/>
                <a:gd name="T95" fmla="*/ 6 h 317"/>
                <a:gd name="T96" fmla="*/ 0 w 579"/>
                <a:gd name="T97" fmla="*/ 5 h 317"/>
                <a:gd name="T98" fmla="*/ 0 w 579"/>
                <a:gd name="T99" fmla="*/ 1 h 317"/>
                <a:gd name="T100" fmla="*/ 1 w 579"/>
                <a:gd name="T101" fmla="*/ 0 h 3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79"/>
                <a:gd name="T154" fmla="*/ 0 h 317"/>
                <a:gd name="T155" fmla="*/ 579 w 579"/>
                <a:gd name="T156" fmla="*/ 317 h 3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79" h="317">
                  <a:moveTo>
                    <a:pt x="5" y="0"/>
                  </a:moveTo>
                  <a:lnTo>
                    <a:pt x="152" y="0"/>
                  </a:lnTo>
                  <a:lnTo>
                    <a:pt x="156" y="3"/>
                  </a:lnTo>
                  <a:lnTo>
                    <a:pt x="156" y="49"/>
                  </a:lnTo>
                  <a:lnTo>
                    <a:pt x="204" y="49"/>
                  </a:lnTo>
                  <a:lnTo>
                    <a:pt x="204" y="26"/>
                  </a:lnTo>
                  <a:lnTo>
                    <a:pt x="213" y="22"/>
                  </a:lnTo>
                  <a:lnTo>
                    <a:pt x="256" y="22"/>
                  </a:lnTo>
                  <a:lnTo>
                    <a:pt x="256" y="3"/>
                  </a:lnTo>
                  <a:lnTo>
                    <a:pt x="265" y="0"/>
                  </a:lnTo>
                  <a:lnTo>
                    <a:pt x="417" y="0"/>
                  </a:lnTo>
                  <a:lnTo>
                    <a:pt x="426" y="3"/>
                  </a:lnTo>
                  <a:lnTo>
                    <a:pt x="426" y="22"/>
                  </a:lnTo>
                  <a:lnTo>
                    <a:pt x="474" y="22"/>
                  </a:lnTo>
                  <a:lnTo>
                    <a:pt x="478" y="26"/>
                  </a:lnTo>
                  <a:lnTo>
                    <a:pt x="478" y="49"/>
                  </a:lnTo>
                  <a:lnTo>
                    <a:pt x="526" y="49"/>
                  </a:lnTo>
                  <a:lnTo>
                    <a:pt x="535" y="53"/>
                  </a:lnTo>
                  <a:lnTo>
                    <a:pt x="535" y="285"/>
                  </a:lnTo>
                  <a:lnTo>
                    <a:pt x="573" y="285"/>
                  </a:lnTo>
                  <a:lnTo>
                    <a:pt x="578" y="289"/>
                  </a:lnTo>
                  <a:lnTo>
                    <a:pt x="578" y="311"/>
                  </a:lnTo>
                  <a:lnTo>
                    <a:pt x="573" y="316"/>
                  </a:lnTo>
                  <a:lnTo>
                    <a:pt x="374" y="316"/>
                  </a:lnTo>
                  <a:lnTo>
                    <a:pt x="365" y="311"/>
                  </a:lnTo>
                  <a:lnTo>
                    <a:pt x="365" y="289"/>
                  </a:lnTo>
                  <a:lnTo>
                    <a:pt x="374" y="285"/>
                  </a:lnTo>
                  <a:lnTo>
                    <a:pt x="417" y="285"/>
                  </a:lnTo>
                  <a:lnTo>
                    <a:pt x="417" y="80"/>
                  </a:lnTo>
                  <a:lnTo>
                    <a:pt x="374" y="80"/>
                  </a:lnTo>
                  <a:lnTo>
                    <a:pt x="365" y="75"/>
                  </a:lnTo>
                  <a:lnTo>
                    <a:pt x="365" y="53"/>
                  </a:lnTo>
                  <a:lnTo>
                    <a:pt x="213" y="53"/>
                  </a:lnTo>
                  <a:lnTo>
                    <a:pt x="213" y="75"/>
                  </a:lnTo>
                  <a:lnTo>
                    <a:pt x="204" y="80"/>
                  </a:lnTo>
                  <a:lnTo>
                    <a:pt x="156" y="80"/>
                  </a:lnTo>
                  <a:lnTo>
                    <a:pt x="156" y="285"/>
                  </a:lnTo>
                  <a:lnTo>
                    <a:pt x="204" y="285"/>
                  </a:lnTo>
                  <a:lnTo>
                    <a:pt x="213" y="289"/>
                  </a:lnTo>
                  <a:lnTo>
                    <a:pt x="213" y="311"/>
                  </a:lnTo>
                  <a:lnTo>
                    <a:pt x="204" y="316"/>
                  </a:lnTo>
                  <a:lnTo>
                    <a:pt x="5" y="316"/>
                  </a:lnTo>
                  <a:lnTo>
                    <a:pt x="0" y="311"/>
                  </a:lnTo>
                  <a:lnTo>
                    <a:pt x="0" y="289"/>
                  </a:lnTo>
                  <a:lnTo>
                    <a:pt x="5" y="285"/>
                  </a:lnTo>
                  <a:lnTo>
                    <a:pt x="52" y="285"/>
                  </a:lnTo>
                  <a:lnTo>
                    <a:pt x="52" y="26"/>
                  </a:lnTo>
                  <a:lnTo>
                    <a:pt x="5" y="26"/>
                  </a:lnTo>
                  <a:lnTo>
                    <a:pt x="0" y="22"/>
                  </a:lnTo>
                  <a:lnTo>
                    <a:pt x="0" y="3"/>
                  </a:lnTo>
                  <a:lnTo>
                    <a:pt x="5" y="0"/>
                  </a:lnTo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76" name="Freeform 15">
              <a:extLst>
                <a:ext uri="{FF2B5EF4-FFF2-40B4-BE49-F238E27FC236}">
                  <a16:creationId xmlns:a16="http://schemas.microsoft.com/office/drawing/2014/main" id="{644D7B10-D889-B7DF-5554-5351E4D0E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1755"/>
              <a:ext cx="115" cy="100"/>
            </a:xfrm>
            <a:custGeom>
              <a:avLst/>
              <a:gdLst>
                <a:gd name="T0" fmla="*/ 68 w 513"/>
                <a:gd name="T1" fmla="*/ 6 h 445"/>
                <a:gd name="T2" fmla="*/ 69 w 513"/>
                <a:gd name="T3" fmla="*/ 12 h 445"/>
                <a:gd name="T4" fmla="*/ 79 w 513"/>
                <a:gd name="T5" fmla="*/ 17 h 445"/>
                <a:gd name="T6" fmla="*/ 90 w 513"/>
                <a:gd name="T7" fmla="*/ 18 h 445"/>
                <a:gd name="T8" fmla="*/ 81 w 513"/>
                <a:gd name="T9" fmla="*/ 52 h 445"/>
                <a:gd name="T10" fmla="*/ 79 w 513"/>
                <a:gd name="T11" fmla="*/ 58 h 445"/>
                <a:gd name="T12" fmla="*/ 68 w 513"/>
                <a:gd name="T13" fmla="*/ 59 h 445"/>
                <a:gd name="T14" fmla="*/ 47 w 513"/>
                <a:gd name="T15" fmla="*/ 64 h 445"/>
                <a:gd name="T16" fmla="*/ 45 w 513"/>
                <a:gd name="T17" fmla="*/ 58 h 445"/>
                <a:gd name="T18" fmla="*/ 35 w 513"/>
                <a:gd name="T19" fmla="*/ 12 h 445"/>
                <a:gd name="T20" fmla="*/ 47 w 513"/>
                <a:gd name="T21" fmla="*/ 11 h 445"/>
                <a:gd name="T22" fmla="*/ 2 w 513"/>
                <a:gd name="T23" fmla="*/ 0 h 445"/>
                <a:gd name="T24" fmla="*/ 35 w 513"/>
                <a:gd name="T25" fmla="*/ 1 h 445"/>
                <a:gd name="T26" fmla="*/ 45 w 513"/>
                <a:gd name="T27" fmla="*/ 5 h 445"/>
                <a:gd name="T28" fmla="*/ 47 w 513"/>
                <a:gd name="T29" fmla="*/ 0 h 445"/>
                <a:gd name="T30" fmla="*/ 81 w 513"/>
                <a:gd name="T31" fmla="*/ 1 h 445"/>
                <a:gd name="T32" fmla="*/ 102 w 513"/>
                <a:gd name="T33" fmla="*/ 5 h 445"/>
                <a:gd name="T34" fmla="*/ 104 w 513"/>
                <a:gd name="T35" fmla="*/ 17 h 445"/>
                <a:gd name="T36" fmla="*/ 115 w 513"/>
                <a:gd name="T37" fmla="*/ 18 h 445"/>
                <a:gd name="T38" fmla="*/ 114 w 513"/>
                <a:gd name="T39" fmla="*/ 53 h 445"/>
                <a:gd name="T40" fmla="*/ 104 w 513"/>
                <a:gd name="T41" fmla="*/ 64 h 445"/>
                <a:gd name="T42" fmla="*/ 81 w 513"/>
                <a:gd name="T43" fmla="*/ 65 h 445"/>
                <a:gd name="T44" fmla="*/ 79 w 513"/>
                <a:gd name="T45" fmla="*/ 71 h 445"/>
                <a:gd name="T46" fmla="*/ 45 w 513"/>
                <a:gd name="T47" fmla="*/ 70 h 445"/>
                <a:gd name="T48" fmla="*/ 35 w 513"/>
                <a:gd name="T49" fmla="*/ 65 h 445"/>
                <a:gd name="T50" fmla="*/ 45 w 513"/>
                <a:gd name="T51" fmla="*/ 93 h 445"/>
                <a:gd name="T52" fmla="*/ 47 w 513"/>
                <a:gd name="T53" fmla="*/ 99 h 445"/>
                <a:gd name="T54" fmla="*/ 2 w 513"/>
                <a:gd name="T55" fmla="*/ 100 h 445"/>
                <a:gd name="T56" fmla="*/ 0 w 513"/>
                <a:gd name="T57" fmla="*/ 94 h 445"/>
                <a:gd name="T58" fmla="*/ 12 w 513"/>
                <a:gd name="T59" fmla="*/ 93 h 445"/>
                <a:gd name="T60" fmla="*/ 2 w 513"/>
                <a:gd name="T61" fmla="*/ 6 h 445"/>
                <a:gd name="T62" fmla="*/ 0 w 513"/>
                <a:gd name="T63" fmla="*/ 1 h 44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513"/>
                <a:gd name="T97" fmla="*/ 0 h 445"/>
                <a:gd name="T98" fmla="*/ 513 w 513"/>
                <a:gd name="T99" fmla="*/ 445 h 44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513" h="445">
                  <a:moveTo>
                    <a:pt x="209" y="26"/>
                  </a:moveTo>
                  <a:lnTo>
                    <a:pt x="303" y="26"/>
                  </a:lnTo>
                  <a:lnTo>
                    <a:pt x="303" y="49"/>
                  </a:lnTo>
                  <a:lnTo>
                    <a:pt x="308" y="53"/>
                  </a:lnTo>
                  <a:lnTo>
                    <a:pt x="351" y="53"/>
                  </a:lnTo>
                  <a:lnTo>
                    <a:pt x="351" y="75"/>
                  </a:lnTo>
                  <a:lnTo>
                    <a:pt x="360" y="79"/>
                  </a:lnTo>
                  <a:lnTo>
                    <a:pt x="403" y="79"/>
                  </a:lnTo>
                  <a:lnTo>
                    <a:pt x="403" y="231"/>
                  </a:lnTo>
                  <a:lnTo>
                    <a:pt x="360" y="231"/>
                  </a:lnTo>
                  <a:lnTo>
                    <a:pt x="351" y="235"/>
                  </a:lnTo>
                  <a:lnTo>
                    <a:pt x="351" y="257"/>
                  </a:lnTo>
                  <a:lnTo>
                    <a:pt x="308" y="257"/>
                  </a:lnTo>
                  <a:lnTo>
                    <a:pt x="303" y="262"/>
                  </a:lnTo>
                  <a:lnTo>
                    <a:pt x="303" y="284"/>
                  </a:lnTo>
                  <a:lnTo>
                    <a:pt x="209" y="284"/>
                  </a:lnTo>
                  <a:lnTo>
                    <a:pt x="209" y="262"/>
                  </a:lnTo>
                  <a:lnTo>
                    <a:pt x="199" y="257"/>
                  </a:lnTo>
                  <a:lnTo>
                    <a:pt x="157" y="257"/>
                  </a:lnTo>
                  <a:lnTo>
                    <a:pt x="157" y="53"/>
                  </a:lnTo>
                  <a:lnTo>
                    <a:pt x="199" y="53"/>
                  </a:lnTo>
                  <a:lnTo>
                    <a:pt x="209" y="49"/>
                  </a:lnTo>
                  <a:lnTo>
                    <a:pt x="209" y="26"/>
                  </a:lnTo>
                  <a:close/>
                  <a:moveTo>
                    <a:pt x="10" y="0"/>
                  </a:moveTo>
                  <a:lnTo>
                    <a:pt x="147" y="0"/>
                  </a:lnTo>
                  <a:lnTo>
                    <a:pt x="157" y="4"/>
                  </a:lnTo>
                  <a:lnTo>
                    <a:pt x="157" y="22"/>
                  </a:lnTo>
                  <a:lnTo>
                    <a:pt x="199" y="22"/>
                  </a:lnTo>
                  <a:lnTo>
                    <a:pt x="199" y="4"/>
                  </a:lnTo>
                  <a:lnTo>
                    <a:pt x="209" y="0"/>
                  </a:lnTo>
                  <a:lnTo>
                    <a:pt x="351" y="0"/>
                  </a:lnTo>
                  <a:lnTo>
                    <a:pt x="360" y="4"/>
                  </a:lnTo>
                  <a:lnTo>
                    <a:pt x="360" y="22"/>
                  </a:lnTo>
                  <a:lnTo>
                    <a:pt x="455" y="22"/>
                  </a:lnTo>
                  <a:lnTo>
                    <a:pt x="465" y="26"/>
                  </a:lnTo>
                  <a:lnTo>
                    <a:pt x="465" y="75"/>
                  </a:lnTo>
                  <a:lnTo>
                    <a:pt x="507" y="75"/>
                  </a:lnTo>
                  <a:lnTo>
                    <a:pt x="512" y="79"/>
                  </a:lnTo>
                  <a:lnTo>
                    <a:pt x="512" y="231"/>
                  </a:lnTo>
                  <a:lnTo>
                    <a:pt x="507" y="235"/>
                  </a:lnTo>
                  <a:lnTo>
                    <a:pt x="465" y="235"/>
                  </a:lnTo>
                  <a:lnTo>
                    <a:pt x="465" y="284"/>
                  </a:lnTo>
                  <a:lnTo>
                    <a:pt x="455" y="289"/>
                  </a:lnTo>
                  <a:lnTo>
                    <a:pt x="360" y="289"/>
                  </a:lnTo>
                  <a:lnTo>
                    <a:pt x="360" y="311"/>
                  </a:lnTo>
                  <a:lnTo>
                    <a:pt x="351" y="315"/>
                  </a:lnTo>
                  <a:lnTo>
                    <a:pt x="209" y="315"/>
                  </a:lnTo>
                  <a:lnTo>
                    <a:pt x="199" y="311"/>
                  </a:lnTo>
                  <a:lnTo>
                    <a:pt x="199" y="289"/>
                  </a:lnTo>
                  <a:lnTo>
                    <a:pt x="157" y="289"/>
                  </a:lnTo>
                  <a:lnTo>
                    <a:pt x="157" y="415"/>
                  </a:lnTo>
                  <a:lnTo>
                    <a:pt x="199" y="415"/>
                  </a:lnTo>
                  <a:lnTo>
                    <a:pt x="209" y="418"/>
                  </a:lnTo>
                  <a:lnTo>
                    <a:pt x="209" y="440"/>
                  </a:lnTo>
                  <a:lnTo>
                    <a:pt x="199" y="444"/>
                  </a:lnTo>
                  <a:lnTo>
                    <a:pt x="10" y="444"/>
                  </a:lnTo>
                  <a:lnTo>
                    <a:pt x="0" y="440"/>
                  </a:lnTo>
                  <a:lnTo>
                    <a:pt x="0" y="418"/>
                  </a:lnTo>
                  <a:lnTo>
                    <a:pt x="10" y="415"/>
                  </a:lnTo>
                  <a:lnTo>
                    <a:pt x="52" y="415"/>
                  </a:lnTo>
                  <a:lnTo>
                    <a:pt x="52" y="26"/>
                  </a:lnTo>
                  <a:lnTo>
                    <a:pt x="10" y="26"/>
                  </a:lnTo>
                  <a:lnTo>
                    <a:pt x="0" y="22"/>
                  </a:lnTo>
                  <a:lnTo>
                    <a:pt x="0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77" name="Freeform 16">
              <a:extLst>
                <a:ext uri="{FF2B5EF4-FFF2-40B4-BE49-F238E27FC236}">
                  <a16:creationId xmlns:a16="http://schemas.microsoft.com/office/drawing/2014/main" id="{EC19F200-04CD-D8E7-F270-B487CD9D6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1922"/>
              <a:ext cx="130" cy="71"/>
            </a:xfrm>
            <a:custGeom>
              <a:avLst/>
              <a:gdLst>
                <a:gd name="T0" fmla="*/ 1 w 579"/>
                <a:gd name="T1" fmla="*/ 0 h 317"/>
                <a:gd name="T2" fmla="*/ 34 w 579"/>
                <a:gd name="T3" fmla="*/ 0 h 317"/>
                <a:gd name="T4" fmla="*/ 35 w 579"/>
                <a:gd name="T5" fmla="*/ 1 h 317"/>
                <a:gd name="T6" fmla="*/ 35 w 579"/>
                <a:gd name="T7" fmla="*/ 52 h 317"/>
                <a:gd name="T8" fmla="*/ 46 w 579"/>
                <a:gd name="T9" fmla="*/ 52 h 317"/>
                <a:gd name="T10" fmla="*/ 48 w 579"/>
                <a:gd name="T11" fmla="*/ 53 h 317"/>
                <a:gd name="T12" fmla="*/ 48 w 579"/>
                <a:gd name="T13" fmla="*/ 58 h 317"/>
                <a:gd name="T14" fmla="*/ 82 w 579"/>
                <a:gd name="T15" fmla="*/ 58 h 317"/>
                <a:gd name="T16" fmla="*/ 82 w 579"/>
                <a:gd name="T17" fmla="*/ 53 h 317"/>
                <a:gd name="T18" fmla="*/ 84 w 579"/>
                <a:gd name="T19" fmla="*/ 52 h 317"/>
                <a:gd name="T20" fmla="*/ 94 w 579"/>
                <a:gd name="T21" fmla="*/ 52 h 317"/>
                <a:gd name="T22" fmla="*/ 94 w 579"/>
                <a:gd name="T23" fmla="*/ 6 h 317"/>
                <a:gd name="T24" fmla="*/ 84 w 579"/>
                <a:gd name="T25" fmla="*/ 6 h 317"/>
                <a:gd name="T26" fmla="*/ 82 w 579"/>
                <a:gd name="T27" fmla="*/ 5 h 317"/>
                <a:gd name="T28" fmla="*/ 82 w 579"/>
                <a:gd name="T29" fmla="*/ 1 h 317"/>
                <a:gd name="T30" fmla="*/ 84 w 579"/>
                <a:gd name="T31" fmla="*/ 0 h 317"/>
                <a:gd name="T32" fmla="*/ 118 w 579"/>
                <a:gd name="T33" fmla="*/ 0 h 317"/>
                <a:gd name="T34" fmla="*/ 120 w 579"/>
                <a:gd name="T35" fmla="*/ 1 h 317"/>
                <a:gd name="T36" fmla="*/ 120 w 579"/>
                <a:gd name="T37" fmla="*/ 64 h 317"/>
                <a:gd name="T38" fmla="*/ 129 w 579"/>
                <a:gd name="T39" fmla="*/ 64 h 317"/>
                <a:gd name="T40" fmla="*/ 130 w 579"/>
                <a:gd name="T41" fmla="*/ 65 h 317"/>
                <a:gd name="T42" fmla="*/ 130 w 579"/>
                <a:gd name="T43" fmla="*/ 70 h 317"/>
                <a:gd name="T44" fmla="*/ 129 w 579"/>
                <a:gd name="T45" fmla="*/ 71 h 317"/>
                <a:gd name="T46" fmla="*/ 96 w 579"/>
                <a:gd name="T47" fmla="*/ 71 h 317"/>
                <a:gd name="T48" fmla="*/ 94 w 579"/>
                <a:gd name="T49" fmla="*/ 70 h 317"/>
                <a:gd name="T50" fmla="*/ 94 w 579"/>
                <a:gd name="T51" fmla="*/ 59 h 317"/>
                <a:gd name="T52" fmla="*/ 84 w 579"/>
                <a:gd name="T53" fmla="*/ 59 h 317"/>
                <a:gd name="T54" fmla="*/ 84 w 579"/>
                <a:gd name="T55" fmla="*/ 64 h 317"/>
                <a:gd name="T56" fmla="*/ 82 w 579"/>
                <a:gd name="T57" fmla="*/ 65 h 317"/>
                <a:gd name="T58" fmla="*/ 72 w 579"/>
                <a:gd name="T59" fmla="*/ 65 h 317"/>
                <a:gd name="T60" fmla="*/ 72 w 579"/>
                <a:gd name="T61" fmla="*/ 70 h 317"/>
                <a:gd name="T62" fmla="*/ 70 w 579"/>
                <a:gd name="T63" fmla="*/ 71 h 317"/>
                <a:gd name="T64" fmla="*/ 35 w 579"/>
                <a:gd name="T65" fmla="*/ 71 h 317"/>
                <a:gd name="T66" fmla="*/ 34 w 579"/>
                <a:gd name="T67" fmla="*/ 70 h 317"/>
                <a:gd name="T68" fmla="*/ 34 w 579"/>
                <a:gd name="T69" fmla="*/ 65 h 317"/>
                <a:gd name="T70" fmla="*/ 26 w 579"/>
                <a:gd name="T71" fmla="*/ 65 h 317"/>
                <a:gd name="T72" fmla="*/ 23 w 579"/>
                <a:gd name="T73" fmla="*/ 64 h 317"/>
                <a:gd name="T74" fmla="*/ 23 w 579"/>
                <a:gd name="T75" fmla="*/ 59 h 317"/>
                <a:gd name="T76" fmla="*/ 14 w 579"/>
                <a:gd name="T77" fmla="*/ 59 h 317"/>
                <a:gd name="T78" fmla="*/ 12 w 579"/>
                <a:gd name="T79" fmla="*/ 58 h 317"/>
                <a:gd name="T80" fmla="*/ 12 w 579"/>
                <a:gd name="T81" fmla="*/ 6 h 317"/>
                <a:gd name="T82" fmla="*/ 1 w 579"/>
                <a:gd name="T83" fmla="*/ 6 h 317"/>
                <a:gd name="T84" fmla="*/ 0 w 579"/>
                <a:gd name="T85" fmla="*/ 5 h 317"/>
                <a:gd name="T86" fmla="*/ 0 w 579"/>
                <a:gd name="T87" fmla="*/ 1 h 317"/>
                <a:gd name="T88" fmla="*/ 1 w 579"/>
                <a:gd name="T89" fmla="*/ 0 h 31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9"/>
                <a:gd name="T136" fmla="*/ 0 h 317"/>
                <a:gd name="T137" fmla="*/ 579 w 579"/>
                <a:gd name="T138" fmla="*/ 317 h 31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9" h="317">
                  <a:moveTo>
                    <a:pt x="5" y="0"/>
                  </a:moveTo>
                  <a:lnTo>
                    <a:pt x="152" y="0"/>
                  </a:lnTo>
                  <a:lnTo>
                    <a:pt x="156" y="4"/>
                  </a:lnTo>
                  <a:lnTo>
                    <a:pt x="156" y="233"/>
                  </a:lnTo>
                  <a:lnTo>
                    <a:pt x="204" y="233"/>
                  </a:lnTo>
                  <a:lnTo>
                    <a:pt x="213" y="236"/>
                  </a:lnTo>
                  <a:lnTo>
                    <a:pt x="213" y="258"/>
                  </a:lnTo>
                  <a:lnTo>
                    <a:pt x="365" y="258"/>
                  </a:lnTo>
                  <a:lnTo>
                    <a:pt x="365" y="236"/>
                  </a:lnTo>
                  <a:lnTo>
                    <a:pt x="374" y="233"/>
                  </a:lnTo>
                  <a:lnTo>
                    <a:pt x="417" y="233"/>
                  </a:lnTo>
                  <a:lnTo>
                    <a:pt x="417" y="26"/>
                  </a:lnTo>
                  <a:lnTo>
                    <a:pt x="374" y="26"/>
                  </a:lnTo>
                  <a:lnTo>
                    <a:pt x="365" y="22"/>
                  </a:lnTo>
                  <a:lnTo>
                    <a:pt x="365" y="4"/>
                  </a:lnTo>
                  <a:lnTo>
                    <a:pt x="374" y="0"/>
                  </a:lnTo>
                  <a:lnTo>
                    <a:pt x="526" y="0"/>
                  </a:lnTo>
                  <a:lnTo>
                    <a:pt x="535" y="4"/>
                  </a:lnTo>
                  <a:lnTo>
                    <a:pt x="535" y="285"/>
                  </a:lnTo>
                  <a:lnTo>
                    <a:pt x="573" y="285"/>
                  </a:lnTo>
                  <a:lnTo>
                    <a:pt x="578" y="289"/>
                  </a:lnTo>
                  <a:lnTo>
                    <a:pt x="578" y="311"/>
                  </a:lnTo>
                  <a:lnTo>
                    <a:pt x="573" y="316"/>
                  </a:lnTo>
                  <a:lnTo>
                    <a:pt x="426" y="316"/>
                  </a:lnTo>
                  <a:lnTo>
                    <a:pt x="417" y="311"/>
                  </a:lnTo>
                  <a:lnTo>
                    <a:pt x="417" y="262"/>
                  </a:lnTo>
                  <a:lnTo>
                    <a:pt x="374" y="262"/>
                  </a:lnTo>
                  <a:lnTo>
                    <a:pt x="374" y="285"/>
                  </a:lnTo>
                  <a:lnTo>
                    <a:pt x="365" y="289"/>
                  </a:lnTo>
                  <a:lnTo>
                    <a:pt x="322" y="289"/>
                  </a:lnTo>
                  <a:lnTo>
                    <a:pt x="322" y="311"/>
                  </a:lnTo>
                  <a:lnTo>
                    <a:pt x="313" y="316"/>
                  </a:lnTo>
                  <a:lnTo>
                    <a:pt x="156" y="316"/>
                  </a:lnTo>
                  <a:lnTo>
                    <a:pt x="152" y="311"/>
                  </a:lnTo>
                  <a:lnTo>
                    <a:pt x="152" y="289"/>
                  </a:lnTo>
                  <a:lnTo>
                    <a:pt x="114" y="289"/>
                  </a:lnTo>
                  <a:lnTo>
                    <a:pt x="104" y="285"/>
                  </a:lnTo>
                  <a:lnTo>
                    <a:pt x="104" y="262"/>
                  </a:lnTo>
                  <a:lnTo>
                    <a:pt x="61" y="262"/>
                  </a:lnTo>
                  <a:lnTo>
                    <a:pt x="52" y="258"/>
                  </a:lnTo>
                  <a:lnTo>
                    <a:pt x="52" y="26"/>
                  </a:lnTo>
                  <a:lnTo>
                    <a:pt x="5" y="26"/>
                  </a:lnTo>
                  <a:lnTo>
                    <a:pt x="0" y="2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78" name="Freeform 17">
              <a:extLst>
                <a:ext uri="{FF2B5EF4-FFF2-40B4-BE49-F238E27FC236}">
                  <a16:creationId xmlns:a16="http://schemas.microsoft.com/office/drawing/2014/main" id="{DCDDB9F4-7A0F-EEC5-0A10-70F7AE8D7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070"/>
              <a:ext cx="83" cy="89"/>
            </a:xfrm>
            <a:custGeom>
              <a:avLst/>
              <a:gdLst>
                <a:gd name="T0" fmla="*/ 37 w 371"/>
                <a:gd name="T1" fmla="*/ 0 h 397"/>
                <a:gd name="T2" fmla="*/ 46 w 371"/>
                <a:gd name="T3" fmla="*/ 0 h 397"/>
                <a:gd name="T4" fmla="*/ 48 w 371"/>
                <a:gd name="T5" fmla="*/ 1 h 397"/>
                <a:gd name="T6" fmla="*/ 48 w 371"/>
                <a:gd name="T7" fmla="*/ 18 h 397"/>
                <a:gd name="T8" fmla="*/ 81 w 371"/>
                <a:gd name="T9" fmla="*/ 18 h 397"/>
                <a:gd name="T10" fmla="*/ 83 w 371"/>
                <a:gd name="T11" fmla="*/ 19 h 397"/>
                <a:gd name="T12" fmla="*/ 83 w 371"/>
                <a:gd name="T13" fmla="*/ 23 h 397"/>
                <a:gd name="T14" fmla="*/ 81 w 371"/>
                <a:gd name="T15" fmla="*/ 24 h 397"/>
                <a:gd name="T16" fmla="*/ 48 w 371"/>
                <a:gd name="T17" fmla="*/ 24 h 397"/>
                <a:gd name="T18" fmla="*/ 48 w 371"/>
                <a:gd name="T19" fmla="*/ 82 h 397"/>
                <a:gd name="T20" fmla="*/ 69 w 371"/>
                <a:gd name="T21" fmla="*/ 82 h 397"/>
                <a:gd name="T22" fmla="*/ 69 w 371"/>
                <a:gd name="T23" fmla="*/ 77 h 397"/>
                <a:gd name="T24" fmla="*/ 71 w 371"/>
                <a:gd name="T25" fmla="*/ 76 h 397"/>
                <a:gd name="T26" fmla="*/ 81 w 371"/>
                <a:gd name="T27" fmla="*/ 76 h 397"/>
                <a:gd name="T28" fmla="*/ 83 w 371"/>
                <a:gd name="T29" fmla="*/ 77 h 397"/>
                <a:gd name="T30" fmla="*/ 83 w 371"/>
                <a:gd name="T31" fmla="*/ 82 h 397"/>
                <a:gd name="T32" fmla="*/ 81 w 371"/>
                <a:gd name="T33" fmla="*/ 83 h 397"/>
                <a:gd name="T34" fmla="*/ 71 w 371"/>
                <a:gd name="T35" fmla="*/ 83 h 397"/>
                <a:gd name="T36" fmla="*/ 71 w 371"/>
                <a:gd name="T37" fmla="*/ 88 h 397"/>
                <a:gd name="T38" fmla="*/ 69 w 371"/>
                <a:gd name="T39" fmla="*/ 89 h 397"/>
                <a:gd name="T40" fmla="*/ 37 w 371"/>
                <a:gd name="T41" fmla="*/ 89 h 397"/>
                <a:gd name="T42" fmla="*/ 36 w 371"/>
                <a:gd name="T43" fmla="*/ 88 h 397"/>
                <a:gd name="T44" fmla="*/ 36 w 371"/>
                <a:gd name="T45" fmla="*/ 83 h 397"/>
                <a:gd name="T46" fmla="*/ 26 w 371"/>
                <a:gd name="T47" fmla="*/ 83 h 397"/>
                <a:gd name="T48" fmla="*/ 24 w 371"/>
                <a:gd name="T49" fmla="*/ 82 h 397"/>
                <a:gd name="T50" fmla="*/ 24 w 371"/>
                <a:gd name="T51" fmla="*/ 24 h 397"/>
                <a:gd name="T52" fmla="*/ 2 w 371"/>
                <a:gd name="T53" fmla="*/ 24 h 397"/>
                <a:gd name="T54" fmla="*/ 0 w 371"/>
                <a:gd name="T55" fmla="*/ 23 h 397"/>
                <a:gd name="T56" fmla="*/ 0 w 371"/>
                <a:gd name="T57" fmla="*/ 19 h 397"/>
                <a:gd name="T58" fmla="*/ 2 w 371"/>
                <a:gd name="T59" fmla="*/ 18 h 397"/>
                <a:gd name="T60" fmla="*/ 13 w 371"/>
                <a:gd name="T61" fmla="*/ 18 h 397"/>
                <a:gd name="T62" fmla="*/ 13 w 371"/>
                <a:gd name="T63" fmla="*/ 13 h 397"/>
                <a:gd name="T64" fmla="*/ 14 w 371"/>
                <a:gd name="T65" fmla="*/ 12 h 397"/>
                <a:gd name="T66" fmla="*/ 24 w 371"/>
                <a:gd name="T67" fmla="*/ 12 h 397"/>
                <a:gd name="T68" fmla="*/ 24 w 371"/>
                <a:gd name="T69" fmla="*/ 7 h 397"/>
                <a:gd name="T70" fmla="*/ 26 w 371"/>
                <a:gd name="T71" fmla="*/ 6 h 397"/>
                <a:gd name="T72" fmla="*/ 36 w 371"/>
                <a:gd name="T73" fmla="*/ 6 h 397"/>
                <a:gd name="T74" fmla="*/ 36 w 371"/>
                <a:gd name="T75" fmla="*/ 1 h 397"/>
                <a:gd name="T76" fmla="*/ 37 w 371"/>
                <a:gd name="T77" fmla="*/ 0 h 39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71"/>
                <a:gd name="T118" fmla="*/ 0 h 397"/>
                <a:gd name="T119" fmla="*/ 371 w 371"/>
                <a:gd name="T120" fmla="*/ 397 h 39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71" h="397">
                  <a:moveTo>
                    <a:pt x="166" y="0"/>
                  </a:moveTo>
                  <a:lnTo>
                    <a:pt x="204" y="0"/>
                  </a:lnTo>
                  <a:lnTo>
                    <a:pt x="213" y="5"/>
                  </a:lnTo>
                  <a:lnTo>
                    <a:pt x="213" y="81"/>
                  </a:lnTo>
                  <a:lnTo>
                    <a:pt x="360" y="81"/>
                  </a:lnTo>
                  <a:lnTo>
                    <a:pt x="370" y="85"/>
                  </a:lnTo>
                  <a:lnTo>
                    <a:pt x="370" y="104"/>
                  </a:lnTo>
                  <a:lnTo>
                    <a:pt x="360" y="107"/>
                  </a:lnTo>
                  <a:lnTo>
                    <a:pt x="213" y="107"/>
                  </a:lnTo>
                  <a:lnTo>
                    <a:pt x="213" y="367"/>
                  </a:lnTo>
                  <a:lnTo>
                    <a:pt x="308" y="367"/>
                  </a:lnTo>
                  <a:lnTo>
                    <a:pt x="308" y="343"/>
                  </a:lnTo>
                  <a:lnTo>
                    <a:pt x="318" y="340"/>
                  </a:lnTo>
                  <a:lnTo>
                    <a:pt x="360" y="340"/>
                  </a:lnTo>
                  <a:lnTo>
                    <a:pt x="370" y="343"/>
                  </a:lnTo>
                  <a:lnTo>
                    <a:pt x="370" y="367"/>
                  </a:lnTo>
                  <a:lnTo>
                    <a:pt x="360" y="370"/>
                  </a:lnTo>
                  <a:lnTo>
                    <a:pt x="318" y="370"/>
                  </a:lnTo>
                  <a:lnTo>
                    <a:pt x="318" y="392"/>
                  </a:lnTo>
                  <a:lnTo>
                    <a:pt x="308" y="396"/>
                  </a:lnTo>
                  <a:lnTo>
                    <a:pt x="166" y="396"/>
                  </a:lnTo>
                  <a:lnTo>
                    <a:pt x="161" y="392"/>
                  </a:lnTo>
                  <a:lnTo>
                    <a:pt x="161" y="370"/>
                  </a:lnTo>
                  <a:lnTo>
                    <a:pt x="114" y="370"/>
                  </a:lnTo>
                  <a:lnTo>
                    <a:pt x="109" y="367"/>
                  </a:lnTo>
                  <a:lnTo>
                    <a:pt x="109" y="107"/>
                  </a:lnTo>
                  <a:lnTo>
                    <a:pt x="9" y="107"/>
                  </a:lnTo>
                  <a:lnTo>
                    <a:pt x="0" y="104"/>
                  </a:lnTo>
                  <a:lnTo>
                    <a:pt x="0" y="85"/>
                  </a:lnTo>
                  <a:lnTo>
                    <a:pt x="9" y="81"/>
                  </a:lnTo>
                  <a:lnTo>
                    <a:pt x="57" y="81"/>
                  </a:lnTo>
                  <a:lnTo>
                    <a:pt x="57" y="58"/>
                  </a:lnTo>
                  <a:lnTo>
                    <a:pt x="62" y="54"/>
                  </a:lnTo>
                  <a:lnTo>
                    <a:pt x="109" y="54"/>
                  </a:lnTo>
                  <a:lnTo>
                    <a:pt x="109" y="31"/>
                  </a:lnTo>
                  <a:lnTo>
                    <a:pt x="114" y="27"/>
                  </a:lnTo>
                  <a:lnTo>
                    <a:pt x="161" y="27"/>
                  </a:lnTo>
                  <a:lnTo>
                    <a:pt x="161" y="5"/>
                  </a:lnTo>
                  <a:lnTo>
                    <a:pt x="166" y="0"/>
                  </a:lnTo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159" name="Group 18">
            <a:extLst>
              <a:ext uri="{FF2B5EF4-FFF2-40B4-BE49-F238E27FC236}">
                <a16:creationId xmlns:a16="http://schemas.microsoft.com/office/drawing/2014/main" id="{7DAF9B61-14A6-E8AD-A3DE-C5200F2703E1}"/>
              </a:ext>
            </a:extLst>
          </p:cNvPr>
          <p:cNvGrpSpPr>
            <a:grpSpLocks/>
          </p:cNvGrpSpPr>
          <p:nvPr/>
        </p:nvGrpSpPr>
        <p:grpSpPr bwMode="auto">
          <a:xfrm>
            <a:off x="6089650" y="3276600"/>
            <a:ext cx="293688" cy="1341438"/>
            <a:chOff x="3480" y="1872"/>
            <a:chExt cx="167" cy="767"/>
          </a:xfrm>
        </p:grpSpPr>
        <p:sp>
          <p:nvSpPr>
            <p:cNvPr id="6168" name="Freeform 19">
              <a:extLst>
                <a:ext uri="{FF2B5EF4-FFF2-40B4-BE49-F238E27FC236}">
                  <a16:creationId xmlns:a16="http://schemas.microsoft.com/office/drawing/2014/main" id="{22D2141C-B595-6682-C396-3EC3D2DD2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" y="1872"/>
              <a:ext cx="158" cy="83"/>
            </a:xfrm>
            <a:custGeom>
              <a:avLst/>
              <a:gdLst>
                <a:gd name="T0" fmla="*/ 98 w 700"/>
                <a:gd name="T1" fmla="*/ 5 h 369"/>
                <a:gd name="T2" fmla="*/ 99 w 700"/>
                <a:gd name="T3" fmla="*/ 11 h 369"/>
                <a:gd name="T4" fmla="*/ 107 w 700"/>
                <a:gd name="T5" fmla="*/ 15 h 369"/>
                <a:gd name="T6" fmla="*/ 126 w 700"/>
                <a:gd name="T7" fmla="*/ 15 h 369"/>
                <a:gd name="T8" fmla="*/ 128 w 700"/>
                <a:gd name="T9" fmla="*/ 25 h 369"/>
                <a:gd name="T10" fmla="*/ 137 w 700"/>
                <a:gd name="T11" fmla="*/ 58 h 369"/>
                <a:gd name="T12" fmla="*/ 126 w 700"/>
                <a:gd name="T13" fmla="*/ 59 h 369"/>
                <a:gd name="T14" fmla="*/ 108 w 700"/>
                <a:gd name="T15" fmla="*/ 67 h 369"/>
                <a:gd name="T16" fmla="*/ 107 w 700"/>
                <a:gd name="T17" fmla="*/ 72 h 369"/>
                <a:gd name="T18" fmla="*/ 98 w 700"/>
                <a:gd name="T19" fmla="*/ 73 h 369"/>
                <a:gd name="T20" fmla="*/ 60 w 700"/>
                <a:gd name="T21" fmla="*/ 77 h 369"/>
                <a:gd name="T22" fmla="*/ 58 w 700"/>
                <a:gd name="T23" fmla="*/ 72 h 369"/>
                <a:gd name="T24" fmla="*/ 50 w 700"/>
                <a:gd name="T25" fmla="*/ 68 h 369"/>
                <a:gd name="T26" fmla="*/ 30 w 700"/>
                <a:gd name="T27" fmla="*/ 67 h 369"/>
                <a:gd name="T28" fmla="*/ 29 w 700"/>
                <a:gd name="T29" fmla="*/ 58 h 369"/>
                <a:gd name="T30" fmla="*/ 22 w 700"/>
                <a:gd name="T31" fmla="*/ 25 h 369"/>
                <a:gd name="T32" fmla="*/ 30 w 700"/>
                <a:gd name="T33" fmla="*/ 25 h 369"/>
                <a:gd name="T34" fmla="*/ 48 w 700"/>
                <a:gd name="T35" fmla="*/ 15 h 369"/>
                <a:gd name="T36" fmla="*/ 50 w 700"/>
                <a:gd name="T37" fmla="*/ 11 h 369"/>
                <a:gd name="T38" fmla="*/ 60 w 700"/>
                <a:gd name="T39" fmla="*/ 10 h 369"/>
                <a:gd name="T40" fmla="*/ 50 w 700"/>
                <a:gd name="T41" fmla="*/ 0 h 369"/>
                <a:gd name="T42" fmla="*/ 108 w 700"/>
                <a:gd name="T43" fmla="*/ 1 h 369"/>
                <a:gd name="T44" fmla="*/ 126 w 700"/>
                <a:gd name="T45" fmla="*/ 5 h 369"/>
                <a:gd name="T46" fmla="*/ 128 w 700"/>
                <a:gd name="T47" fmla="*/ 10 h 369"/>
                <a:gd name="T48" fmla="*/ 138 w 700"/>
                <a:gd name="T49" fmla="*/ 11 h 369"/>
                <a:gd name="T50" fmla="*/ 146 w 700"/>
                <a:gd name="T51" fmla="*/ 15 h 369"/>
                <a:gd name="T52" fmla="*/ 148 w 700"/>
                <a:gd name="T53" fmla="*/ 25 h 369"/>
                <a:gd name="T54" fmla="*/ 158 w 700"/>
                <a:gd name="T55" fmla="*/ 25 h 369"/>
                <a:gd name="T56" fmla="*/ 156 w 700"/>
                <a:gd name="T57" fmla="*/ 59 h 369"/>
                <a:gd name="T58" fmla="*/ 148 w 700"/>
                <a:gd name="T59" fmla="*/ 67 h 369"/>
                <a:gd name="T60" fmla="*/ 138 w 700"/>
                <a:gd name="T61" fmla="*/ 68 h 369"/>
                <a:gd name="T62" fmla="*/ 137 w 700"/>
                <a:gd name="T63" fmla="*/ 73 h 369"/>
                <a:gd name="T64" fmla="*/ 128 w 700"/>
                <a:gd name="T65" fmla="*/ 77 h 369"/>
                <a:gd name="T66" fmla="*/ 108 w 700"/>
                <a:gd name="T67" fmla="*/ 78 h 369"/>
                <a:gd name="T68" fmla="*/ 107 w 700"/>
                <a:gd name="T69" fmla="*/ 83 h 369"/>
                <a:gd name="T70" fmla="*/ 48 w 700"/>
                <a:gd name="T71" fmla="*/ 82 h 369"/>
                <a:gd name="T72" fmla="*/ 30 w 700"/>
                <a:gd name="T73" fmla="*/ 78 h 369"/>
                <a:gd name="T74" fmla="*/ 29 w 700"/>
                <a:gd name="T75" fmla="*/ 73 h 369"/>
                <a:gd name="T76" fmla="*/ 21 w 700"/>
                <a:gd name="T77" fmla="*/ 72 h 369"/>
                <a:gd name="T78" fmla="*/ 12 w 700"/>
                <a:gd name="T79" fmla="*/ 68 h 369"/>
                <a:gd name="T80" fmla="*/ 10 w 700"/>
                <a:gd name="T81" fmla="*/ 59 h 369"/>
                <a:gd name="T82" fmla="*/ 0 w 700"/>
                <a:gd name="T83" fmla="*/ 58 h 369"/>
                <a:gd name="T84" fmla="*/ 2 w 700"/>
                <a:gd name="T85" fmla="*/ 25 h 369"/>
                <a:gd name="T86" fmla="*/ 10 w 700"/>
                <a:gd name="T87" fmla="*/ 15 h 369"/>
                <a:gd name="T88" fmla="*/ 21 w 700"/>
                <a:gd name="T89" fmla="*/ 15 h 369"/>
                <a:gd name="T90" fmla="*/ 22 w 700"/>
                <a:gd name="T91" fmla="*/ 10 h 369"/>
                <a:gd name="T92" fmla="*/ 29 w 700"/>
                <a:gd name="T93" fmla="*/ 5 h 369"/>
                <a:gd name="T94" fmla="*/ 48 w 700"/>
                <a:gd name="T95" fmla="*/ 5 h 369"/>
                <a:gd name="T96" fmla="*/ 50 w 700"/>
                <a:gd name="T97" fmla="*/ 0 h 36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00"/>
                <a:gd name="T148" fmla="*/ 0 h 369"/>
                <a:gd name="T149" fmla="*/ 700 w 700"/>
                <a:gd name="T150" fmla="*/ 369 h 36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00" h="369">
                  <a:moveTo>
                    <a:pt x="265" y="24"/>
                  </a:moveTo>
                  <a:lnTo>
                    <a:pt x="434" y="24"/>
                  </a:lnTo>
                  <a:lnTo>
                    <a:pt x="434" y="44"/>
                  </a:lnTo>
                  <a:lnTo>
                    <a:pt x="440" y="47"/>
                  </a:lnTo>
                  <a:lnTo>
                    <a:pt x="472" y="47"/>
                  </a:lnTo>
                  <a:lnTo>
                    <a:pt x="472" y="66"/>
                  </a:lnTo>
                  <a:lnTo>
                    <a:pt x="479" y="68"/>
                  </a:lnTo>
                  <a:lnTo>
                    <a:pt x="560" y="68"/>
                  </a:lnTo>
                  <a:lnTo>
                    <a:pt x="560" y="110"/>
                  </a:lnTo>
                  <a:lnTo>
                    <a:pt x="566" y="113"/>
                  </a:lnTo>
                  <a:lnTo>
                    <a:pt x="605" y="113"/>
                  </a:lnTo>
                  <a:lnTo>
                    <a:pt x="605" y="259"/>
                  </a:lnTo>
                  <a:lnTo>
                    <a:pt x="566" y="259"/>
                  </a:lnTo>
                  <a:lnTo>
                    <a:pt x="560" y="263"/>
                  </a:lnTo>
                  <a:lnTo>
                    <a:pt x="560" y="300"/>
                  </a:lnTo>
                  <a:lnTo>
                    <a:pt x="479" y="300"/>
                  </a:lnTo>
                  <a:lnTo>
                    <a:pt x="472" y="303"/>
                  </a:lnTo>
                  <a:lnTo>
                    <a:pt x="472" y="322"/>
                  </a:lnTo>
                  <a:lnTo>
                    <a:pt x="440" y="322"/>
                  </a:lnTo>
                  <a:lnTo>
                    <a:pt x="434" y="325"/>
                  </a:lnTo>
                  <a:lnTo>
                    <a:pt x="434" y="344"/>
                  </a:lnTo>
                  <a:lnTo>
                    <a:pt x="265" y="344"/>
                  </a:lnTo>
                  <a:lnTo>
                    <a:pt x="265" y="325"/>
                  </a:lnTo>
                  <a:lnTo>
                    <a:pt x="259" y="322"/>
                  </a:lnTo>
                  <a:lnTo>
                    <a:pt x="220" y="322"/>
                  </a:lnTo>
                  <a:lnTo>
                    <a:pt x="220" y="303"/>
                  </a:lnTo>
                  <a:lnTo>
                    <a:pt x="214" y="300"/>
                  </a:lnTo>
                  <a:lnTo>
                    <a:pt x="133" y="300"/>
                  </a:lnTo>
                  <a:lnTo>
                    <a:pt x="133" y="263"/>
                  </a:lnTo>
                  <a:lnTo>
                    <a:pt x="129" y="259"/>
                  </a:lnTo>
                  <a:lnTo>
                    <a:pt x="97" y="259"/>
                  </a:lnTo>
                  <a:lnTo>
                    <a:pt x="97" y="113"/>
                  </a:lnTo>
                  <a:lnTo>
                    <a:pt x="129" y="113"/>
                  </a:lnTo>
                  <a:lnTo>
                    <a:pt x="133" y="110"/>
                  </a:lnTo>
                  <a:lnTo>
                    <a:pt x="133" y="68"/>
                  </a:lnTo>
                  <a:lnTo>
                    <a:pt x="214" y="68"/>
                  </a:lnTo>
                  <a:lnTo>
                    <a:pt x="220" y="66"/>
                  </a:lnTo>
                  <a:lnTo>
                    <a:pt x="220" y="47"/>
                  </a:lnTo>
                  <a:lnTo>
                    <a:pt x="259" y="47"/>
                  </a:lnTo>
                  <a:lnTo>
                    <a:pt x="265" y="44"/>
                  </a:lnTo>
                  <a:lnTo>
                    <a:pt x="265" y="24"/>
                  </a:lnTo>
                  <a:close/>
                  <a:moveTo>
                    <a:pt x="220" y="0"/>
                  </a:moveTo>
                  <a:lnTo>
                    <a:pt x="472" y="0"/>
                  </a:lnTo>
                  <a:lnTo>
                    <a:pt x="479" y="3"/>
                  </a:lnTo>
                  <a:lnTo>
                    <a:pt x="479" y="22"/>
                  </a:lnTo>
                  <a:lnTo>
                    <a:pt x="560" y="22"/>
                  </a:lnTo>
                  <a:lnTo>
                    <a:pt x="566" y="24"/>
                  </a:lnTo>
                  <a:lnTo>
                    <a:pt x="566" y="44"/>
                  </a:lnTo>
                  <a:lnTo>
                    <a:pt x="605" y="44"/>
                  </a:lnTo>
                  <a:lnTo>
                    <a:pt x="612" y="47"/>
                  </a:lnTo>
                  <a:lnTo>
                    <a:pt x="612" y="66"/>
                  </a:lnTo>
                  <a:lnTo>
                    <a:pt x="647" y="66"/>
                  </a:lnTo>
                  <a:lnTo>
                    <a:pt x="654" y="68"/>
                  </a:lnTo>
                  <a:lnTo>
                    <a:pt x="654" y="110"/>
                  </a:lnTo>
                  <a:lnTo>
                    <a:pt x="693" y="110"/>
                  </a:lnTo>
                  <a:lnTo>
                    <a:pt x="699" y="113"/>
                  </a:lnTo>
                  <a:lnTo>
                    <a:pt x="699" y="259"/>
                  </a:lnTo>
                  <a:lnTo>
                    <a:pt x="693" y="263"/>
                  </a:lnTo>
                  <a:lnTo>
                    <a:pt x="654" y="263"/>
                  </a:lnTo>
                  <a:lnTo>
                    <a:pt x="654" y="300"/>
                  </a:lnTo>
                  <a:lnTo>
                    <a:pt x="647" y="303"/>
                  </a:lnTo>
                  <a:lnTo>
                    <a:pt x="612" y="303"/>
                  </a:lnTo>
                  <a:lnTo>
                    <a:pt x="612" y="322"/>
                  </a:lnTo>
                  <a:lnTo>
                    <a:pt x="605" y="325"/>
                  </a:lnTo>
                  <a:lnTo>
                    <a:pt x="566" y="325"/>
                  </a:lnTo>
                  <a:lnTo>
                    <a:pt x="566" y="344"/>
                  </a:lnTo>
                  <a:lnTo>
                    <a:pt x="560" y="347"/>
                  </a:lnTo>
                  <a:lnTo>
                    <a:pt x="479" y="347"/>
                  </a:lnTo>
                  <a:lnTo>
                    <a:pt x="479" y="366"/>
                  </a:lnTo>
                  <a:lnTo>
                    <a:pt x="472" y="368"/>
                  </a:lnTo>
                  <a:lnTo>
                    <a:pt x="220" y="368"/>
                  </a:lnTo>
                  <a:lnTo>
                    <a:pt x="214" y="366"/>
                  </a:lnTo>
                  <a:lnTo>
                    <a:pt x="214" y="347"/>
                  </a:lnTo>
                  <a:lnTo>
                    <a:pt x="133" y="347"/>
                  </a:lnTo>
                  <a:lnTo>
                    <a:pt x="129" y="344"/>
                  </a:lnTo>
                  <a:lnTo>
                    <a:pt x="129" y="325"/>
                  </a:lnTo>
                  <a:lnTo>
                    <a:pt x="97" y="325"/>
                  </a:lnTo>
                  <a:lnTo>
                    <a:pt x="91" y="322"/>
                  </a:lnTo>
                  <a:lnTo>
                    <a:pt x="91" y="303"/>
                  </a:lnTo>
                  <a:lnTo>
                    <a:pt x="52" y="303"/>
                  </a:lnTo>
                  <a:lnTo>
                    <a:pt x="45" y="300"/>
                  </a:lnTo>
                  <a:lnTo>
                    <a:pt x="45" y="263"/>
                  </a:lnTo>
                  <a:lnTo>
                    <a:pt x="7" y="263"/>
                  </a:lnTo>
                  <a:lnTo>
                    <a:pt x="0" y="259"/>
                  </a:lnTo>
                  <a:lnTo>
                    <a:pt x="0" y="113"/>
                  </a:lnTo>
                  <a:lnTo>
                    <a:pt x="7" y="110"/>
                  </a:lnTo>
                  <a:lnTo>
                    <a:pt x="45" y="110"/>
                  </a:lnTo>
                  <a:lnTo>
                    <a:pt x="45" y="68"/>
                  </a:lnTo>
                  <a:lnTo>
                    <a:pt x="52" y="66"/>
                  </a:lnTo>
                  <a:lnTo>
                    <a:pt x="91" y="66"/>
                  </a:lnTo>
                  <a:lnTo>
                    <a:pt x="91" y="47"/>
                  </a:lnTo>
                  <a:lnTo>
                    <a:pt x="97" y="44"/>
                  </a:lnTo>
                  <a:lnTo>
                    <a:pt x="129" y="44"/>
                  </a:lnTo>
                  <a:lnTo>
                    <a:pt x="129" y="24"/>
                  </a:lnTo>
                  <a:lnTo>
                    <a:pt x="133" y="22"/>
                  </a:lnTo>
                  <a:lnTo>
                    <a:pt x="214" y="22"/>
                  </a:lnTo>
                  <a:lnTo>
                    <a:pt x="214" y="3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9" name="Freeform 20">
              <a:extLst>
                <a:ext uri="{FF2B5EF4-FFF2-40B4-BE49-F238E27FC236}">
                  <a16:creationId xmlns:a16="http://schemas.microsoft.com/office/drawing/2014/main" id="{9830705E-0CE4-D899-056F-CF9594002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" y="2034"/>
              <a:ext cx="111" cy="58"/>
            </a:xfrm>
            <a:custGeom>
              <a:avLst/>
              <a:gdLst>
                <a:gd name="T0" fmla="*/ 2 w 493"/>
                <a:gd name="T1" fmla="*/ 0 h 261"/>
                <a:gd name="T2" fmla="*/ 29 w 493"/>
                <a:gd name="T3" fmla="*/ 0 h 261"/>
                <a:gd name="T4" fmla="*/ 31 w 493"/>
                <a:gd name="T5" fmla="*/ 1 h 261"/>
                <a:gd name="T6" fmla="*/ 31 w 493"/>
                <a:gd name="T7" fmla="*/ 42 h 261"/>
                <a:gd name="T8" fmla="*/ 39 w 493"/>
                <a:gd name="T9" fmla="*/ 42 h 261"/>
                <a:gd name="T10" fmla="*/ 41 w 493"/>
                <a:gd name="T11" fmla="*/ 43 h 261"/>
                <a:gd name="T12" fmla="*/ 41 w 493"/>
                <a:gd name="T13" fmla="*/ 47 h 261"/>
                <a:gd name="T14" fmla="*/ 70 w 493"/>
                <a:gd name="T15" fmla="*/ 47 h 261"/>
                <a:gd name="T16" fmla="*/ 70 w 493"/>
                <a:gd name="T17" fmla="*/ 43 h 261"/>
                <a:gd name="T18" fmla="*/ 71 w 493"/>
                <a:gd name="T19" fmla="*/ 42 h 261"/>
                <a:gd name="T20" fmla="*/ 80 w 493"/>
                <a:gd name="T21" fmla="*/ 42 h 261"/>
                <a:gd name="T22" fmla="*/ 80 w 493"/>
                <a:gd name="T23" fmla="*/ 5 h 261"/>
                <a:gd name="T24" fmla="*/ 71 w 493"/>
                <a:gd name="T25" fmla="*/ 5 h 261"/>
                <a:gd name="T26" fmla="*/ 70 w 493"/>
                <a:gd name="T27" fmla="*/ 4 h 261"/>
                <a:gd name="T28" fmla="*/ 70 w 493"/>
                <a:gd name="T29" fmla="*/ 1 h 261"/>
                <a:gd name="T30" fmla="*/ 71 w 493"/>
                <a:gd name="T31" fmla="*/ 0 h 261"/>
                <a:gd name="T32" fmla="*/ 101 w 493"/>
                <a:gd name="T33" fmla="*/ 0 h 261"/>
                <a:gd name="T34" fmla="*/ 102 w 493"/>
                <a:gd name="T35" fmla="*/ 1 h 261"/>
                <a:gd name="T36" fmla="*/ 102 w 493"/>
                <a:gd name="T37" fmla="*/ 52 h 261"/>
                <a:gd name="T38" fmla="*/ 109 w 493"/>
                <a:gd name="T39" fmla="*/ 52 h 261"/>
                <a:gd name="T40" fmla="*/ 111 w 493"/>
                <a:gd name="T41" fmla="*/ 53 h 261"/>
                <a:gd name="T42" fmla="*/ 111 w 493"/>
                <a:gd name="T43" fmla="*/ 57 h 261"/>
                <a:gd name="T44" fmla="*/ 109 w 493"/>
                <a:gd name="T45" fmla="*/ 58 h 261"/>
                <a:gd name="T46" fmla="*/ 82 w 493"/>
                <a:gd name="T47" fmla="*/ 58 h 261"/>
                <a:gd name="T48" fmla="*/ 80 w 493"/>
                <a:gd name="T49" fmla="*/ 57 h 261"/>
                <a:gd name="T50" fmla="*/ 80 w 493"/>
                <a:gd name="T51" fmla="*/ 48 h 261"/>
                <a:gd name="T52" fmla="*/ 71 w 493"/>
                <a:gd name="T53" fmla="*/ 48 h 261"/>
                <a:gd name="T54" fmla="*/ 71 w 493"/>
                <a:gd name="T55" fmla="*/ 52 h 261"/>
                <a:gd name="T56" fmla="*/ 70 w 493"/>
                <a:gd name="T57" fmla="*/ 53 h 261"/>
                <a:gd name="T58" fmla="*/ 61 w 493"/>
                <a:gd name="T59" fmla="*/ 53 h 261"/>
                <a:gd name="T60" fmla="*/ 61 w 493"/>
                <a:gd name="T61" fmla="*/ 57 h 261"/>
                <a:gd name="T62" fmla="*/ 60 w 493"/>
                <a:gd name="T63" fmla="*/ 58 h 261"/>
                <a:gd name="T64" fmla="*/ 31 w 493"/>
                <a:gd name="T65" fmla="*/ 58 h 261"/>
                <a:gd name="T66" fmla="*/ 29 w 493"/>
                <a:gd name="T67" fmla="*/ 57 h 261"/>
                <a:gd name="T68" fmla="*/ 29 w 493"/>
                <a:gd name="T69" fmla="*/ 53 h 261"/>
                <a:gd name="T70" fmla="*/ 22 w 493"/>
                <a:gd name="T71" fmla="*/ 53 h 261"/>
                <a:gd name="T72" fmla="*/ 20 w 493"/>
                <a:gd name="T73" fmla="*/ 52 h 261"/>
                <a:gd name="T74" fmla="*/ 20 w 493"/>
                <a:gd name="T75" fmla="*/ 48 h 261"/>
                <a:gd name="T76" fmla="*/ 12 w 493"/>
                <a:gd name="T77" fmla="*/ 48 h 261"/>
                <a:gd name="T78" fmla="*/ 10 w 493"/>
                <a:gd name="T79" fmla="*/ 47 h 261"/>
                <a:gd name="T80" fmla="*/ 10 w 493"/>
                <a:gd name="T81" fmla="*/ 5 h 261"/>
                <a:gd name="T82" fmla="*/ 2 w 493"/>
                <a:gd name="T83" fmla="*/ 5 h 261"/>
                <a:gd name="T84" fmla="*/ 0 w 493"/>
                <a:gd name="T85" fmla="*/ 4 h 261"/>
                <a:gd name="T86" fmla="*/ 0 w 493"/>
                <a:gd name="T87" fmla="*/ 1 h 261"/>
                <a:gd name="T88" fmla="*/ 2 w 493"/>
                <a:gd name="T89" fmla="*/ 0 h 26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93"/>
                <a:gd name="T136" fmla="*/ 0 h 261"/>
                <a:gd name="T137" fmla="*/ 493 w 493"/>
                <a:gd name="T138" fmla="*/ 261 h 26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93" h="261">
                  <a:moveTo>
                    <a:pt x="7" y="0"/>
                  </a:moveTo>
                  <a:lnTo>
                    <a:pt x="130" y="0"/>
                  </a:lnTo>
                  <a:lnTo>
                    <a:pt x="136" y="4"/>
                  </a:lnTo>
                  <a:lnTo>
                    <a:pt x="136" y="191"/>
                  </a:lnTo>
                  <a:lnTo>
                    <a:pt x="175" y="191"/>
                  </a:lnTo>
                  <a:lnTo>
                    <a:pt x="182" y="194"/>
                  </a:lnTo>
                  <a:lnTo>
                    <a:pt x="182" y="212"/>
                  </a:lnTo>
                  <a:lnTo>
                    <a:pt x="311" y="212"/>
                  </a:lnTo>
                  <a:lnTo>
                    <a:pt x="311" y="194"/>
                  </a:lnTo>
                  <a:lnTo>
                    <a:pt x="317" y="191"/>
                  </a:lnTo>
                  <a:lnTo>
                    <a:pt x="356" y="191"/>
                  </a:lnTo>
                  <a:lnTo>
                    <a:pt x="356" y="22"/>
                  </a:lnTo>
                  <a:lnTo>
                    <a:pt x="317" y="22"/>
                  </a:lnTo>
                  <a:lnTo>
                    <a:pt x="311" y="19"/>
                  </a:lnTo>
                  <a:lnTo>
                    <a:pt x="311" y="4"/>
                  </a:lnTo>
                  <a:lnTo>
                    <a:pt x="317" y="0"/>
                  </a:lnTo>
                  <a:lnTo>
                    <a:pt x="447" y="0"/>
                  </a:lnTo>
                  <a:lnTo>
                    <a:pt x="453" y="4"/>
                  </a:lnTo>
                  <a:lnTo>
                    <a:pt x="453" y="234"/>
                  </a:lnTo>
                  <a:lnTo>
                    <a:pt x="486" y="234"/>
                  </a:lnTo>
                  <a:lnTo>
                    <a:pt x="492" y="238"/>
                  </a:lnTo>
                  <a:lnTo>
                    <a:pt x="492" y="256"/>
                  </a:lnTo>
                  <a:lnTo>
                    <a:pt x="486" y="260"/>
                  </a:lnTo>
                  <a:lnTo>
                    <a:pt x="363" y="260"/>
                  </a:lnTo>
                  <a:lnTo>
                    <a:pt x="356" y="256"/>
                  </a:lnTo>
                  <a:lnTo>
                    <a:pt x="356" y="216"/>
                  </a:lnTo>
                  <a:lnTo>
                    <a:pt x="317" y="216"/>
                  </a:lnTo>
                  <a:lnTo>
                    <a:pt x="317" y="234"/>
                  </a:lnTo>
                  <a:lnTo>
                    <a:pt x="311" y="238"/>
                  </a:lnTo>
                  <a:lnTo>
                    <a:pt x="272" y="238"/>
                  </a:lnTo>
                  <a:lnTo>
                    <a:pt x="272" y="256"/>
                  </a:lnTo>
                  <a:lnTo>
                    <a:pt x="266" y="260"/>
                  </a:lnTo>
                  <a:lnTo>
                    <a:pt x="136" y="260"/>
                  </a:lnTo>
                  <a:lnTo>
                    <a:pt x="130" y="256"/>
                  </a:lnTo>
                  <a:lnTo>
                    <a:pt x="130" y="238"/>
                  </a:lnTo>
                  <a:lnTo>
                    <a:pt x="97" y="238"/>
                  </a:lnTo>
                  <a:lnTo>
                    <a:pt x="91" y="234"/>
                  </a:lnTo>
                  <a:lnTo>
                    <a:pt x="91" y="216"/>
                  </a:lnTo>
                  <a:lnTo>
                    <a:pt x="52" y="216"/>
                  </a:lnTo>
                  <a:lnTo>
                    <a:pt x="46" y="212"/>
                  </a:lnTo>
                  <a:lnTo>
                    <a:pt x="46" y="22"/>
                  </a:lnTo>
                  <a:lnTo>
                    <a:pt x="7" y="22"/>
                  </a:lnTo>
                  <a:lnTo>
                    <a:pt x="0" y="19"/>
                  </a:lnTo>
                  <a:lnTo>
                    <a:pt x="0" y="4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70" name="Freeform 21">
              <a:extLst>
                <a:ext uri="{FF2B5EF4-FFF2-40B4-BE49-F238E27FC236}">
                  <a16:creationId xmlns:a16="http://schemas.microsoft.com/office/drawing/2014/main" id="{4118974C-1A04-4929-34F9-874FD889E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2156"/>
              <a:ext cx="70" cy="73"/>
            </a:xfrm>
            <a:custGeom>
              <a:avLst/>
              <a:gdLst>
                <a:gd name="T0" fmla="*/ 31 w 312"/>
                <a:gd name="T1" fmla="*/ 0 h 326"/>
                <a:gd name="T2" fmla="*/ 38 w 312"/>
                <a:gd name="T3" fmla="*/ 0 h 326"/>
                <a:gd name="T4" fmla="*/ 40 w 312"/>
                <a:gd name="T5" fmla="*/ 1 h 326"/>
                <a:gd name="T6" fmla="*/ 40 w 312"/>
                <a:gd name="T7" fmla="*/ 15 h 326"/>
                <a:gd name="T8" fmla="*/ 68 w 312"/>
                <a:gd name="T9" fmla="*/ 15 h 326"/>
                <a:gd name="T10" fmla="*/ 70 w 312"/>
                <a:gd name="T11" fmla="*/ 15 h 326"/>
                <a:gd name="T12" fmla="*/ 70 w 312"/>
                <a:gd name="T13" fmla="*/ 19 h 326"/>
                <a:gd name="T14" fmla="*/ 68 w 312"/>
                <a:gd name="T15" fmla="*/ 20 h 326"/>
                <a:gd name="T16" fmla="*/ 40 w 312"/>
                <a:gd name="T17" fmla="*/ 20 h 326"/>
                <a:gd name="T18" fmla="*/ 40 w 312"/>
                <a:gd name="T19" fmla="*/ 67 h 326"/>
                <a:gd name="T20" fmla="*/ 58 w 312"/>
                <a:gd name="T21" fmla="*/ 67 h 326"/>
                <a:gd name="T22" fmla="*/ 58 w 312"/>
                <a:gd name="T23" fmla="*/ 63 h 326"/>
                <a:gd name="T24" fmla="*/ 59 w 312"/>
                <a:gd name="T25" fmla="*/ 62 h 326"/>
                <a:gd name="T26" fmla="*/ 68 w 312"/>
                <a:gd name="T27" fmla="*/ 62 h 326"/>
                <a:gd name="T28" fmla="*/ 70 w 312"/>
                <a:gd name="T29" fmla="*/ 63 h 326"/>
                <a:gd name="T30" fmla="*/ 70 w 312"/>
                <a:gd name="T31" fmla="*/ 67 h 326"/>
                <a:gd name="T32" fmla="*/ 68 w 312"/>
                <a:gd name="T33" fmla="*/ 68 h 326"/>
                <a:gd name="T34" fmla="*/ 59 w 312"/>
                <a:gd name="T35" fmla="*/ 68 h 326"/>
                <a:gd name="T36" fmla="*/ 59 w 312"/>
                <a:gd name="T37" fmla="*/ 72 h 326"/>
                <a:gd name="T38" fmla="*/ 58 w 312"/>
                <a:gd name="T39" fmla="*/ 73 h 326"/>
                <a:gd name="T40" fmla="*/ 31 w 312"/>
                <a:gd name="T41" fmla="*/ 73 h 326"/>
                <a:gd name="T42" fmla="*/ 30 w 312"/>
                <a:gd name="T43" fmla="*/ 72 h 326"/>
                <a:gd name="T44" fmla="*/ 30 w 312"/>
                <a:gd name="T45" fmla="*/ 68 h 326"/>
                <a:gd name="T46" fmla="*/ 21 w 312"/>
                <a:gd name="T47" fmla="*/ 68 h 326"/>
                <a:gd name="T48" fmla="*/ 20 w 312"/>
                <a:gd name="T49" fmla="*/ 67 h 326"/>
                <a:gd name="T50" fmla="*/ 20 w 312"/>
                <a:gd name="T51" fmla="*/ 20 h 326"/>
                <a:gd name="T52" fmla="*/ 1 w 312"/>
                <a:gd name="T53" fmla="*/ 20 h 326"/>
                <a:gd name="T54" fmla="*/ 0 w 312"/>
                <a:gd name="T55" fmla="*/ 19 h 326"/>
                <a:gd name="T56" fmla="*/ 0 w 312"/>
                <a:gd name="T57" fmla="*/ 15 h 326"/>
                <a:gd name="T58" fmla="*/ 1 w 312"/>
                <a:gd name="T59" fmla="*/ 15 h 326"/>
                <a:gd name="T60" fmla="*/ 10 w 312"/>
                <a:gd name="T61" fmla="*/ 15 h 326"/>
                <a:gd name="T62" fmla="*/ 10 w 312"/>
                <a:gd name="T63" fmla="*/ 11 h 326"/>
                <a:gd name="T64" fmla="*/ 12 w 312"/>
                <a:gd name="T65" fmla="*/ 10 h 326"/>
                <a:gd name="T66" fmla="*/ 20 w 312"/>
                <a:gd name="T67" fmla="*/ 10 h 326"/>
                <a:gd name="T68" fmla="*/ 20 w 312"/>
                <a:gd name="T69" fmla="*/ 6 h 326"/>
                <a:gd name="T70" fmla="*/ 21 w 312"/>
                <a:gd name="T71" fmla="*/ 5 h 326"/>
                <a:gd name="T72" fmla="*/ 30 w 312"/>
                <a:gd name="T73" fmla="*/ 5 h 326"/>
                <a:gd name="T74" fmla="*/ 30 w 312"/>
                <a:gd name="T75" fmla="*/ 1 h 326"/>
                <a:gd name="T76" fmla="*/ 31 w 312"/>
                <a:gd name="T77" fmla="*/ 0 h 32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12"/>
                <a:gd name="T118" fmla="*/ 0 h 326"/>
                <a:gd name="T119" fmla="*/ 312 w 312"/>
                <a:gd name="T120" fmla="*/ 326 h 32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12" h="326">
                  <a:moveTo>
                    <a:pt x="139" y="0"/>
                  </a:moveTo>
                  <a:lnTo>
                    <a:pt x="171" y="0"/>
                  </a:lnTo>
                  <a:lnTo>
                    <a:pt x="178" y="3"/>
                  </a:lnTo>
                  <a:lnTo>
                    <a:pt x="178" y="66"/>
                  </a:lnTo>
                  <a:lnTo>
                    <a:pt x="304" y="66"/>
                  </a:lnTo>
                  <a:lnTo>
                    <a:pt x="311" y="69"/>
                  </a:lnTo>
                  <a:lnTo>
                    <a:pt x="311" y="84"/>
                  </a:lnTo>
                  <a:lnTo>
                    <a:pt x="304" y="88"/>
                  </a:lnTo>
                  <a:lnTo>
                    <a:pt x="178" y="88"/>
                  </a:lnTo>
                  <a:lnTo>
                    <a:pt x="178" y="301"/>
                  </a:lnTo>
                  <a:lnTo>
                    <a:pt x="259" y="301"/>
                  </a:lnTo>
                  <a:lnTo>
                    <a:pt x="259" y="281"/>
                  </a:lnTo>
                  <a:lnTo>
                    <a:pt x="265" y="279"/>
                  </a:lnTo>
                  <a:lnTo>
                    <a:pt x="304" y="279"/>
                  </a:lnTo>
                  <a:lnTo>
                    <a:pt x="311" y="281"/>
                  </a:lnTo>
                  <a:lnTo>
                    <a:pt x="311" y="301"/>
                  </a:lnTo>
                  <a:lnTo>
                    <a:pt x="304" y="303"/>
                  </a:lnTo>
                  <a:lnTo>
                    <a:pt x="265" y="303"/>
                  </a:lnTo>
                  <a:lnTo>
                    <a:pt x="265" y="321"/>
                  </a:lnTo>
                  <a:lnTo>
                    <a:pt x="259" y="325"/>
                  </a:lnTo>
                  <a:lnTo>
                    <a:pt x="139" y="325"/>
                  </a:lnTo>
                  <a:lnTo>
                    <a:pt x="133" y="321"/>
                  </a:lnTo>
                  <a:lnTo>
                    <a:pt x="133" y="303"/>
                  </a:lnTo>
                  <a:lnTo>
                    <a:pt x="94" y="303"/>
                  </a:lnTo>
                  <a:lnTo>
                    <a:pt x="91" y="301"/>
                  </a:lnTo>
                  <a:lnTo>
                    <a:pt x="91" y="88"/>
                  </a:lnTo>
                  <a:lnTo>
                    <a:pt x="6" y="88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6" y="66"/>
                  </a:lnTo>
                  <a:lnTo>
                    <a:pt x="45" y="66"/>
                  </a:lnTo>
                  <a:lnTo>
                    <a:pt x="45" y="47"/>
                  </a:lnTo>
                  <a:lnTo>
                    <a:pt x="52" y="44"/>
                  </a:lnTo>
                  <a:lnTo>
                    <a:pt x="91" y="44"/>
                  </a:lnTo>
                  <a:lnTo>
                    <a:pt x="91" y="25"/>
                  </a:lnTo>
                  <a:lnTo>
                    <a:pt x="94" y="23"/>
                  </a:lnTo>
                  <a:lnTo>
                    <a:pt x="133" y="23"/>
                  </a:lnTo>
                  <a:lnTo>
                    <a:pt x="133" y="3"/>
                  </a:lnTo>
                  <a:lnTo>
                    <a:pt x="139" y="0"/>
                  </a:lnTo>
                </a:path>
              </a:pathLst>
            </a:cu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71" name="Freeform 22">
              <a:extLst>
                <a:ext uri="{FF2B5EF4-FFF2-40B4-BE49-F238E27FC236}">
                  <a16:creationId xmlns:a16="http://schemas.microsoft.com/office/drawing/2014/main" id="{F943ACED-5B51-8FC8-035B-0B8854690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" y="2308"/>
              <a:ext cx="98" cy="82"/>
            </a:xfrm>
            <a:custGeom>
              <a:avLst/>
              <a:gdLst>
                <a:gd name="T0" fmla="*/ 58 w 435"/>
                <a:gd name="T1" fmla="*/ 5 h 366"/>
                <a:gd name="T2" fmla="*/ 59 w 435"/>
                <a:gd name="T3" fmla="*/ 10 h 366"/>
                <a:gd name="T4" fmla="*/ 67 w 435"/>
                <a:gd name="T5" fmla="*/ 14 h 366"/>
                <a:gd name="T6" fmla="*/ 77 w 435"/>
                <a:gd name="T7" fmla="*/ 15 h 366"/>
                <a:gd name="T8" fmla="*/ 68 w 435"/>
                <a:gd name="T9" fmla="*/ 43 h 366"/>
                <a:gd name="T10" fmla="*/ 67 w 435"/>
                <a:gd name="T11" fmla="*/ 47 h 366"/>
                <a:gd name="T12" fmla="*/ 58 w 435"/>
                <a:gd name="T13" fmla="*/ 48 h 366"/>
                <a:gd name="T14" fmla="*/ 39 w 435"/>
                <a:gd name="T15" fmla="*/ 52 h 366"/>
                <a:gd name="T16" fmla="*/ 38 w 435"/>
                <a:gd name="T17" fmla="*/ 47 h 366"/>
                <a:gd name="T18" fmla="*/ 30 w 435"/>
                <a:gd name="T19" fmla="*/ 10 h 366"/>
                <a:gd name="T20" fmla="*/ 39 w 435"/>
                <a:gd name="T21" fmla="*/ 9 h 366"/>
                <a:gd name="T22" fmla="*/ 2 w 435"/>
                <a:gd name="T23" fmla="*/ 0 h 366"/>
                <a:gd name="T24" fmla="*/ 30 w 435"/>
                <a:gd name="T25" fmla="*/ 0 h 366"/>
                <a:gd name="T26" fmla="*/ 38 w 435"/>
                <a:gd name="T27" fmla="*/ 4 h 366"/>
                <a:gd name="T28" fmla="*/ 39 w 435"/>
                <a:gd name="T29" fmla="*/ 0 h 366"/>
                <a:gd name="T30" fmla="*/ 68 w 435"/>
                <a:gd name="T31" fmla="*/ 0 h 366"/>
                <a:gd name="T32" fmla="*/ 87 w 435"/>
                <a:gd name="T33" fmla="*/ 4 h 366"/>
                <a:gd name="T34" fmla="*/ 88 w 435"/>
                <a:gd name="T35" fmla="*/ 14 h 366"/>
                <a:gd name="T36" fmla="*/ 98 w 435"/>
                <a:gd name="T37" fmla="*/ 15 h 366"/>
                <a:gd name="T38" fmla="*/ 96 w 435"/>
                <a:gd name="T39" fmla="*/ 43 h 366"/>
                <a:gd name="T40" fmla="*/ 88 w 435"/>
                <a:gd name="T41" fmla="*/ 52 h 366"/>
                <a:gd name="T42" fmla="*/ 68 w 435"/>
                <a:gd name="T43" fmla="*/ 53 h 366"/>
                <a:gd name="T44" fmla="*/ 67 w 435"/>
                <a:gd name="T45" fmla="*/ 58 h 366"/>
                <a:gd name="T46" fmla="*/ 38 w 435"/>
                <a:gd name="T47" fmla="*/ 57 h 366"/>
                <a:gd name="T48" fmla="*/ 30 w 435"/>
                <a:gd name="T49" fmla="*/ 53 h 366"/>
                <a:gd name="T50" fmla="*/ 38 w 435"/>
                <a:gd name="T51" fmla="*/ 76 h 366"/>
                <a:gd name="T52" fmla="*/ 39 w 435"/>
                <a:gd name="T53" fmla="*/ 81 h 366"/>
                <a:gd name="T54" fmla="*/ 2 w 435"/>
                <a:gd name="T55" fmla="*/ 82 h 366"/>
                <a:gd name="T56" fmla="*/ 0 w 435"/>
                <a:gd name="T57" fmla="*/ 77 h 366"/>
                <a:gd name="T58" fmla="*/ 10 w 435"/>
                <a:gd name="T59" fmla="*/ 76 h 366"/>
                <a:gd name="T60" fmla="*/ 2 w 435"/>
                <a:gd name="T61" fmla="*/ 5 h 366"/>
                <a:gd name="T62" fmla="*/ 0 w 435"/>
                <a:gd name="T63" fmla="*/ 0 h 3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35"/>
                <a:gd name="T97" fmla="*/ 0 h 366"/>
                <a:gd name="T98" fmla="*/ 435 w 435"/>
                <a:gd name="T99" fmla="*/ 366 h 36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35" h="366">
                  <a:moveTo>
                    <a:pt x="175" y="21"/>
                  </a:moveTo>
                  <a:lnTo>
                    <a:pt x="256" y="21"/>
                  </a:lnTo>
                  <a:lnTo>
                    <a:pt x="256" y="41"/>
                  </a:lnTo>
                  <a:lnTo>
                    <a:pt x="262" y="43"/>
                  </a:lnTo>
                  <a:lnTo>
                    <a:pt x="298" y="43"/>
                  </a:lnTo>
                  <a:lnTo>
                    <a:pt x="298" y="61"/>
                  </a:lnTo>
                  <a:lnTo>
                    <a:pt x="304" y="65"/>
                  </a:lnTo>
                  <a:lnTo>
                    <a:pt x="343" y="65"/>
                  </a:lnTo>
                  <a:lnTo>
                    <a:pt x="343" y="190"/>
                  </a:lnTo>
                  <a:lnTo>
                    <a:pt x="304" y="190"/>
                  </a:lnTo>
                  <a:lnTo>
                    <a:pt x="298" y="193"/>
                  </a:lnTo>
                  <a:lnTo>
                    <a:pt x="298" y="212"/>
                  </a:lnTo>
                  <a:lnTo>
                    <a:pt x="262" y="212"/>
                  </a:lnTo>
                  <a:lnTo>
                    <a:pt x="256" y="215"/>
                  </a:lnTo>
                  <a:lnTo>
                    <a:pt x="256" y="234"/>
                  </a:lnTo>
                  <a:lnTo>
                    <a:pt x="175" y="234"/>
                  </a:lnTo>
                  <a:lnTo>
                    <a:pt x="175" y="215"/>
                  </a:lnTo>
                  <a:lnTo>
                    <a:pt x="168" y="212"/>
                  </a:lnTo>
                  <a:lnTo>
                    <a:pt x="133" y="212"/>
                  </a:lnTo>
                  <a:lnTo>
                    <a:pt x="133" y="43"/>
                  </a:lnTo>
                  <a:lnTo>
                    <a:pt x="168" y="43"/>
                  </a:lnTo>
                  <a:lnTo>
                    <a:pt x="175" y="41"/>
                  </a:lnTo>
                  <a:lnTo>
                    <a:pt x="175" y="21"/>
                  </a:lnTo>
                  <a:close/>
                  <a:moveTo>
                    <a:pt x="7" y="0"/>
                  </a:moveTo>
                  <a:lnTo>
                    <a:pt x="126" y="0"/>
                  </a:lnTo>
                  <a:lnTo>
                    <a:pt x="133" y="2"/>
                  </a:lnTo>
                  <a:lnTo>
                    <a:pt x="133" y="17"/>
                  </a:lnTo>
                  <a:lnTo>
                    <a:pt x="168" y="17"/>
                  </a:lnTo>
                  <a:lnTo>
                    <a:pt x="168" y="2"/>
                  </a:lnTo>
                  <a:lnTo>
                    <a:pt x="175" y="0"/>
                  </a:lnTo>
                  <a:lnTo>
                    <a:pt x="298" y="0"/>
                  </a:lnTo>
                  <a:lnTo>
                    <a:pt x="304" y="2"/>
                  </a:lnTo>
                  <a:lnTo>
                    <a:pt x="304" y="17"/>
                  </a:lnTo>
                  <a:lnTo>
                    <a:pt x="385" y="17"/>
                  </a:lnTo>
                  <a:lnTo>
                    <a:pt x="392" y="21"/>
                  </a:lnTo>
                  <a:lnTo>
                    <a:pt x="392" y="61"/>
                  </a:lnTo>
                  <a:lnTo>
                    <a:pt x="427" y="61"/>
                  </a:lnTo>
                  <a:lnTo>
                    <a:pt x="434" y="65"/>
                  </a:lnTo>
                  <a:lnTo>
                    <a:pt x="434" y="190"/>
                  </a:lnTo>
                  <a:lnTo>
                    <a:pt x="427" y="193"/>
                  </a:lnTo>
                  <a:lnTo>
                    <a:pt x="392" y="193"/>
                  </a:lnTo>
                  <a:lnTo>
                    <a:pt x="392" y="234"/>
                  </a:lnTo>
                  <a:lnTo>
                    <a:pt x="385" y="237"/>
                  </a:lnTo>
                  <a:lnTo>
                    <a:pt x="304" y="237"/>
                  </a:lnTo>
                  <a:lnTo>
                    <a:pt x="304" y="256"/>
                  </a:lnTo>
                  <a:lnTo>
                    <a:pt x="298" y="258"/>
                  </a:lnTo>
                  <a:lnTo>
                    <a:pt x="175" y="258"/>
                  </a:lnTo>
                  <a:lnTo>
                    <a:pt x="168" y="256"/>
                  </a:lnTo>
                  <a:lnTo>
                    <a:pt x="168" y="237"/>
                  </a:lnTo>
                  <a:lnTo>
                    <a:pt x="133" y="237"/>
                  </a:lnTo>
                  <a:lnTo>
                    <a:pt x="133" y="340"/>
                  </a:lnTo>
                  <a:lnTo>
                    <a:pt x="168" y="340"/>
                  </a:lnTo>
                  <a:lnTo>
                    <a:pt x="175" y="344"/>
                  </a:lnTo>
                  <a:lnTo>
                    <a:pt x="175" y="361"/>
                  </a:lnTo>
                  <a:lnTo>
                    <a:pt x="168" y="365"/>
                  </a:lnTo>
                  <a:lnTo>
                    <a:pt x="7" y="365"/>
                  </a:lnTo>
                  <a:lnTo>
                    <a:pt x="0" y="361"/>
                  </a:lnTo>
                  <a:lnTo>
                    <a:pt x="0" y="344"/>
                  </a:lnTo>
                  <a:lnTo>
                    <a:pt x="7" y="340"/>
                  </a:lnTo>
                  <a:lnTo>
                    <a:pt x="45" y="340"/>
                  </a:lnTo>
                  <a:lnTo>
                    <a:pt x="45" y="21"/>
                  </a:lnTo>
                  <a:lnTo>
                    <a:pt x="7" y="21"/>
                  </a:lnTo>
                  <a:lnTo>
                    <a:pt x="0" y="17"/>
                  </a:lnTo>
                  <a:lnTo>
                    <a:pt x="0" y="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72" name="Freeform 23">
              <a:extLst>
                <a:ext uri="{FF2B5EF4-FFF2-40B4-BE49-F238E27FC236}">
                  <a16:creationId xmlns:a16="http://schemas.microsoft.com/office/drawing/2014/main" id="{1D0FDCD9-B5D9-12C0-8693-6DBA807B2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" y="2444"/>
              <a:ext cx="111" cy="58"/>
            </a:xfrm>
            <a:custGeom>
              <a:avLst/>
              <a:gdLst>
                <a:gd name="T0" fmla="*/ 2 w 493"/>
                <a:gd name="T1" fmla="*/ 0 h 261"/>
                <a:gd name="T2" fmla="*/ 29 w 493"/>
                <a:gd name="T3" fmla="*/ 0 h 261"/>
                <a:gd name="T4" fmla="*/ 31 w 493"/>
                <a:gd name="T5" fmla="*/ 1 h 261"/>
                <a:gd name="T6" fmla="*/ 31 w 493"/>
                <a:gd name="T7" fmla="*/ 42 h 261"/>
                <a:gd name="T8" fmla="*/ 39 w 493"/>
                <a:gd name="T9" fmla="*/ 42 h 261"/>
                <a:gd name="T10" fmla="*/ 41 w 493"/>
                <a:gd name="T11" fmla="*/ 43 h 261"/>
                <a:gd name="T12" fmla="*/ 41 w 493"/>
                <a:gd name="T13" fmla="*/ 47 h 261"/>
                <a:gd name="T14" fmla="*/ 70 w 493"/>
                <a:gd name="T15" fmla="*/ 47 h 261"/>
                <a:gd name="T16" fmla="*/ 70 w 493"/>
                <a:gd name="T17" fmla="*/ 43 h 261"/>
                <a:gd name="T18" fmla="*/ 71 w 493"/>
                <a:gd name="T19" fmla="*/ 42 h 261"/>
                <a:gd name="T20" fmla="*/ 80 w 493"/>
                <a:gd name="T21" fmla="*/ 42 h 261"/>
                <a:gd name="T22" fmla="*/ 80 w 493"/>
                <a:gd name="T23" fmla="*/ 5 h 261"/>
                <a:gd name="T24" fmla="*/ 71 w 493"/>
                <a:gd name="T25" fmla="*/ 5 h 261"/>
                <a:gd name="T26" fmla="*/ 70 w 493"/>
                <a:gd name="T27" fmla="*/ 4 h 261"/>
                <a:gd name="T28" fmla="*/ 70 w 493"/>
                <a:gd name="T29" fmla="*/ 1 h 261"/>
                <a:gd name="T30" fmla="*/ 71 w 493"/>
                <a:gd name="T31" fmla="*/ 0 h 261"/>
                <a:gd name="T32" fmla="*/ 101 w 493"/>
                <a:gd name="T33" fmla="*/ 0 h 261"/>
                <a:gd name="T34" fmla="*/ 102 w 493"/>
                <a:gd name="T35" fmla="*/ 1 h 261"/>
                <a:gd name="T36" fmla="*/ 102 w 493"/>
                <a:gd name="T37" fmla="*/ 52 h 261"/>
                <a:gd name="T38" fmla="*/ 109 w 493"/>
                <a:gd name="T39" fmla="*/ 52 h 261"/>
                <a:gd name="T40" fmla="*/ 111 w 493"/>
                <a:gd name="T41" fmla="*/ 53 h 261"/>
                <a:gd name="T42" fmla="*/ 111 w 493"/>
                <a:gd name="T43" fmla="*/ 57 h 261"/>
                <a:gd name="T44" fmla="*/ 109 w 493"/>
                <a:gd name="T45" fmla="*/ 58 h 261"/>
                <a:gd name="T46" fmla="*/ 82 w 493"/>
                <a:gd name="T47" fmla="*/ 58 h 261"/>
                <a:gd name="T48" fmla="*/ 80 w 493"/>
                <a:gd name="T49" fmla="*/ 57 h 261"/>
                <a:gd name="T50" fmla="*/ 80 w 493"/>
                <a:gd name="T51" fmla="*/ 48 h 261"/>
                <a:gd name="T52" fmla="*/ 71 w 493"/>
                <a:gd name="T53" fmla="*/ 48 h 261"/>
                <a:gd name="T54" fmla="*/ 71 w 493"/>
                <a:gd name="T55" fmla="*/ 52 h 261"/>
                <a:gd name="T56" fmla="*/ 70 w 493"/>
                <a:gd name="T57" fmla="*/ 53 h 261"/>
                <a:gd name="T58" fmla="*/ 61 w 493"/>
                <a:gd name="T59" fmla="*/ 53 h 261"/>
                <a:gd name="T60" fmla="*/ 61 w 493"/>
                <a:gd name="T61" fmla="*/ 57 h 261"/>
                <a:gd name="T62" fmla="*/ 60 w 493"/>
                <a:gd name="T63" fmla="*/ 58 h 261"/>
                <a:gd name="T64" fmla="*/ 31 w 493"/>
                <a:gd name="T65" fmla="*/ 58 h 261"/>
                <a:gd name="T66" fmla="*/ 29 w 493"/>
                <a:gd name="T67" fmla="*/ 57 h 261"/>
                <a:gd name="T68" fmla="*/ 29 w 493"/>
                <a:gd name="T69" fmla="*/ 53 h 261"/>
                <a:gd name="T70" fmla="*/ 22 w 493"/>
                <a:gd name="T71" fmla="*/ 53 h 261"/>
                <a:gd name="T72" fmla="*/ 20 w 493"/>
                <a:gd name="T73" fmla="*/ 52 h 261"/>
                <a:gd name="T74" fmla="*/ 20 w 493"/>
                <a:gd name="T75" fmla="*/ 48 h 261"/>
                <a:gd name="T76" fmla="*/ 12 w 493"/>
                <a:gd name="T77" fmla="*/ 48 h 261"/>
                <a:gd name="T78" fmla="*/ 10 w 493"/>
                <a:gd name="T79" fmla="*/ 47 h 261"/>
                <a:gd name="T80" fmla="*/ 10 w 493"/>
                <a:gd name="T81" fmla="*/ 5 h 261"/>
                <a:gd name="T82" fmla="*/ 2 w 493"/>
                <a:gd name="T83" fmla="*/ 5 h 261"/>
                <a:gd name="T84" fmla="*/ 0 w 493"/>
                <a:gd name="T85" fmla="*/ 4 h 261"/>
                <a:gd name="T86" fmla="*/ 0 w 493"/>
                <a:gd name="T87" fmla="*/ 1 h 261"/>
                <a:gd name="T88" fmla="*/ 2 w 493"/>
                <a:gd name="T89" fmla="*/ 0 h 26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93"/>
                <a:gd name="T136" fmla="*/ 0 h 261"/>
                <a:gd name="T137" fmla="*/ 493 w 493"/>
                <a:gd name="T138" fmla="*/ 261 h 26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93" h="261">
                  <a:moveTo>
                    <a:pt x="7" y="0"/>
                  </a:moveTo>
                  <a:lnTo>
                    <a:pt x="130" y="0"/>
                  </a:lnTo>
                  <a:lnTo>
                    <a:pt x="136" y="4"/>
                  </a:lnTo>
                  <a:lnTo>
                    <a:pt x="136" y="190"/>
                  </a:lnTo>
                  <a:lnTo>
                    <a:pt x="175" y="190"/>
                  </a:lnTo>
                  <a:lnTo>
                    <a:pt x="182" y="194"/>
                  </a:lnTo>
                  <a:lnTo>
                    <a:pt x="182" y="212"/>
                  </a:lnTo>
                  <a:lnTo>
                    <a:pt x="311" y="212"/>
                  </a:lnTo>
                  <a:lnTo>
                    <a:pt x="311" y="194"/>
                  </a:lnTo>
                  <a:lnTo>
                    <a:pt x="317" y="190"/>
                  </a:lnTo>
                  <a:lnTo>
                    <a:pt x="356" y="190"/>
                  </a:lnTo>
                  <a:lnTo>
                    <a:pt x="356" y="21"/>
                  </a:lnTo>
                  <a:lnTo>
                    <a:pt x="317" y="21"/>
                  </a:lnTo>
                  <a:lnTo>
                    <a:pt x="311" y="19"/>
                  </a:lnTo>
                  <a:lnTo>
                    <a:pt x="311" y="4"/>
                  </a:lnTo>
                  <a:lnTo>
                    <a:pt x="317" y="0"/>
                  </a:lnTo>
                  <a:lnTo>
                    <a:pt x="447" y="0"/>
                  </a:lnTo>
                  <a:lnTo>
                    <a:pt x="453" y="4"/>
                  </a:lnTo>
                  <a:lnTo>
                    <a:pt x="453" y="234"/>
                  </a:lnTo>
                  <a:lnTo>
                    <a:pt x="486" y="234"/>
                  </a:lnTo>
                  <a:lnTo>
                    <a:pt x="492" y="238"/>
                  </a:lnTo>
                  <a:lnTo>
                    <a:pt x="492" y="256"/>
                  </a:lnTo>
                  <a:lnTo>
                    <a:pt x="486" y="260"/>
                  </a:lnTo>
                  <a:lnTo>
                    <a:pt x="363" y="260"/>
                  </a:lnTo>
                  <a:lnTo>
                    <a:pt x="356" y="256"/>
                  </a:lnTo>
                  <a:lnTo>
                    <a:pt x="356" y="216"/>
                  </a:lnTo>
                  <a:lnTo>
                    <a:pt x="317" y="216"/>
                  </a:lnTo>
                  <a:lnTo>
                    <a:pt x="317" y="234"/>
                  </a:lnTo>
                  <a:lnTo>
                    <a:pt x="311" y="238"/>
                  </a:lnTo>
                  <a:lnTo>
                    <a:pt x="272" y="238"/>
                  </a:lnTo>
                  <a:lnTo>
                    <a:pt x="272" y="256"/>
                  </a:lnTo>
                  <a:lnTo>
                    <a:pt x="266" y="260"/>
                  </a:lnTo>
                  <a:lnTo>
                    <a:pt x="136" y="260"/>
                  </a:lnTo>
                  <a:lnTo>
                    <a:pt x="130" y="256"/>
                  </a:lnTo>
                  <a:lnTo>
                    <a:pt x="130" y="238"/>
                  </a:lnTo>
                  <a:lnTo>
                    <a:pt x="97" y="238"/>
                  </a:lnTo>
                  <a:lnTo>
                    <a:pt x="91" y="234"/>
                  </a:lnTo>
                  <a:lnTo>
                    <a:pt x="91" y="216"/>
                  </a:lnTo>
                  <a:lnTo>
                    <a:pt x="52" y="216"/>
                  </a:lnTo>
                  <a:lnTo>
                    <a:pt x="46" y="212"/>
                  </a:lnTo>
                  <a:lnTo>
                    <a:pt x="46" y="21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4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73" name="Freeform 24">
              <a:extLst>
                <a:ext uri="{FF2B5EF4-FFF2-40B4-BE49-F238E27FC236}">
                  <a16:creationId xmlns:a16="http://schemas.microsoft.com/office/drawing/2014/main" id="{3F1D3741-A187-B8BD-B432-5C8620FD9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2566"/>
              <a:ext cx="70" cy="73"/>
            </a:xfrm>
            <a:custGeom>
              <a:avLst/>
              <a:gdLst>
                <a:gd name="T0" fmla="*/ 31 w 312"/>
                <a:gd name="T1" fmla="*/ 0 h 326"/>
                <a:gd name="T2" fmla="*/ 38 w 312"/>
                <a:gd name="T3" fmla="*/ 0 h 326"/>
                <a:gd name="T4" fmla="*/ 40 w 312"/>
                <a:gd name="T5" fmla="*/ 1 h 326"/>
                <a:gd name="T6" fmla="*/ 40 w 312"/>
                <a:gd name="T7" fmla="*/ 15 h 326"/>
                <a:gd name="T8" fmla="*/ 68 w 312"/>
                <a:gd name="T9" fmla="*/ 15 h 326"/>
                <a:gd name="T10" fmla="*/ 70 w 312"/>
                <a:gd name="T11" fmla="*/ 15 h 326"/>
                <a:gd name="T12" fmla="*/ 70 w 312"/>
                <a:gd name="T13" fmla="*/ 19 h 326"/>
                <a:gd name="T14" fmla="*/ 68 w 312"/>
                <a:gd name="T15" fmla="*/ 20 h 326"/>
                <a:gd name="T16" fmla="*/ 40 w 312"/>
                <a:gd name="T17" fmla="*/ 20 h 326"/>
                <a:gd name="T18" fmla="*/ 40 w 312"/>
                <a:gd name="T19" fmla="*/ 67 h 326"/>
                <a:gd name="T20" fmla="*/ 58 w 312"/>
                <a:gd name="T21" fmla="*/ 67 h 326"/>
                <a:gd name="T22" fmla="*/ 58 w 312"/>
                <a:gd name="T23" fmla="*/ 63 h 326"/>
                <a:gd name="T24" fmla="*/ 59 w 312"/>
                <a:gd name="T25" fmla="*/ 62 h 326"/>
                <a:gd name="T26" fmla="*/ 68 w 312"/>
                <a:gd name="T27" fmla="*/ 62 h 326"/>
                <a:gd name="T28" fmla="*/ 70 w 312"/>
                <a:gd name="T29" fmla="*/ 63 h 326"/>
                <a:gd name="T30" fmla="*/ 70 w 312"/>
                <a:gd name="T31" fmla="*/ 67 h 326"/>
                <a:gd name="T32" fmla="*/ 68 w 312"/>
                <a:gd name="T33" fmla="*/ 68 h 326"/>
                <a:gd name="T34" fmla="*/ 59 w 312"/>
                <a:gd name="T35" fmla="*/ 68 h 326"/>
                <a:gd name="T36" fmla="*/ 59 w 312"/>
                <a:gd name="T37" fmla="*/ 72 h 326"/>
                <a:gd name="T38" fmla="*/ 58 w 312"/>
                <a:gd name="T39" fmla="*/ 73 h 326"/>
                <a:gd name="T40" fmla="*/ 31 w 312"/>
                <a:gd name="T41" fmla="*/ 73 h 326"/>
                <a:gd name="T42" fmla="*/ 30 w 312"/>
                <a:gd name="T43" fmla="*/ 72 h 326"/>
                <a:gd name="T44" fmla="*/ 30 w 312"/>
                <a:gd name="T45" fmla="*/ 68 h 326"/>
                <a:gd name="T46" fmla="*/ 21 w 312"/>
                <a:gd name="T47" fmla="*/ 68 h 326"/>
                <a:gd name="T48" fmla="*/ 20 w 312"/>
                <a:gd name="T49" fmla="*/ 67 h 326"/>
                <a:gd name="T50" fmla="*/ 20 w 312"/>
                <a:gd name="T51" fmla="*/ 20 h 326"/>
                <a:gd name="T52" fmla="*/ 1 w 312"/>
                <a:gd name="T53" fmla="*/ 20 h 326"/>
                <a:gd name="T54" fmla="*/ 0 w 312"/>
                <a:gd name="T55" fmla="*/ 19 h 326"/>
                <a:gd name="T56" fmla="*/ 0 w 312"/>
                <a:gd name="T57" fmla="*/ 15 h 326"/>
                <a:gd name="T58" fmla="*/ 1 w 312"/>
                <a:gd name="T59" fmla="*/ 15 h 326"/>
                <a:gd name="T60" fmla="*/ 10 w 312"/>
                <a:gd name="T61" fmla="*/ 15 h 326"/>
                <a:gd name="T62" fmla="*/ 10 w 312"/>
                <a:gd name="T63" fmla="*/ 11 h 326"/>
                <a:gd name="T64" fmla="*/ 12 w 312"/>
                <a:gd name="T65" fmla="*/ 10 h 326"/>
                <a:gd name="T66" fmla="*/ 20 w 312"/>
                <a:gd name="T67" fmla="*/ 10 h 326"/>
                <a:gd name="T68" fmla="*/ 20 w 312"/>
                <a:gd name="T69" fmla="*/ 6 h 326"/>
                <a:gd name="T70" fmla="*/ 21 w 312"/>
                <a:gd name="T71" fmla="*/ 5 h 326"/>
                <a:gd name="T72" fmla="*/ 30 w 312"/>
                <a:gd name="T73" fmla="*/ 5 h 326"/>
                <a:gd name="T74" fmla="*/ 30 w 312"/>
                <a:gd name="T75" fmla="*/ 1 h 326"/>
                <a:gd name="T76" fmla="*/ 31 w 312"/>
                <a:gd name="T77" fmla="*/ 0 h 32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12"/>
                <a:gd name="T118" fmla="*/ 0 h 326"/>
                <a:gd name="T119" fmla="*/ 312 w 312"/>
                <a:gd name="T120" fmla="*/ 326 h 32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12" h="326">
                  <a:moveTo>
                    <a:pt x="139" y="0"/>
                  </a:moveTo>
                  <a:lnTo>
                    <a:pt x="171" y="0"/>
                  </a:lnTo>
                  <a:lnTo>
                    <a:pt x="178" y="3"/>
                  </a:lnTo>
                  <a:lnTo>
                    <a:pt x="178" y="66"/>
                  </a:lnTo>
                  <a:lnTo>
                    <a:pt x="304" y="66"/>
                  </a:lnTo>
                  <a:lnTo>
                    <a:pt x="311" y="69"/>
                  </a:lnTo>
                  <a:lnTo>
                    <a:pt x="311" y="84"/>
                  </a:lnTo>
                  <a:lnTo>
                    <a:pt x="304" y="88"/>
                  </a:lnTo>
                  <a:lnTo>
                    <a:pt x="178" y="88"/>
                  </a:lnTo>
                  <a:lnTo>
                    <a:pt x="178" y="300"/>
                  </a:lnTo>
                  <a:lnTo>
                    <a:pt x="259" y="300"/>
                  </a:lnTo>
                  <a:lnTo>
                    <a:pt x="259" y="281"/>
                  </a:lnTo>
                  <a:lnTo>
                    <a:pt x="265" y="278"/>
                  </a:lnTo>
                  <a:lnTo>
                    <a:pt x="304" y="278"/>
                  </a:lnTo>
                  <a:lnTo>
                    <a:pt x="311" y="281"/>
                  </a:lnTo>
                  <a:lnTo>
                    <a:pt x="311" y="300"/>
                  </a:lnTo>
                  <a:lnTo>
                    <a:pt x="304" y="303"/>
                  </a:lnTo>
                  <a:lnTo>
                    <a:pt x="265" y="303"/>
                  </a:lnTo>
                  <a:lnTo>
                    <a:pt x="265" y="322"/>
                  </a:lnTo>
                  <a:lnTo>
                    <a:pt x="259" y="325"/>
                  </a:lnTo>
                  <a:lnTo>
                    <a:pt x="139" y="325"/>
                  </a:lnTo>
                  <a:lnTo>
                    <a:pt x="133" y="322"/>
                  </a:lnTo>
                  <a:lnTo>
                    <a:pt x="133" y="303"/>
                  </a:lnTo>
                  <a:lnTo>
                    <a:pt x="94" y="303"/>
                  </a:lnTo>
                  <a:lnTo>
                    <a:pt x="91" y="300"/>
                  </a:lnTo>
                  <a:lnTo>
                    <a:pt x="91" y="88"/>
                  </a:lnTo>
                  <a:lnTo>
                    <a:pt x="6" y="88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6" y="66"/>
                  </a:lnTo>
                  <a:lnTo>
                    <a:pt x="45" y="66"/>
                  </a:lnTo>
                  <a:lnTo>
                    <a:pt x="45" y="47"/>
                  </a:lnTo>
                  <a:lnTo>
                    <a:pt x="52" y="44"/>
                  </a:lnTo>
                  <a:lnTo>
                    <a:pt x="91" y="44"/>
                  </a:lnTo>
                  <a:lnTo>
                    <a:pt x="91" y="25"/>
                  </a:lnTo>
                  <a:lnTo>
                    <a:pt x="94" y="22"/>
                  </a:lnTo>
                  <a:lnTo>
                    <a:pt x="133" y="22"/>
                  </a:lnTo>
                  <a:lnTo>
                    <a:pt x="133" y="3"/>
                  </a:lnTo>
                  <a:lnTo>
                    <a:pt x="139" y="0"/>
                  </a:lnTo>
                </a:path>
              </a:pathLst>
            </a:cu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160" name="Group 25">
            <a:extLst>
              <a:ext uri="{FF2B5EF4-FFF2-40B4-BE49-F238E27FC236}">
                <a16:creationId xmlns:a16="http://schemas.microsoft.com/office/drawing/2014/main" id="{4BE4143A-1FF1-4621-D221-80DAFCCB72F0}"/>
              </a:ext>
            </a:extLst>
          </p:cNvPr>
          <p:cNvGrpSpPr>
            <a:grpSpLocks/>
          </p:cNvGrpSpPr>
          <p:nvPr/>
        </p:nvGrpSpPr>
        <p:grpSpPr bwMode="auto">
          <a:xfrm>
            <a:off x="4430713" y="2027238"/>
            <a:ext cx="685800" cy="2971800"/>
            <a:chOff x="2400" y="1392"/>
            <a:chExt cx="191" cy="1391"/>
          </a:xfrm>
        </p:grpSpPr>
        <p:sp>
          <p:nvSpPr>
            <p:cNvPr id="6162" name="Freeform 26">
              <a:extLst>
                <a:ext uri="{FF2B5EF4-FFF2-40B4-BE49-F238E27FC236}">
                  <a16:creationId xmlns:a16="http://schemas.microsoft.com/office/drawing/2014/main" id="{98601438-73A9-4055-AB2D-BEC2D8364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" y="1392"/>
              <a:ext cx="111" cy="151"/>
            </a:xfrm>
            <a:custGeom>
              <a:avLst/>
              <a:gdLst>
                <a:gd name="T0" fmla="*/ 70 w 495"/>
                <a:gd name="T1" fmla="*/ 0 h 669"/>
                <a:gd name="T2" fmla="*/ 71 w 495"/>
                <a:gd name="T3" fmla="*/ 9 h 669"/>
                <a:gd name="T4" fmla="*/ 90 w 495"/>
                <a:gd name="T5" fmla="*/ 1 h 669"/>
                <a:gd name="T6" fmla="*/ 100 w 495"/>
                <a:gd name="T7" fmla="*/ 0 h 669"/>
                <a:gd name="T8" fmla="*/ 102 w 495"/>
                <a:gd name="T9" fmla="*/ 45 h 669"/>
                <a:gd name="T10" fmla="*/ 91 w 495"/>
                <a:gd name="T11" fmla="*/ 46 h 669"/>
                <a:gd name="T12" fmla="*/ 90 w 495"/>
                <a:gd name="T13" fmla="*/ 28 h 669"/>
                <a:gd name="T14" fmla="*/ 80 w 495"/>
                <a:gd name="T15" fmla="*/ 27 h 669"/>
                <a:gd name="T16" fmla="*/ 61 w 495"/>
                <a:gd name="T17" fmla="*/ 19 h 669"/>
                <a:gd name="T18" fmla="*/ 60 w 495"/>
                <a:gd name="T19" fmla="*/ 10 h 669"/>
                <a:gd name="T20" fmla="*/ 31 w 495"/>
                <a:gd name="T21" fmla="*/ 18 h 669"/>
                <a:gd name="T22" fmla="*/ 22 w 495"/>
                <a:gd name="T23" fmla="*/ 19 h 669"/>
                <a:gd name="T24" fmla="*/ 29 w 495"/>
                <a:gd name="T25" fmla="*/ 45 h 669"/>
                <a:gd name="T26" fmla="*/ 31 w 495"/>
                <a:gd name="T27" fmla="*/ 52 h 669"/>
                <a:gd name="T28" fmla="*/ 51 w 495"/>
                <a:gd name="T29" fmla="*/ 53 h 669"/>
                <a:gd name="T30" fmla="*/ 70 w 495"/>
                <a:gd name="T31" fmla="*/ 61 h 669"/>
                <a:gd name="T32" fmla="*/ 71 w 495"/>
                <a:gd name="T33" fmla="*/ 70 h 669"/>
                <a:gd name="T34" fmla="*/ 91 w 495"/>
                <a:gd name="T35" fmla="*/ 71 h 669"/>
                <a:gd name="T36" fmla="*/ 100 w 495"/>
                <a:gd name="T37" fmla="*/ 79 h 669"/>
                <a:gd name="T38" fmla="*/ 102 w 495"/>
                <a:gd name="T39" fmla="*/ 88 h 669"/>
                <a:gd name="T40" fmla="*/ 111 w 495"/>
                <a:gd name="T41" fmla="*/ 89 h 669"/>
                <a:gd name="T42" fmla="*/ 109 w 495"/>
                <a:gd name="T43" fmla="*/ 124 h 669"/>
                <a:gd name="T44" fmla="*/ 102 w 495"/>
                <a:gd name="T45" fmla="*/ 132 h 669"/>
                <a:gd name="T46" fmla="*/ 91 w 495"/>
                <a:gd name="T47" fmla="*/ 133 h 669"/>
                <a:gd name="T48" fmla="*/ 90 w 495"/>
                <a:gd name="T49" fmla="*/ 142 h 669"/>
                <a:gd name="T50" fmla="*/ 71 w 495"/>
                <a:gd name="T51" fmla="*/ 149 h 669"/>
                <a:gd name="T52" fmla="*/ 31 w 495"/>
                <a:gd name="T53" fmla="*/ 151 h 669"/>
                <a:gd name="T54" fmla="*/ 29 w 495"/>
                <a:gd name="T55" fmla="*/ 142 h 669"/>
                <a:gd name="T56" fmla="*/ 11 w 495"/>
                <a:gd name="T57" fmla="*/ 149 h 669"/>
                <a:gd name="T58" fmla="*/ 1 w 495"/>
                <a:gd name="T59" fmla="*/ 151 h 669"/>
                <a:gd name="T60" fmla="*/ 0 w 495"/>
                <a:gd name="T61" fmla="*/ 107 h 669"/>
                <a:gd name="T62" fmla="*/ 10 w 495"/>
                <a:gd name="T63" fmla="*/ 106 h 669"/>
                <a:gd name="T64" fmla="*/ 11 w 495"/>
                <a:gd name="T65" fmla="*/ 123 h 669"/>
                <a:gd name="T66" fmla="*/ 22 w 495"/>
                <a:gd name="T67" fmla="*/ 124 h 669"/>
                <a:gd name="T68" fmla="*/ 39 w 495"/>
                <a:gd name="T69" fmla="*/ 132 h 669"/>
                <a:gd name="T70" fmla="*/ 41 w 495"/>
                <a:gd name="T71" fmla="*/ 141 h 669"/>
                <a:gd name="T72" fmla="*/ 70 w 495"/>
                <a:gd name="T73" fmla="*/ 133 h 669"/>
                <a:gd name="T74" fmla="*/ 80 w 495"/>
                <a:gd name="T75" fmla="*/ 132 h 669"/>
                <a:gd name="T76" fmla="*/ 82 w 495"/>
                <a:gd name="T77" fmla="*/ 123 h 669"/>
                <a:gd name="T78" fmla="*/ 90 w 495"/>
                <a:gd name="T79" fmla="*/ 98 h 669"/>
                <a:gd name="T80" fmla="*/ 80 w 495"/>
                <a:gd name="T81" fmla="*/ 97 h 669"/>
                <a:gd name="T82" fmla="*/ 61 w 495"/>
                <a:gd name="T83" fmla="*/ 89 h 669"/>
                <a:gd name="T84" fmla="*/ 60 w 495"/>
                <a:gd name="T85" fmla="*/ 80 h 669"/>
                <a:gd name="T86" fmla="*/ 39 w 495"/>
                <a:gd name="T87" fmla="*/ 79 h 669"/>
                <a:gd name="T88" fmla="*/ 31 w 495"/>
                <a:gd name="T89" fmla="*/ 71 h 669"/>
                <a:gd name="T90" fmla="*/ 29 w 495"/>
                <a:gd name="T91" fmla="*/ 63 h 669"/>
                <a:gd name="T92" fmla="*/ 10 w 495"/>
                <a:gd name="T93" fmla="*/ 61 h 669"/>
                <a:gd name="T94" fmla="*/ 1 w 495"/>
                <a:gd name="T95" fmla="*/ 53 h 669"/>
                <a:gd name="T96" fmla="*/ 0 w 495"/>
                <a:gd name="T97" fmla="*/ 19 h 669"/>
                <a:gd name="T98" fmla="*/ 10 w 495"/>
                <a:gd name="T99" fmla="*/ 18 h 669"/>
                <a:gd name="T100" fmla="*/ 11 w 495"/>
                <a:gd name="T101" fmla="*/ 9 h 669"/>
                <a:gd name="T102" fmla="*/ 29 w 495"/>
                <a:gd name="T103" fmla="*/ 1 h 66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495"/>
                <a:gd name="T157" fmla="*/ 0 h 669"/>
                <a:gd name="T158" fmla="*/ 495 w 495"/>
                <a:gd name="T159" fmla="*/ 669 h 669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495" h="669">
                  <a:moveTo>
                    <a:pt x="137" y="0"/>
                  </a:moveTo>
                  <a:lnTo>
                    <a:pt x="313" y="0"/>
                  </a:lnTo>
                  <a:lnTo>
                    <a:pt x="318" y="6"/>
                  </a:lnTo>
                  <a:lnTo>
                    <a:pt x="318" y="39"/>
                  </a:lnTo>
                  <a:lnTo>
                    <a:pt x="403" y="39"/>
                  </a:lnTo>
                  <a:lnTo>
                    <a:pt x="403" y="6"/>
                  </a:lnTo>
                  <a:lnTo>
                    <a:pt x="408" y="0"/>
                  </a:lnTo>
                  <a:lnTo>
                    <a:pt x="447" y="0"/>
                  </a:lnTo>
                  <a:lnTo>
                    <a:pt x="455" y="6"/>
                  </a:lnTo>
                  <a:lnTo>
                    <a:pt x="455" y="199"/>
                  </a:lnTo>
                  <a:lnTo>
                    <a:pt x="447" y="204"/>
                  </a:lnTo>
                  <a:lnTo>
                    <a:pt x="408" y="204"/>
                  </a:lnTo>
                  <a:lnTo>
                    <a:pt x="403" y="199"/>
                  </a:lnTo>
                  <a:lnTo>
                    <a:pt x="403" y="124"/>
                  </a:lnTo>
                  <a:lnTo>
                    <a:pt x="364" y="124"/>
                  </a:lnTo>
                  <a:lnTo>
                    <a:pt x="357" y="119"/>
                  </a:lnTo>
                  <a:lnTo>
                    <a:pt x="357" y="85"/>
                  </a:lnTo>
                  <a:lnTo>
                    <a:pt x="274" y="85"/>
                  </a:lnTo>
                  <a:lnTo>
                    <a:pt x="266" y="79"/>
                  </a:lnTo>
                  <a:lnTo>
                    <a:pt x="266" y="45"/>
                  </a:lnTo>
                  <a:lnTo>
                    <a:pt x="137" y="45"/>
                  </a:lnTo>
                  <a:lnTo>
                    <a:pt x="137" y="79"/>
                  </a:lnTo>
                  <a:lnTo>
                    <a:pt x="129" y="85"/>
                  </a:lnTo>
                  <a:lnTo>
                    <a:pt x="97" y="85"/>
                  </a:lnTo>
                  <a:lnTo>
                    <a:pt x="97" y="199"/>
                  </a:lnTo>
                  <a:lnTo>
                    <a:pt x="129" y="199"/>
                  </a:lnTo>
                  <a:lnTo>
                    <a:pt x="137" y="204"/>
                  </a:lnTo>
                  <a:lnTo>
                    <a:pt x="137" y="231"/>
                  </a:lnTo>
                  <a:lnTo>
                    <a:pt x="220" y="231"/>
                  </a:lnTo>
                  <a:lnTo>
                    <a:pt x="227" y="237"/>
                  </a:lnTo>
                  <a:lnTo>
                    <a:pt x="227" y="271"/>
                  </a:lnTo>
                  <a:lnTo>
                    <a:pt x="313" y="271"/>
                  </a:lnTo>
                  <a:lnTo>
                    <a:pt x="318" y="277"/>
                  </a:lnTo>
                  <a:lnTo>
                    <a:pt x="318" y="310"/>
                  </a:lnTo>
                  <a:lnTo>
                    <a:pt x="403" y="310"/>
                  </a:lnTo>
                  <a:lnTo>
                    <a:pt x="408" y="316"/>
                  </a:lnTo>
                  <a:lnTo>
                    <a:pt x="408" y="351"/>
                  </a:lnTo>
                  <a:lnTo>
                    <a:pt x="447" y="351"/>
                  </a:lnTo>
                  <a:lnTo>
                    <a:pt x="455" y="356"/>
                  </a:lnTo>
                  <a:lnTo>
                    <a:pt x="455" y="390"/>
                  </a:lnTo>
                  <a:lnTo>
                    <a:pt x="487" y="390"/>
                  </a:lnTo>
                  <a:lnTo>
                    <a:pt x="494" y="395"/>
                  </a:lnTo>
                  <a:lnTo>
                    <a:pt x="494" y="544"/>
                  </a:lnTo>
                  <a:lnTo>
                    <a:pt x="487" y="549"/>
                  </a:lnTo>
                  <a:lnTo>
                    <a:pt x="455" y="549"/>
                  </a:lnTo>
                  <a:lnTo>
                    <a:pt x="455" y="583"/>
                  </a:lnTo>
                  <a:lnTo>
                    <a:pt x="447" y="588"/>
                  </a:lnTo>
                  <a:lnTo>
                    <a:pt x="408" y="588"/>
                  </a:lnTo>
                  <a:lnTo>
                    <a:pt x="408" y="623"/>
                  </a:lnTo>
                  <a:lnTo>
                    <a:pt x="403" y="629"/>
                  </a:lnTo>
                  <a:lnTo>
                    <a:pt x="318" y="629"/>
                  </a:lnTo>
                  <a:lnTo>
                    <a:pt x="318" y="662"/>
                  </a:lnTo>
                  <a:lnTo>
                    <a:pt x="313" y="668"/>
                  </a:lnTo>
                  <a:lnTo>
                    <a:pt x="137" y="668"/>
                  </a:lnTo>
                  <a:lnTo>
                    <a:pt x="129" y="662"/>
                  </a:lnTo>
                  <a:lnTo>
                    <a:pt x="129" y="629"/>
                  </a:lnTo>
                  <a:lnTo>
                    <a:pt x="51" y="629"/>
                  </a:lnTo>
                  <a:lnTo>
                    <a:pt x="51" y="662"/>
                  </a:lnTo>
                  <a:lnTo>
                    <a:pt x="46" y="668"/>
                  </a:lnTo>
                  <a:lnTo>
                    <a:pt x="4" y="668"/>
                  </a:lnTo>
                  <a:lnTo>
                    <a:pt x="0" y="662"/>
                  </a:lnTo>
                  <a:lnTo>
                    <a:pt x="0" y="475"/>
                  </a:lnTo>
                  <a:lnTo>
                    <a:pt x="4" y="469"/>
                  </a:lnTo>
                  <a:lnTo>
                    <a:pt x="46" y="469"/>
                  </a:lnTo>
                  <a:lnTo>
                    <a:pt x="51" y="475"/>
                  </a:lnTo>
                  <a:lnTo>
                    <a:pt x="51" y="544"/>
                  </a:lnTo>
                  <a:lnTo>
                    <a:pt x="90" y="544"/>
                  </a:lnTo>
                  <a:lnTo>
                    <a:pt x="97" y="549"/>
                  </a:lnTo>
                  <a:lnTo>
                    <a:pt x="97" y="583"/>
                  </a:lnTo>
                  <a:lnTo>
                    <a:pt x="176" y="583"/>
                  </a:lnTo>
                  <a:lnTo>
                    <a:pt x="181" y="588"/>
                  </a:lnTo>
                  <a:lnTo>
                    <a:pt x="181" y="623"/>
                  </a:lnTo>
                  <a:lnTo>
                    <a:pt x="313" y="623"/>
                  </a:lnTo>
                  <a:lnTo>
                    <a:pt x="313" y="588"/>
                  </a:lnTo>
                  <a:lnTo>
                    <a:pt x="318" y="583"/>
                  </a:lnTo>
                  <a:lnTo>
                    <a:pt x="357" y="583"/>
                  </a:lnTo>
                  <a:lnTo>
                    <a:pt x="357" y="549"/>
                  </a:lnTo>
                  <a:lnTo>
                    <a:pt x="364" y="544"/>
                  </a:lnTo>
                  <a:lnTo>
                    <a:pt x="403" y="544"/>
                  </a:lnTo>
                  <a:lnTo>
                    <a:pt x="403" y="435"/>
                  </a:lnTo>
                  <a:lnTo>
                    <a:pt x="364" y="435"/>
                  </a:lnTo>
                  <a:lnTo>
                    <a:pt x="357" y="430"/>
                  </a:lnTo>
                  <a:lnTo>
                    <a:pt x="357" y="395"/>
                  </a:lnTo>
                  <a:lnTo>
                    <a:pt x="274" y="395"/>
                  </a:lnTo>
                  <a:lnTo>
                    <a:pt x="266" y="390"/>
                  </a:lnTo>
                  <a:lnTo>
                    <a:pt x="266" y="356"/>
                  </a:lnTo>
                  <a:lnTo>
                    <a:pt x="181" y="356"/>
                  </a:lnTo>
                  <a:lnTo>
                    <a:pt x="176" y="351"/>
                  </a:lnTo>
                  <a:lnTo>
                    <a:pt x="176" y="316"/>
                  </a:lnTo>
                  <a:lnTo>
                    <a:pt x="137" y="316"/>
                  </a:lnTo>
                  <a:lnTo>
                    <a:pt x="129" y="310"/>
                  </a:lnTo>
                  <a:lnTo>
                    <a:pt x="129" y="277"/>
                  </a:lnTo>
                  <a:lnTo>
                    <a:pt x="51" y="277"/>
                  </a:lnTo>
                  <a:lnTo>
                    <a:pt x="46" y="271"/>
                  </a:lnTo>
                  <a:lnTo>
                    <a:pt x="46" y="237"/>
                  </a:lnTo>
                  <a:lnTo>
                    <a:pt x="4" y="237"/>
                  </a:lnTo>
                  <a:lnTo>
                    <a:pt x="0" y="231"/>
                  </a:lnTo>
                  <a:lnTo>
                    <a:pt x="0" y="85"/>
                  </a:lnTo>
                  <a:lnTo>
                    <a:pt x="4" y="79"/>
                  </a:lnTo>
                  <a:lnTo>
                    <a:pt x="46" y="79"/>
                  </a:lnTo>
                  <a:lnTo>
                    <a:pt x="46" y="45"/>
                  </a:lnTo>
                  <a:lnTo>
                    <a:pt x="51" y="39"/>
                  </a:lnTo>
                  <a:lnTo>
                    <a:pt x="129" y="39"/>
                  </a:lnTo>
                  <a:lnTo>
                    <a:pt x="129" y="6"/>
                  </a:lnTo>
                  <a:lnTo>
                    <a:pt x="137" y="0"/>
                  </a:lnTo>
                </a:path>
              </a:pathLst>
            </a:cu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3" name="Freeform 27">
              <a:extLst>
                <a:ext uri="{FF2B5EF4-FFF2-40B4-BE49-F238E27FC236}">
                  <a16:creationId xmlns:a16="http://schemas.microsoft.com/office/drawing/2014/main" id="{F336A4EE-7961-4BEF-C249-7B129CC5A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5"/>
              <a:ext cx="109" cy="149"/>
            </a:xfrm>
            <a:custGeom>
              <a:avLst/>
              <a:gdLst>
                <a:gd name="T0" fmla="*/ 38 w 486"/>
                <a:gd name="T1" fmla="*/ 0 h 663"/>
                <a:gd name="T2" fmla="*/ 39 w 486"/>
                <a:gd name="T3" fmla="*/ 7 h 663"/>
                <a:gd name="T4" fmla="*/ 31 w 486"/>
                <a:gd name="T5" fmla="*/ 9 h 663"/>
                <a:gd name="T6" fmla="*/ 38 w 486"/>
                <a:gd name="T7" fmla="*/ 25 h 663"/>
                <a:gd name="T8" fmla="*/ 39 w 486"/>
                <a:gd name="T9" fmla="*/ 52 h 663"/>
                <a:gd name="T10" fmla="*/ 49 w 486"/>
                <a:gd name="T11" fmla="*/ 53 h 663"/>
                <a:gd name="T12" fmla="*/ 58 w 486"/>
                <a:gd name="T13" fmla="*/ 78 h 663"/>
                <a:gd name="T14" fmla="*/ 59 w 486"/>
                <a:gd name="T15" fmla="*/ 70 h 663"/>
                <a:gd name="T16" fmla="*/ 68 w 486"/>
                <a:gd name="T17" fmla="*/ 44 h 663"/>
                <a:gd name="T18" fmla="*/ 77 w 486"/>
                <a:gd name="T19" fmla="*/ 43 h 663"/>
                <a:gd name="T20" fmla="*/ 69 w 486"/>
                <a:gd name="T21" fmla="*/ 9 h 663"/>
                <a:gd name="T22" fmla="*/ 68 w 486"/>
                <a:gd name="T23" fmla="*/ 1 h 663"/>
                <a:gd name="T24" fmla="*/ 107 w 486"/>
                <a:gd name="T25" fmla="*/ 0 h 663"/>
                <a:gd name="T26" fmla="*/ 109 w 486"/>
                <a:gd name="T27" fmla="*/ 7 h 663"/>
                <a:gd name="T28" fmla="*/ 99 w 486"/>
                <a:gd name="T29" fmla="*/ 9 h 663"/>
                <a:gd name="T30" fmla="*/ 97 w 486"/>
                <a:gd name="T31" fmla="*/ 18 h 663"/>
                <a:gd name="T32" fmla="*/ 89 w 486"/>
                <a:gd name="T33" fmla="*/ 43 h 663"/>
                <a:gd name="T34" fmla="*/ 79 w 486"/>
                <a:gd name="T35" fmla="*/ 44 h 663"/>
                <a:gd name="T36" fmla="*/ 77 w 486"/>
                <a:gd name="T37" fmla="*/ 71 h 663"/>
                <a:gd name="T38" fmla="*/ 69 w 486"/>
                <a:gd name="T39" fmla="*/ 95 h 663"/>
                <a:gd name="T40" fmla="*/ 59 w 486"/>
                <a:gd name="T41" fmla="*/ 97 h 663"/>
                <a:gd name="T42" fmla="*/ 58 w 486"/>
                <a:gd name="T43" fmla="*/ 114 h 663"/>
                <a:gd name="T44" fmla="*/ 49 w 486"/>
                <a:gd name="T45" fmla="*/ 131 h 663"/>
                <a:gd name="T46" fmla="*/ 39 w 486"/>
                <a:gd name="T47" fmla="*/ 132 h 663"/>
                <a:gd name="T48" fmla="*/ 38 w 486"/>
                <a:gd name="T49" fmla="*/ 140 h 663"/>
                <a:gd name="T50" fmla="*/ 31 w 486"/>
                <a:gd name="T51" fmla="*/ 148 h 663"/>
                <a:gd name="T52" fmla="*/ 2 w 486"/>
                <a:gd name="T53" fmla="*/ 149 h 663"/>
                <a:gd name="T54" fmla="*/ 0 w 486"/>
                <a:gd name="T55" fmla="*/ 132 h 663"/>
                <a:gd name="T56" fmla="*/ 30 w 486"/>
                <a:gd name="T57" fmla="*/ 131 h 663"/>
                <a:gd name="T58" fmla="*/ 31 w 486"/>
                <a:gd name="T59" fmla="*/ 122 h 663"/>
                <a:gd name="T60" fmla="*/ 38 w 486"/>
                <a:gd name="T61" fmla="*/ 105 h 663"/>
                <a:gd name="T62" fmla="*/ 48 w 486"/>
                <a:gd name="T63" fmla="*/ 104 h 663"/>
                <a:gd name="T64" fmla="*/ 39 w 486"/>
                <a:gd name="T65" fmla="*/ 97 h 663"/>
                <a:gd name="T66" fmla="*/ 38 w 486"/>
                <a:gd name="T67" fmla="*/ 79 h 663"/>
                <a:gd name="T68" fmla="*/ 30 w 486"/>
                <a:gd name="T69" fmla="*/ 78 h 663"/>
                <a:gd name="T70" fmla="*/ 21 w 486"/>
                <a:gd name="T71" fmla="*/ 53 h 663"/>
                <a:gd name="T72" fmla="*/ 20 w 486"/>
                <a:gd name="T73" fmla="*/ 26 h 663"/>
                <a:gd name="T74" fmla="*/ 10 w 486"/>
                <a:gd name="T75" fmla="*/ 25 h 663"/>
                <a:gd name="T76" fmla="*/ 2 w 486"/>
                <a:gd name="T77" fmla="*/ 9 h 663"/>
                <a:gd name="T78" fmla="*/ 0 w 486"/>
                <a:gd name="T79" fmla="*/ 1 h 66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86"/>
                <a:gd name="T121" fmla="*/ 0 h 663"/>
                <a:gd name="T122" fmla="*/ 486 w 486"/>
                <a:gd name="T123" fmla="*/ 663 h 66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86" h="663">
                  <a:moveTo>
                    <a:pt x="7" y="0"/>
                  </a:moveTo>
                  <a:lnTo>
                    <a:pt x="171" y="0"/>
                  </a:lnTo>
                  <a:lnTo>
                    <a:pt x="176" y="6"/>
                  </a:lnTo>
                  <a:lnTo>
                    <a:pt x="176" y="32"/>
                  </a:lnTo>
                  <a:lnTo>
                    <a:pt x="171" y="38"/>
                  </a:lnTo>
                  <a:lnTo>
                    <a:pt x="140" y="38"/>
                  </a:lnTo>
                  <a:lnTo>
                    <a:pt x="140" y="112"/>
                  </a:lnTo>
                  <a:lnTo>
                    <a:pt x="171" y="112"/>
                  </a:lnTo>
                  <a:lnTo>
                    <a:pt x="176" y="117"/>
                  </a:lnTo>
                  <a:lnTo>
                    <a:pt x="176" y="231"/>
                  </a:lnTo>
                  <a:lnTo>
                    <a:pt x="215" y="231"/>
                  </a:lnTo>
                  <a:lnTo>
                    <a:pt x="220" y="237"/>
                  </a:lnTo>
                  <a:lnTo>
                    <a:pt x="220" y="345"/>
                  </a:lnTo>
                  <a:lnTo>
                    <a:pt x="259" y="345"/>
                  </a:lnTo>
                  <a:lnTo>
                    <a:pt x="259" y="316"/>
                  </a:lnTo>
                  <a:lnTo>
                    <a:pt x="264" y="310"/>
                  </a:lnTo>
                  <a:lnTo>
                    <a:pt x="301" y="310"/>
                  </a:lnTo>
                  <a:lnTo>
                    <a:pt x="301" y="197"/>
                  </a:lnTo>
                  <a:lnTo>
                    <a:pt x="308" y="191"/>
                  </a:lnTo>
                  <a:lnTo>
                    <a:pt x="345" y="191"/>
                  </a:lnTo>
                  <a:lnTo>
                    <a:pt x="345" y="38"/>
                  </a:lnTo>
                  <a:lnTo>
                    <a:pt x="308" y="38"/>
                  </a:lnTo>
                  <a:lnTo>
                    <a:pt x="301" y="32"/>
                  </a:lnTo>
                  <a:lnTo>
                    <a:pt x="301" y="6"/>
                  </a:lnTo>
                  <a:lnTo>
                    <a:pt x="308" y="0"/>
                  </a:lnTo>
                  <a:lnTo>
                    <a:pt x="477" y="0"/>
                  </a:lnTo>
                  <a:lnTo>
                    <a:pt x="485" y="6"/>
                  </a:lnTo>
                  <a:lnTo>
                    <a:pt x="485" y="32"/>
                  </a:lnTo>
                  <a:lnTo>
                    <a:pt x="477" y="38"/>
                  </a:lnTo>
                  <a:lnTo>
                    <a:pt x="441" y="38"/>
                  </a:lnTo>
                  <a:lnTo>
                    <a:pt x="441" y="73"/>
                  </a:lnTo>
                  <a:lnTo>
                    <a:pt x="433" y="78"/>
                  </a:lnTo>
                  <a:lnTo>
                    <a:pt x="397" y="78"/>
                  </a:lnTo>
                  <a:lnTo>
                    <a:pt x="397" y="191"/>
                  </a:lnTo>
                  <a:lnTo>
                    <a:pt x="389" y="197"/>
                  </a:lnTo>
                  <a:lnTo>
                    <a:pt x="353" y="197"/>
                  </a:lnTo>
                  <a:lnTo>
                    <a:pt x="353" y="310"/>
                  </a:lnTo>
                  <a:lnTo>
                    <a:pt x="345" y="316"/>
                  </a:lnTo>
                  <a:lnTo>
                    <a:pt x="308" y="316"/>
                  </a:lnTo>
                  <a:lnTo>
                    <a:pt x="308" y="424"/>
                  </a:lnTo>
                  <a:lnTo>
                    <a:pt x="301" y="430"/>
                  </a:lnTo>
                  <a:lnTo>
                    <a:pt x="264" y="430"/>
                  </a:lnTo>
                  <a:lnTo>
                    <a:pt x="264" y="504"/>
                  </a:lnTo>
                  <a:lnTo>
                    <a:pt x="259" y="509"/>
                  </a:lnTo>
                  <a:lnTo>
                    <a:pt x="220" y="509"/>
                  </a:lnTo>
                  <a:lnTo>
                    <a:pt x="220" y="583"/>
                  </a:lnTo>
                  <a:lnTo>
                    <a:pt x="215" y="588"/>
                  </a:lnTo>
                  <a:lnTo>
                    <a:pt x="176" y="588"/>
                  </a:lnTo>
                  <a:lnTo>
                    <a:pt x="176" y="617"/>
                  </a:lnTo>
                  <a:lnTo>
                    <a:pt x="171" y="623"/>
                  </a:lnTo>
                  <a:lnTo>
                    <a:pt x="140" y="623"/>
                  </a:lnTo>
                  <a:lnTo>
                    <a:pt x="140" y="657"/>
                  </a:lnTo>
                  <a:lnTo>
                    <a:pt x="132" y="662"/>
                  </a:lnTo>
                  <a:lnTo>
                    <a:pt x="7" y="662"/>
                  </a:lnTo>
                  <a:lnTo>
                    <a:pt x="0" y="657"/>
                  </a:lnTo>
                  <a:lnTo>
                    <a:pt x="0" y="588"/>
                  </a:lnTo>
                  <a:lnTo>
                    <a:pt x="7" y="583"/>
                  </a:lnTo>
                  <a:lnTo>
                    <a:pt x="132" y="583"/>
                  </a:lnTo>
                  <a:lnTo>
                    <a:pt x="132" y="548"/>
                  </a:lnTo>
                  <a:lnTo>
                    <a:pt x="140" y="543"/>
                  </a:lnTo>
                  <a:lnTo>
                    <a:pt x="171" y="543"/>
                  </a:lnTo>
                  <a:lnTo>
                    <a:pt x="171" y="469"/>
                  </a:lnTo>
                  <a:lnTo>
                    <a:pt x="176" y="463"/>
                  </a:lnTo>
                  <a:lnTo>
                    <a:pt x="215" y="463"/>
                  </a:lnTo>
                  <a:lnTo>
                    <a:pt x="215" y="430"/>
                  </a:lnTo>
                  <a:lnTo>
                    <a:pt x="176" y="430"/>
                  </a:lnTo>
                  <a:lnTo>
                    <a:pt x="171" y="424"/>
                  </a:lnTo>
                  <a:lnTo>
                    <a:pt x="171" y="351"/>
                  </a:lnTo>
                  <a:lnTo>
                    <a:pt x="140" y="351"/>
                  </a:lnTo>
                  <a:lnTo>
                    <a:pt x="132" y="345"/>
                  </a:lnTo>
                  <a:lnTo>
                    <a:pt x="132" y="237"/>
                  </a:lnTo>
                  <a:lnTo>
                    <a:pt x="95" y="237"/>
                  </a:lnTo>
                  <a:lnTo>
                    <a:pt x="88" y="231"/>
                  </a:lnTo>
                  <a:lnTo>
                    <a:pt x="88" y="117"/>
                  </a:lnTo>
                  <a:lnTo>
                    <a:pt x="51" y="117"/>
                  </a:lnTo>
                  <a:lnTo>
                    <a:pt x="44" y="112"/>
                  </a:lnTo>
                  <a:lnTo>
                    <a:pt x="44" y="38"/>
                  </a:lnTo>
                  <a:lnTo>
                    <a:pt x="7" y="38"/>
                  </a:lnTo>
                  <a:lnTo>
                    <a:pt x="0" y="32"/>
                  </a:lnTo>
                  <a:lnTo>
                    <a:pt x="0" y="6"/>
                  </a:lnTo>
                  <a:lnTo>
                    <a:pt x="7" y="0"/>
                  </a:lnTo>
                </a:path>
              </a:pathLst>
            </a:cu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4" name="Freeform 28">
              <a:extLst>
                <a:ext uri="{FF2B5EF4-FFF2-40B4-BE49-F238E27FC236}">
                  <a16:creationId xmlns:a16="http://schemas.microsoft.com/office/drawing/2014/main" id="{22944886-2CE5-3EC6-54BB-A9E363F0C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" y="1933"/>
              <a:ext cx="80" cy="106"/>
            </a:xfrm>
            <a:custGeom>
              <a:avLst/>
              <a:gdLst>
                <a:gd name="T0" fmla="*/ 68 w 358"/>
                <a:gd name="T1" fmla="*/ 0 h 470"/>
                <a:gd name="T2" fmla="*/ 70 w 358"/>
                <a:gd name="T3" fmla="*/ 25 h 470"/>
                <a:gd name="T4" fmla="*/ 60 w 358"/>
                <a:gd name="T5" fmla="*/ 27 h 470"/>
                <a:gd name="T6" fmla="*/ 58 w 358"/>
                <a:gd name="T7" fmla="*/ 18 h 470"/>
                <a:gd name="T8" fmla="*/ 48 w 358"/>
                <a:gd name="T9" fmla="*/ 16 h 470"/>
                <a:gd name="T10" fmla="*/ 30 w 358"/>
                <a:gd name="T11" fmla="*/ 9 h 470"/>
                <a:gd name="T12" fmla="*/ 28 w 358"/>
                <a:gd name="T13" fmla="*/ 18 h 470"/>
                <a:gd name="T14" fmla="*/ 21 w 358"/>
                <a:gd name="T15" fmla="*/ 25 h 470"/>
                <a:gd name="T16" fmla="*/ 30 w 358"/>
                <a:gd name="T17" fmla="*/ 27 h 470"/>
                <a:gd name="T18" fmla="*/ 38 w 358"/>
                <a:gd name="T19" fmla="*/ 34 h 470"/>
                <a:gd name="T20" fmla="*/ 40 w 358"/>
                <a:gd name="T21" fmla="*/ 43 h 470"/>
                <a:gd name="T22" fmla="*/ 60 w 358"/>
                <a:gd name="T23" fmla="*/ 44 h 470"/>
                <a:gd name="T24" fmla="*/ 68 w 358"/>
                <a:gd name="T25" fmla="*/ 52 h 470"/>
                <a:gd name="T26" fmla="*/ 70 w 358"/>
                <a:gd name="T27" fmla="*/ 61 h 470"/>
                <a:gd name="T28" fmla="*/ 80 w 358"/>
                <a:gd name="T29" fmla="*/ 62 h 470"/>
                <a:gd name="T30" fmla="*/ 79 w 358"/>
                <a:gd name="T31" fmla="*/ 88 h 470"/>
                <a:gd name="T32" fmla="*/ 70 w 358"/>
                <a:gd name="T33" fmla="*/ 96 h 470"/>
                <a:gd name="T34" fmla="*/ 50 w 358"/>
                <a:gd name="T35" fmla="*/ 97 h 470"/>
                <a:gd name="T36" fmla="*/ 48 w 358"/>
                <a:gd name="T37" fmla="*/ 106 h 470"/>
                <a:gd name="T38" fmla="*/ 0 w 358"/>
                <a:gd name="T39" fmla="*/ 105 h 470"/>
                <a:gd name="T40" fmla="*/ 1 w 358"/>
                <a:gd name="T41" fmla="*/ 78 h 470"/>
                <a:gd name="T42" fmla="*/ 11 w 358"/>
                <a:gd name="T43" fmla="*/ 79 h 470"/>
                <a:gd name="T44" fmla="*/ 20 w 358"/>
                <a:gd name="T45" fmla="*/ 87 h 470"/>
                <a:gd name="T46" fmla="*/ 21 w 358"/>
                <a:gd name="T47" fmla="*/ 96 h 470"/>
                <a:gd name="T48" fmla="*/ 48 w 358"/>
                <a:gd name="T49" fmla="*/ 88 h 470"/>
                <a:gd name="T50" fmla="*/ 58 w 358"/>
                <a:gd name="T51" fmla="*/ 87 h 470"/>
                <a:gd name="T52" fmla="*/ 50 w 358"/>
                <a:gd name="T53" fmla="*/ 71 h 470"/>
                <a:gd name="T54" fmla="*/ 48 w 358"/>
                <a:gd name="T55" fmla="*/ 62 h 470"/>
                <a:gd name="T56" fmla="*/ 28 w 358"/>
                <a:gd name="T57" fmla="*/ 61 h 470"/>
                <a:gd name="T58" fmla="*/ 11 w 358"/>
                <a:gd name="T59" fmla="*/ 53 h 470"/>
                <a:gd name="T60" fmla="*/ 10 w 358"/>
                <a:gd name="T61" fmla="*/ 36 h 470"/>
                <a:gd name="T62" fmla="*/ 0 w 358"/>
                <a:gd name="T63" fmla="*/ 34 h 470"/>
                <a:gd name="T64" fmla="*/ 1 w 358"/>
                <a:gd name="T65" fmla="*/ 16 h 470"/>
                <a:gd name="T66" fmla="*/ 10 w 358"/>
                <a:gd name="T67" fmla="*/ 9 h 470"/>
                <a:gd name="T68" fmla="*/ 20 w 358"/>
                <a:gd name="T69" fmla="*/ 7 h 470"/>
                <a:gd name="T70" fmla="*/ 21 w 358"/>
                <a:gd name="T71" fmla="*/ 0 h 47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58"/>
                <a:gd name="T109" fmla="*/ 0 h 470"/>
                <a:gd name="T110" fmla="*/ 358 w 358"/>
                <a:gd name="T111" fmla="*/ 470 h 47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58" h="470">
                  <a:moveTo>
                    <a:pt x="95" y="0"/>
                  </a:moveTo>
                  <a:lnTo>
                    <a:pt x="306" y="0"/>
                  </a:lnTo>
                  <a:lnTo>
                    <a:pt x="313" y="6"/>
                  </a:lnTo>
                  <a:lnTo>
                    <a:pt x="313" y="112"/>
                  </a:lnTo>
                  <a:lnTo>
                    <a:pt x="306" y="118"/>
                  </a:lnTo>
                  <a:lnTo>
                    <a:pt x="269" y="118"/>
                  </a:lnTo>
                  <a:lnTo>
                    <a:pt x="261" y="112"/>
                  </a:lnTo>
                  <a:lnTo>
                    <a:pt x="261" y="78"/>
                  </a:lnTo>
                  <a:lnTo>
                    <a:pt x="222" y="78"/>
                  </a:lnTo>
                  <a:lnTo>
                    <a:pt x="217" y="73"/>
                  </a:lnTo>
                  <a:lnTo>
                    <a:pt x="217" y="38"/>
                  </a:lnTo>
                  <a:lnTo>
                    <a:pt x="134" y="38"/>
                  </a:lnTo>
                  <a:lnTo>
                    <a:pt x="134" y="73"/>
                  </a:lnTo>
                  <a:lnTo>
                    <a:pt x="127" y="78"/>
                  </a:lnTo>
                  <a:lnTo>
                    <a:pt x="95" y="78"/>
                  </a:lnTo>
                  <a:lnTo>
                    <a:pt x="95" y="112"/>
                  </a:lnTo>
                  <a:lnTo>
                    <a:pt x="127" y="112"/>
                  </a:lnTo>
                  <a:lnTo>
                    <a:pt x="134" y="118"/>
                  </a:lnTo>
                  <a:lnTo>
                    <a:pt x="134" y="152"/>
                  </a:lnTo>
                  <a:lnTo>
                    <a:pt x="171" y="152"/>
                  </a:lnTo>
                  <a:lnTo>
                    <a:pt x="178" y="158"/>
                  </a:lnTo>
                  <a:lnTo>
                    <a:pt x="178" y="191"/>
                  </a:lnTo>
                  <a:lnTo>
                    <a:pt x="261" y="191"/>
                  </a:lnTo>
                  <a:lnTo>
                    <a:pt x="269" y="197"/>
                  </a:lnTo>
                  <a:lnTo>
                    <a:pt x="269" y="231"/>
                  </a:lnTo>
                  <a:lnTo>
                    <a:pt x="306" y="231"/>
                  </a:lnTo>
                  <a:lnTo>
                    <a:pt x="313" y="237"/>
                  </a:lnTo>
                  <a:lnTo>
                    <a:pt x="313" y="270"/>
                  </a:lnTo>
                  <a:lnTo>
                    <a:pt x="352" y="270"/>
                  </a:lnTo>
                  <a:lnTo>
                    <a:pt x="357" y="276"/>
                  </a:lnTo>
                  <a:lnTo>
                    <a:pt x="357" y="384"/>
                  </a:lnTo>
                  <a:lnTo>
                    <a:pt x="352" y="390"/>
                  </a:lnTo>
                  <a:lnTo>
                    <a:pt x="313" y="390"/>
                  </a:lnTo>
                  <a:lnTo>
                    <a:pt x="313" y="425"/>
                  </a:lnTo>
                  <a:lnTo>
                    <a:pt x="306" y="430"/>
                  </a:lnTo>
                  <a:lnTo>
                    <a:pt x="222" y="430"/>
                  </a:lnTo>
                  <a:lnTo>
                    <a:pt x="222" y="464"/>
                  </a:lnTo>
                  <a:lnTo>
                    <a:pt x="217" y="469"/>
                  </a:lnTo>
                  <a:lnTo>
                    <a:pt x="4" y="469"/>
                  </a:lnTo>
                  <a:lnTo>
                    <a:pt x="0" y="464"/>
                  </a:lnTo>
                  <a:lnTo>
                    <a:pt x="0" y="351"/>
                  </a:lnTo>
                  <a:lnTo>
                    <a:pt x="4" y="345"/>
                  </a:lnTo>
                  <a:lnTo>
                    <a:pt x="44" y="345"/>
                  </a:lnTo>
                  <a:lnTo>
                    <a:pt x="51" y="351"/>
                  </a:lnTo>
                  <a:lnTo>
                    <a:pt x="51" y="384"/>
                  </a:lnTo>
                  <a:lnTo>
                    <a:pt x="90" y="384"/>
                  </a:lnTo>
                  <a:lnTo>
                    <a:pt x="95" y="390"/>
                  </a:lnTo>
                  <a:lnTo>
                    <a:pt x="95" y="425"/>
                  </a:lnTo>
                  <a:lnTo>
                    <a:pt x="217" y="425"/>
                  </a:lnTo>
                  <a:lnTo>
                    <a:pt x="217" y="390"/>
                  </a:lnTo>
                  <a:lnTo>
                    <a:pt x="222" y="384"/>
                  </a:lnTo>
                  <a:lnTo>
                    <a:pt x="261" y="384"/>
                  </a:lnTo>
                  <a:lnTo>
                    <a:pt x="261" y="316"/>
                  </a:lnTo>
                  <a:lnTo>
                    <a:pt x="222" y="316"/>
                  </a:lnTo>
                  <a:lnTo>
                    <a:pt x="217" y="311"/>
                  </a:lnTo>
                  <a:lnTo>
                    <a:pt x="217" y="276"/>
                  </a:lnTo>
                  <a:lnTo>
                    <a:pt x="134" y="276"/>
                  </a:lnTo>
                  <a:lnTo>
                    <a:pt x="127" y="270"/>
                  </a:lnTo>
                  <a:lnTo>
                    <a:pt x="127" y="237"/>
                  </a:lnTo>
                  <a:lnTo>
                    <a:pt x="51" y="237"/>
                  </a:lnTo>
                  <a:lnTo>
                    <a:pt x="44" y="231"/>
                  </a:lnTo>
                  <a:lnTo>
                    <a:pt x="44" y="158"/>
                  </a:lnTo>
                  <a:lnTo>
                    <a:pt x="4" y="158"/>
                  </a:lnTo>
                  <a:lnTo>
                    <a:pt x="0" y="152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44" y="73"/>
                  </a:lnTo>
                  <a:lnTo>
                    <a:pt x="44" y="38"/>
                  </a:lnTo>
                  <a:lnTo>
                    <a:pt x="51" y="33"/>
                  </a:lnTo>
                  <a:lnTo>
                    <a:pt x="90" y="33"/>
                  </a:lnTo>
                  <a:lnTo>
                    <a:pt x="90" y="6"/>
                  </a:lnTo>
                  <a:lnTo>
                    <a:pt x="95" y="0"/>
                  </a:lnTo>
                </a:path>
              </a:pathLst>
            </a:cu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5" name="Freeform 29">
              <a:extLst>
                <a:ext uri="{FF2B5EF4-FFF2-40B4-BE49-F238E27FC236}">
                  <a16:creationId xmlns:a16="http://schemas.microsoft.com/office/drawing/2014/main" id="{9B48760E-3997-C011-5620-6638EFD06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54"/>
              <a:ext cx="70" cy="133"/>
            </a:xfrm>
            <a:custGeom>
              <a:avLst/>
              <a:gdLst>
                <a:gd name="T0" fmla="*/ 32 w 314"/>
                <a:gd name="T1" fmla="*/ 0 h 589"/>
                <a:gd name="T2" fmla="*/ 39 w 314"/>
                <a:gd name="T3" fmla="*/ 0 h 589"/>
                <a:gd name="T4" fmla="*/ 40 w 314"/>
                <a:gd name="T5" fmla="*/ 1 h 589"/>
                <a:gd name="T6" fmla="*/ 40 w 314"/>
                <a:gd name="T7" fmla="*/ 27 h 589"/>
                <a:gd name="T8" fmla="*/ 69 w 314"/>
                <a:gd name="T9" fmla="*/ 27 h 589"/>
                <a:gd name="T10" fmla="*/ 70 w 314"/>
                <a:gd name="T11" fmla="*/ 28 h 589"/>
                <a:gd name="T12" fmla="*/ 70 w 314"/>
                <a:gd name="T13" fmla="*/ 34 h 589"/>
                <a:gd name="T14" fmla="*/ 69 w 314"/>
                <a:gd name="T15" fmla="*/ 35 h 589"/>
                <a:gd name="T16" fmla="*/ 40 w 314"/>
                <a:gd name="T17" fmla="*/ 35 h 589"/>
                <a:gd name="T18" fmla="*/ 40 w 314"/>
                <a:gd name="T19" fmla="*/ 123 h 589"/>
                <a:gd name="T20" fmla="*/ 58 w 314"/>
                <a:gd name="T21" fmla="*/ 123 h 589"/>
                <a:gd name="T22" fmla="*/ 58 w 314"/>
                <a:gd name="T23" fmla="*/ 115 h 589"/>
                <a:gd name="T24" fmla="*/ 60 w 314"/>
                <a:gd name="T25" fmla="*/ 114 h 589"/>
                <a:gd name="T26" fmla="*/ 69 w 314"/>
                <a:gd name="T27" fmla="*/ 114 h 589"/>
                <a:gd name="T28" fmla="*/ 70 w 314"/>
                <a:gd name="T29" fmla="*/ 115 h 589"/>
                <a:gd name="T30" fmla="*/ 70 w 314"/>
                <a:gd name="T31" fmla="*/ 123 h 589"/>
                <a:gd name="T32" fmla="*/ 69 w 314"/>
                <a:gd name="T33" fmla="*/ 124 h 589"/>
                <a:gd name="T34" fmla="*/ 60 w 314"/>
                <a:gd name="T35" fmla="*/ 124 h 589"/>
                <a:gd name="T36" fmla="*/ 60 w 314"/>
                <a:gd name="T37" fmla="*/ 132 h 589"/>
                <a:gd name="T38" fmla="*/ 58 w 314"/>
                <a:gd name="T39" fmla="*/ 133 h 589"/>
                <a:gd name="T40" fmla="*/ 32 w 314"/>
                <a:gd name="T41" fmla="*/ 133 h 589"/>
                <a:gd name="T42" fmla="*/ 30 w 314"/>
                <a:gd name="T43" fmla="*/ 132 h 589"/>
                <a:gd name="T44" fmla="*/ 30 w 314"/>
                <a:gd name="T45" fmla="*/ 124 h 589"/>
                <a:gd name="T46" fmla="*/ 21 w 314"/>
                <a:gd name="T47" fmla="*/ 124 h 589"/>
                <a:gd name="T48" fmla="*/ 20 w 314"/>
                <a:gd name="T49" fmla="*/ 123 h 589"/>
                <a:gd name="T50" fmla="*/ 20 w 314"/>
                <a:gd name="T51" fmla="*/ 35 h 589"/>
                <a:gd name="T52" fmla="*/ 2 w 314"/>
                <a:gd name="T53" fmla="*/ 35 h 589"/>
                <a:gd name="T54" fmla="*/ 0 w 314"/>
                <a:gd name="T55" fmla="*/ 34 h 589"/>
                <a:gd name="T56" fmla="*/ 0 w 314"/>
                <a:gd name="T57" fmla="*/ 28 h 589"/>
                <a:gd name="T58" fmla="*/ 2 w 314"/>
                <a:gd name="T59" fmla="*/ 27 h 589"/>
                <a:gd name="T60" fmla="*/ 10 w 314"/>
                <a:gd name="T61" fmla="*/ 27 h 589"/>
                <a:gd name="T62" fmla="*/ 10 w 314"/>
                <a:gd name="T63" fmla="*/ 19 h 589"/>
                <a:gd name="T64" fmla="*/ 11 w 314"/>
                <a:gd name="T65" fmla="*/ 18 h 589"/>
                <a:gd name="T66" fmla="*/ 20 w 314"/>
                <a:gd name="T67" fmla="*/ 18 h 589"/>
                <a:gd name="T68" fmla="*/ 20 w 314"/>
                <a:gd name="T69" fmla="*/ 10 h 589"/>
                <a:gd name="T70" fmla="*/ 21 w 314"/>
                <a:gd name="T71" fmla="*/ 9 h 589"/>
                <a:gd name="T72" fmla="*/ 30 w 314"/>
                <a:gd name="T73" fmla="*/ 9 h 589"/>
                <a:gd name="T74" fmla="*/ 30 w 314"/>
                <a:gd name="T75" fmla="*/ 1 h 589"/>
                <a:gd name="T76" fmla="*/ 32 w 314"/>
                <a:gd name="T77" fmla="*/ 0 h 58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14"/>
                <a:gd name="T118" fmla="*/ 0 h 589"/>
                <a:gd name="T119" fmla="*/ 314 w 314"/>
                <a:gd name="T120" fmla="*/ 589 h 589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14" h="589">
                  <a:moveTo>
                    <a:pt x="142" y="0"/>
                  </a:moveTo>
                  <a:lnTo>
                    <a:pt x="174" y="0"/>
                  </a:lnTo>
                  <a:lnTo>
                    <a:pt x="179" y="6"/>
                  </a:lnTo>
                  <a:lnTo>
                    <a:pt x="179" y="120"/>
                  </a:lnTo>
                  <a:lnTo>
                    <a:pt x="308" y="120"/>
                  </a:lnTo>
                  <a:lnTo>
                    <a:pt x="313" y="125"/>
                  </a:lnTo>
                  <a:lnTo>
                    <a:pt x="313" y="152"/>
                  </a:lnTo>
                  <a:lnTo>
                    <a:pt x="308" y="157"/>
                  </a:lnTo>
                  <a:lnTo>
                    <a:pt x="179" y="157"/>
                  </a:lnTo>
                  <a:lnTo>
                    <a:pt x="179" y="544"/>
                  </a:lnTo>
                  <a:lnTo>
                    <a:pt x="262" y="544"/>
                  </a:lnTo>
                  <a:lnTo>
                    <a:pt x="262" y="509"/>
                  </a:lnTo>
                  <a:lnTo>
                    <a:pt x="269" y="504"/>
                  </a:lnTo>
                  <a:lnTo>
                    <a:pt x="308" y="504"/>
                  </a:lnTo>
                  <a:lnTo>
                    <a:pt x="313" y="509"/>
                  </a:lnTo>
                  <a:lnTo>
                    <a:pt x="313" y="544"/>
                  </a:lnTo>
                  <a:lnTo>
                    <a:pt x="308" y="549"/>
                  </a:lnTo>
                  <a:lnTo>
                    <a:pt x="269" y="549"/>
                  </a:lnTo>
                  <a:lnTo>
                    <a:pt x="269" y="583"/>
                  </a:lnTo>
                  <a:lnTo>
                    <a:pt x="262" y="588"/>
                  </a:lnTo>
                  <a:lnTo>
                    <a:pt x="142" y="588"/>
                  </a:lnTo>
                  <a:lnTo>
                    <a:pt x="135" y="583"/>
                  </a:lnTo>
                  <a:lnTo>
                    <a:pt x="135" y="549"/>
                  </a:lnTo>
                  <a:lnTo>
                    <a:pt x="95" y="549"/>
                  </a:lnTo>
                  <a:lnTo>
                    <a:pt x="91" y="544"/>
                  </a:lnTo>
                  <a:lnTo>
                    <a:pt x="91" y="157"/>
                  </a:lnTo>
                  <a:lnTo>
                    <a:pt x="7" y="157"/>
                  </a:lnTo>
                  <a:lnTo>
                    <a:pt x="0" y="152"/>
                  </a:lnTo>
                  <a:lnTo>
                    <a:pt x="0" y="125"/>
                  </a:lnTo>
                  <a:lnTo>
                    <a:pt x="7" y="120"/>
                  </a:lnTo>
                  <a:lnTo>
                    <a:pt x="47" y="120"/>
                  </a:lnTo>
                  <a:lnTo>
                    <a:pt x="47" y="85"/>
                  </a:lnTo>
                  <a:lnTo>
                    <a:pt x="51" y="79"/>
                  </a:lnTo>
                  <a:lnTo>
                    <a:pt x="91" y="79"/>
                  </a:lnTo>
                  <a:lnTo>
                    <a:pt x="91" y="45"/>
                  </a:lnTo>
                  <a:lnTo>
                    <a:pt x="95" y="40"/>
                  </a:lnTo>
                  <a:lnTo>
                    <a:pt x="135" y="40"/>
                  </a:lnTo>
                  <a:lnTo>
                    <a:pt x="135" y="6"/>
                  </a:lnTo>
                  <a:lnTo>
                    <a:pt x="142" y="0"/>
                  </a:lnTo>
                </a:path>
              </a:pathLst>
            </a:cu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6" name="Freeform 30">
              <a:extLst>
                <a:ext uri="{FF2B5EF4-FFF2-40B4-BE49-F238E27FC236}">
                  <a16:creationId xmlns:a16="http://schemas.microsoft.com/office/drawing/2014/main" id="{5AFE2EBE-CE74-E623-0F5E-07DD9A3CA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0" y="2430"/>
              <a:ext cx="89" cy="106"/>
            </a:xfrm>
            <a:custGeom>
              <a:avLst/>
              <a:gdLst>
                <a:gd name="T0" fmla="*/ 30 w 398"/>
                <a:gd name="T1" fmla="*/ 9 h 470"/>
                <a:gd name="T2" fmla="*/ 57 w 398"/>
                <a:gd name="T3" fmla="*/ 9 h 470"/>
                <a:gd name="T4" fmla="*/ 57 w 398"/>
                <a:gd name="T5" fmla="*/ 16 h 470"/>
                <a:gd name="T6" fmla="*/ 59 w 398"/>
                <a:gd name="T7" fmla="*/ 18 h 470"/>
                <a:gd name="T8" fmla="*/ 67 w 398"/>
                <a:gd name="T9" fmla="*/ 18 h 470"/>
                <a:gd name="T10" fmla="*/ 67 w 398"/>
                <a:gd name="T11" fmla="*/ 34 h 470"/>
                <a:gd name="T12" fmla="*/ 21 w 398"/>
                <a:gd name="T13" fmla="*/ 34 h 470"/>
                <a:gd name="T14" fmla="*/ 21 w 398"/>
                <a:gd name="T15" fmla="*/ 18 h 470"/>
                <a:gd name="T16" fmla="*/ 28 w 398"/>
                <a:gd name="T17" fmla="*/ 18 h 470"/>
                <a:gd name="T18" fmla="*/ 30 w 398"/>
                <a:gd name="T19" fmla="*/ 16 h 470"/>
                <a:gd name="T20" fmla="*/ 30 w 398"/>
                <a:gd name="T21" fmla="*/ 9 h 470"/>
                <a:gd name="T22" fmla="*/ 30 w 398"/>
                <a:gd name="T23" fmla="*/ 0 h 470"/>
                <a:gd name="T24" fmla="*/ 67 w 398"/>
                <a:gd name="T25" fmla="*/ 0 h 470"/>
                <a:gd name="T26" fmla="*/ 69 w 398"/>
                <a:gd name="T27" fmla="*/ 1 h 470"/>
                <a:gd name="T28" fmla="*/ 69 w 398"/>
                <a:gd name="T29" fmla="*/ 7 h 470"/>
                <a:gd name="T30" fmla="*/ 77 w 398"/>
                <a:gd name="T31" fmla="*/ 7 h 470"/>
                <a:gd name="T32" fmla="*/ 79 w 398"/>
                <a:gd name="T33" fmla="*/ 9 h 470"/>
                <a:gd name="T34" fmla="*/ 79 w 398"/>
                <a:gd name="T35" fmla="*/ 16 h 470"/>
                <a:gd name="T36" fmla="*/ 87 w 398"/>
                <a:gd name="T37" fmla="*/ 16 h 470"/>
                <a:gd name="T38" fmla="*/ 89 w 398"/>
                <a:gd name="T39" fmla="*/ 18 h 470"/>
                <a:gd name="T40" fmla="*/ 89 w 398"/>
                <a:gd name="T41" fmla="*/ 43 h 470"/>
                <a:gd name="T42" fmla="*/ 87 w 398"/>
                <a:gd name="T43" fmla="*/ 44 h 470"/>
                <a:gd name="T44" fmla="*/ 21 w 398"/>
                <a:gd name="T45" fmla="*/ 44 h 470"/>
                <a:gd name="T46" fmla="*/ 21 w 398"/>
                <a:gd name="T47" fmla="*/ 70 h 470"/>
                <a:gd name="T48" fmla="*/ 28 w 398"/>
                <a:gd name="T49" fmla="*/ 70 h 470"/>
                <a:gd name="T50" fmla="*/ 30 w 398"/>
                <a:gd name="T51" fmla="*/ 71 h 470"/>
                <a:gd name="T52" fmla="*/ 30 w 398"/>
                <a:gd name="T53" fmla="*/ 78 h 470"/>
                <a:gd name="T54" fmla="*/ 38 w 398"/>
                <a:gd name="T55" fmla="*/ 78 h 470"/>
                <a:gd name="T56" fmla="*/ 39 w 398"/>
                <a:gd name="T57" fmla="*/ 79 h 470"/>
                <a:gd name="T58" fmla="*/ 39 w 398"/>
                <a:gd name="T59" fmla="*/ 87 h 470"/>
                <a:gd name="T60" fmla="*/ 77 w 398"/>
                <a:gd name="T61" fmla="*/ 87 h 470"/>
                <a:gd name="T62" fmla="*/ 77 w 398"/>
                <a:gd name="T63" fmla="*/ 79 h 470"/>
                <a:gd name="T64" fmla="*/ 79 w 398"/>
                <a:gd name="T65" fmla="*/ 78 h 470"/>
                <a:gd name="T66" fmla="*/ 87 w 398"/>
                <a:gd name="T67" fmla="*/ 78 h 470"/>
                <a:gd name="T68" fmla="*/ 89 w 398"/>
                <a:gd name="T69" fmla="*/ 79 h 470"/>
                <a:gd name="T70" fmla="*/ 89 w 398"/>
                <a:gd name="T71" fmla="*/ 87 h 470"/>
                <a:gd name="T72" fmla="*/ 87 w 398"/>
                <a:gd name="T73" fmla="*/ 88 h 470"/>
                <a:gd name="T74" fmla="*/ 79 w 398"/>
                <a:gd name="T75" fmla="*/ 88 h 470"/>
                <a:gd name="T76" fmla="*/ 79 w 398"/>
                <a:gd name="T77" fmla="*/ 96 h 470"/>
                <a:gd name="T78" fmla="*/ 77 w 398"/>
                <a:gd name="T79" fmla="*/ 97 h 470"/>
                <a:gd name="T80" fmla="*/ 69 w 398"/>
                <a:gd name="T81" fmla="*/ 97 h 470"/>
                <a:gd name="T82" fmla="*/ 69 w 398"/>
                <a:gd name="T83" fmla="*/ 104 h 470"/>
                <a:gd name="T84" fmla="*/ 67 w 398"/>
                <a:gd name="T85" fmla="*/ 106 h 470"/>
                <a:gd name="T86" fmla="*/ 30 w 398"/>
                <a:gd name="T87" fmla="*/ 106 h 470"/>
                <a:gd name="T88" fmla="*/ 28 w 398"/>
                <a:gd name="T89" fmla="*/ 104 h 470"/>
                <a:gd name="T90" fmla="*/ 28 w 398"/>
                <a:gd name="T91" fmla="*/ 97 h 470"/>
                <a:gd name="T92" fmla="*/ 11 w 398"/>
                <a:gd name="T93" fmla="*/ 97 h 470"/>
                <a:gd name="T94" fmla="*/ 10 w 398"/>
                <a:gd name="T95" fmla="*/ 96 h 470"/>
                <a:gd name="T96" fmla="*/ 10 w 398"/>
                <a:gd name="T97" fmla="*/ 79 h 470"/>
                <a:gd name="T98" fmla="*/ 2 w 398"/>
                <a:gd name="T99" fmla="*/ 79 h 470"/>
                <a:gd name="T100" fmla="*/ 0 w 398"/>
                <a:gd name="T101" fmla="*/ 78 h 470"/>
                <a:gd name="T102" fmla="*/ 0 w 398"/>
                <a:gd name="T103" fmla="*/ 26 h 470"/>
                <a:gd name="T104" fmla="*/ 2 w 398"/>
                <a:gd name="T105" fmla="*/ 25 h 470"/>
                <a:gd name="T106" fmla="*/ 10 w 398"/>
                <a:gd name="T107" fmla="*/ 25 h 470"/>
                <a:gd name="T108" fmla="*/ 10 w 398"/>
                <a:gd name="T109" fmla="*/ 9 h 470"/>
                <a:gd name="T110" fmla="*/ 11 w 398"/>
                <a:gd name="T111" fmla="*/ 7 h 470"/>
                <a:gd name="T112" fmla="*/ 28 w 398"/>
                <a:gd name="T113" fmla="*/ 7 h 470"/>
                <a:gd name="T114" fmla="*/ 28 w 398"/>
                <a:gd name="T115" fmla="*/ 1 h 470"/>
                <a:gd name="T116" fmla="*/ 30 w 398"/>
                <a:gd name="T117" fmla="*/ 0 h 47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98"/>
                <a:gd name="T178" fmla="*/ 0 h 470"/>
                <a:gd name="T179" fmla="*/ 398 w 398"/>
                <a:gd name="T180" fmla="*/ 470 h 47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98" h="470">
                  <a:moveTo>
                    <a:pt x="132" y="39"/>
                  </a:moveTo>
                  <a:lnTo>
                    <a:pt x="257" y="39"/>
                  </a:lnTo>
                  <a:lnTo>
                    <a:pt x="257" y="72"/>
                  </a:lnTo>
                  <a:lnTo>
                    <a:pt x="264" y="78"/>
                  </a:lnTo>
                  <a:lnTo>
                    <a:pt x="301" y="78"/>
                  </a:lnTo>
                  <a:lnTo>
                    <a:pt x="301" y="152"/>
                  </a:lnTo>
                  <a:lnTo>
                    <a:pt x="96" y="152"/>
                  </a:lnTo>
                  <a:lnTo>
                    <a:pt x="96" y="78"/>
                  </a:lnTo>
                  <a:lnTo>
                    <a:pt x="127" y="78"/>
                  </a:lnTo>
                  <a:lnTo>
                    <a:pt x="132" y="72"/>
                  </a:lnTo>
                  <a:lnTo>
                    <a:pt x="132" y="39"/>
                  </a:lnTo>
                  <a:close/>
                  <a:moveTo>
                    <a:pt x="132" y="0"/>
                  </a:moveTo>
                  <a:lnTo>
                    <a:pt x="301" y="0"/>
                  </a:lnTo>
                  <a:lnTo>
                    <a:pt x="309" y="5"/>
                  </a:lnTo>
                  <a:lnTo>
                    <a:pt x="309" y="32"/>
                  </a:lnTo>
                  <a:lnTo>
                    <a:pt x="345" y="32"/>
                  </a:lnTo>
                  <a:lnTo>
                    <a:pt x="353" y="39"/>
                  </a:lnTo>
                  <a:lnTo>
                    <a:pt x="353" y="72"/>
                  </a:lnTo>
                  <a:lnTo>
                    <a:pt x="389" y="72"/>
                  </a:lnTo>
                  <a:lnTo>
                    <a:pt x="397" y="78"/>
                  </a:lnTo>
                  <a:lnTo>
                    <a:pt x="397" y="191"/>
                  </a:lnTo>
                  <a:lnTo>
                    <a:pt x="389" y="196"/>
                  </a:lnTo>
                  <a:lnTo>
                    <a:pt x="96" y="196"/>
                  </a:lnTo>
                  <a:lnTo>
                    <a:pt x="96" y="310"/>
                  </a:lnTo>
                  <a:lnTo>
                    <a:pt x="127" y="310"/>
                  </a:lnTo>
                  <a:lnTo>
                    <a:pt x="132" y="316"/>
                  </a:lnTo>
                  <a:lnTo>
                    <a:pt x="132" y="345"/>
                  </a:lnTo>
                  <a:lnTo>
                    <a:pt x="171" y="345"/>
                  </a:lnTo>
                  <a:lnTo>
                    <a:pt x="176" y="350"/>
                  </a:lnTo>
                  <a:lnTo>
                    <a:pt x="176" y="384"/>
                  </a:lnTo>
                  <a:lnTo>
                    <a:pt x="345" y="384"/>
                  </a:lnTo>
                  <a:lnTo>
                    <a:pt x="345" y="350"/>
                  </a:lnTo>
                  <a:lnTo>
                    <a:pt x="353" y="345"/>
                  </a:lnTo>
                  <a:lnTo>
                    <a:pt x="389" y="345"/>
                  </a:lnTo>
                  <a:lnTo>
                    <a:pt x="397" y="350"/>
                  </a:lnTo>
                  <a:lnTo>
                    <a:pt x="397" y="384"/>
                  </a:lnTo>
                  <a:lnTo>
                    <a:pt x="389" y="389"/>
                  </a:lnTo>
                  <a:lnTo>
                    <a:pt x="353" y="389"/>
                  </a:lnTo>
                  <a:lnTo>
                    <a:pt x="353" y="424"/>
                  </a:lnTo>
                  <a:lnTo>
                    <a:pt x="345" y="430"/>
                  </a:lnTo>
                  <a:lnTo>
                    <a:pt x="309" y="430"/>
                  </a:lnTo>
                  <a:lnTo>
                    <a:pt x="309" y="463"/>
                  </a:lnTo>
                  <a:lnTo>
                    <a:pt x="301" y="469"/>
                  </a:lnTo>
                  <a:lnTo>
                    <a:pt x="132" y="469"/>
                  </a:lnTo>
                  <a:lnTo>
                    <a:pt x="127" y="463"/>
                  </a:lnTo>
                  <a:lnTo>
                    <a:pt x="127" y="430"/>
                  </a:lnTo>
                  <a:lnTo>
                    <a:pt x="51" y="430"/>
                  </a:lnTo>
                  <a:lnTo>
                    <a:pt x="44" y="424"/>
                  </a:lnTo>
                  <a:lnTo>
                    <a:pt x="44" y="350"/>
                  </a:lnTo>
                  <a:lnTo>
                    <a:pt x="7" y="350"/>
                  </a:lnTo>
                  <a:lnTo>
                    <a:pt x="0" y="345"/>
                  </a:lnTo>
                  <a:lnTo>
                    <a:pt x="0" y="117"/>
                  </a:lnTo>
                  <a:lnTo>
                    <a:pt x="7" y="111"/>
                  </a:lnTo>
                  <a:lnTo>
                    <a:pt x="44" y="111"/>
                  </a:lnTo>
                  <a:lnTo>
                    <a:pt x="44" y="39"/>
                  </a:lnTo>
                  <a:lnTo>
                    <a:pt x="51" y="32"/>
                  </a:lnTo>
                  <a:lnTo>
                    <a:pt x="127" y="32"/>
                  </a:lnTo>
                  <a:lnTo>
                    <a:pt x="127" y="5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7" name="Freeform 31">
              <a:extLst>
                <a:ext uri="{FF2B5EF4-FFF2-40B4-BE49-F238E27FC236}">
                  <a16:creationId xmlns:a16="http://schemas.microsoft.com/office/drawing/2014/main" id="{87A92E90-5D0F-D8F7-C290-D1E9D637B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" y="2678"/>
              <a:ext cx="181" cy="106"/>
            </a:xfrm>
            <a:custGeom>
              <a:avLst/>
              <a:gdLst>
                <a:gd name="T0" fmla="*/ 29 w 801"/>
                <a:gd name="T1" fmla="*/ 0 h 470"/>
                <a:gd name="T2" fmla="*/ 31 w 801"/>
                <a:gd name="T3" fmla="*/ 16 h 470"/>
                <a:gd name="T4" fmla="*/ 39 w 801"/>
                <a:gd name="T5" fmla="*/ 9 h 470"/>
                <a:gd name="T6" fmla="*/ 50 w 801"/>
                <a:gd name="T7" fmla="*/ 7 h 470"/>
                <a:gd name="T8" fmla="*/ 51 w 801"/>
                <a:gd name="T9" fmla="*/ 0 h 470"/>
                <a:gd name="T10" fmla="*/ 82 w 801"/>
                <a:gd name="T11" fmla="*/ 1 h 470"/>
                <a:gd name="T12" fmla="*/ 90 w 801"/>
                <a:gd name="T13" fmla="*/ 7 h 470"/>
                <a:gd name="T14" fmla="*/ 92 w 801"/>
                <a:gd name="T15" fmla="*/ 16 h 470"/>
                <a:gd name="T16" fmla="*/ 109 w 801"/>
                <a:gd name="T17" fmla="*/ 9 h 470"/>
                <a:gd name="T18" fmla="*/ 119 w 801"/>
                <a:gd name="T19" fmla="*/ 7 h 470"/>
                <a:gd name="T20" fmla="*/ 121 w 801"/>
                <a:gd name="T21" fmla="*/ 0 h 470"/>
                <a:gd name="T22" fmla="*/ 151 w 801"/>
                <a:gd name="T23" fmla="*/ 1 h 470"/>
                <a:gd name="T24" fmla="*/ 160 w 801"/>
                <a:gd name="T25" fmla="*/ 7 h 470"/>
                <a:gd name="T26" fmla="*/ 162 w 801"/>
                <a:gd name="T27" fmla="*/ 16 h 470"/>
                <a:gd name="T28" fmla="*/ 172 w 801"/>
                <a:gd name="T29" fmla="*/ 18 h 470"/>
                <a:gd name="T30" fmla="*/ 180 w 801"/>
                <a:gd name="T31" fmla="*/ 96 h 470"/>
                <a:gd name="T32" fmla="*/ 181 w 801"/>
                <a:gd name="T33" fmla="*/ 104 h 470"/>
                <a:gd name="T34" fmla="*/ 141 w 801"/>
                <a:gd name="T35" fmla="*/ 106 h 470"/>
                <a:gd name="T36" fmla="*/ 140 w 801"/>
                <a:gd name="T37" fmla="*/ 97 h 470"/>
                <a:gd name="T38" fmla="*/ 150 w 801"/>
                <a:gd name="T39" fmla="*/ 96 h 470"/>
                <a:gd name="T40" fmla="*/ 141 w 801"/>
                <a:gd name="T41" fmla="*/ 26 h 470"/>
                <a:gd name="T42" fmla="*/ 140 w 801"/>
                <a:gd name="T43" fmla="*/ 18 h 470"/>
                <a:gd name="T44" fmla="*/ 111 w 801"/>
                <a:gd name="T45" fmla="*/ 25 h 470"/>
                <a:gd name="T46" fmla="*/ 102 w 801"/>
                <a:gd name="T47" fmla="*/ 26 h 470"/>
                <a:gd name="T48" fmla="*/ 109 w 801"/>
                <a:gd name="T49" fmla="*/ 96 h 470"/>
                <a:gd name="T50" fmla="*/ 111 w 801"/>
                <a:gd name="T51" fmla="*/ 104 h 470"/>
                <a:gd name="T52" fmla="*/ 71 w 801"/>
                <a:gd name="T53" fmla="*/ 106 h 470"/>
                <a:gd name="T54" fmla="*/ 70 w 801"/>
                <a:gd name="T55" fmla="*/ 97 h 470"/>
                <a:gd name="T56" fmla="*/ 80 w 801"/>
                <a:gd name="T57" fmla="*/ 96 h 470"/>
                <a:gd name="T58" fmla="*/ 71 w 801"/>
                <a:gd name="T59" fmla="*/ 26 h 470"/>
                <a:gd name="T60" fmla="*/ 70 w 801"/>
                <a:gd name="T61" fmla="*/ 18 h 470"/>
                <a:gd name="T62" fmla="*/ 41 w 801"/>
                <a:gd name="T63" fmla="*/ 25 h 470"/>
                <a:gd name="T64" fmla="*/ 31 w 801"/>
                <a:gd name="T65" fmla="*/ 26 h 470"/>
                <a:gd name="T66" fmla="*/ 39 w 801"/>
                <a:gd name="T67" fmla="*/ 96 h 470"/>
                <a:gd name="T68" fmla="*/ 41 w 801"/>
                <a:gd name="T69" fmla="*/ 104 h 470"/>
                <a:gd name="T70" fmla="*/ 1 w 801"/>
                <a:gd name="T71" fmla="*/ 106 h 470"/>
                <a:gd name="T72" fmla="*/ 0 w 801"/>
                <a:gd name="T73" fmla="*/ 97 h 470"/>
                <a:gd name="T74" fmla="*/ 10 w 801"/>
                <a:gd name="T75" fmla="*/ 96 h 470"/>
                <a:gd name="T76" fmla="*/ 1 w 801"/>
                <a:gd name="T77" fmla="*/ 9 h 470"/>
                <a:gd name="T78" fmla="*/ 0 w 801"/>
                <a:gd name="T79" fmla="*/ 1 h 47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01"/>
                <a:gd name="T121" fmla="*/ 0 h 470"/>
                <a:gd name="T122" fmla="*/ 801 w 801"/>
                <a:gd name="T123" fmla="*/ 470 h 47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01" h="470">
                  <a:moveTo>
                    <a:pt x="4" y="0"/>
                  </a:moveTo>
                  <a:lnTo>
                    <a:pt x="129" y="0"/>
                  </a:lnTo>
                  <a:lnTo>
                    <a:pt x="137" y="6"/>
                  </a:lnTo>
                  <a:lnTo>
                    <a:pt x="137" y="73"/>
                  </a:lnTo>
                  <a:lnTo>
                    <a:pt x="173" y="73"/>
                  </a:lnTo>
                  <a:lnTo>
                    <a:pt x="173" y="39"/>
                  </a:lnTo>
                  <a:lnTo>
                    <a:pt x="181" y="32"/>
                  </a:lnTo>
                  <a:lnTo>
                    <a:pt x="220" y="32"/>
                  </a:lnTo>
                  <a:lnTo>
                    <a:pt x="220" y="6"/>
                  </a:lnTo>
                  <a:lnTo>
                    <a:pt x="225" y="0"/>
                  </a:lnTo>
                  <a:lnTo>
                    <a:pt x="354" y="0"/>
                  </a:lnTo>
                  <a:lnTo>
                    <a:pt x="362" y="6"/>
                  </a:lnTo>
                  <a:lnTo>
                    <a:pt x="362" y="32"/>
                  </a:lnTo>
                  <a:lnTo>
                    <a:pt x="399" y="32"/>
                  </a:lnTo>
                  <a:lnTo>
                    <a:pt x="406" y="39"/>
                  </a:lnTo>
                  <a:lnTo>
                    <a:pt x="406" y="73"/>
                  </a:lnTo>
                  <a:lnTo>
                    <a:pt x="484" y="73"/>
                  </a:lnTo>
                  <a:lnTo>
                    <a:pt x="484" y="39"/>
                  </a:lnTo>
                  <a:lnTo>
                    <a:pt x="492" y="32"/>
                  </a:lnTo>
                  <a:lnTo>
                    <a:pt x="528" y="32"/>
                  </a:lnTo>
                  <a:lnTo>
                    <a:pt x="528" y="6"/>
                  </a:lnTo>
                  <a:lnTo>
                    <a:pt x="536" y="0"/>
                  </a:lnTo>
                  <a:lnTo>
                    <a:pt x="665" y="0"/>
                  </a:lnTo>
                  <a:lnTo>
                    <a:pt x="670" y="6"/>
                  </a:lnTo>
                  <a:lnTo>
                    <a:pt x="670" y="32"/>
                  </a:lnTo>
                  <a:lnTo>
                    <a:pt x="709" y="32"/>
                  </a:lnTo>
                  <a:lnTo>
                    <a:pt x="717" y="39"/>
                  </a:lnTo>
                  <a:lnTo>
                    <a:pt x="717" y="73"/>
                  </a:lnTo>
                  <a:lnTo>
                    <a:pt x="756" y="73"/>
                  </a:lnTo>
                  <a:lnTo>
                    <a:pt x="763" y="78"/>
                  </a:lnTo>
                  <a:lnTo>
                    <a:pt x="763" y="424"/>
                  </a:lnTo>
                  <a:lnTo>
                    <a:pt x="795" y="424"/>
                  </a:lnTo>
                  <a:lnTo>
                    <a:pt x="800" y="430"/>
                  </a:lnTo>
                  <a:lnTo>
                    <a:pt x="800" y="463"/>
                  </a:lnTo>
                  <a:lnTo>
                    <a:pt x="795" y="469"/>
                  </a:lnTo>
                  <a:lnTo>
                    <a:pt x="626" y="469"/>
                  </a:lnTo>
                  <a:lnTo>
                    <a:pt x="619" y="463"/>
                  </a:lnTo>
                  <a:lnTo>
                    <a:pt x="619" y="430"/>
                  </a:lnTo>
                  <a:lnTo>
                    <a:pt x="626" y="424"/>
                  </a:lnTo>
                  <a:lnTo>
                    <a:pt x="665" y="424"/>
                  </a:lnTo>
                  <a:lnTo>
                    <a:pt x="665" y="117"/>
                  </a:lnTo>
                  <a:lnTo>
                    <a:pt x="626" y="117"/>
                  </a:lnTo>
                  <a:lnTo>
                    <a:pt x="619" y="112"/>
                  </a:lnTo>
                  <a:lnTo>
                    <a:pt x="619" y="78"/>
                  </a:lnTo>
                  <a:lnTo>
                    <a:pt x="492" y="78"/>
                  </a:lnTo>
                  <a:lnTo>
                    <a:pt x="492" y="112"/>
                  </a:lnTo>
                  <a:lnTo>
                    <a:pt x="484" y="117"/>
                  </a:lnTo>
                  <a:lnTo>
                    <a:pt x="452" y="117"/>
                  </a:lnTo>
                  <a:lnTo>
                    <a:pt x="452" y="424"/>
                  </a:lnTo>
                  <a:lnTo>
                    <a:pt x="484" y="424"/>
                  </a:lnTo>
                  <a:lnTo>
                    <a:pt x="492" y="430"/>
                  </a:lnTo>
                  <a:lnTo>
                    <a:pt x="492" y="463"/>
                  </a:lnTo>
                  <a:lnTo>
                    <a:pt x="484" y="469"/>
                  </a:lnTo>
                  <a:lnTo>
                    <a:pt x="315" y="469"/>
                  </a:lnTo>
                  <a:lnTo>
                    <a:pt x="308" y="463"/>
                  </a:lnTo>
                  <a:lnTo>
                    <a:pt x="308" y="430"/>
                  </a:lnTo>
                  <a:lnTo>
                    <a:pt x="315" y="424"/>
                  </a:lnTo>
                  <a:lnTo>
                    <a:pt x="354" y="424"/>
                  </a:lnTo>
                  <a:lnTo>
                    <a:pt x="354" y="117"/>
                  </a:lnTo>
                  <a:lnTo>
                    <a:pt x="315" y="117"/>
                  </a:lnTo>
                  <a:lnTo>
                    <a:pt x="308" y="112"/>
                  </a:lnTo>
                  <a:lnTo>
                    <a:pt x="308" y="78"/>
                  </a:lnTo>
                  <a:lnTo>
                    <a:pt x="181" y="78"/>
                  </a:lnTo>
                  <a:lnTo>
                    <a:pt x="181" y="112"/>
                  </a:lnTo>
                  <a:lnTo>
                    <a:pt x="173" y="117"/>
                  </a:lnTo>
                  <a:lnTo>
                    <a:pt x="137" y="117"/>
                  </a:lnTo>
                  <a:lnTo>
                    <a:pt x="137" y="424"/>
                  </a:lnTo>
                  <a:lnTo>
                    <a:pt x="173" y="424"/>
                  </a:lnTo>
                  <a:lnTo>
                    <a:pt x="181" y="430"/>
                  </a:lnTo>
                  <a:lnTo>
                    <a:pt x="181" y="463"/>
                  </a:lnTo>
                  <a:lnTo>
                    <a:pt x="173" y="469"/>
                  </a:lnTo>
                  <a:lnTo>
                    <a:pt x="4" y="469"/>
                  </a:lnTo>
                  <a:lnTo>
                    <a:pt x="0" y="463"/>
                  </a:lnTo>
                  <a:lnTo>
                    <a:pt x="0" y="430"/>
                  </a:lnTo>
                  <a:lnTo>
                    <a:pt x="4" y="424"/>
                  </a:lnTo>
                  <a:lnTo>
                    <a:pt x="44" y="424"/>
                  </a:lnTo>
                  <a:lnTo>
                    <a:pt x="44" y="39"/>
                  </a:lnTo>
                  <a:lnTo>
                    <a:pt x="4" y="39"/>
                  </a:lnTo>
                  <a:lnTo>
                    <a:pt x="0" y="32"/>
                  </a:lnTo>
                  <a:lnTo>
                    <a:pt x="0" y="6"/>
                  </a:lnTo>
                  <a:lnTo>
                    <a:pt x="4" y="0"/>
                  </a:lnTo>
                </a:path>
              </a:pathLst>
            </a:cu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6161" name="Picture 36">
            <a:extLst>
              <a:ext uri="{FF2B5EF4-FFF2-40B4-BE49-F238E27FC236}">
                <a16:creationId xmlns:a16="http://schemas.microsoft.com/office/drawing/2014/main" id="{430D1A11-C31A-7309-83DC-E6A13C926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913" y="2484438"/>
            <a:ext cx="2525712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>
            <a:extLst>
              <a:ext uri="{FF2B5EF4-FFF2-40B4-BE49-F238E27FC236}">
                <a16:creationId xmlns:a16="http://schemas.microsoft.com/office/drawing/2014/main" id="{B40E5905-C85C-21B9-238B-D835572C11C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C14BE69-5A1B-462F-9472-49E14FB5E60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413B887-1C74-83A0-CCF1-B0D684CFE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  <a:noFill/>
        </p:spPr>
        <p:txBody>
          <a:bodyPr lIns="19841" tIns="51588" rIns="19841" bIns="51588"/>
          <a:lstStyle/>
          <a:p>
            <a:pPr defTabSz="914400">
              <a:spcBef>
                <a:spcPts val="1000"/>
              </a:spcBef>
            </a:pPr>
            <a:r>
              <a:rPr lang="en-GB" altLang="en-US" sz="4900"/>
              <a:t>How Do You Test a Program?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4257786-8CD6-2FE8-B062-DDF40023D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74838"/>
            <a:ext cx="9144000" cy="47371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 sz="4400"/>
              <a:t>If the program does not behave as expected: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88"/>
              </a:spcBef>
            </a:pPr>
            <a:r>
              <a:rPr lang="en-GB" altLang="en-US" sz="4000"/>
              <a:t>Note the conditions under which it failed.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88"/>
              </a:spcBef>
            </a:pPr>
            <a:r>
              <a:rPr lang="en-GB" altLang="en-US" sz="4000"/>
              <a:t>Later debug and correct.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>
            <a:extLst>
              <a:ext uri="{FF2B5EF4-FFF2-40B4-BE49-F238E27FC236}">
                <a16:creationId xmlns:a16="http://schemas.microsoft.com/office/drawing/2014/main" id="{FEB98D7B-4D96-34C8-85DC-AEFF3EEFED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0F0CDFC-19FB-4CD9-BE61-5101998C63E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31BEBB1-DE9B-7D67-47D7-FC4F771DEBB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92113" y="268288"/>
            <a:ext cx="9296400" cy="889000"/>
          </a:xfrm>
        </p:spPr>
        <p:txBody>
          <a:bodyPr lIns="0" tIns="0" rIns="0" bIns="0"/>
          <a:lstStyle/>
          <a:p>
            <a:pPr eaLnBrk="1"/>
            <a:r>
              <a:rPr lang="en-US" altLang="en-US" sz="4500"/>
              <a:t>What’s So Hard About Testing ?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F16CCAE-06C0-E7C6-D13C-EC9052FE2BA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15913" y="1189038"/>
            <a:ext cx="9525000" cy="5899150"/>
          </a:xfrm>
        </p:spPr>
        <p:txBody>
          <a:bodyPr lIns="0" tIns="0" rIns="0" bIns="0"/>
          <a:lstStyle/>
          <a:p>
            <a:pPr marL="431800" indent="-323850" eaLnBrk="1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  <a:buClr>
                <a:schemeClr val="tx1"/>
              </a:buClr>
            </a:pPr>
            <a:r>
              <a:rPr lang="en-US" altLang="en-US"/>
              <a:t>Consider</a:t>
            </a:r>
            <a:r>
              <a:rPr lang="en-US" altLang="en-US">
                <a:latin typeface="Courier New" panose="02070309020205020404" pitchFamily="49" charset="0"/>
              </a:rPr>
              <a:t>	  </a:t>
            </a:r>
            <a:r>
              <a:rPr lang="en-US" altLang="en-US" sz="4300" b="1">
                <a:solidFill>
                  <a:srgbClr val="9C20EE"/>
                </a:solidFill>
                <a:latin typeface="Arial Unicode MS" pitchFamily="34" charset="-128"/>
                <a:ea typeface="Arial Unicode MS" pitchFamily="34" charset="-128"/>
              </a:rPr>
              <a:t>int</a:t>
            </a:r>
            <a:r>
              <a:rPr lang="en-US" altLang="en-US" sz="4300" b="1">
                <a:latin typeface="Arial Unicode MS" pitchFamily="34" charset="-128"/>
                <a:ea typeface="Arial Unicode MS" pitchFamily="34" charset="-128"/>
              </a:rPr>
              <a:t> proc1(</a:t>
            </a:r>
            <a:r>
              <a:rPr lang="en-US" altLang="en-US" sz="4300" b="1">
                <a:solidFill>
                  <a:srgbClr val="9C20EE"/>
                </a:solidFill>
                <a:latin typeface="Arial Unicode MS" pitchFamily="34" charset="-128"/>
                <a:ea typeface="Arial Unicode MS" pitchFamily="34" charset="-128"/>
              </a:rPr>
              <a:t>int</a:t>
            </a:r>
            <a:r>
              <a:rPr lang="en-US" altLang="en-US" sz="4300" b="1">
                <a:latin typeface="Arial Unicode MS" pitchFamily="34" charset="-128"/>
                <a:ea typeface="Arial Unicode MS" pitchFamily="34" charset="-128"/>
              </a:rPr>
              <a:t> x, </a:t>
            </a:r>
            <a:r>
              <a:rPr lang="en-US" altLang="en-US" sz="4300" b="1">
                <a:solidFill>
                  <a:srgbClr val="9C20EE"/>
                </a:solidFill>
                <a:latin typeface="Arial Unicode MS" pitchFamily="34" charset="-128"/>
                <a:ea typeface="Arial Unicode MS" pitchFamily="34" charset="-128"/>
              </a:rPr>
              <a:t>int</a:t>
            </a:r>
            <a:r>
              <a:rPr lang="en-US" altLang="en-US" sz="4300" b="1">
                <a:latin typeface="Arial Unicode MS" pitchFamily="34" charset="-128"/>
                <a:ea typeface="Arial Unicode MS" pitchFamily="34" charset="-128"/>
              </a:rPr>
              <a:t> y)</a:t>
            </a:r>
          </a:p>
          <a:p>
            <a:pPr marL="431800" indent="-323850" eaLnBrk="1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  <a:buClr>
                <a:schemeClr val="tx1"/>
              </a:buClr>
            </a:pPr>
            <a:r>
              <a:rPr lang="en-US" altLang="en-US"/>
              <a:t>Assuming a 64 bit computer</a:t>
            </a:r>
          </a:p>
          <a:p>
            <a:pPr marL="863600" lvl="1" indent="-287338" eaLnBrk="1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  <a:buClr>
                <a:schemeClr val="tx1"/>
              </a:buClr>
            </a:pPr>
            <a:r>
              <a:rPr lang="en-US" altLang="en-US" sz="3600"/>
              <a:t>Input space = 2</a:t>
            </a:r>
            <a:r>
              <a:rPr lang="en-US" altLang="en-US" sz="3600" baseline="30000"/>
              <a:t>128</a:t>
            </a:r>
          </a:p>
          <a:p>
            <a:pPr marL="863600" lvl="1" indent="-287338" eaLnBrk="1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sz="3600" baseline="30000"/>
          </a:p>
          <a:p>
            <a:pPr marL="431800" indent="-323850" eaLnBrk="1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  <a:buClr>
                <a:schemeClr val="tx1"/>
              </a:buClr>
            </a:pPr>
            <a:r>
              <a:rPr lang="en-US" altLang="en-US" sz="5100" baseline="30000"/>
              <a:t>Assuming it takes 10secs to key-in an integer pair</a:t>
            </a:r>
          </a:p>
          <a:p>
            <a:pPr marL="863600" lvl="1" indent="-287338" eaLnBrk="1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  <a:buClr>
                <a:schemeClr val="tx1"/>
              </a:buClr>
            </a:pPr>
            <a:r>
              <a:rPr lang="en-US" altLang="en-US" sz="4800" baseline="30000">
                <a:solidFill>
                  <a:srgbClr val="0000CC"/>
                </a:solidFill>
              </a:rPr>
              <a:t>It would take about a billion years to enter all possible values!</a:t>
            </a:r>
          </a:p>
          <a:p>
            <a:pPr marL="863600" lvl="1" indent="-287338" eaLnBrk="1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  <a:buClr>
                <a:schemeClr val="tx1"/>
              </a:buClr>
            </a:pPr>
            <a:r>
              <a:rPr lang="en-US" altLang="en-US" sz="4800" baseline="30000"/>
              <a:t>Automatic testing has its own problems!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0778BBEE-4BE7-0922-2338-F37675D0E6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3345BD4-F802-4634-AFAA-9EFA69D9DE88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AFB669B-2242-5C26-01CC-8BDA72E3A5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-411163"/>
            <a:ext cx="9066212" cy="1955801"/>
          </a:xfrm>
        </p:spPr>
        <p:txBody>
          <a:bodyPr/>
          <a:lstStyle/>
          <a:p>
            <a:r>
              <a:rPr lang="en-US" altLang="en-US"/>
              <a:t>Testing Facts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8573522-09AC-18C9-9E10-DEE5D1F68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3513" y="1265238"/>
            <a:ext cx="9917112" cy="584835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en-US" sz="4300">
                <a:solidFill>
                  <a:srgbClr val="0000CC"/>
                </a:solidFill>
              </a:rPr>
              <a:t>Consumes largest effort among all phases</a:t>
            </a:r>
          </a:p>
          <a:p>
            <a:pPr lvl="1">
              <a:lnSpc>
                <a:spcPct val="105000"/>
              </a:lnSpc>
            </a:pPr>
            <a:r>
              <a:rPr lang="en-US" altLang="en-US" sz="3900"/>
              <a:t>Largest manpower among all other development roles</a:t>
            </a:r>
          </a:p>
          <a:p>
            <a:pPr lvl="1">
              <a:lnSpc>
                <a:spcPct val="105000"/>
              </a:lnSpc>
            </a:pPr>
            <a:r>
              <a:rPr lang="en-US" altLang="en-US" sz="3900"/>
              <a:t>Implies more job opportunities</a:t>
            </a:r>
          </a:p>
          <a:p>
            <a:pPr>
              <a:lnSpc>
                <a:spcPct val="105000"/>
              </a:lnSpc>
            </a:pPr>
            <a:r>
              <a:rPr lang="en-US" altLang="en-US" sz="4300">
                <a:solidFill>
                  <a:srgbClr val="0000CC"/>
                </a:solidFill>
              </a:rPr>
              <a:t>About 50% development effort</a:t>
            </a:r>
          </a:p>
          <a:p>
            <a:pPr lvl="1">
              <a:lnSpc>
                <a:spcPct val="105000"/>
              </a:lnSpc>
            </a:pPr>
            <a:r>
              <a:rPr lang="en-US" altLang="en-US" sz="3900"/>
              <a:t>But 10% of development time?</a:t>
            </a:r>
          </a:p>
          <a:p>
            <a:pPr lvl="1">
              <a:lnSpc>
                <a:spcPct val="105000"/>
              </a:lnSpc>
            </a:pPr>
            <a:r>
              <a:rPr lang="en-US" altLang="en-US" sz="3900"/>
              <a:t>How?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>
            <a:extLst>
              <a:ext uri="{FF2B5EF4-FFF2-40B4-BE49-F238E27FC236}">
                <a16:creationId xmlns:a16="http://schemas.microsoft.com/office/drawing/2014/main" id="{74E57496-2715-C6BC-1089-612EE97CB27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0D4FA2D-6D3A-4B21-80AE-4FC44588F70F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D3EC3C5-A613-6C65-73C0-91FF942A3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Testing Facts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42AF729-7886-B853-3500-BA0078EEE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46238"/>
            <a:ext cx="9764713" cy="534987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en-US" sz="4700"/>
              <a:t>Testing is getting more complex and sophisticated every year.</a:t>
            </a:r>
          </a:p>
          <a:p>
            <a:pPr lvl="1">
              <a:lnSpc>
                <a:spcPct val="105000"/>
              </a:lnSpc>
            </a:pPr>
            <a:r>
              <a:rPr lang="en-US" altLang="en-US" sz="4300"/>
              <a:t>Larger and more complex programs</a:t>
            </a:r>
          </a:p>
          <a:p>
            <a:pPr lvl="1">
              <a:lnSpc>
                <a:spcPct val="105000"/>
              </a:lnSpc>
            </a:pPr>
            <a:r>
              <a:rPr lang="en-US" altLang="en-US" sz="4300"/>
              <a:t>Newer programming paradigms</a:t>
            </a:r>
          </a:p>
          <a:p>
            <a:pPr>
              <a:lnSpc>
                <a:spcPct val="105000"/>
              </a:lnSpc>
            </a:pPr>
            <a:endParaRPr lang="en-US" altLang="en-US" sz="4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>
            <a:extLst>
              <a:ext uri="{FF2B5EF4-FFF2-40B4-BE49-F238E27FC236}">
                <a16:creationId xmlns:a16="http://schemas.microsoft.com/office/drawing/2014/main" id="{65DFFABA-9086-0AA1-7C70-74C8582907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C98E0F1-4AA1-448C-AC2F-8BB2D21C396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E8B6919-D643-7A20-611A-9E2E11364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5500"/>
              <a:t>Overview of Testing Activities</a:t>
            </a:r>
          </a:p>
        </p:txBody>
      </p:sp>
      <p:sp>
        <p:nvSpPr>
          <p:cNvPr id="705539" name="Rectangle 3">
            <a:extLst>
              <a:ext uri="{FF2B5EF4-FFF2-40B4-BE49-F238E27FC236}">
                <a16:creationId xmlns:a16="http://schemas.microsoft.com/office/drawing/2014/main" id="{5F8B0146-F80D-0279-8B14-3B136B1B5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9775" y="1893888"/>
            <a:ext cx="8601075" cy="5086350"/>
          </a:xfrm>
        </p:spPr>
        <p:txBody>
          <a:bodyPr/>
          <a:lstStyle/>
          <a:p>
            <a:pPr>
              <a:spcBef>
                <a:spcPct val="15000"/>
              </a:spcBef>
              <a:spcAft>
                <a:spcPts val="800"/>
              </a:spcAft>
            </a:pPr>
            <a:r>
              <a:rPr lang="en-US" altLang="en-US" sz="4800"/>
              <a:t>Test Suite Design</a:t>
            </a:r>
          </a:p>
          <a:p>
            <a:pPr>
              <a:spcBef>
                <a:spcPct val="15000"/>
              </a:spcBef>
              <a:spcAft>
                <a:spcPts val="800"/>
              </a:spcAft>
            </a:pPr>
            <a:r>
              <a:rPr lang="en-US" altLang="en-US" sz="4800"/>
              <a:t>Run test cases and observe results to detect failures.</a:t>
            </a:r>
          </a:p>
          <a:p>
            <a:pPr>
              <a:spcBef>
                <a:spcPct val="15000"/>
              </a:spcBef>
              <a:spcAft>
                <a:spcPts val="800"/>
              </a:spcAft>
            </a:pPr>
            <a:r>
              <a:rPr lang="en-US" altLang="en-US" sz="4800"/>
              <a:t>Debug to locate errors</a:t>
            </a:r>
          </a:p>
          <a:p>
            <a:pPr>
              <a:spcBef>
                <a:spcPct val="15000"/>
              </a:spcBef>
              <a:spcAft>
                <a:spcPts val="800"/>
              </a:spcAft>
            </a:pPr>
            <a:r>
              <a:rPr lang="en-US" altLang="en-US" sz="4800"/>
              <a:t>Correct errors.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3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5">
            <a:extLst>
              <a:ext uri="{FF2B5EF4-FFF2-40B4-BE49-F238E27FC236}">
                <a16:creationId xmlns:a16="http://schemas.microsoft.com/office/drawing/2014/main" id="{53277E0D-BE84-E37A-944A-4E939F81006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FD719A4-9AC1-4A23-AE24-EEFB8BCE849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420442E-496C-BC81-1B3C-F0D43ADEF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888"/>
              </a:spcBef>
            </a:pPr>
            <a:r>
              <a:rPr lang="en-GB" altLang="en-US" sz="5500"/>
              <a:t>Error, Faults, and Failures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E70C0A17-6B25-1261-15D9-5DA31FCF3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0850" y="1828800"/>
            <a:ext cx="9009063" cy="45339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GB" altLang="en-US" sz="4800"/>
              <a:t>A failure is a manifestation of an  error (also defect or  bug).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GB" altLang="en-US" sz="4000">
                <a:solidFill>
                  <a:srgbClr val="0000FF"/>
                </a:solidFill>
              </a:rPr>
              <a:t>Mere presence of an</a:t>
            </a:r>
            <a:r>
              <a:rPr lang="en-GB" altLang="en-US" sz="4500">
                <a:solidFill>
                  <a:srgbClr val="0000FF"/>
                </a:solidFill>
              </a:rPr>
              <a:t> </a:t>
            </a:r>
            <a:r>
              <a:rPr lang="en-GB" altLang="en-US" sz="4000">
                <a:solidFill>
                  <a:srgbClr val="0000FF"/>
                </a:solidFill>
              </a:rPr>
              <a:t>error may</a:t>
            </a:r>
            <a:r>
              <a:rPr lang="en-GB" altLang="en-US" sz="4500">
                <a:solidFill>
                  <a:srgbClr val="0000FF"/>
                </a:solidFill>
              </a:rPr>
              <a:t> </a:t>
            </a:r>
            <a:r>
              <a:rPr lang="en-GB" altLang="en-US" sz="4000">
                <a:solidFill>
                  <a:srgbClr val="0000FF"/>
                </a:solidFill>
              </a:rPr>
              <a:t>not lead to a</a:t>
            </a:r>
            <a:r>
              <a:rPr lang="en-GB" altLang="en-US" sz="4500">
                <a:solidFill>
                  <a:srgbClr val="0000FF"/>
                </a:solidFill>
              </a:rPr>
              <a:t> </a:t>
            </a:r>
            <a:r>
              <a:rPr lang="en-GB" altLang="en-US" sz="4000">
                <a:solidFill>
                  <a:srgbClr val="0000FF"/>
                </a:solidFill>
              </a:rPr>
              <a:t>failure.</a:t>
            </a:r>
            <a:r>
              <a:rPr lang="en-GB" altLang="en-US" sz="400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>
            <a:extLst>
              <a:ext uri="{FF2B5EF4-FFF2-40B4-BE49-F238E27FC236}">
                <a16:creationId xmlns:a16="http://schemas.microsoft.com/office/drawing/2014/main" id="{567D2322-C140-E286-0573-7902775F50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F4A8BE55-75E9-4D80-9249-CD55F435AC7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6E89A35-B225-28F7-0BE2-DD046AC463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Pesticide Effect</a:t>
            </a:r>
          </a:p>
        </p:txBody>
      </p:sp>
      <p:sp>
        <p:nvSpPr>
          <p:cNvPr id="864259" name="Rectangle 3">
            <a:extLst>
              <a:ext uri="{FF2B5EF4-FFF2-40B4-BE49-F238E27FC236}">
                <a16:creationId xmlns:a16="http://schemas.microsoft.com/office/drawing/2014/main" id="{D4A8462A-3CC5-DECF-3706-B805AB363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417638"/>
            <a:ext cx="9523413" cy="569595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en-US"/>
              <a:t>Errors that escape a fault detection technique:</a:t>
            </a:r>
          </a:p>
          <a:p>
            <a:pPr lvl="1">
              <a:lnSpc>
                <a:spcPct val="105000"/>
              </a:lnSpc>
            </a:pPr>
            <a:r>
              <a:rPr lang="en-US" altLang="en-US">
                <a:solidFill>
                  <a:srgbClr val="0000CC"/>
                </a:solidFill>
              </a:rPr>
              <a:t>Can not be detected by further applications of that technique.</a:t>
            </a: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D161628B-06BD-D6A2-3C67-A2D9C553B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513" y="4618038"/>
            <a:ext cx="381000" cy="1828800"/>
          </a:xfrm>
          <a:prstGeom prst="rect">
            <a:avLst/>
          </a:prstGeom>
          <a:solidFill>
            <a:srgbClr val="00B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C522C976-5AF7-7810-F23A-D26152D54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4694238"/>
            <a:ext cx="304800" cy="1752600"/>
          </a:xfrm>
          <a:prstGeom prst="rect">
            <a:avLst/>
          </a:prstGeom>
          <a:solidFill>
            <a:srgbClr val="00B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2FF0E98A-8BD8-88C8-E8B4-645FA435D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313" y="4694238"/>
            <a:ext cx="228600" cy="1828800"/>
          </a:xfrm>
          <a:prstGeom prst="rect">
            <a:avLst/>
          </a:prstGeom>
          <a:solidFill>
            <a:srgbClr val="00B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0" name="AutoShape 7">
            <a:extLst>
              <a:ext uri="{FF2B5EF4-FFF2-40B4-BE49-F238E27FC236}">
                <a16:creationId xmlns:a16="http://schemas.microsoft.com/office/drawing/2014/main" id="{FD1D2192-E7C2-BC8E-5C6B-B2D866F05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3" y="5456238"/>
            <a:ext cx="1066800" cy="381000"/>
          </a:xfrm>
          <a:prstGeom prst="rightArrow">
            <a:avLst>
              <a:gd name="adj1" fmla="val 50000"/>
              <a:gd name="adj2" fmla="val 7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1" name="Oval 8">
            <a:extLst>
              <a:ext uri="{FF2B5EF4-FFF2-40B4-BE49-F238E27FC236}">
                <a16:creationId xmlns:a16="http://schemas.microsoft.com/office/drawing/2014/main" id="{31C6CCC1-0BB4-D6FC-30AD-65EC07FA5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303838"/>
            <a:ext cx="152400" cy="2286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2" name="Oval 9">
            <a:extLst>
              <a:ext uri="{FF2B5EF4-FFF2-40B4-BE49-F238E27FC236}">
                <a16:creationId xmlns:a16="http://schemas.microsoft.com/office/drawing/2014/main" id="{77231506-B6A0-15ED-280D-4AA715B08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5456238"/>
            <a:ext cx="152400" cy="2286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3" name="Oval 10">
            <a:extLst>
              <a:ext uri="{FF2B5EF4-FFF2-40B4-BE49-F238E27FC236}">
                <a16:creationId xmlns:a16="http://schemas.microsoft.com/office/drawing/2014/main" id="{3C7243CF-371C-DCEA-A42A-3E18AB239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5608638"/>
            <a:ext cx="152400" cy="2286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4" name="Oval 11">
            <a:extLst>
              <a:ext uri="{FF2B5EF4-FFF2-40B4-BE49-F238E27FC236}">
                <a16:creationId xmlns:a16="http://schemas.microsoft.com/office/drawing/2014/main" id="{A6ABC0E3-F833-25FC-537E-7BC428735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380038"/>
            <a:ext cx="152400" cy="2286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5" name="Oval 12">
            <a:extLst>
              <a:ext uri="{FF2B5EF4-FFF2-40B4-BE49-F238E27FC236}">
                <a16:creationId xmlns:a16="http://schemas.microsoft.com/office/drawing/2014/main" id="{3A125121-C19C-590E-800B-83789B194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5837238"/>
            <a:ext cx="152400" cy="2286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6" name="Oval 13">
            <a:extLst>
              <a:ext uri="{FF2B5EF4-FFF2-40B4-BE49-F238E27FC236}">
                <a16:creationId xmlns:a16="http://schemas.microsoft.com/office/drawing/2014/main" id="{1C1749C8-4C29-F615-A829-F369BA8A8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5989638"/>
            <a:ext cx="152400" cy="2286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7" name="Oval 14">
            <a:extLst>
              <a:ext uri="{FF2B5EF4-FFF2-40B4-BE49-F238E27FC236}">
                <a16:creationId xmlns:a16="http://schemas.microsoft.com/office/drawing/2014/main" id="{DAF33F86-6D0B-472C-2111-C4C265DDC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58372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8" name="Oval 15">
            <a:extLst>
              <a:ext uri="{FF2B5EF4-FFF2-40B4-BE49-F238E27FC236}">
                <a16:creationId xmlns:a16="http://schemas.microsoft.com/office/drawing/2014/main" id="{F2C6551F-D452-49D8-545D-FD6AF9E3A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59896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29" name="Oval 16">
            <a:extLst>
              <a:ext uri="{FF2B5EF4-FFF2-40B4-BE49-F238E27FC236}">
                <a16:creationId xmlns:a16="http://schemas.microsoft.com/office/drawing/2014/main" id="{ADD830E1-7841-DBED-1AEE-1E678A751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513" y="61420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0" name="Oval 17">
            <a:extLst>
              <a:ext uri="{FF2B5EF4-FFF2-40B4-BE49-F238E27FC236}">
                <a16:creationId xmlns:a16="http://schemas.microsoft.com/office/drawing/2014/main" id="{259DB050-4834-7962-7CCA-CFC8E3236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4541838"/>
            <a:ext cx="152400" cy="2286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1" name="Oval 18">
            <a:extLst>
              <a:ext uri="{FF2B5EF4-FFF2-40B4-BE49-F238E27FC236}">
                <a16:creationId xmlns:a16="http://schemas.microsoft.com/office/drawing/2014/main" id="{4EBF7206-73F8-E61C-711E-751E016BD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3" y="4694238"/>
            <a:ext cx="152400" cy="2286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2" name="Oval 19">
            <a:extLst>
              <a:ext uri="{FF2B5EF4-FFF2-40B4-BE49-F238E27FC236}">
                <a16:creationId xmlns:a16="http://schemas.microsoft.com/office/drawing/2014/main" id="{BCBA09A5-0EF7-3C21-CC7F-747B2A61C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4846638"/>
            <a:ext cx="152400" cy="2286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3" name="Oval 20">
            <a:extLst>
              <a:ext uri="{FF2B5EF4-FFF2-40B4-BE49-F238E27FC236}">
                <a16:creationId xmlns:a16="http://schemas.microsoft.com/office/drawing/2014/main" id="{20BE21CC-D4B8-39C2-CD44-3D4BCDC57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922838"/>
            <a:ext cx="152400" cy="2286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4" name="Oval 21">
            <a:extLst>
              <a:ext uri="{FF2B5EF4-FFF2-40B4-BE49-F238E27FC236}">
                <a16:creationId xmlns:a16="http://schemas.microsoft.com/office/drawing/2014/main" id="{0532BFEB-AEFB-645A-14AF-2013DD0E9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5075238"/>
            <a:ext cx="152400" cy="2286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5" name="Oval 22">
            <a:extLst>
              <a:ext uri="{FF2B5EF4-FFF2-40B4-BE49-F238E27FC236}">
                <a16:creationId xmlns:a16="http://schemas.microsoft.com/office/drawing/2014/main" id="{8FE6778A-C785-6E72-9257-96273CDE3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5227638"/>
            <a:ext cx="152400" cy="2286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6" name="Oval 23">
            <a:extLst>
              <a:ext uri="{FF2B5EF4-FFF2-40B4-BE49-F238E27FC236}">
                <a16:creationId xmlns:a16="http://schemas.microsoft.com/office/drawing/2014/main" id="{EB485942-2EBE-72C1-31ED-DA824B666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513" y="50752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7" name="Oval 24">
            <a:extLst>
              <a:ext uri="{FF2B5EF4-FFF2-40B4-BE49-F238E27FC236}">
                <a16:creationId xmlns:a16="http://schemas.microsoft.com/office/drawing/2014/main" id="{532B2F4B-10FB-E1BE-6658-F484CF975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1913" y="52276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8" name="Oval 25">
            <a:extLst>
              <a:ext uri="{FF2B5EF4-FFF2-40B4-BE49-F238E27FC236}">
                <a16:creationId xmlns:a16="http://schemas.microsoft.com/office/drawing/2014/main" id="{54DF99E7-E441-CEA4-9297-7EA0A89F4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4313" y="53800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39" name="Oval 26">
            <a:extLst>
              <a:ext uri="{FF2B5EF4-FFF2-40B4-BE49-F238E27FC236}">
                <a16:creationId xmlns:a16="http://schemas.microsoft.com/office/drawing/2014/main" id="{88BDE051-C173-EF18-5189-AD2908FB8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60658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0" name="Oval 27">
            <a:extLst>
              <a:ext uri="{FF2B5EF4-FFF2-40B4-BE49-F238E27FC236}">
                <a16:creationId xmlns:a16="http://schemas.microsoft.com/office/drawing/2014/main" id="{9B72290A-6027-5507-1303-E0676883A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5608638"/>
            <a:ext cx="152400" cy="2286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1" name="Oval 28">
            <a:extLst>
              <a:ext uri="{FF2B5EF4-FFF2-40B4-BE49-F238E27FC236}">
                <a16:creationId xmlns:a16="http://schemas.microsoft.com/office/drawing/2014/main" id="{4786480E-946D-0621-478B-873817277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5380038"/>
            <a:ext cx="152400" cy="2286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2" name="Oval 29">
            <a:extLst>
              <a:ext uri="{FF2B5EF4-FFF2-40B4-BE49-F238E27FC236}">
                <a16:creationId xmlns:a16="http://schemas.microsoft.com/office/drawing/2014/main" id="{DBF3D188-4526-1625-77C2-82E474A36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513" y="5837238"/>
            <a:ext cx="152400" cy="2286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3" name="Oval 30">
            <a:extLst>
              <a:ext uri="{FF2B5EF4-FFF2-40B4-BE49-F238E27FC236}">
                <a16:creationId xmlns:a16="http://schemas.microsoft.com/office/drawing/2014/main" id="{91D1F61D-DD9B-5A59-CBF0-3809039E2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59896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4" name="Oval 31">
            <a:extLst>
              <a:ext uri="{FF2B5EF4-FFF2-40B4-BE49-F238E27FC236}">
                <a16:creationId xmlns:a16="http://schemas.microsoft.com/office/drawing/2014/main" id="{F5435261-A0CC-538D-CCF1-D49DF07F3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913" y="4694238"/>
            <a:ext cx="152400" cy="2286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5" name="Oval 32">
            <a:extLst>
              <a:ext uri="{FF2B5EF4-FFF2-40B4-BE49-F238E27FC236}">
                <a16:creationId xmlns:a16="http://schemas.microsoft.com/office/drawing/2014/main" id="{A5040B1A-A8E9-459E-0E39-95A47D66B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5075238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6" name="AutoShape 33">
            <a:extLst>
              <a:ext uri="{FF2B5EF4-FFF2-40B4-BE49-F238E27FC236}">
                <a16:creationId xmlns:a16="http://schemas.microsoft.com/office/drawing/2014/main" id="{9263D980-2E7E-9A2C-7C28-631036C97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4913" y="4922838"/>
            <a:ext cx="152400" cy="304800"/>
          </a:xfrm>
          <a:prstGeom prst="pentagon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7" name="AutoShape 34">
            <a:extLst>
              <a:ext uri="{FF2B5EF4-FFF2-40B4-BE49-F238E27FC236}">
                <a16:creationId xmlns:a16="http://schemas.microsoft.com/office/drawing/2014/main" id="{295447A2-B900-4BB0-2FB3-90B76A3D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5380038"/>
            <a:ext cx="152400" cy="304800"/>
          </a:xfrm>
          <a:prstGeom prst="pentagon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8" name="AutoShape 35">
            <a:extLst>
              <a:ext uri="{FF2B5EF4-FFF2-40B4-BE49-F238E27FC236}">
                <a16:creationId xmlns:a16="http://schemas.microsoft.com/office/drawing/2014/main" id="{89B9C496-0066-EA52-5D46-23A2EE034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5913438"/>
            <a:ext cx="152400" cy="304800"/>
          </a:xfrm>
          <a:prstGeom prst="pentagon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49" name="AutoShape 36">
            <a:extLst>
              <a:ext uri="{FF2B5EF4-FFF2-40B4-BE49-F238E27FC236}">
                <a16:creationId xmlns:a16="http://schemas.microsoft.com/office/drawing/2014/main" id="{E2668CB3-A064-6F4A-41D0-CFB61E7B8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5075238"/>
            <a:ext cx="152400" cy="304800"/>
          </a:xfrm>
          <a:prstGeom prst="pentagon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50" name="Rectangle 37">
            <a:extLst>
              <a:ext uri="{FF2B5EF4-FFF2-40B4-BE49-F238E27FC236}">
                <a16:creationId xmlns:a16="http://schemas.microsoft.com/office/drawing/2014/main" id="{87A657D9-BA5C-9E3F-65B0-97373E85D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3" y="4694238"/>
            <a:ext cx="228600" cy="1828800"/>
          </a:xfrm>
          <a:prstGeom prst="rect">
            <a:avLst/>
          </a:prstGeom>
          <a:solidFill>
            <a:srgbClr val="00B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51" name="AutoShape 38">
            <a:extLst>
              <a:ext uri="{FF2B5EF4-FFF2-40B4-BE49-F238E27FC236}">
                <a16:creationId xmlns:a16="http://schemas.microsoft.com/office/drawing/2014/main" id="{322D4F96-23B4-F59B-2480-75CC100DD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913" y="6523038"/>
            <a:ext cx="381000" cy="457200"/>
          </a:xfrm>
          <a:prstGeom prst="upArrow">
            <a:avLst>
              <a:gd name="adj1" fmla="val 50000"/>
              <a:gd name="adj2" fmla="val 30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52" name="AutoShape 39">
            <a:extLst>
              <a:ext uri="{FF2B5EF4-FFF2-40B4-BE49-F238E27FC236}">
                <a16:creationId xmlns:a16="http://schemas.microsoft.com/office/drawing/2014/main" id="{DAE04396-045D-87A3-F699-5A3316931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113" y="6980238"/>
            <a:ext cx="152400" cy="304800"/>
          </a:xfrm>
          <a:prstGeom prst="pentagon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53" name="AutoShape 40">
            <a:extLst>
              <a:ext uri="{FF2B5EF4-FFF2-40B4-BE49-F238E27FC236}">
                <a16:creationId xmlns:a16="http://schemas.microsoft.com/office/drawing/2014/main" id="{D296B629-8EA8-728C-BA5B-E7360A6E0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313" y="7254875"/>
            <a:ext cx="152400" cy="304800"/>
          </a:xfrm>
          <a:prstGeom prst="pentagon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3354" name="AutoShape 41">
            <a:extLst>
              <a:ext uri="{FF2B5EF4-FFF2-40B4-BE49-F238E27FC236}">
                <a16:creationId xmlns:a16="http://schemas.microsoft.com/office/drawing/2014/main" id="{617BBFFC-844B-3BAD-7A85-DB96937E9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7056438"/>
            <a:ext cx="152400" cy="304800"/>
          </a:xfrm>
          <a:prstGeom prst="pentagon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9198076F-5D7B-C372-70DE-F6FE67E14C2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DB004E2-90E1-46BB-B201-FC54F809D94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B0C0870-23F1-7BE0-F2FF-6427A9D0F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Pesticide Effect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25E84536-40D9-708E-2AFA-2F205CA52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300"/>
              <a:t>Assume we use 4 fault detection techniques and 1000 bugs: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900"/>
              <a:t>Each detects only 70% bugs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900"/>
              <a:t>How many bugs would remain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900">
                <a:solidFill>
                  <a:srgbClr val="0000CC"/>
                </a:solidFill>
              </a:rPr>
              <a:t>1000*(0.3)</a:t>
            </a:r>
            <a:r>
              <a:rPr lang="en-US" altLang="en-US" sz="3900" baseline="30000">
                <a:solidFill>
                  <a:srgbClr val="0000CC"/>
                </a:solidFill>
              </a:rPr>
              <a:t>4</a:t>
            </a:r>
            <a:r>
              <a:rPr lang="en-US" altLang="en-US" sz="3900">
                <a:solidFill>
                  <a:srgbClr val="0000CC"/>
                </a:solidFill>
              </a:rPr>
              <a:t>=81 bugs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endParaRPr lang="en-US" altLang="en-US" sz="4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>
            <a:extLst>
              <a:ext uri="{FF2B5EF4-FFF2-40B4-BE49-F238E27FC236}">
                <a16:creationId xmlns:a16="http://schemas.microsoft.com/office/drawing/2014/main" id="{D2050F97-8A3D-D9DF-74C8-06E39217CA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8DB12D7-641D-48BC-BAF1-3C777C7F6B7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2FB93B7-F376-7687-82E9-6D2C7760C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Fault Model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9B665E2-306F-D465-A0AA-44053E9017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altLang="en-US" sz="4300">
                <a:solidFill>
                  <a:srgbClr val="0000CC"/>
                </a:solidFill>
              </a:rPr>
              <a:t>Types of faults possible in a program.</a:t>
            </a:r>
          </a:p>
          <a:p>
            <a:pPr>
              <a:lnSpc>
                <a:spcPct val="105000"/>
              </a:lnSpc>
            </a:pPr>
            <a:r>
              <a:rPr lang="en-US" altLang="en-US" sz="4300"/>
              <a:t>Some types can be ruled out</a:t>
            </a:r>
          </a:p>
          <a:p>
            <a:pPr lvl="1">
              <a:lnSpc>
                <a:spcPct val="105000"/>
              </a:lnSpc>
            </a:pPr>
            <a:r>
              <a:rPr lang="en-US" altLang="en-US" sz="3900"/>
              <a:t>Concurrency related-problems in a sequential program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D6659390-8027-E395-A077-37EC042224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75DCEEC-EE65-40A0-8B63-FFBF1AAE4CFE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B2CD3CE-2DDE-F481-E954-868B750C23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900"/>
              <a:t>Fault Model of an OO Program</a:t>
            </a:r>
          </a:p>
        </p:txBody>
      </p:sp>
      <p:sp>
        <p:nvSpPr>
          <p:cNvPr id="16388" name="Text Box 6">
            <a:extLst>
              <a:ext uri="{FF2B5EF4-FFF2-40B4-BE49-F238E27FC236}">
                <a16:creationId xmlns:a16="http://schemas.microsoft.com/office/drawing/2014/main" id="{D2DB505E-A090-BAA0-ECCE-B47041A52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3" y="1951038"/>
            <a:ext cx="21336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OO Faults</a:t>
            </a:r>
          </a:p>
        </p:txBody>
      </p:sp>
      <p:sp>
        <p:nvSpPr>
          <p:cNvPr id="16389" name="Text Box 7">
            <a:extLst>
              <a:ext uri="{FF2B5EF4-FFF2-40B4-BE49-F238E27FC236}">
                <a16:creationId xmlns:a16="http://schemas.microsoft.com/office/drawing/2014/main" id="{C8F99C06-3684-1DC5-94B2-D9E522B0F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2636838"/>
            <a:ext cx="213360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Structural  Faults</a:t>
            </a:r>
          </a:p>
        </p:txBody>
      </p:sp>
      <p:sp>
        <p:nvSpPr>
          <p:cNvPr id="16390" name="Text Box 8">
            <a:extLst>
              <a:ext uri="{FF2B5EF4-FFF2-40B4-BE49-F238E27FC236}">
                <a16:creationId xmlns:a16="http://schemas.microsoft.com/office/drawing/2014/main" id="{89C645D2-8F74-3E50-1026-7A467716B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913" y="2636838"/>
            <a:ext cx="2133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Algorithmic  Faults</a:t>
            </a:r>
          </a:p>
        </p:txBody>
      </p:sp>
      <p:sp>
        <p:nvSpPr>
          <p:cNvPr id="16391" name="Text Box 9">
            <a:extLst>
              <a:ext uri="{FF2B5EF4-FFF2-40B4-BE49-F238E27FC236}">
                <a16:creationId xmlns:a16="http://schemas.microsoft.com/office/drawing/2014/main" id="{F22A7C10-76B6-3EB8-AB9F-6466C29CF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1288" y="3986213"/>
            <a:ext cx="2133601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Procedural  Faults</a:t>
            </a:r>
          </a:p>
        </p:txBody>
      </p:sp>
      <p:sp>
        <p:nvSpPr>
          <p:cNvPr id="16392" name="Text Box 10">
            <a:extLst>
              <a:ext uri="{FF2B5EF4-FFF2-40B4-BE49-F238E27FC236}">
                <a16:creationId xmlns:a16="http://schemas.microsoft.com/office/drawing/2014/main" id="{A83C095B-3258-03FF-FD45-4BDFB0399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3986213"/>
            <a:ext cx="213360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Traceability  Faults</a:t>
            </a:r>
          </a:p>
        </p:txBody>
      </p:sp>
      <p:sp>
        <p:nvSpPr>
          <p:cNvPr id="16393" name="Text Box 11">
            <a:extLst>
              <a:ext uri="{FF2B5EF4-FFF2-40B4-BE49-F238E27FC236}">
                <a16:creationId xmlns:a16="http://schemas.microsoft.com/office/drawing/2014/main" id="{B5E20CD1-DC8E-36C9-8E03-D90043880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4008438"/>
            <a:ext cx="213360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OO</a:t>
            </a:r>
          </a:p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  Faults</a:t>
            </a:r>
          </a:p>
        </p:txBody>
      </p:sp>
      <p:sp>
        <p:nvSpPr>
          <p:cNvPr id="16394" name="Text Box 12">
            <a:extLst>
              <a:ext uri="{FF2B5EF4-FFF2-40B4-BE49-F238E27FC236}">
                <a16:creationId xmlns:a16="http://schemas.microsoft.com/office/drawing/2014/main" id="{1F389CEF-FD88-E029-83C2-B8098E897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113" y="3932238"/>
            <a:ext cx="2133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Incorrect  Result</a:t>
            </a:r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041CFF0B-BB49-0D8D-732F-387E9C1DF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713" y="3932238"/>
            <a:ext cx="2133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Inadequate  Performance</a:t>
            </a:r>
          </a:p>
        </p:txBody>
      </p:sp>
      <p:sp>
        <p:nvSpPr>
          <p:cNvPr id="16396" name="Line 14">
            <a:extLst>
              <a:ext uri="{FF2B5EF4-FFF2-40B4-BE49-F238E27FC236}">
                <a16:creationId xmlns:a16="http://schemas.microsoft.com/office/drawing/2014/main" id="{5DFF1898-B383-FC86-243C-BC5A3A0F9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3313" y="2408238"/>
            <a:ext cx="5029200" cy="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7" name="Line 15">
            <a:extLst>
              <a:ext uri="{FF2B5EF4-FFF2-40B4-BE49-F238E27FC236}">
                <a16:creationId xmlns:a16="http://schemas.microsoft.com/office/drawing/2014/main" id="{72D03749-3540-72CA-3280-A38390785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3313" y="2408238"/>
            <a:ext cx="0" cy="3048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8" name="Line 16">
            <a:extLst>
              <a:ext uri="{FF2B5EF4-FFF2-40B4-BE49-F238E27FC236}">
                <a16:creationId xmlns:a16="http://schemas.microsoft.com/office/drawing/2014/main" id="{7E8655CA-1C4D-CD1B-9F45-A34022CBB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2513" y="2408238"/>
            <a:ext cx="0" cy="3810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9" name="Line 17">
            <a:extLst>
              <a:ext uri="{FF2B5EF4-FFF2-40B4-BE49-F238E27FC236}">
                <a16:creationId xmlns:a16="http://schemas.microsoft.com/office/drawing/2014/main" id="{3E85899B-39CD-2E4A-DE3D-51C99F799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0713" y="2255838"/>
            <a:ext cx="0" cy="1524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0" name="Line 18">
            <a:extLst>
              <a:ext uri="{FF2B5EF4-FFF2-40B4-BE49-F238E27FC236}">
                <a16:creationId xmlns:a16="http://schemas.microsoft.com/office/drawing/2014/main" id="{E86DA612-28FF-C269-72F5-4529480EB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113" y="3627438"/>
            <a:ext cx="3505200" cy="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1" name="Line 19">
            <a:extLst>
              <a:ext uri="{FF2B5EF4-FFF2-40B4-BE49-F238E27FC236}">
                <a16:creationId xmlns:a16="http://schemas.microsoft.com/office/drawing/2014/main" id="{32A7C518-B9DB-F8DD-4036-728475146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3246438"/>
            <a:ext cx="0" cy="3810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2" name="Line 20">
            <a:extLst>
              <a:ext uri="{FF2B5EF4-FFF2-40B4-BE49-F238E27FC236}">
                <a16:creationId xmlns:a16="http://schemas.microsoft.com/office/drawing/2014/main" id="{64F05560-A261-5166-4A6B-752752CA93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113" y="3627438"/>
            <a:ext cx="0" cy="3810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3" name="Line 21">
            <a:extLst>
              <a:ext uri="{FF2B5EF4-FFF2-40B4-BE49-F238E27FC236}">
                <a16:creationId xmlns:a16="http://schemas.microsoft.com/office/drawing/2014/main" id="{E31F3815-3D29-78D9-169C-8D3D582DF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913" y="3627438"/>
            <a:ext cx="0" cy="3810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4" name="Line 22">
            <a:extLst>
              <a:ext uri="{FF2B5EF4-FFF2-40B4-BE49-F238E27FC236}">
                <a16:creationId xmlns:a16="http://schemas.microsoft.com/office/drawing/2014/main" id="{A98884AF-12C4-86BB-4A59-20D416F0F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8313" y="3627438"/>
            <a:ext cx="0" cy="3810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5" name="Line 23">
            <a:extLst>
              <a:ext uri="{FF2B5EF4-FFF2-40B4-BE49-F238E27FC236}">
                <a16:creationId xmlns:a16="http://schemas.microsoft.com/office/drawing/2014/main" id="{A9367731-F588-45A1-FB9A-9CCE293D7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0913" y="3627438"/>
            <a:ext cx="2438400" cy="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6" name="Line 24">
            <a:extLst>
              <a:ext uri="{FF2B5EF4-FFF2-40B4-BE49-F238E27FC236}">
                <a16:creationId xmlns:a16="http://schemas.microsoft.com/office/drawing/2014/main" id="{A0FDD14F-A0F8-91EE-D62B-8DECE221D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8713" y="3246438"/>
            <a:ext cx="0" cy="3810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7" name="Line 25">
            <a:extLst>
              <a:ext uri="{FF2B5EF4-FFF2-40B4-BE49-F238E27FC236}">
                <a16:creationId xmlns:a16="http://schemas.microsoft.com/office/drawing/2014/main" id="{9CA54B12-3D0F-853B-25FF-8F5BA8EED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0913" y="3627438"/>
            <a:ext cx="0" cy="3810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8" name="Line 27">
            <a:extLst>
              <a:ext uri="{FF2B5EF4-FFF2-40B4-BE49-F238E27FC236}">
                <a16:creationId xmlns:a16="http://schemas.microsoft.com/office/drawing/2014/main" id="{DF68B087-43AE-4144-A8FB-4C055BD9FC20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9313" y="3627438"/>
            <a:ext cx="0" cy="381000"/>
          </a:xfrm>
          <a:prstGeom prst="line">
            <a:avLst/>
          </a:prstGeom>
          <a:noFill/>
          <a:ln w="76200">
            <a:solidFill>
              <a:srgbClr val="66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>
            <a:extLst>
              <a:ext uri="{FF2B5EF4-FFF2-40B4-BE49-F238E27FC236}">
                <a16:creationId xmlns:a16="http://schemas.microsoft.com/office/drawing/2014/main" id="{A4F3DE1D-B725-AB56-3E0C-FC7D8E07E79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FE6611A-D368-4A2A-8AEC-E6E8A5623F7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8FF4FE6-1AD3-AC2E-C374-871051614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Hardware Fault-Model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8714713-CA6C-E0A3-13DA-B907B6566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493838"/>
            <a:ext cx="9523413" cy="56197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/>
              <a:t>Simple:</a:t>
            </a:r>
          </a:p>
          <a:p>
            <a:pPr lvl="1">
              <a:lnSpc>
                <a:spcPct val="100000"/>
              </a:lnSpc>
            </a:pPr>
            <a:r>
              <a:rPr lang="en-US" altLang="en-US"/>
              <a:t>Stuck-at 0</a:t>
            </a:r>
          </a:p>
          <a:p>
            <a:pPr lvl="1">
              <a:lnSpc>
                <a:spcPct val="100000"/>
              </a:lnSpc>
            </a:pPr>
            <a:r>
              <a:rPr lang="en-US" altLang="en-US"/>
              <a:t>Stuck-at 1</a:t>
            </a:r>
          </a:p>
          <a:p>
            <a:pPr lvl="1">
              <a:lnSpc>
                <a:spcPct val="100000"/>
              </a:lnSpc>
            </a:pPr>
            <a:r>
              <a:rPr lang="en-US" altLang="en-US"/>
              <a:t>Open circuit</a:t>
            </a:r>
          </a:p>
          <a:p>
            <a:pPr lvl="1">
              <a:lnSpc>
                <a:spcPct val="100000"/>
              </a:lnSpc>
            </a:pPr>
            <a:r>
              <a:rPr lang="en-US" altLang="en-US"/>
              <a:t>Short circuit</a:t>
            </a:r>
          </a:p>
          <a:p>
            <a:pPr>
              <a:lnSpc>
                <a:spcPct val="100000"/>
              </a:lnSpc>
            </a:pPr>
            <a:r>
              <a:rPr lang="en-US" altLang="en-US"/>
              <a:t>Simple ways to test the presence of each</a:t>
            </a:r>
          </a:p>
          <a:p>
            <a:pPr>
              <a:lnSpc>
                <a:spcPct val="100000"/>
              </a:lnSpc>
            </a:pPr>
            <a:r>
              <a:rPr lang="en-US" altLang="en-US"/>
              <a:t>Hardware testing is fault-based testing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>
            <a:extLst>
              <a:ext uri="{FF2B5EF4-FFF2-40B4-BE49-F238E27FC236}">
                <a16:creationId xmlns:a16="http://schemas.microsoft.com/office/drawing/2014/main" id="{31F3C62E-8F2C-7A25-FF4F-21DD7D71FF9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A26524F-13E1-4FA5-A39E-516D33FDD175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C3F7D8E-7B66-98B4-0E79-F16DDD43A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Testing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99BE881-46BB-8F9D-DD13-33941F15D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/>
              <a:t>Each test case typically tries to establish correct working of some functionality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/>
              <a:t>Executes (covers) some program elements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/>
              <a:t>For restricted types of faults, fault-based testing exists.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>
            <a:extLst>
              <a:ext uri="{FF2B5EF4-FFF2-40B4-BE49-F238E27FC236}">
                <a16:creationId xmlns:a16="http://schemas.microsoft.com/office/drawing/2014/main" id="{8ED04154-5945-ED5F-E23F-A63ED9C857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4716D4C5-4F7D-4317-834A-5B9C2A9B9525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AC0EC5D-9C4E-F234-D670-05FB0A20F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888"/>
              </a:spcBef>
            </a:pPr>
            <a:r>
              <a:rPr lang="en-GB" altLang="en-US" sz="4900"/>
              <a:t>Test Cases and Test Suites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86BEA56-2F0D-C3E4-6CC2-A95A7ECB2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19841" tIns="51588" rIns="19841" bIns="51588"/>
          <a:lstStyle/>
          <a:p>
            <a:pPr marL="342900" indent="-342900" defTabSz="914400">
              <a:spcBef>
                <a:spcPts val="1000"/>
              </a:spcBef>
            </a:pPr>
            <a:r>
              <a:rPr lang="en-GB" altLang="en-US" sz="5200"/>
              <a:t>Test a software using a set of carefully designed test cases:</a:t>
            </a:r>
          </a:p>
          <a:p>
            <a:pPr marL="742950" lvl="1" indent="-285750" defTabSz="914400">
              <a:spcBef>
                <a:spcPts val="1000"/>
              </a:spcBef>
            </a:pPr>
            <a:r>
              <a:rPr lang="en-GB" altLang="en-US" sz="4800">
                <a:solidFill>
                  <a:srgbClr val="0000FF"/>
                </a:solidFill>
              </a:rPr>
              <a:t>T</a:t>
            </a:r>
            <a:r>
              <a:rPr lang="en-GB" altLang="en-US" sz="5300">
                <a:solidFill>
                  <a:srgbClr val="0000FF"/>
                </a:solidFill>
              </a:rPr>
              <a:t>he set of all test cases is </a:t>
            </a:r>
            <a:r>
              <a:rPr lang="en-GB" altLang="en-US" sz="4800">
                <a:solidFill>
                  <a:srgbClr val="0000FF"/>
                </a:solidFill>
              </a:rPr>
              <a:t>called the</a:t>
            </a:r>
            <a:r>
              <a:rPr lang="en-GB" altLang="en-US" sz="5300">
                <a:solidFill>
                  <a:srgbClr val="0000FF"/>
                </a:solidFill>
              </a:rPr>
              <a:t> </a:t>
            </a:r>
            <a:r>
              <a:rPr lang="en-GB" altLang="en-US" sz="4800">
                <a:solidFill>
                  <a:srgbClr val="0000FF"/>
                </a:solidFill>
              </a:rPr>
              <a:t>test suite</a:t>
            </a:r>
            <a:r>
              <a:rPr lang="en-GB" altLang="en-US" sz="4800" u="sng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>
            <a:extLst>
              <a:ext uri="{FF2B5EF4-FFF2-40B4-BE49-F238E27FC236}">
                <a16:creationId xmlns:a16="http://schemas.microsoft.com/office/drawing/2014/main" id="{D6F60CBC-3E33-1287-0F4C-A3EC4D0EF0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61AD406-1645-4B9F-AB86-74D861241164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E1EC885-ABA0-F08C-5B53-353B787AD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888"/>
              </a:spcBef>
            </a:pPr>
            <a:r>
              <a:rPr lang="en-GB" altLang="en-US" sz="4900"/>
              <a:t>Test Cases and Test Suites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D163354-5436-8E8E-5C86-129750301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0038" y="1722438"/>
            <a:ext cx="9159875" cy="48768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888"/>
              </a:spcBef>
            </a:pPr>
            <a:r>
              <a:rPr lang="en-GB" altLang="en-US" sz="4800"/>
              <a:t>A </a:t>
            </a:r>
            <a:r>
              <a:rPr lang="en-GB" altLang="en-US" sz="4800">
                <a:solidFill>
                  <a:srgbClr val="0000FF"/>
                </a:solidFill>
              </a:rPr>
              <a:t>test case</a:t>
            </a:r>
            <a:r>
              <a:rPr lang="en-GB" altLang="en-US" sz="4800"/>
              <a:t> is a triplet [I,S,O]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00"/>
              </a:spcBef>
            </a:pPr>
            <a:r>
              <a:rPr lang="en-GB" altLang="en-US" sz="4400"/>
              <a:t>I is the data to be input to the system,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00"/>
              </a:spcBef>
            </a:pPr>
            <a:r>
              <a:rPr lang="en-GB" altLang="en-US" sz="4400"/>
              <a:t>S is the state of the system at which the data will be input,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00"/>
              </a:spcBef>
            </a:pPr>
            <a:r>
              <a:rPr lang="en-GB" altLang="en-US" sz="4400"/>
              <a:t>O is the expected output of the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>
            <a:extLst>
              <a:ext uri="{FF2B5EF4-FFF2-40B4-BE49-F238E27FC236}">
                <a16:creationId xmlns:a16="http://schemas.microsoft.com/office/drawing/2014/main" id="{F325005D-24B4-A418-92EA-7FA0237C52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6231EF3-F360-4581-BF99-D434F8C83C24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15F4D4B-17C4-A8B8-0B05-AB9964367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888"/>
              </a:spcBef>
            </a:pPr>
            <a:r>
              <a:rPr lang="en-GB" altLang="en-US" sz="5500"/>
              <a:t>Verification versus Validation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2EE0498-9580-55A0-56D6-2CB030AF8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1625" y="1722438"/>
            <a:ext cx="9559925" cy="5192712"/>
          </a:xfrm>
        </p:spPr>
        <p:txBody>
          <a:bodyPr lIns="19841" tIns="51588" rIns="19841" bIns="51588"/>
          <a:lstStyle/>
          <a:p>
            <a:pPr marL="342900" indent="-342900" defTabSz="914400">
              <a:spcBef>
                <a:spcPts val="800"/>
              </a:spcBef>
            </a:pPr>
            <a:r>
              <a:rPr lang="en-GB" altLang="en-US" sz="4400"/>
              <a:t>Verification is the process of determining:</a:t>
            </a:r>
          </a:p>
          <a:p>
            <a:pPr marL="742950" lvl="1" indent="-285750" defTabSz="914400">
              <a:spcBef>
                <a:spcPts val="725"/>
              </a:spcBef>
            </a:pPr>
            <a:r>
              <a:rPr lang="en-GB" altLang="en-US">
                <a:solidFill>
                  <a:srgbClr val="0000FF"/>
                </a:solidFill>
              </a:rPr>
              <a:t>Whether output</a:t>
            </a:r>
            <a:r>
              <a:rPr lang="en-GB" altLang="en-US" sz="4000">
                <a:solidFill>
                  <a:srgbClr val="0000FF"/>
                </a:solidFill>
              </a:rPr>
              <a:t> of </a:t>
            </a:r>
            <a:r>
              <a:rPr lang="en-GB" altLang="en-US">
                <a:solidFill>
                  <a:srgbClr val="0000FF"/>
                </a:solidFill>
              </a:rPr>
              <a:t>one phase of</a:t>
            </a:r>
            <a:r>
              <a:rPr lang="en-GB" altLang="en-US" sz="4000">
                <a:solidFill>
                  <a:srgbClr val="0000FF"/>
                </a:solidFill>
              </a:rPr>
              <a:t> </a:t>
            </a:r>
            <a:r>
              <a:rPr lang="en-GB" altLang="en-US">
                <a:solidFill>
                  <a:srgbClr val="0000FF"/>
                </a:solidFill>
              </a:rPr>
              <a:t>development</a:t>
            </a:r>
            <a:r>
              <a:rPr lang="en-GB" altLang="en-US" sz="4000">
                <a:solidFill>
                  <a:srgbClr val="0000FF"/>
                </a:solidFill>
              </a:rPr>
              <a:t> </a:t>
            </a:r>
            <a:r>
              <a:rPr lang="en-GB" altLang="en-US">
                <a:solidFill>
                  <a:srgbClr val="0000FF"/>
                </a:solidFill>
              </a:rPr>
              <a:t>conforms to its previous phase.</a:t>
            </a:r>
          </a:p>
          <a:p>
            <a:pPr marL="342900" indent="-342900" defTabSz="914400">
              <a:spcBef>
                <a:spcPts val="1000"/>
              </a:spcBef>
            </a:pPr>
            <a:r>
              <a:rPr lang="en-GB" altLang="en-US" sz="4400"/>
              <a:t>Validation </a:t>
            </a:r>
            <a:r>
              <a:rPr lang="en-GB" altLang="en-US"/>
              <a:t>is the process of</a:t>
            </a:r>
            <a:r>
              <a:rPr lang="en-GB" altLang="en-US" sz="4400"/>
              <a:t> </a:t>
            </a:r>
            <a:r>
              <a:rPr lang="en-GB" altLang="en-US"/>
              <a:t>determining:</a:t>
            </a:r>
          </a:p>
          <a:p>
            <a:pPr marL="742950" lvl="1" indent="-285750" defTabSz="914400">
              <a:spcBef>
                <a:spcPts val="725"/>
              </a:spcBef>
            </a:pPr>
            <a:r>
              <a:rPr lang="en-GB" altLang="en-US" sz="4000">
                <a:solidFill>
                  <a:srgbClr val="0000FF"/>
                </a:solidFill>
              </a:rPr>
              <a:t>Whether a fully developed system conforms to its </a:t>
            </a:r>
            <a:r>
              <a:rPr lang="en-GB" altLang="en-US">
                <a:solidFill>
                  <a:srgbClr val="0000FF"/>
                </a:solidFill>
              </a:rPr>
              <a:t>SRS </a:t>
            </a:r>
            <a:r>
              <a:rPr lang="en-GB" altLang="en-US" sz="4000">
                <a:solidFill>
                  <a:srgbClr val="0000FF"/>
                </a:solidFill>
              </a:rPr>
              <a:t>document</a:t>
            </a:r>
            <a:r>
              <a:rPr lang="en-GB" altLang="en-US" sz="4000">
                <a:solidFill>
                  <a:srgbClr val="FFFF00"/>
                </a:solidFill>
              </a:rPr>
              <a:t>.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>
            <a:extLst>
              <a:ext uri="{FF2B5EF4-FFF2-40B4-BE49-F238E27FC236}">
                <a16:creationId xmlns:a16="http://schemas.microsoft.com/office/drawing/2014/main" id="{7A7F1558-B8D1-9607-404B-AF4E31000F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A4CC4DA-A526-400A-8BAE-3EA26170A961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3FD5BF3-DE1C-C2F9-6906-927AB92E2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888"/>
              </a:spcBef>
            </a:pPr>
            <a:r>
              <a:rPr lang="en-GB" altLang="en-US" sz="4900"/>
              <a:t>Verification versus Validation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64670F9-0EE9-E6A8-9F0A-0DF2204F5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5913" y="1722438"/>
            <a:ext cx="9253537" cy="5837237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GB" altLang="en-US" sz="4800"/>
              <a:t>Verification is concerned with phase containment of errors,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GB" altLang="en-US" sz="4400"/>
              <a:t>Whereas the aim of validation is that the final product be error free.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>
            <a:extLst>
              <a:ext uri="{FF2B5EF4-FFF2-40B4-BE49-F238E27FC236}">
                <a16:creationId xmlns:a16="http://schemas.microsoft.com/office/drawing/2014/main" id="{2D5F512C-4709-B9D6-B31A-90FDA7E877A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68BB3E4-BBEB-4E38-A66B-8C95AE6A6E03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D074FE2-38D1-78FB-F9C9-7AE5ED4AD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1088"/>
              </a:spcBef>
            </a:pPr>
            <a:r>
              <a:rPr lang="en-GB" altLang="en-US" sz="5500"/>
              <a:t>Design of Test Cases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247C368-9331-2C9C-163E-9D5E52A31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113" y="1493838"/>
            <a:ext cx="9448800" cy="64770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800"/>
              <a:t>Exhaustive testing of any non-trivial system is impractical: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3900"/>
              <a:t>Input data domain </a:t>
            </a:r>
            <a:r>
              <a:rPr lang="en-GB" altLang="en-US"/>
              <a:t>is</a:t>
            </a:r>
            <a:r>
              <a:rPr lang="en-GB" altLang="en-US" sz="3900"/>
              <a:t> extremely large. </a:t>
            </a:r>
          </a:p>
          <a:p>
            <a:pPr marL="342900" indent="-34290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800"/>
              <a:t>Design an </a:t>
            </a:r>
            <a:r>
              <a:rPr lang="en-GB" altLang="en-US" sz="4800">
                <a:solidFill>
                  <a:srgbClr val="0000FF"/>
                </a:solidFill>
              </a:rPr>
              <a:t>optimal test suite: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400"/>
              <a:t>Of reasonable size and 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400"/>
              <a:t>Uncovers as many errors as possible.</a:t>
            </a:r>
            <a:r>
              <a:rPr lang="en-GB" altLang="en-US" sz="3900"/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>
            <a:extLst>
              <a:ext uri="{FF2B5EF4-FFF2-40B4-BE49-F238E27FC236}">
                <a16:creationId xmlns:a16="http://schemas.microsoft.com/office/drawing/2014/main" id="{7DC3C4BA-D103-6D48-D22E-1A336059268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8409714-F55F-46E0-BD7D-18FBD8358654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786F18D-8057-20AF-E4C7-08E7FB5CB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1088"/>
              </a:spcBef>
            </a:pPr>
            <a:r>
              <a:rPr lang="en-GB" altLang="en-US" sz="4900"/>
              <a:t>Design of Test Cases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49E3F9B-3C34-4B2E-503C-100723246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9550" y="1493838"/>
            <a:ext cx="9871075" cy="54102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/>
              <a:t>If test cases are selected randomly: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25"/>
              </a:spcBef>
            </a:pPr>
            <a:r>
              <a:rPr lang="en-GB" altLang="en-US"/>
              <a:t>Many test cases would not contribute to the significance of the test suite, 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25"/>
              </a:spcBef>
            </a:pPr>
            <a:r>
              <a:rPr lang="en-GB" altLang="en-US"/>
              <a:t>Would not detect errors not already being detected by other test cases in the suite.</a:t>
            </a:r>
          </a:p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>
                <a:solidFill>
                  <a:srgbClr val="0000FF"/>
                </a:solidFill>
              </a:rPr>
              <a:t>Number of test cases in a randomly selected test suite: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25"/>
              </a:spcBef>
            </a:pPr>
            <a:r>
              <a:rPr lang="en-GB" altLang="en-US">
                <a:solidFill>
                  <a:srgbClr val="0000FF"/>
                </a:solidFill>
              </a:rPr>
              <a:t>Not an indication of effectiveness of testing</a:t>
            </a:r>
            <a:r>
              <a:rPr lang="en-GB" altLang="en-US">
                <a:solidFill>
                  <a:srgbClr val="FFFF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>
            <a:extLst>
              <a:ext uri="{FF2B5EF4-FFF2-40B4-BE49-F238E27FC236}">
                <a16:creationId xmlns:a16="http://schemas.microsoft.com/office/drawing/2014/main" id="{08FF8B36-3DD4-1BD2-A50C-7889A9E1E5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675748D-CAC3-473C-B123-10C4FDB5BABE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D685878-6E24-7B98-507E-385DB05A6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1088"/>
              </a:spcBef>
            </a:pPr>
            <a:r>
              <a:rPr lang="en-GB" altLang="en-US" sz="5500"/>
              <a:t>Design of Test Cases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2F78B952-1FA0-C9F4-7DB1-EB9FE237B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493838"/>
            <a:ext cx="9494837" cy="55626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 sz="4400"/>
              <a:t>Testing a system using a</a:t>
            </a:r>
            <a:r>
              <a:rPr lang="en-GB" altLang="en-US"/>
              <a:t> large number </a:t>
            </a:r>
            <a:r>
              <a:rPr lang="en-GB" altLang="en-US" sz="4400"/>
              <a:t>of randomly selected test cases: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25"/>
              </a:spcBef>
            </a:pPr>
            <a:r>
              <a:rPr lang="en-GB" altLang="en-US" sz="4000">
                <a:solidFill>
                  <a:srgbClr val="0000FF"/>
                </a:solidFill>
              </a:rPr>
              <a:t>Does not mean that  many errors in the system will be uncovered.</a:t>
            </a:r>
          </a:p>
          <a:p>
            <a:pPr marL="342900" indent="-342900" defTabSz="914400">
              <a:lnSpc>
                <a:spcPct val="105000"/>
              </a:lnSpc>
              <a:spcBef>
                <a:spcPts val="800"/>
              </a:spcBef>
            </a:pPr>
            <a:r>
              <a:rPr lang="en-GB" altLang="en-US" sz="4400"/>
              <a:t>Consider following example: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00"/>
              </a:spcBef>
            </a:pPr>
            <a:r>
              <a:rPr lang="en-GB" altLang="en-US" sz="4000"/>
              <a:t>Find the maximum of two integers  x and  y.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>
            <a:extLst>
              <a:ext uri="{FF2B5EF4-FFF2-40B4-BE49-F238E27FC236}">
                <a16:creationId xmlns:a16="http://schemas.microsoft.com/office/drawing/2014/main" id="{47FE3C44-3A76-4DDE-0E21-9D70F93691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4CE3AC3F-F9DF-44B8-818B-D6F24C6B6F24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6FB4BDF-4BE5-7ADD-96CE-838315716F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1088"/>
              </a:spcBef>
            </a:pPr>
            <a:r>
              <a:rPr lang="en-GB" altLang="en-US" sz="5500"/>
              <a:t>Design of Test Cases</a:t>
            </a:r>
          </a:p>
        </p:txBody>
      </p:sp>
      <p:sp>
        <p:nvSpPr>
          <p:cNvPr id="724995" name="Rectangle 3">
            <a:extLst>
              <a:ext uri="{FF2B5EF4-FFF2-40B4-BE49-F238E27FC236}">
                <a16:creationId xmlns:a16="http://schemas.microsoft.com/office/drawing/2014/main" id="{E35EC78D-B33B-30A9-0445-932282ACD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4825" y="1417638"/>
            <a:ext cx="9013825" cy="53848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/>
              <a:t>The code has a simple programming error:</a:t>
            </a:r>
          </a:p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/>
              <a:t>  </a:t>
            </a:r>
            <a:r>
              <a:rPr lang="en-GB" altLang="en-US">
                <a:solidFill>
                  <a:srgbClr val="0000FF"/>
                </a:solidFill>
              </a:rPr>
              <a:t>If (x&gt;y) max = x;                </a:t>
            </a:r>
            <a:br>
              <a:rPr lang="en-GB" altLang="en-US">
                <a:solidFill>
                  <a:srgbClr val="0000FF"/>
                </a:solidFill>
              </a:rPr>
            </a:br>
            <a:r>
              <a:rPr lang="en-GB" altLang="en-US">
                <a:solidFill>
                  <a:srgbClr val="0000FF"/>
                </a:solidFill>
              </a:rPr>
              <a:t>		else max = x;</a:t>
            </a:r>
          </a:p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/>
              <a:t>Test suite </a:t>
            </a:r>
            <a:r>
              <a:rPr lang="en-GB" altLang="en-US">
                <a:solidFill>
                  <a:srgbClr val="0000FF"/>
                </a:solidFill>
              </a:rPr>
              <a:t>{(x=3,y=2);(x=2,y=3)}</a:t>
            </a:r>
            <a:r>
              <a:rPr lang="en-GB" altLang="en-US"/>
              <a:t> can detect the error, </a:t>
            </a:r>
          </a:p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/>
              <a:t>A larger test suite </a:t>
            </a:r>
            <a:r>
              <a:rPr lang="en-GB" altLang="en-US">
                <a:solidFill>
                  <a:srgbClr val="0000FF"/>
                </a:solidFill>
              </a:rPr>
              <a:t>{(x=3,y=2);(x=4,y=3); (x=5,y=1)}</a:t>
            </a:r>
            <a:r>
              <a:rPr lang="en-GB" altLang="en-US"/>
              <a:t> does not detect the error.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>
            <a:extLst>
              <a:ext uri="{FF2B5EF4-FFF2-40B4-BE49-F238E27FC236}">
                <a16:creationId xmlns:a16="http://schemas.microsoft.com/office/drawing/2014/main" id="{F086C479-4F3D-90F4-990B-92E79116FD4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6EBAB09-5DE8-43F3-989E-D2A1C3ED18B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15E7F58-0F41-0197-8A44-D10D6F9BF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1088"/>
              </a:spcBef>
            </a:pPr>
            <a:r>
              <a:rPr lang="en-GB" altLang="en-US" sz="5500"/>
              <a:t>Design of Test Cases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76E2678-F459-6C49-5C58-3E3F3D26B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570038"/>
            <a:ext cx="9253538" cy="554355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1000"/>
              </a:spcBef>
            </a:pPr>
            <a:r>
              <a:rPr lang="en-GB" altLang="en-US" sz="4400"/>
              <a:t>Systematic approaches are required to design an </a:t>
            </a:r>
            <a:r>
              <a:rPr lang="en-GB" altLang="en-US" sz="4400">
                <a:solidFill>
                  <a:srgbClr val="0000FF"/>
                </a:solidFill>
              </a:rPr>
              <a:t>optimal test suite: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88"/>
              </a:spcBef>
            </a:pPr>
            <a:r>
              <a:rPr lang="en-GB" altLang="en-US" sz="4000">
                <a:solidFill>
                  <a:srgbClr val="993300"/>
                </a:solidFill>
              </a:rPr>
              <a:t>Each test case in the suite should detect different errors.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>
            <a:extLst>
              <a:ext uri="{FF2B5EF4-FFF2-40B4-BE49-F238E27FC236}">
                <a16:creationId xmlns:a16="http://schemas.microsoft.com/office/drawing/2014/main" id="{4A5FB43C-CAB5-EBF4-0126-6543FEF2E7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2A1D775-D014-4874-B073-53BCBF9215DA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EA9E23AC-DB51-3AFB-8B77-3CEC92CBC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1088"/>
              </a:spcBef>
            </a:pPr>
            <a:r>
              <a:rPr lang="en-GB" altLang="en-US" sz="6700"/>
              <a:t>Design of Test Cases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9CA40B3-3858-C4A2-9069-798D02D17D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19841" tIns="51588" rIns="19841" bIns="51588"/>
          <a:lstStyle/>
          <a:p>
            <a:pPr marL="342900" indent="-342900" defTabSz="914400">
              <a:spcBef>
                <a:spcPts val="1000"/>
              </a:spcBef>
            </a:pPr>
            <a:r>
              <a:rPr lang="en-GB" altLang="en-US" sz="5200"/>
              <a:t>There are essentially three main approaches to design test cases:</a:t>
            </a:r>
          </a:p>
          <a:p>
            <a:pPr marL="742950" lvl="1" indent="-285750" defTabSz="914400">
              <a:spcBef>
                <a:spcPts val="888"/>
              </a:spcBef>
            </a:pPr>
            <a:r>
              <a:rPr lang="en-GB" altLang="en-US" sz="4800">
                <a:solidFill>
                  <a:srgbClr val="0000FF"/>
                </a:solidFill>
              </a:rPr>
              <a:t>Black-box approach</a:t>
            </a:r>
          </a:p>
          <a:p>
            <a:pPr marL="742950" lvl="1" indent="-285750" defTabSz="914400">
              <a:spcBef>
                <a:spcPts val="888"/>
              </a:spcBef>
            </a:pPr>
            <a:r>
              <a:rPr lang="en-GB" altLang="en-US" sz="4800">
                <a:solidFill>
                  <a:srgbClr val="0000FF"/>
                </a:solidFill>
              </a:rPr>
              <a:t>White-box (or glass-box) approach</a:t>
            </a:r>
          </a:p>
          <a:p>
            <a:pPr marL="742950" lvl="1" indent="-285750" defTabSz="914400">
              <a:spcBef>
                <a:spcPts val="888"/>
              </a:spcBef>
            </a:pPr>
            <a:r>
              <a:rPr lang="en-GB" altLang="en-US" sz="4800">
                <a:solidFill>
                  <a:srgbClr val="0000FF"/>
                </a:solidFill>
              </a:rPr>
              <a:t>Grey-box testing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>
            <a:extLst>
              <a:ext uri="{FF2B5EF4-FFF2-40B4-BE49-F238E27FC236}">
                <a16:creationId xmlns:a16="http://schemas.microsoft.com/office/drawing/2014/main" id="{80B865CB-CAF4-9737-2080-2E97FDD56B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4899BCB-7651-4FC9-B790-ECC9D348B885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07A641A-3F1A-AFDA-7284-55FEA830A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1000"/>
              </a:spcBef>
            </a:pPr>
            <a:r>
              <a:rPr lang="en-GB" altLang="en-US"/>
              <a:t>Black-Box Testing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EE885D6-3A41-A44F-A657-C1B137ED1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493838"/>
            <a:ext cx="9240837" cy="4897437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GB" altLang="en-US" sz="4000"/>
              <a:t>Test cases are designed using only </a:t>
            </a:r>
            <a:r>
              <a:rPr lang="en-GB" altLang="en-US" sz="4000">
                <a:solidFill>
                  <a:srgbClr val="0000FF"/>
                </a:solidFill>
              </a:rPr>
              <a:t>functional specification</a:t>
            </a:r>
            <a:r>
              <a:rPr lang="en-GB" altLang="en-US" sz="4000"/>
              <a:t> of the software: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GB" altLang="en-US" sz="3600"/>
              <a:t>Without any knowledge of the internal structure of the software.</a:t>
            </a:r>
          </a:p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GB" altLang="en-US" sz="4000"/>
              <a:t>For this reason, black-box testing is also known as  </a:t>
            </a:r>
            <a:r>
              <a:rPr lang="en-GB" altLang="en-US" sz="4000">
                <a:solidFill>
                  <a:srgbClr val="0000FF"/>
                </a:solidFill>
              </a:rPr>
              <a:t>functional testing.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>
            <a:extLst>
              <a:ext uri="{FF2B5EF4-FFF2-40B4-BE49-F238E27FC236}">
                <a16:creationId xmlns:a16="http://schemas.microsoft.com/office/drawing/2014/main" id="{68BB9646-D948-99FA-B280-A3028EE75F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0DD66AF-BC5F-48E9-B80F-43599D66CFEE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E77931E-3D27-802E-F6E4-89F5C4579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47625"/>
            <a:ext cx="9064625" cy="1952625"/>
          </a:xfrm>
        </p:spPr>
        <p:txBody>
          <a:bodyPr lIns="19841" tIns="51588" rIns="19841" bIns="51588"/>
          <a:lstStyle/>
          <a:p>
            <a:pPr defTabSz="914400">
              <a:spcBef>
                <a:spcPts val="1000"/>
              </a:spcBef>
            </a:pPr>
            <a:r>
              <a:rPr lang="en-GB" altLang="en-US"/>
              <a:t>White-box Testing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7D0903F-DC66-82D0-D4D1-195697A75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5913" y="1646238"/>
            <a:ext cx="9448800" cy="525780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888"/>
              </a:spcBef>
            </a:pPr>
            <a:r>
              <a:rPr lang="en-GB" altLang="en-US" sz="4800"/>
              <a:t>Designing white-box test cases: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00"/>
              </a:spcBef>
            </a:pPr>
            <a:r>
              <a:rPr lang="en-GB" altLang="en-US" sz="4400"/>
              <a:t>Requires knowledge about the internal structure of software.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800"/>
              </a:spcBef>
            </a:pPr>
            <a:r>
              <a:rPr lang="en-GB" altLang="en-US" sz="4400">
                <a:solidFill>
                  <a:srgbClr val="0000FF"/>
                </a:solidFill>
              </a:rPr>
              <a:t>White-box testing is also called structural testing.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25"/>
              </a:spcBef>
            </a:pPr>
            <a:r>
              <a:rPr lang="en-GB" altLang="en-US" sz="3900"/>
              <a:t>In this unit we will not study white-box testing.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>
            <a:extLst>
              <a:ext uri="{FF2B5EF4-FFF2-40B4-BE49-F238E27FC236}">
                <a16:creationId xmlns:a16="http://schemas.microsoft.com/office/drawing/2014/main" id="{3A0F4354-E640-5FFC-FDAD-706CD1DCF5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D6D066E-3A0A-435A-A9C8-0C4AD1A8367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DA0E9BB-3E18-B357-C5DA-CF03BAB79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-182563"/>
            <a:ext cx="9066213" cy="1955801"/>
          </a:xfrm>
        </p:spPr>
        <p:txBody>
          <a:bodyPr/>
          <a:lstStyle/>
          <a:p>
            <a:pPr defTabSz="914400"/>
            <a:r>
              <a:rPr lang="en-US" altLang="en-US" sz="5500"/>
              <a:t>White-Box Testing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F9432B2-DBEE-369C-4D81-8A325C8D6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441450"/>
            <a:ext cx="9558337" cy="5238750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600"/>
              <a:t>There exist several popular white-box testing methodologies: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200">
                <a:solidFill>
                  <a:srgbClr val="0000CC"/>
                </a:solidFill>
              </a:rPr>
              <a:t>Statement coverage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200">
                <a:solidFill>
                  <a:srgbClr val="0000CC"/>
                </a:solidFill>
              </a:rPr>
              <a:t>Branch coverage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200">
                <a:solidFill>
                  <a:srgbClr val="0000CC"/>
                </a:solidFill>
              </a:rPr>
              <a:t>Path coverage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200">
                <a:solidFill>
                  <a:srgbClr val="0000CC"/>
                </a:solidFill>
              </a:rPr>
              <a:t>Condition coverage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200">
                <a:solidFill>
                  <a:srgbClr val="0000CC"/>
                </a:solidFill>
              </a:rPr>
              <a:t>MC/DC coverage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200">
                <a:solidFill>
                  <a:srgbClr val="0000CC"/>
                </a:solidFill>
              </a:rPr>
              <a:t>Mutation testing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200">
                <a:solidFill>
                  <a:srgbClr val="0000CC"/>
                </a:solidFill>
              </a:rPr>
              <a:t>Data flow-based testing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>
            <a:extLst>
              <a:ext uri="{FF2B5EF4-FFF2-40B4-BE49-F238E27FC236}">
                <a16:creationId xmlns:a16="http://schemas.microsoft.com/office/drawing/2014/main" id="{D9488B91-BBF0-8179-60EA-85ED88D205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3A20265-8FD0-4DF5-84CE-E2FA7365123A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F318498-62B3-7763-D051-413F7FE7C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900"/>
              <a:t>Why Both BB and WB Testing?</a:t>
            </a: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6AC80F67-9D02-3DB6-95B2-E2DE6681BD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63513" y="1708150"/>
            <a:ext cx="4724400" cy="5348288"/>
          </a:xfrm>
          <a:solidFill>
            <a:srgbClr val="CCFF66"/>
          </a:solidFill>
          <a:ln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pPr>
              <a:buFont typeface="Comic Sans MS" panose="030F0702030302020204" pitchFamily="66" charset="0"/>
              <a:buNone/>
            </a:pPr>
            <a:r>
              <a:rPr lang="en-US" altLang="en-US" sz="3200" u="sng"/>
              <a:t>Black-box</a:t>
            </a:r>
          </a:p>
          <a:p>
            <a:r>
              <a:rPr lang="en-US" altLang="en-US" sz="3200"/>
              <a:t>Impossible to write a test case for every possible set of inputs and outputs</a:t>
            </a:r>
          </a:p>
          <a:p>
            <a:r>
              <a:rPr lang="en-US" altLang="en-US" sz="3200"/>
              <a:t>Some code parts may not be reachable </a:t>
            </a:r>
          </a:p>
          <a:p>
            <a:r>
              <a:rPr lang="en-US" altLang="en-US" sz="3200"/>
              <a:t>Does not tell if extra functionality has been implemented.</a:t>
            </a:r>
          </a:p>
        </p:txBody>
      </p:sp>
      <p:sp>
        <p:nvSpPr>
          <p:cNvPr id="887812" name="Rectangle 4">
            <a:extLst>
              <a:ext uri="{FF2B5EF4-FFF2-40B4-BE49-F238E27FC236}">
                <a16:creationId xmlns:a16="http://schemas.microsoft.com/office/drawing/2014/main" id="{EEBE4B4B-AA0D-6457-8FBD-21A2F12AECE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40313" y="1708150"/>
            <a:ext cx="4964112" cy="5348288"/>
          </a:xfrm>
          <a:solidFill>
            <a:srgbClr val="EBFE5C"/>
          </a:solidFill>
          <a:ln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pPr>
              <a:buFont typeface="Comic Sans MS" panose="030F0702030302020204" pitchFamily="66" charset="0"/>
              <a:buNone/>
            </a:pPr>
            <a:r>
              <a:rPr lang="en-US" altLang="en-US" sz="3100" u="sng"/>
              <a:t>White-box</a:t>
            </a:r>
          </a:p>
          <a:p>
            <a:r>
              <a:rPr lang="en-US" altLang="en-US" sz="3100"/>
              <a:t>Does not address the question of whether or not a program matches the specification</a:t>
            </a:r>
          </a:p>
          <a:p>
            <a:r>
              <a:rPr lang="en-US" altLang="en-US" sz="3100"/>
              <a:t>Does not tell you if all of the functionality has been implemented</a:t>
            </a:r>
          </a:p>
          <a:p>
            <a:r>
              <a:rPr lang="en-US" altLang="en-US" sz="3100"/>
              <a:t>Does not discover missing program logic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87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87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87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>
            <a:extLst>
              <a:ext uri="{FF2B5EF4-FFF2-40B4-BE49-F238E27FC236}">
                <a16:creationId xmlns:a16="http://schemas.microsoft.com/office/drawing/2014/main" id="{8505A681-E046-A601-2AFC-B6649E56A6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A63C710-3467-462E-A75B-DBBAF2FDB7D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C2AE3AC-A2C8-081A-6953-7655040E8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900"/>
              <a:t>Coverage-Based Testing Versus Fault-Based Testing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93FA202-9701-1D2C-A0C7-50AB08071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" y="1708150"/>
            <a:ext cx="9886950" cy="4972050"/>
          </a:xfrm>
        </p:spPr>
        <p:txBody>
          <a:bodyPr/>
          <a:lstStyle/>
          <a:p>
            <a:r>
              <a:rPr lang="en-US" altLang="en-US" sz="4000"/>
              <a:t>Idea behind coverage-based testing:</a:t>
            </a:r>
          </a:p>
          <a:p>
            <a:pPr lvl="1"/>
            <a:r>
              <a:rPr lang="en-US" altLang="en-US" sz="3600">
                <a:solidFill>
                  <a:srgbClr val="0000CC"/>
                </a:solidFill>
              </a:rPr>
              <a:t>Design test cases so that certain program elements are executed (or covered).</a:t>
            </a:r>
          </a:p>
          <a:p>
            <a:pPr lvl="1"/>
            <a:r>
              <a:rPr lang="en-US" altLang="en-US" sz="3600"/>
              <a:t>Example: statement coverage, path coverage, etc.</a:t>
            </a:r>
          </a:p>
          <a:p>
            <a:r>
              <a:rPr lang="en-US" altLang="en-US" sz="4000"/>
              <a:t>Idea behind fault-based testing:</a:t>
            </a:r>
          </a:p>
          <a:p>
            <a:pPr lvl="1"/>
            <a:r>
              <a:rPr lang="en-US" altLang="en-US" sz="3600">
                <a:solidFill>
                  <a:srgbClr val="0000CC"/>
                </a:solidFill>
              </a:rPr>
              <a:t>Design test cases that focus on discovering certain types of faults.</a:t>
            </a:r>
          </a:p>
          <a:p>
            <a:pPr lvl="1"/>
            <a:r>
              <a:rPr lang="en-US" altLang="en-US" sz="3600"/>
              <a:t>Example: Mutation testing.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>
            <a:extLst>
              <a:ext uri="{FF2B5EF4-FFF2-40B4-BE49-F238E27FC236}">
                <a16:creationId xmlns:a16="http://schemas.microsoft.com/office/drawing/2014/main" id="{E1610B08-B389-64F3-A226-9D28A1BF84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FC887357-72A6-4A36-967B-7A1328D4AD3A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CC1C8DD7-72D9-EEDC-3178-5AF31BBAC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6700"/>
              <a:t>Statement Coverage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C593A62D-C647-6A9F-9893-56216BE9F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113" y="1951038"/>
            <a:ext cx="9144000" cy="4537075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800"/>
              <a:t>Statement coverage methodology: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400">
                <a:solidFill>
                  <a:srgbClr val="0000CC"/>
                </a:solidFill>
              </a:rPr>
              <a:t>Design test cases so that every statement in the program is executed at least once.</a:t>
            </a:r>
            <a:r>
              <a:rPr lang="en-US" altLang="en-US" sz="4400">
                <a:solidFill>
                  <a:schemeClr val="hlin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>
            <a:extLst>
              <a:ext uri="{FF2B5EF4-FFF2-40B4-BE49-F238E27FC236}">
                <a16:creationId xmlns:a16="http://schemas.microsoft.com/office/drawing/2014/main" id="{52E2B3B0-DE9C-6181-F7FF-DEDF98FC92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6B614C2-41F1-4824-9F9F-E4F0460B2AA3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68AF3B5-B16E-D905-99CC-4705A2CC5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Statement Coverage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ECD9803-3E9D-DA31-26B0-38868838A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800">
                <a:solidFill>
                  <a:srgbClr val="0000CC"/>
                </a:solidFill>
              </a:rPr>
              <a:t>The principal idea:</a:t>
            </a:r>
            <a:r>
              <a:rPr lang="en-US" altLang="en-US" sz="4800"/>
              <a:t>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400"/>
              <a:t>Unless a statement is executed,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400"/>
              <a:t>We have no way of knowing  if an error exists in that statement.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>
            <a:extLst>
              <a:ext uri="{FF2B5EF4-FFF2-40B4-BE49-F238E27FC236}">
                <a16:creationId xmlns:a16="http://schemas.microsoft.com/office/drawing/2014/main" id="{F1469198-4C14-FBD4-AEE8-C408C21EF2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D684AF4-CDCA-43B0-BF4E-416FAF9F07C9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2883F097-E538-DFB5-192D-D819B48C12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5500"/>
              <a:t>Statement Coverage Criterion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3918F1F2-72BB-8051-6948-2385560FE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5913" y="1874838"/>
            <a:ext cx="9253537" cy="5349875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400"/>
              <a:t>Observing that a statement behaves properly for one input value: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000"/>
              <a:t>No guarantee that it will behave correctly for all input values.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>
            <a:extLst>
              <a:ext uri="{FF2B5EF4-FFF2-40B4-BE49-F238E27FC236}">
                <a16:creationId xmlns:a16="http://schemas.microsoft.com/office/drawing/2014/main" id="{2BDC7D82-F901-6CFC-78F1-9733E427C3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6D43EBD-3F8E-4F01-84A9-CC22DDC8918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E91F429-2E4B-8C56-DF86-83ED0959F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Statement Testing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36FABCEB-C3E9-8CF7-7E83-A88DE48F58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Coverage measurement:</a:t>
            </a:r>
          </a:p>
          <a:p>
            <a:pPr>
              <a:buFont typeface="Comic Sans MS" panose="030F0702030302020204" pitchFamily="66" charset="0"/>
              <a:buNone/>
            </a:pPr>
            <a:r>
              <a:rPr lang="en-US" altLang="en-US"/>
              <a:t>		</a:t>
            </a:r>
            <a:r>
              <a:rPr lang="en-US" altLang="en-US" u="sng">
                <a:solidFill>
                  <a:srgbClr val="0000CC"/>
                </a:solidFill>
              </a:rPr>
              <a:t># executed statements</a:t>
            </a:r>
          </a:p>
          <a:p>
            <a:pPr>
              <a:buFont typeface="Comic Sans MS" panose="030F0702030302020204" pitchFamily="66" charset="0"/>
              <a:buNone/>
            </a:pPr>
            <a:r>
              <a:rPr lang="en-US" altLang="en-US">
                <a:solidFill>
                  <a:srgbClr val="0000CC"/>
                </a:solidFill>
              </a:rPr>
              <a:t>		     # statements</a:t>
            </a:r>
          </a:p>
          <a:p>
            <a:endParaRPr lang="en-US" altLang="en-US"/>
          </a:p>
          <a:p>
            <a:r>
              <a:rPr lang="en-US" altLang="en-US"/>
              <a:t>Rationale: a fault in a statement can only be revealed by executing the faulty statement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>
            <a:extLst>
              <a:ext uri="{FF2B5EF4-FFF2-40B4-BE49-F238E27FC236}">
                <a16:creationId xmlns:a16="http://schemas.microsoft.com/office/drawing/2014/main" id="{04A550A3-40C5-B5BF-B602-BE558378E42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905717A-BE9F-4CC4-B59A-5280F5429208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3DA0F22-AD89-2D46-DD59-97716D360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6700"/>
              <a:t>Example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B4AD4BCD-52AE-A95D-7313-12A15350A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1175" y="1517650"/>
            <a:ext cx="9096375" cy="51625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</a:pPr>
            <a:r>
              <a:rPr lang="en-US" altLang="en-US"/>
              <a:t>int f1(int x, int y){                    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</a:pPr>
            <a:r>
              <a:rPr lang="en-US" altLang="en-US">
                <a:solidFill>
                  <a:srgbClr val="000099"/>
                </a:solidFill>
              </a:rPr>
              <a:t>1</a:t>
            </a:r>
            <a:r>
              <a:rPr lang="en-US" altLang="en-US"/>
              <a:t> while (x != y){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</a:pPr>
            <a:r>
              <a:rPr lang="en-US" altLang="en-US">
                <a:solidFill>
                  <a:srgbClr val="000099"/>
                </a:solidFill>
              </a:rPr>
              <a:t>2</a:t>
            </a:r>
            <a:r>
              <a:rPr lang="en-US" altLang="en-US"/>
              <a:t>    if (x&gt;y) then 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</a:pPr>
            <a:r>
              <a:rPr lang="en-US" altLang="en-US">
                <a:solidFill>
                  <a:srgbClr val="000099"/>
                </a:solidFill>
              </a:rPr>
              <a:t>3</a:t>
            </a:r>
            <a:r>
              <a:rPr lang="en-US" altLang="en-US"/>
              <a:t>         x=x-y;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</a:pPr>
            <a:r>
              <a:rPr lang="en-US" altLang="en-US">
                <a:solidFill>
                  <a:srgbClr val="000099"/>
                </a:solidFill>
              </a:rPr>
              <a:t>4</a:t>
            </a:r>
            <a:r>
              <a:rPr lang="en-US" altLang="en-US"/>
              <a:t>    else y=y-x;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</a:pPr>
            <a:r>
              <a:rPr lang="en-US" altLang="en-US">
                <a:solidFill>
                  <a:srgbClr val="000099"/>
                </a:solidFill>
              </a:rPr>
              <a:t>5</a:t>
            </a:r>
            <a:r>
              <a:rPr lang="en-US" altLang="en-US"/>
              <a:t> }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</a:pPr>
            <a:r>
              <a:rPr lang="en-US" altLang="en-US">
                <a:solidFill>
                  <a:srgbClr val="000099"/>
                </a:solidFill>
              </a:rPr>
              <a:t>6</a:t>
            </a:r>
            <a:r>
              <a:rPr lang="en-US" altLang="en-US"/>
              <a:t> return x;        }</a:t>
            </a:r>
          </a:p>
        </p:txBody>
      </p:sp>
      <p:sp>
        <p:nvSpPr>
          <p:cNvPr id="892932" name="WordArt 4">
            <a:extLst>
              <a:ext uri="{FF2B5EF4-FFF2-40B4-BE49-F238E27FC236}">
                <a16:creationId xmlns:a16="http://schemas.microsoft.com/office/drawing/2014/main" id="{5207705A-A4EF-A4A7-C39E-D58D3F281C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48288" y="3421063"/>
            <a:ext cx="2760662" cy="4429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Arial Black" panose="020B0A04020102020204" pitchFamily="34" charset="0"/>
              </a:rPr>
              <a:t>Euclid's GCD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>
            <a:extLst>
              <a:ext uri="{FF2B5EF4-FFF2-40B4-BE49-F238E27FC236}">
                <a16:creationId xmlns:a16="http://schemas.microsoft.com/office/drawing/2014/main" id="{9C47AC4C-2086-28C0-67E8-1EF9A50D5E1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3899160-19DB-4D1F-AF59-5C5F394F05A9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35821F8C-2CDA-C451-526F-F19F46FEE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5500"/>
              <a:t>Euclid's GCD Algorithm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87C4D379-1784-55C9-B75F-2A8D06F65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en-US" sz="4400"/>
              <a:t>By choosing the test set {(x=3,y=3),(x=4,y=3), (x=3,y=4)}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en-US" sz="4100"/>
              <a:t>All statements are executed at least once.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>
            <a:extLst>
              <a:ext uri="{FF2B5EF4-FFF2-40B4-BE49-F238E27FC236}">
                <a16:creationId xmlns:a16="http://schemas.microsoft.com/office/drawing/2014/main" id="{A34D7D05-06FE-B041-1FA1-A865C061DC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CB0754E-3A83-4A88-A2EE-9ADE63352E74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1346C42-30BE-CCD2-B833-D823B160DD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Branch Coverage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FCFB054-C8C3-C21C-A32C-B1E7965A2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800"/>
              <a:t>Test cases are designed such that: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500"/>
              <a:t>Different branch conditions</a:t>
            </a:r>
          </a:p>
          <a:p>
            <a:pPr marL="1143000" lvl="2" indent="-22860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900"/>
              <a:t>Given true and false values in turn.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>
            <a:extLst>
              <a:ext uri="{FF2B5EF4-FFF2-40B4-BE49-F238E27FC236}">
                <a16:creationId xmlns:a16="http://schemas.microsoft.com/office/drawing/2014/main" id="{A8797682-89CD-E9E5-9CD5-CEF7BAF5AD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C8418CB-B19D-4FEB-A835-49E70D15350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008BEF7-74E9-BD45-79C7-AFBBD4230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6700"/>
              <a:t>Branch Coverage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CEB3374-1A51-CFD6-D15F-2BCE4B7A4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en-US" altLang="en-US" sz="4800"/>
              <a:t>Branch testing guarantees statement coverage: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en-US" altLang="en-US" sz="4400"/>
              <a:t>A stronger testing compared to the statement coverage-based testing.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>
            <a:extLst>
              <a:ext uri="{FF2B5EF4-FFF2-40B4-BE49-F238E27FC236}">
                <a16:creationId xmlns:a16="http://schemas.microsoft.com/office/drawing/2014/main" id="{66F3430E-8ABA-ADD3-D9C8-45DF86E892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7E37E98-C9E1-4AC2-B39A-CC9017701C03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7B49B1E0-28B7-2711-167F-7FB1716AD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Stronger Testing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85637C06-CA28-4657-D62A-ABC9FA453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74838"/>
            <a:ext cx="8569325" cy="4537075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400"/>
              <a:t>Test cases are a superset of a weaker testing: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000"/>
              <a:t>A stronger testing covers at least all the elements of the elements covered by a weaker testing.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>
            <a:extLst>
              <a:ext uri="{FF2B5EF4-FFF2-40B4-BE49-F238E27FC236}">
                <a16:creationId xmlns:a16="http://schemas.microsoft.com/office/drawing/2014/main" id="{DB4A2B4A-4910-4809-7E2E-5CB490A39BA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1D4E6A4-A7C4-4E62-97C2-0FCF6BFA0A2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98A21F7-4970-D8B2-2377-5851D61E7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900"/>
              <a:t>Stronger, Weaker, and Complementary Testing</a:t>
            </a:r>
          </a:p>
        </p:txBody>
      </p:sp>
      <p:sp>
        <p:nvSpPr>
          <p:cNvPr id="44036" name="Oval 4">
            <a:extLst>
              <a:ext uri="{FF2B5EF4-FFF2-40B4-BE49-F238E27FC236}">
                <a16:creationId xmlns:a16="http://schemas.microsoft.com/office/drawing/2014/main" id="{FD12A398-938B-AC1C-7534-1A2752478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2179638"/>
            <a:ext cx="4267200" cy="4419600"/>
          </a:xfrm>
          <a:prstGeom prst="ellipse">
            <a:avLst/>
          </a:prstGeom>
          <a:solidFill>
            <a:srgbClr val="00B8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44037" name="Oval 5">
            <a:extLst>
              <a:ext uri="{FF2B5EF4-FFF2-40B4-BE49-F238E27FC236}">
                <a16:creationId xmlns:a16="http://schemas.microsoft.com/office/drawing/2014/main" id="{CEFFA504-FAF6-EA85-6ED1-788EE69A7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913" y="2941638"/>
            <a:ext cx="4267200" cy="3657600"/>
          </a:xfrm>
          <a:prstGeom prst="ellipse">
            <a:avLst/>
          </a:prstGeom>
          <a:solidFill>
            <a:srgbClr val="6600FF">
              <a:alpha val="54117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44038" name="Oval 6">
            <a:extLst>
              <a:ext uri="{FF2B5EF4-FFF2-40B4-BE49-F238E27FC236}">
                <a16:creationId xmlns:a16="http://schemas.microsoft.com/office/drawing/2014/main" id="{0BD564AE-9AE4-21D6-7168-2A292CDA9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3475038"/>
            <a:ext cx="1447800" cy="16764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44039" name="Text Box 7">
            <a:extLst>
              <a:ext uri="{FF2B5EF4-FFF2-40B4-BE49-F238E27FC236}">
                <a16:creationId xmlns:a16="http://schemas.microsoft.com/office/drawing/2014/main" id="{84E3387D-D990-E42E-287E-D2CC19089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761038"/>
            <a:ext cx="14478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Weaker</a:t>
            </a:r>
          </a:p>
        </p:txBody>
      </p:sp>
      <p:sp>
        <p:nvSpPr>
          <p:cNvPr id="44040" name="Line 8">
            <a:extLst>
              <a:ext uri="{FF2B5EF4-FFF2-40B4-BE49-F238E27FC236}">
                <a16:creationId xmlns:a16="http://schemas.microsoft.com/office/drawing/2014/main" id="{974CAFF5-84F4-21B1-EA7B-346173B91B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30313" y="4541838"/>
            <a:ext cx="152400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24701FB1-1357-1CA2-5585-B0FDB6D48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913" y="2255838"/>
            <a:ext cx="25908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Complementary</a:t>
            </a:r>
          </a:p>
        </p:txBody>
      </p:sp>
      <p:sp>
        <p:nvSpPr>
          <p:cNvPr id="44042" name="Line 10">
            <a:extLst>
              <a:ext uri="{FF2B5EF4-FFF2-40B4-BE49-F238E27FC236}">
                <a16:creationId xmlns:a16="http://schemas.microsoft.com/office/drawing/2014/main" id="{C21AE03F-69D3-40DE-8C15-9531760813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02513" y="2560638"/>
            <a:ext cx="1295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>
            <a:extLst>
              <a:ext uri="{FF2B5EF4-FFF2-40B4-BE49-F238E27FC236}">
                <a16:creationId xmlns:a16="http://schemas.microsoft.com/office/drawing/2014/main" id="{3A079092-C9C2-E087-322E-0F739CF636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F5343626-FB12-4097-AA2C-9C6E4096DC15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E7F17DB-AB74-0985-844C-74F0E5C20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8100"/>
              <a:t>Example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139714C-1511-3D8D-4A8E-E97CA38C5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5000"/>
              </a:lnSpc>
              <a:spcBef>
                <a:spcPct val="5000"/>
              </a:spcBef>
            </a:pPr>
            <a:r>
              <a:rPr lang="en-US" altLang="en-US"/>
              <a:t>int f1(int x,int y){                    </a:t>
            </a:r>
          </a:p>
          <a:p>
            <a:pPr marL="342900" indent="-342900" defTabSz="914400">
              <a:lnSpc>
                <a:spcPct val="115000"/>
              </a:lnSpc>
              <a:spcBef>
                <a:spcPct val="5000"/>
              </a:spcBef>
            </a:pPr>
            <a:r>
              <a:rPr lang="en-US" altLang="en-US"/>
              <a:t>1 while (x != y){</a:t>
            </a:r>
          </a:p>
          <a:p>
            <a:pPr marL="342900" indent="-342900" defTabSz="914400">
              <a:lnSpc>
                <a:spcPct val="115000"/>
              </a:lnSpc>
              <a:spcBef>
                <a:spcPct val="5000"/>
              </a:spcBef>
            </a:pPr>
            <a:r>
              <a:rPr lang="en-US" altLang="en-US"/>
              <a:t>2    if (x&gt;y) then </a:t>
            </a:r>
          </a:p>
          <a:p>
            <a:pPr marL="342900" indent="-342900" defTabSz="914400">
              <a:lnSpc>
                <a:spcPct val="115000"/>
              </a:lnSpc>
              <a:spcBef>
                <a:spcPct val="5000"/>
              </a:spcBef>
            </a:pPr>
            <a:r>
              <a:rPr lang="en-US" altLang="en-US"/>
              <a:t>3         x=x-y;</a:t>
            </a:r>
          </a:p>
          <a:p>
            <a:pPr marL="342900" indent="-342900" defTabSz="914400">
              <a:lnSpc>
                <a:spcPct val="115000"/>
              </a:lnSpc>
              <a:spcBef>
                <a:spcPct val="5000"/>
              </a:spcBef>
            </a:pPr>
            <a:r>
              <a:rPr lang="en-US" altLang="en-US"/>
              <a:t>4    else y=y-x;</a:t>
            </a:r>
          </a:p>
          <a:p>
            <a:pPr marL="342900" indent="-342900" defTabSz="914400">
              <a:lnSpc>
                <a:spcPct val="115000"/>
              </a:lnSpc>
              <a:spcBef>
                <a:spcPct val="5000"/>
              </a:spcBef>
            </a:pPr>
            <a:r>
              <a:rPr lang="en-US" altLang="en-US"/>
              <a:t>5 }</a:t>
            </a:r>
          </a:p>
          <a:p>
            <a:pPr marL="342900" indent="-342900" defTabSz="914400">
              <a:lnSpc>
                <a:spcPct val="115000"/>
              </a:lnSpc>
              <a:spcBef>
                <a:spcPct val="5000"/>
              </a:spcBef>
            </a:pPr>
            <a:r>
              <a:rPr lang="en-US" altLang="en-US"/>
              <a:t>6 return x;        }</a:t>
            </a:r>
            <a:endParaRPr lang="en-US" altLang="en-US" sz="5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>
            <a:extLst>
              <a:ext uri="{FF2B5EF4-FFF2-40B4-BE49-F238E27FC236}">
                <a16:creationId xmlns:a16="http://schemas.microsoft.com/office/drawing/2014/main" id="{7A44DBCD-C1F8-45AA-C25B-AB4A543943C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3212995-DAB4-415B-AD84-1CC5FAA3D75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477E8B7-1A39-3A32-0236-D85FC1291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8100"/>
              <a:t>Example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8939871-27BA-D407-0050-C605DC9EE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</a:pPr>
            <a:r>
              <a:rPr lang="en-US" altLang="en-US" sz="4400"/>
              <a:t>Test cases for branch coverage can be:</a:t>
            </a:r>
          </a:p>
          <a:p>
            <a:pPr marL="342900" indent="-342900" defTabSz="914400">
              <a:lnSpc>
                <a:spcPct val="110000"/>
              </a:lnSpc>
            </a:pPr>
            <a:r>
              <a:rPr lang="en-US" altLang="en-US" sz="4400"/>
              <a:t>{(x=3,y=3),(x=3,y=2), (x=4,y=3), (x=3,y=4)}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>
            <a:extLst>
              <a:ext uri="{FF2B5EF4-FFF2-40B4-BE49-F238E27FC236}">
                <a16:creationId xmlns:a16="http://schemas.microsoft.com/office/drawing/2014/main" id="{F39712E0-DD85-021E-179F-BCF8267DC84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0B90B2A-E72B-455E-845D-9EEB364BB6F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BB98759-AB93-78F9-8980-0222D075C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Branch Testing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3BA981F-03C4-E601-3E02-B17F4BC24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>
                <a:solidFill>
                  <a:srgbClr val="0000CC"/>
                </a:solidFill>
              </a:rPr>
              <a:t>Adequacy criterion:</a:t>
            </a:r>
            <a:r>
              <a:rPr lang="en-US" altLang="en-US"/>
              <a:t> Each branch (edge in the CFG) must be executed at least once </a:t>
            </a:r>
          </a:p>
          <a:p>
            <a:pPr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/>
              <a:t>Coverage:</a:t>
            </a:r>
          </a:p>
          <a:p>
            <a:pPr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buFont typeface="Comic Sans MS" panose="030F0702030302020204" pitchFamily="66" charset="0"/>
              <a:buNone/>
            </a:pPr>
            <a:r>
              <a:rPr lang="en-US" altLang="en-US"/>
              <a:t>	</a:t>
            </a:r>
            <a:r>
              <a:rPr lang="en-US" altLang="en-US">
                <a:solidFill>
                  <a:srgbClr val="0000CC"/>
                </a:solidFill>
              </a:rPr>
              <a:t>	</a:t>
            </a:r>
            <a:r>
              <a:rPr lang="en-US" altLang="en-US" u="sng">
                <a:solidFill>
                  <a:srgbClr val="0000CC"/>
                </a:solidFill>
              </a:rPr>
              <a:t>#  executed branches</a:t>
            </a:r>
          </a:p>
          <a:p>
            <a:pPr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buFont typeface="Comic Sans MS" panose="030F0702030302020204" pitchFamily="66" charset="0"/>
              <a:buNone/>
            </a:pPr>
            <a:r>
              <a:rPr lang="en-US" altLang="en-US">
                <a:solidFill>
                  <a:srgbClr val="0000CC"/>
                </a:solidFill>
              </a:rPr>
              <a:t>		     # branches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endParaRPr lang="en-US" altLang="en-US">
              <a:solidFill>
                <a:srgbClr val="0000CC"/>
              </a:solidFill>
            </a:endParaRPr>
          </a:p>
          <a:p>
            <a:pPr lvl="1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>
            <a:extLst>
              <a:ext uri="{FF2B5EF4-FFF2-40B4-BE49-F238E27FC236}">
                <a16:creationId xmlns:a16="http://schemas.microsoft.com/office/drawing/2014/main" id="{EBEE1FDD-3F78-4412-6564-5DB70E6716A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90B5EB5-DF9B-447F-8788-F4850BEA67C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78780ED-8C39-D8F2-B7D2-2830E6EE3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500"/>
              <a:t>Statements vs Branch Testing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E2E3C181-C97F-379F-D4DD-AB6BAED1F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570038"/>
            <a:ext cx="9253538" cy="55435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3100"/>
              <a:t>Traversing all edges of a graph causes all nodes to be visited</a:t>
            </a:r>
          </a:p>
          <a:p>
            <a:pPr lvl="1">
              <a:lnSpc>
                <a:spcPct val="110000"/>
              </a:lnSpc>
            </a:pPr>
            <a:r>
              <a:rPr lang="en-US" altLang="en-US" sz="2700"/>
              <a:t>So test suites that satisfy the branch adequacy criterion for a program P also satisfy the statement adequacy criterion for the same program</a:t>
            </a:r>
          </a:p>
          <a:p>
            <a:pPr>
              <a:lnSpc>
                <a:spcPct val="110000"/>
              </a:lnSpc>
            </a:pPr>
            <a:r>
              <a:rPr lang="en-US" altLang="en-US" sz="3100"/>
              <a:t>The converse is not true </a:t>
            </a:r>
          </a:p>
          <a:p>
            <a:pPr lvl="1">
              <a:lnSpc>
                <a:spcPct val="110000"/>
              </a:lnSpc>
            </a:pPr>
            <a:r>
              <a:rPr lang="en-US" altLang="en-US" sz="2700"/>
              <a:t>A statement-adequate (or node-adequate) test suite may not be branch-adequate (edge-adequate)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8E674614-D8A3-F391-2F96-35F9E744619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FCDC5D6-62A3-46FD-BD7D-9F47D48188A5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1ECDCFC-5D32-3EB4-5E16-EB0E6993C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900"/>
              <a:t>All Branches can still miss conditions</a:t>
            </a:r>
            <a:endParaRPr lang="it-IT" altLang="en-US" sz="4900"/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A4191363-211F-231D-AE42-8FC625339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100"/>
              <a:t>Sample fault: missing operator (negation)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Comic Sans MS" panose="030F0702030302020204" pitchFamily="66" charset="0"/>
              <a:buNone/>
            </a:pPr>
            <a:r>
              <a:rPr lang="en-US" altLang="en-US" sz="3100"/>
              <a:t>		</a:t>
            </a:r>
            <a:r>
              <a:rPr lang="en-US" altLang="en-US" sz="3100">
                <a:solidFill>
                  <a:srgbClr val="000080"/>
                </a:solidFill>
                <a:latin typeface="Tahoma" panose="020B0604030504040204" pitchFamily="34" charset="0"/>
              </a:rPr>
              <a:t>digit_high == 1 || digit_low == -1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100"/>
              <a:t>Branch adequacy criterion can be satisfied by varying only digit_low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700"/>
              <a:t>The faulty sub-expression might never determine the result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700"/>
              <a:t>We might never really test the faulty condition, even though we tested both outcomes of the branch</a:t>
            </a:r>
            <a:endParaRPr lang="it-IT" altLang="en-US" sz="2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>
            <a:extLst>
              <a:ext uri="{FF2B5EF4-FFF2-40B4-BE49-F238E27FC236}">
                <a16:creationId xmlns:a16="http://schemas.microsoft.com/office/drawing/2014/main" id="{48583DD2-AC8B-B90D-C50E-5B08A25A39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482FC4F-AA4F-4CC7-A94A-9B334B6985D1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0E8FDAA8-E01E-1BE7-3D03-3DC23A060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Condition Coverage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0C443C3-C264-95D9-95AF-6F40A969A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400"/>
              <a:t>Test cases are designed such that: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000"/>
              <a:t>Each component of a composite conditional expression  </a:t>
            </a:r>
          </a:p>
          <a:p>
            <a:pPr marL="1143000" lvl="2" indent="-22860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500"/>
              <a:t>Given both true and false values.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>
            <a:extLst>
              <a:ext uri="{FF2B5EF4-FFF2-40B4-BE49-F238E27FC236}">
                <a16:creationId xmlns:a16="http://schemas.microsoft.com/office/drawing/2014/main" id="{2ACA4C40-7ED7-D1EE-7AE9-82D1778EB8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FC7654D0-6D55-4CFC-AA31-A8602321B048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8154F0F-4F0D-ADDE-4F6C-43BEA29D5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8100"/>
              <a:t>Example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B3CD51CE-8733-0044-C360-532ACE92D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000"/>
              <a:t>Consider the conditional expression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600"/>
              <a:t>((c1.and.c2).or.c3):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000"/>
              <a:t>Each of c1, c2,  and  c3  are exercised at least once,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600"/>
              <a:t>i.e. given true and false values.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BB584FE8-77F6-4E79-5046-DDDB466C89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E7B1681-15E9-4A96-8E2C-739459A5F0E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9B2751A-5893-24B7-439D-8877CB7C5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condition testing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E8FACC2-B3C3-F8E0-810C-413F217CB8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775" y="1595438"/>
            <a:ext cx="9848850" cy="5376862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ts val="1100"/>
              </a:spcBef>
              <a:spcAft>
                <a:spcPct val="10000"/>
              </a:spcAft>
            </a:pPr>
            <a:r>
              <a:rPr lang="en-US" altLang="en-US">
                <a:solidFill>
                  <a:srgbClr val="0000CC"/>
                </a:solidFill>
              </a:rPr>
              <a:t>Adequacy criterion:</a:t>
            </a:r>
            <a:r>
              <a:rPr lang="en-US" altLang="en-US"/>
              <a:t> each basic condition must be executed at least once</a:t>
            </a:r>
          </a:p>
          <a:p>
            <a:r>
              <a:rPr lang="en-US" altLang="en-US"/>
              <a:t>Coverage:</a:t>
            </a:r>
          </a:p>
          <a:p>
            <a:pPr>
              <a:buFont typeface="Comic Sans MS" panose="030F0702030302020204" pitchFamily="66" charset="0"/>
              <a:buNone/>
            </a:pPr>
            <a:r>
              <a:rPr lang="en-US" altLang="en-US" sz="3500" i="1" u="sng"/>
              <a:t>	</a:t>
            </a:r>
            <a:r>
              <a:rPr lang="en-US" altLang="en-US" sz="3500" u="sng">
                <a:solidFill>
                  <a:srgbClr val="0000CC"/>
                </a:solidFill>
              </a:rPr>
              <a:t># truth values taken by all basic conditions</a:t>
            </a:r>
          </a:p>
          <a:p>
            <a:pPr>
              <a:buFont typeface="Comic Sans MS" panose="030F0702030302020204" pitchFamily="66" charset="0"/>
              <a:buNone/>
            </a:pPr>
            <a:r>
              <a:rPr lang="en-US" altLang="en-US" sz="3500">
                <a:solidFill>
                  <a:srgbClr val="0000CC"/>
                </a:solidFill>
              </a:rPr>
              <a:t>		     2 * # basic conditions</a:t>
            </a:r>
            <a:endParaRPr lang="en-US" altLang="en-US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>
            <a:extLst>
              <a:ext uri="{FF2B5EF4-FFF2-40B4-BE49-F238E27FC236}">
                <a16:creationId xmlns:a16="http://schemas.microsoft.com/office/drawing/2014/main" id="{936C7ADD-68DE-9AB5-EA53-E891224CA2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95A9F2F-EE1E-4CC8-9CFC-6E634DA9C65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C1C17710-3A1B-2641-9652-E5F09F34D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6700"/>
              <a:t>Branch Testing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2534C6A0-87E6-8BB0-7DD3-ED4486787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113" y="1909763"/>
            <a:ext cx="9296400" cy="4537075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800"/>
              <a:t>Branch testing is the simplest condition testing strategy: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400"/>
              <a:t>Compound conditions appearing in different branch statements </a:t>
            </a:r>
          </a:p>
          <a:p>
            <a:pPr marL="1143000" lvl="2" indent="-22860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900"/>
              <a:t>Are given true and false values.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>
            <a:extLst>
              <a:ext uri="{FF2B5EF4-FFF2-40B4-BE49-F238E27FC236}">
                <a16:creationId xmlns:a16="http://schemas.microsoft.com/office/drawing/2014/main" id="{3C00A26C-D96C-6087-734A-3342140DEA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F2F830B-BA60-4278-9D65-A74E7E1FA14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BE1902E-D260-85EE-05CB-EDC368E62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Branch Testing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678F79DA-3E6E-D414-0A53-094284CC68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646238"/>
            <a:ext cx="9599612" cy="5349875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</a:pPr>
            <a:r>
              <a:rPr lang="en-US" altLang="en-US" sz="5400"/>
              <a:t>Condition testing: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</a:pPr>
            <a:r>
              <a:rPr lang="en-US" altLang="en-US" sz="4800"/>
              <a:t>Stronger testing than branch testing.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</a:pPr>
            <a:r>
              <a:rPr lang="en-US" altLang="en-US" sz="5400"/>
              <a:t>Branch testing: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</a:pPr>
            <a:r>
              <a:rPr lang="en-US" altLang="en-US" sz="4800"/>
              <a:t>Stronger than statement coverage testing.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>
            <a:extLst>
              <a:ext uri="{FF2B5EF4-FFF2-40B4-BE49-F238E27FC236}">
                <a16:creationId xmlns:a16="http://schemas.microsoft.com/office/drawing/2014/main" id="{84BA876E-9115-3F81-499C-A8856E6835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0E22A79-DB7F-4A2B-8E21-8A810158183A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AC229DE1-405B-7CFA-4F33-FECE2ED73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Condition Coverage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9BE5856-7183-F850-D0B1-2C2E6573C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1530350"/>
            <a:ext cx="9490075" cy="5149850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/>
              <a:t>Consider a boolean expression having n components: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>
                <a:solidFill>
                  <a:srgbClr val="0000CC"/>
                </a:solidFill>
              </a:rPr>
              <a:t>For condition coverage we require 2</a:t>
            </a:r>
            <a:r>
              <a:rPr lang="en-US" altLang="en-US" baseline="46000">
                <a:solidFill>
                  <a:srgbClr val="0000CC"/>
                </a:solidFill>
              </a:rPr>
              <a:t>n</a:t>
            </a:r>
            <a:r>
              <a:rPr lang="en-US" altLang="en-US">
                <a:solidFill>
                  <a:srgbClr val="0000CC"/>
                </a:solidFill>
              </a:rPr>
              <a:t> test cases.</a:t>
            </a:r>
            <a:r>
              <a:rPr lang="en-US" altLang="en-US" sz="4400">
                <a:solidFill>
                  <a:srgbClr val="0000CC"/>
                </a:solidFill>
              </a:rPr>
              <a:t> </a:t>
            </a:r>
          </a:p>
          <a:p>
            <a:pPr marL="342900" indent="-34290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/>
              <a:t>Condition coverage-based testing technique: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/>
              <a:t>Practical only if n (the number of component conditions) is small.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>
            <a:extLst>
              <a:ext uri="{FF2B5EF4-FFF2-40B4-BE49-F238E27FC236}">
                <a16:creationId xmlns:a16="http://schemas.microsoft.com/office/drawing/2014/main" id="{0D5B4190-FC60-DCAE-3BA0-7F9592402B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D853E94-AB9A-4C5B-938C-6A59413C0740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0497919D-128A-F568-71E2-DFB64021D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5200"/>
              <a:t>Modified condition/decision (MC/DC)</a:t>
            </a:r>
            <a:endParaRPr lang="it-IT" altLang="en-US" sz="5200"/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D25C3EBB-1C13-AFCA-3EBC-91C19E830E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100"/>
              <a:t>Motivation: Effectively test </a:t>
            </a:r>
            <a:r>
              <a:rPr lang="en-US" altLang="en-US" sz="3100">
                <a:solidFill>
                  <a:schemeClr val="accent2"/>
                </a:solidFill>
              </a:rPr>
              <a:t>important combinations</a:t>
            </a:r>
            <a:r>
              <a:rPr lang="en-US" altLang="en-US" sz="3100"/>
              <a:t> of conditions, without exponential blowup in test suite size </a:t>
            </a:r>
          </a:p>
          <a:p>
            <a:pPr lvl="1">
              <a:lnSpc>
                <a:spcPct val="90000"/>
              </a:lnSpc>
            </a:pPr>
            <a:r>
              <a:rPr lang="en-US" altLang="en-US" sz="2700"/>
              <a:t>“Important” combinations means: Each basic condition shown to independently affect the outcome of each decision</a:t>
            </a:r>
          </a:p>
          <a:p>
            <a:pPr>
              <a:lnSpc>
                <a:spcPct val="90000"/>
              </a:lnSpc>
            </a:pPr>
            <a:r>
              <a:rPr lang="en-US" altLang="en-US" sz="3100"/>
              <a:t>Requires:  </a:t>
            </a:r>
          </a:p>
          <a:p>
            <a:pPr lvl="1">
              <a:lnSpc>
                <a:spcPct val="90000"/>
              </a:lnSpc>
            </a:pPr>
            <a:r>
              <a:rPr lang="en-US" altLang="en-US" sz="2700"/>
              <a:t>For each basic condition C, two test cases,</a:t>
            </a:r>
          </a:p>
          <a:p>
            <a:pPr lvl="1">
              <a:lnSpc>
                <a:spcPct val="90000"/>
              </a:lnSpc>
            </a:pPr>
            <a:r>
              <a:rPr lang="en-US" altLang="en-US" sz="2700"/>
              <a:t>values of all </a:t>
            </a:r>
            <a:r>
              <a:rPr lang="en-US" altLang="en-US" sz="2700" i="1"/>
              <a:t>evaluated</a:t>
            </a:r>
            <a:r>
              <a:rPr lang="en-US" altLang="en-US" sz="2700"/>
              <a:t> conditions except C are the same</a:t>
            </a:r>
          </a:p>
          <a:p>
            <a:pPr lvl="1">
              <a:lnSpc>
                <a:spcPct val="90000"/>
              </a:lnSpc>
            </a:pPr>
            <a:r>
              <a:rPr lang="en-US" altLang="en-US" sz="2700"/>
              <a:t>compound condition as a whole evaluates to </a:t>
            </a:r>
            <a:r>
              <a:rPr lang="en-US" altLang="en-US" sz="2700" i="1"/>
              <a:t>true</a:t>
            </a:r>
            <a:r>
              <a:rPr lang="en-US" altLang="en-US" sz="2700"/>
              <a:t> for one and </a:t>
            </a:r>
            <a:r>
              <a:rPr lang="en-US" altLang="en-US" sz="2700" i="1"/>
              <a:t>false</a:t>
            </a:r>
            <a:r>
              <a:rPr lang="en-US" altLang="en-US" sz="2700"/>
              <a:t> for the other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>
            <a:extLst>
              <a:ext uri="{FF2B5EF4-FFF2-40B4-BE49-F238E27FC236}">
                <a16:creationId xmlns:a16="http://schemas.microsoft.com/office/drawing/2014/main" id="{F914099E-8251-9443-4DB2-C44A327141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9CEA627-E394-454F-8F77-6D622D316101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F455A17A-99C8-8868-5796-7DBC7BA01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MC/DC?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A4CE43C1-71AA-EBCF-F283-309F9E482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493838"/>
            <a:ext cx="9447213" cy="5619750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400"/>
              <a:t>MC/DC stands for </a:t>
            </a:r>
            <a:r>
              <a:rPr lang="en-US" altLang="en-US" sz="3400" b="1">
                <a:solidFill>
                  <a:srgbClr val="0000CC"/>
                </a:solidFill>
              </a:rPr>
              <a:t>M</a:t>
            </a:r>
            <a:r>
              <a:rPr lang="en-US" altLang="en-US" sz="3400">
                <a:solidFill>
                  <a:srgbClr val="0000CC"/>
                </a:solidFill>
              </a:rPr>
              <a:t>odified  </a:t>
            </a:r>
            <a:r>
              <a:rPr lang="en-US" altLang="en-US" sz="3400" b="1">
                <a:solidFill>
                  <a:srgbClr val="0000CC"/>
                </a:solidFill>
              </a:rPr>
              <a:t>C</a:t>
            </a:r>
            <a:r>
              <a:rPr lang="en-US" altLang="en-US" sz="3400">
                <a:solidFill>
                  <a:srgbClr val="0000CC"/>
                </a:solidFill>
              </a:rPr>
              <a:t>ondition / </a:t>
            </a:r>
            <a:r>
              <a:rPr lang="en-US" altLang="en-US" sz="3400" b="1">
                <a:solidFill>
                  <a:srgbClr val="0000CC"/>
                </a:solidFill>
              </a:rPr>
              <a:t>D</a:t>
            </a:r>
            <a:r>
              <a:rPr lang="en-US" altLang="en-US" sz="3400">
                <a:solidFill>
                  <a:srgbClr val="0000CC"/>
                </a:solidFill>
              </a:rPr>
              <a:t>ecision </a:t>
            </a:r>
            <a:r>
              <a:rPr lang="en-US" altLang="en-US" sz="3400" b="1">
                <a:solidFill>
                  <a:srgbClr val="0000CC"/>
                </a:solidFill>
              </a:rPr>
              <a:t>C</a:t>
            </a:r>
            <a:r>
              <a:rPr lang="en-US" altLang="en-US" sz="3400">
                <a:solidFill>
                  <a:srgbClr val="0000CC"/>
                </a:solidFill>
              </a:rPr>
              <a:t>overage</a:t>
            </a:r>
          </a:p>
          <a:p>
            <a:pPr marL="457200" indent="-4572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400"/>
              <a:t>A kind of Predicate Coverage technique</a:t>
            </a:r>
          </a:p>
          <a:p>
            <a:pPr marL="838200" lvl="1" indent="-3810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000">
                <a:solidFill>
                  <a:srgbClr val="0000CC"/>
                </a:solidFill>
              </a:rPr>
              <a:t>Condition:</a:t>
            </a:r>
            <a:r>
              <a:rPr lang="en-US" altLang="en-US" sz="3000"/>
              <a:t> Leaf level Boolean expression.</a:t>
            </a:r>
          </a:p>
          <a:p>
            <a:pPr marL="838200" lvl="1" indent="-3810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000">
                <a:solidFill>
                  <a:srgbClr val="0000CC"/>
                </a:solidFill>
              </a:rPr>
              <a:t>Decision:</a:t>
            </a:r>
            <a:r>
              <a:rPr lang="en-US" altLang="en-US" sz="3000"/>
              <a:t> Controls the program flow.</a:t>
            </a:r>
          </a:p>
          <a:p>
            <a:pPr marL="457200" indent="-4572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400">
                <a:solidFill>
                  <a:srgbClr val="0000CC"/>
                </a:solidFill>
              </a:rPr>
              <a:t>Main idea:</a:t>
            </a:r>
            <a:r>
              <a:rPr lang="en-US" altLang="en-US" sz="3400"/>
              <a:t> </a:t>
            </a:r>
            <a:r>
              <a:rPr lang="en-US" altLang="en-US" sz="3400">
                <a:solidFill>
                  <a:srgbClr val="6600FF"/>
                </a:solidFill>
              </a:rPr>
              <a:t>Each condition must be shown to independently affect the outcome of a decision, i.e. the outcome of a decision changes as a result of changing a single condition.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5">
            <a:extLst>
              <a:ext uri="{FF2B5EF4-FFF2-40B4-BE49-F238E27FC236}">
                <a16:creationId xmlns:a16="http://schemas.microsoft.com/office/drawing/2014/main" id="{1BA7E708-0095-4B34-BA06-88BF36E770E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2756AB2-FA75-4B2B-A5A1-9E3086A18882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0435BA19-83C1-6224-E464-8356259D1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0913" y="3932238"/>
            <a:ext cx="762000" cy="8382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FD782B2-894D-E283-6A3D-783FEA71D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913" y="3932238"/>
            <a:ext cx="762000" cy="838200"/>
          </a:xfrm>
          <a:prstGeom prst="rect">
            <a:avLst/>
          </a:prstGeom>
          <a:solidFill>
            <a:srgbClr val="00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58373" name="Rectangle 4">
            <a:extLst>
              <a:ext uri="{FF2B5EF4-FFF2-40B4-BE49-F238E27FC236}">
                <a16:creationId xmlns:a16="http://schemas.microsoft.com/office/drawing/2014/main" id="{8DC881C8-36F6-FE18-4395-85A6B4739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932238"/>
            <a:ext cx="838200" cy="8382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58374" name="Text Box 7">
            <a:extLst>
              <a:ext uri="{FF2B5EF4-FFF2-40B4-BE49-F238E27FC236}">
                <a16:creationId xmlns:a16="http://schemas.microsoft.com/office/drawing/2014/main" id="{064B8EF2-727D-B05C-551B-9DC651DC9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550" y="4183063"/>
            <a:ext cx="7751763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600" b="1">
                <a:solidFill>
                  <a:schemeClr val="tx1"/>
                </a:solidFill>
              </a:rPr>
              <a:t>If ((a)    &amp;      (b)    |     (c)) then…</a:t>
            </a:r>
          </a:p>
        </p:txBody>
      </p:sp>
      <p:sp>
        <p:nvSpPr>
          <p:cNvPr id="58375" name="Rectangle 5">
            <a:extLst>
              <a:ext uri="{FF2B5EF4-FFF2-40B4-BE49-F238E27FC236}">
                <a16:creationId xmlns:a16="http://schemas.microsoft.com/office/drawing/2014/main" id="{4025A62D-596D-1315-90F8-264E7EED9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Condition Coverage</a:t>
            </a:r>
          </a:p>
        </p:txBody>
      </p:sp>
      <p:sp>
        <p:nvSpPr>
          <p:cNvPr id="58376" name="Rectangle 6">
            <a:extLst>
              <a:ext uri="{FF2B5EF4-FFF2-40B4-BE49-F238E27FC236}">
                <a16:creationId xmlns:a16="http://schemas.microsoft.com/office/drawing/2014/main" id="{35DF9DA8-6A87-1C85-4F9D-AE39985AE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Every condition in the decision has taken all possible outcomes at least once.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8377" name="Line 8">
            <a:extLst>
              <a:ext uri="{FF2B5EF4-FFF2-40B4-BE49-F238E27FC236}">
                <a16:creationId xmlns:a16="http://schemas.microsoft.com/office/drawing/2014/main" id="{F8FE1277-0703-D3F5-0737-F2C5FFE20B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39925" y="4659313"/>
            <a:ext cx="317500" cy="396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78" name="Line 9">
            <a:extLst>
              <a:ext uri="{FF2B5EF4-FFF2-40B4-BE49-F238E27FC236}">
                <a16:creationId xmlns:a16="http://schemas.microsoft.com/office/drawing/2014/main" id="{E08EE09E-1DBA-2F35-EC01-680893A55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913" y="4770438"/>
            <a:ext cx="300037" cy="377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79" name="Text Box 10">
            <a:extLst>
              <a:ext uri="{FF2B5EF4-FFF2-40B4-BE49-F238E27FC236}">
                <a16:creationId xmlns:a16="http://schemas.microsoft.com/office/drawing/2014/main" id="{D4FF1988-4770-E7A0-0564-1CCE39A04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5005388"/>
            <a:ext cx="7143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58380" name="Text Box 11">
            <a:extLst>
              <a:ext uri="{FF2B5EF4-FFF2-40B4-BE49-F238E27FC236}">
                <a16:creationId xmlns:a16="http://schemas.microsoft.com/office/drawing/2014/main" id="{93058748-DC3E-D6F5-69E5-C62C444ED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5005388"/>
            <a:ext cx="804863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tx1"/>
                </a:solidFill>
              </a:rPr>
              <a:t>false</a:t>
            </a:r>
          </a:p>
        </p:txBody>
      </p:sp>
      <p:sp>
        <p:nvSpPr>
          <p:cNvPr id="58381" name="Line 12">
            <a:extLst>
              <a:ext uri="{FF2B5EF4-FFF2-40B4-BE49-F238E27FC236}">
                <a16:creationId xmlns:a16="http://schemas.microsoft.com/office/drawing/2014/main" id="{119B87C4-CFC0-B54B-422C-87DD4D7B17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3675" y="4673600"/>
            <a:ext cx="255588" cy="382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2" name="Line 13">
            <a:extLst>
              <a:ext uri="{FF2B5EF4-FFF2-40B4-BE49-F238E27FC236}">
                <a16:creationId xmlns:a16="http://schemas.microsoft.com/office/drawing/2014/main" id="{DFDE9E1B-76F8-3618-9C34-A49A71427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5175" y="4673600"/>
            <a:ext cx="222250" cy="382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3" name="Line 14">
            <a:extLst>
              <a:ext uri="{FF2B5EF4-FFF2-40B4-BE49-F238E27FC236}">
                <a16:creationId xmlns:a16="http://schemas.microsoft.com/office/drawing/2014/main" id="{4F3797C1-6158-AED4-1E2A-802B27FD10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67425" y="4660900"/>
            <a:ext cx="239713" cy="395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4" name="Line 15">
            <a:extLst>
              <a:ext uri="{FF2B5EF4-FFF2-40B4-BE49-F238E27FC236}">
                <a16:creationId xmlns:a16="http://schemas.microsoft.com/office/drawing/2014/main" id="{F1B2ECC0-1FD5-AF87-7946-2E36A7011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3050" y="4660900"/>
            <a:ext cx="238125" cy="395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5" name="Text Box 16">
            <a:extLst>
              <a:ext uri="{FF2B5EF4-FFF2-40B4-BE49-F238E27FC236}">
                <a16:creationId xmlns:a16="http://schemas.microsoft.com/office/drawing/2014/main" id="{1F151FB8-5703-D552-4671-9873DA5EA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5005388"/>
            <a:ext cx="7143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58386" name="Text Box 17">
            <a:extLst>
              <a:ext uri="{FF2B5EF4-FFF2-40B4-BE49-F238E27FC236}">
                <a16:creationId xmlns:a16="http://schemas.microsoft.com/office/drawing/2014/main" id="{47F3276F-65A2-37AE-9E5A-91520809C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8988" y="5005388"/>
            <a:ext cx="804862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tx1"/>
                </a:solidFill>
              </a:rPr>
              <a:t>false</a:t>
            </a:r>
          </a:p>
        </p:txBody>
      </p:sp>
      <p:sp>
        <p:nvSpPr>
          <p:cNvPr id="58387" name="Text Box 18">
            <a:extLst>
              <a:ext uri="{FF2B5EF4-FFF2-40B4-BE49-F238E27FC236}">
                <a16:creationId xmlns:a16="http://schemas.microsoft.com/office/drawing/2014/main" id="{6D2DE421-62FD-1B84-E2B5-6C77F9024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5005388"/>
            <a:ext cx="7143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58388" name="Text Box 19">
            <a:extLst>
              <a:ext uri="{FF2B5EF4-FFF2-40B4-BE49-F238E27FC236}">
                <a16:creationId xmlns:a16="http://schemas.microsoft.com/office/drawing/2014/main" id="{B8A38CD2-58BA-31F9-2AA9-8F5F8D78B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150" y="5005388"/>
            <a:ext cx="804863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tx1"/>
                </a:solidFill>
              </a:rPr>
              <a:t>false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>
            <a:extLst>
              <a:ext uri="{FF2B5EF4-FFF2-40B4-BE49-F238E27FC236}">
                <a16:creationId xmlns:a16="http://schemas.microsoft.com/office/drawing/2014/main" id="{7A5BB583-3689-0C14-FCBB-7AFD4E6808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EC16FEE-889F-423F-84DB-2B5C41496E8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68329BE-8832-E0B6-4C23-4DAF8F4BC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MC/DC Coverage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F863419C-7125-ACA5-309A-F64E16840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Every condition in the decision independently affects the decision’s outcome.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EF8FA873-D432-CF18-F1C1-BC0D9F9B5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4572000"/>
            <a:ext cx="2678113" cy="476250"/>
          </a:xfrm>
          <a:prstGeom prst="rect">
            <a:avLst/>
          </a:prstGeom>
          <a:solidFill>
            <a:srgbClr val="00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59398" name="Rectangle 5">
            <a:extLst>
              <a:ext uri="{FF2B5EF4-FFF2-40B4-BE49-F238E27FC236}">
                <a16:creationId xmlns:a16="http://schemas.microsoft.com/office/drawing/2014/main" id="{D2C4E777-D767-3128-E879-9BC734E99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4572000"/>
            <a:ext cx="476250" cy="47625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59399" name="Text Box 6">
            <a:extLst>
              <a:ext uri="{FF2B5EF4-FFF2-40B4-BE49-F238E27FC236}">
                <a16:creationId xmlns:a16="http://schemas.microsoft.com/office/drawing/2014/main" id="{6184AFCA-5375-B1E4-D995-8752AF276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350" y="4572000"/>
            <a:ext cx="7065963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200" b="1">
                <a:solidFill>
                  <a:schemeClr val="tx1"/>
                </a:solidFill>
                <a:latin typeface="Courier New" panose="02070309020205020404" pitchFamily="49" charset="0"/>
              </a:rPr>
              <a:t>If ((a)   &amp;     (b)    |    (c)) then…</a:t>
            </a:r>
          </a:p>
        </p:txBody>
      </p:sp>
      <p:sp>
        <p:nvSpPr>
          <p:cNvPr id="59400" name="Line 7">
            <a:extLst>
              <a:ext uri="{FF2B5EF4-FFF2-40B4-BE49-F238E27FC236}">
                <a16:creationId xmlns:a16="http://schemas.microsoft.com/office/drawing/2014/main" id="{B9976C6B-E870-A038-3601-793CCD0B53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1563" y="5048250"/>
            <a:ext cx="317500" cy="396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1" name="Line 8">
            <a:extLst>
              <a:ext uri="{FF2B5EF4-FFF2-40B4-BE49-F238E27FC236}">
                <a16:creationId xmlns:a16="http://schemas.microsoft.com/office/drawing/2014/main" id="{27FF04E5-41C5-8D7F-8795-847A9EF5E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4975" y="5048250"/>
            <a:ext cx="239713" cy="396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2" name="Text Box 9">
            <a:extLst>
              <a:ext uri="{FF2B5EF4-FFF2-40B4-BE49-F238E27FC236}">
                <a16:creationId xmlns:a16="http://schemas.microsoft.com/office/drawing/2014/main" id="{C7E9C237-57F9-F466-7D28-1FC831115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5411788"/>
            <a:ext cx="5905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true</a:t>
            </a:r>
          </a:p>
        </p:txBody>
      </p:sp>
      <p:sp>
        <p:nvSpPr>
          <p:cNvPr id="59403" name="Text Box 10">
            <a:extLst>
              <a:ext uri="{FF2B5EF4-FFF2-40B4-BE49-F238E27FC236}">
                <a16:creationId xmlns:a16="http://schemas.microsoft.com/office/drawing/2014/main" id="{34DDD048-8B49-FD15-E90D-B702CAADD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5411788"/>
            <a:ext cx="674687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false</a:t>
            </a:r>
          </a:p>
        </p:txBody>
      </p:sp>
      <p:sp>
        <p:nvSpPr>
          <p:cNvPr id="59404" name="Line 11">
            <a:extLst>
              <a:ext uri="{FF2B5EF4-FFF2-40B4-BE49-F238E27FC236}">
                <a16:creationId xmlns:a16="http://schemas.microsoft.com/office/drawing/2014/main" id="{D0498577-11B3-9828-3553-DBCAFD06B1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2188" y="5049838"/>
            <a:ext cx="17462" cy="3984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5" name="Line 12">
            <a:extLst>
              <a:ext uri="{FF2B5EF4-FFF2-40B4-BE49-F238E27FC236}">
                <a16:creationId xmlns:a16="http://schemas.microsoft.com/office/drawing/2014/main" id="{0D808B50-BF81-EB1D-A7EB-9C94D4A5F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5938" y="5049838"/>
            <a:ext cx="0" cy="3984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6" name="Text Box 13">
            <a:extLst>
              <a:ext uri="{FF2B5EF4-FFF2-40B4-BE49-F238E27FC236}">
                <a16:creationId xmlns:a16="http://schemas.microsoft.com/office/drawing/2014/main" id="{CF4E9941-C543-E893-30BC-AAEC3791C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00" y="5448300"/>
            <a:ext cx="59055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true</a:t>
            </a:r>
          </a:p>
        </p:txBody>
      </p:sp>
      <p:sp>
        <p:nvSpPr>
          <p:cNvPr id="59407" name="Text Box 14">
            <a:extLst>
              <a:ext uri="{FF2B5EF4-FFF2-40B4-BE49-F238E27FC236}">
                <a16:creationId xmlns:a16="http://schemas.microsoft.com/office/drawing/2014/main" id="{B458BA6C-C187-0F6F-7928-5A33FAF37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438" y="5448300"/>
            <a:ext cx="6762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false</a:t>
            </a:r>
          </a:p>
        </p:txBody>
      </p:sp>
      <p:sp>
        <p:nvSpPr>
          <p:cNvPr id="59408" name="Text Box 15">
            <a:extLst>
              <a:ext uri="{FF2B5EF4-FFF2-40B4-BE49-F238E27FC236}">
                <a16:creationId xmlns:a16="http://schemas.microsoft.com/office/drawing/2014/main" id="{65A0130C-ED9B-53D8-B809-463B22250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6002338"/>
            <a:ext cx="4603750" cy="963612"/>
          </a:xfrm>
          <a:prstGeom prst="rect">
            <a:avLst/>
          </a:prstGeom>
          <a:solidFill>
            <a:srgbClr val="FFFF00"/>
          </a:solidFill>
          <a:ln w="9525">
            <a:solidFill>
              <a:srgbClr val="6600FF"/>
            </a:solidFill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rgbClr val="0000CC"/>
                </a:solidFill>
              </a:rPr>
              <a:t>Change the value of each condition individually while keeping all other conditions constant.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>
            <a:extLst>
              <a:ext uri="{FF2B5EF4-FFF2-40B4-BE49-F238E27FC236}">
                <a16:creationId xmlns:a16="http://schemas.microsoft.com/office/drawing/2014/main" id="{9668F87A-B59D-9A4F-9DB8-083B921435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0AA4556-715D-47B2-B5C0-353480D5E84E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437298E-E501-B370-F730-4A5CE3874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MC/DC: linear complexity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4800DF36-3F85-57E5-FF68-8203B8C820DD}"/>
              </a:ext>
            </a:extLst>
          </p:cNvPr>
          <p:cNvSpPr>
            <a:spLocks/>
          </p:cNvSpPr>
          <p:nvPr>
            <p:ph type="body" idx="1"/>
          </p:nvPr>
        </p:nvSpPr>
        <p:spPr>
          <a:noFill/>
        </p:spPr>
        <p:txBody>
          <a:bodyPr lIns="100794" tIns="50397" rIns="100794" bIns="50397"/>
          <a:lstStyle/>
          <a:p>
            <a:pPr>
              <a:lnSpc>
                <a:spcPct val="80000"/>
              </a:lnSpc>
            </a:pPr>
            <a:r>
              <a:rPr lang="en-US" altLang="en-US" sz="1800"/>
              <a:t>N+1 test cases for N basic conditions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endParaRPr lang="en-US" altLang="en-US" sz="1800"/>
          </a:p>
          <a:p>
            <a:pPr algn="ctr"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800" b="1">
                <a:solidFill>
                  <a:schemeClr val="accent2"/>
                </a:solidFill>
                <a:latin typeface="Courier New" panose="02070309020205020404" pitchFamily="49" charset="0"/>
              </a:rPr>
              <a:t>(((a || b) &amp;&amp; c) || d) &amp;&amp; e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endParaRPr lang="en-US" altLang="en-US" sz="1800"/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/>
              <a:t>	</a:t>
            </a:r>
            <a:r>
              <a:rPr lang="en-US" altLang="en-US" sz="1400" b="1"/>
              <a:t>Test 		a 		b 		c 		d		e 		outcome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 b="1"/>
              <a:t>	Case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 b="1"/>
              <a:t>	(1)		</a:t>
            </a:r>
            <a:r>
              <a:rPr lang="en-US" altLang="en-US" sz="1400" b="1" u="sng">
                <a:solidFill>
                  <a:srgbClr val="0000CC"/>
                </a:solidFill>
              </a:rPr>
              <a:t>true</a:t>
            </a:r>
            <a:r>
              <a:rPr lang="en-US" altLang="en-US" sz="1400" b="1">
                <a:solidFill>
                  <a:srgbClr val="0000CC"/>
                </a:solidFill>
              </a:rPr>
              <a:t>	</a:t>
            </a:r>
            <a:r>
              <a:rPr lang="en-US" altLang="en-US" sz="1400" b="1"/>
              <a:t>	--		</a:t>
            </a:r>
            <a:r>
              <a:rPr lang="en-US" altLang="en-US" sz="1400" b="1" u="sng">
                <a:solidFill>
                  <a:srgbClr val="0000CC"/>
                </a:solidFill>
              </a:rPr>
              <a:t>true</a:t>
            </a:r>
            <a:r>
              <a:rPr lang="en-US" altLang="en-US" sz="1400" b="1">
                <a:solidFill>
                  <a:srgbClr val="0000CC"/>
                </a:solidFill>
              </a:rPr>
              <a:t>	</a:t>
            </a:r>
            <a:r>
              <a:rPr lang="en-US" altLang="en-US" sz="1400" b="1"/>
              <a:t>	--		</a:t>
            </a:r>
            <a:r>
              <a:rPr lang="en-US" altLang="en-US" sz="1400" b="1" u="sng">
                <a:solidFill>
                  <a:srgbClr val="0000CC"/>
                </a:solidFill>
              </a:rPr>
              <a:t>true	</a:t>
            </a:r>
            <a:r>
              <a:rPr lang="en-US" altLang="en-US" sz="1400" b="1"/>
              <a:t>	true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 b="1"/>
              <a:t>	(2)		false		</a:t>
            </a:r>
            <a:r>
              <a:rPr lang="en-US" altLang="en-US" sz="1400" b="1" u="sng">
                <a:solidFill>
                  <a:srgbClr val="0000CC"/>
                </a:solidFill>
              </a:rPr>
              <a:t>true</a:t>
            </a:r>
            <a:r>
              <a:rPr lang="en-US" altLang="en-US" sz="1400" b="1">
                <a:solidFill>
                  <a:srgbClr val="0000CC"/>
                </a:solidFill>
              </a:rPr>
              <a:t>	</a:t>
            </a:r>
            <a:r>
              <a:rPr lang="en-US" altLang="en-US" sz="1400" b="1"/>
              <a:t>	true		--		true		true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 b="1"/>
              <a:t>	(3)		true		--		false		</a:t>
            </a:r>
            <a:r>
              <a:rPr lang="en-US" altLang="en-US" sz="1400" b="1" u="sng">
                <a:solidFill>
                  <a:srgbClr val="0000CC"/>
                </a:solidFill>
              </a:rPr>
              <a:t>true</a:t>
            </a:r>
            <a:r>
              <a:rPr lang="en-US" altLang="en-US" sz="1400" b="1"/>
              <a:t>		true		true		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 b="1"/>
              <a:t>	(6)		true		--		true		--		</a:t>
            </a:r>
            <a:r>
              <a:rPr lang="en-US" altLang="en-US" sz="1400" b="1" u="sng">
                <a:solidFill>
                  <a:srgbClr val="0000CC"/>
                </a:solidFill>
              </a:rPr>
              <a:t>false</a:t>
            </a:r>
            <a:r>
              <a:rPr lang="en-US" altLang="en-US" sz="1400" b="1">
                <a:solidFill>
                  <a:srgbClr val="0000CC"/>
                </a:solidFill>
              </a:rPr>
              <a:t>	</a:t>
            </a:r>
            <a:r>
              <a:rPr lang="en-US" altLang="en-US" sz="1400" b="1"/>
              <a:t>	false</a:t>
            </a:r>
            <a:endParaRPr lang="en-US" altLang="en-US" sz="1400" b="1" u="sng"/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 b="1"/>
              <a:t>	(11)		true		--		</a:t>
            </a:r>
            <a:r>
              <a:rPr lang="en-US" altLang="en-US" sz="1400" b="1" u="sng">
                <a:solidFill>
                  <a:srgbClr val="0000CC"/>
                </a:solidFill>
              </a:rPr>
              <a:t>false</a:t>
            </a:r>
            <a:r>
              <a:rPr lang="en-US" altLang="en-US" sz="1400" b="1">
                <a:solidFill>
                  <a:srgbClr val="0000CC"/>
                </a:solidFill>
              </a:rPr>
              <a:t>	</a:t>
            </a:r>
            <a:r>
              <a:rPr lang="en-US" altLang="en-US" sz="1400" b="1"/>
              <a:t>	</a:t>
            </a:r>
            <a:r>
              <a:rPr lang="en-US" altLang="en-US" sz="1400" b="1" u="sng">
                <a:solidFill>
                  <a:srgbClr val="0000CC"/>
                </a:solidFill>
              </a:rPr>
              <a:t>false	</a:t>
            </a:r>
            <a:r>
              <a:rPr lang="en-US" altLang="en-US" sz="1400" b="1"/>
              <a:t>	--		false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 b="1"/>
              <a:t>	(13)		</a:t>
            </a:r>
            <a:r>
              <a:rPr lang="en-US" altLang="en-US" sz="1400" b="1" u="sng">
                <a:solidFill>
                  <a:srgbClr val="0000CC"/>
                </a:solidFill>
              </a:rPr>
              <a:t>false</a:t>
            </a:r>
            <a:r>
              <a:rPr lang="en-US" altLang="en-US" sz="1400" b="1">
                <a:solidFill>
                  <a:srgbClr val="0000CC"/>
                </a:solidFill>
              </a:rPr>
              <a:t>	</a:t>
            </a:r>
            <a:r>
              <a:rPr lang="en-US" altLang="en-US" sz="1400" b="1"/>
              <a:t>	</a:t>
            </a:r>
            <a:r>
              <a:rPr lang="en-US" altLang="en-US" sz="1400" b="1" u="sng">
                <a:solidFill>
                  <a:srgbClr val="0000CC"/>
                </a:solidFill>
              </a:rPr>
              <a:t>false	</a:t>
            </a:r>
            <a:r>
              <a:rPr lang="en-US" altLang="en-US" sz="1400" b="1"/>
              <a:t>	--		false		--		false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r>
              <a:rPr lang="en-US" altLang="en-US" sz="1400"/>
              <a:t>	</a:t>
            </a:r>
          </a:p>
          <a:p>
            <a:pPr>
              <a:lnSpc>
                <a:spcPct val="80000"/>
              </a:lnSpc>
              <a:buFont typeface="Comic Sans MS" panose="030F0702030302020204" pitchFamily="66" charset="0"/>
              <a:buNone/>
            </a:pPr>
            <a:endParaRPr lang="en-US" altLang="en-US" sz="1400"/>
          </a:p>
          <a:p>
            <a:pPr>
              <a:lnSpc>
                <a:spcPct val="80000"/>
              </a:lnSpc>
            </a:pPr>
            <a:r>
              <a:rPr lang="en-US" altLang="en-US" sz="1800"/>
              <a:t>Underlined values independently affect the output of the decision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Required by the </a:t>
            </a:r>
            <a:r>
              <a:rPr lang="it-IT" altLang="en-US" sz="1800"/>
              <a:t>RTCA/DO-178B standard</a:t>
            </a:r>
            <a:endParaRPr lang="en-US" altLang="en-US" sz="18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>
            <a:extLst>
              <a:ext uri="{FF2B5EF4-FFF2-40B4-BE49-F238E27FC236}">
                <a16:creationId xmlns:a16="http://schemas.microsoft.com/office/drawing/2014/main" id="{983459E1-B416-94EC-E880-C092932166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7392FFF-8D96-4FDC-A9EE-D1149B9184A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37C598D3-2825-F163-6E5C-4C5E27787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-334963"/>
            <a:ext cx="9066212" cy="1955801"/>
          </a:xfrm>
        </p:spPr>
        <p:txBody>
          <a:bodyPr rIns="145592"/>
          <a:lstStyle/>
          <a:p>
            <a:r>
              <a:rPr lang="en-US" altLang="en-US"/>
              <a:t>Comments on MC/DC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B980E8A9-8F82-A6ED-2B66-217ED38E6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341438"/>
            <a:ext cx="9523413" cy="5772150"/>
          </a:xfrm>
        </p:spPr>
        <p:txBody>
          <a:bodyPr rIns="145592"/>
          <a:lstStyle/>
          <a:p>
            <a:pPr marL="342900" indent="-342900" defTabSz="914400">
              <a:lnSpc>
                <a:spcPct val="110000"/>
              </a:lnSpc>
            </a:pPr>
            <a:r>
              <a:rPr lang="en-US" altLang="en-US" sz="3100"/>
              <a:t>MC/DC is </a:t>
            </a:r>
          </a:p>
          <a:p>
            <a:pPr marL="782638" lvl="1" indent="-285750" defTabSz="914400">
              <a:lnSpc>
                <a:spcPct val="110000"/>
              </a:lnSpc>
            </a:pPr>
            <a:r>
              <a:rPr lang="en-US" altLang="en-US" sz="2700"/>
              <a:t>basic condition coverage (C)</a:t>
            </a:r>
          </a:p>
          <a:p>
            <a:pPr marL="782638" lvl="1" indent="-285750" defTabSz="914400">
              <a:lnSpc>
                <a:spcPct val="110000"/>
              </a:lnSpc>
            </a:pPr>
            <a:r>
              <a:rPr lang="en-US" altLang="en-US" sz="2700"/>
              <a:t>branch coverage (DC)</a:t>
            </a:r>
          </a:p>
          <a:p>
            <a:pPr marL="782638" lvl="1" indent="-285750" defTabSz="914400">
              <a:lnSpc>
                <a:spcPct val="110000"/>
              </a:lnSpc>
            </a:pPr>
            <a:r>
              <a:rPr lang="en-US" altLang="en-US" sz="2700"/>
              <a:t>plus one additional condition (M): </a:t>
            </a:r>
            <a:br>
              <a:rPr lang="en-US" altLang="en-US" sz="2700"/>
            </a:br>
            <a:r>
              <a:rPr lang="en-US" altLang="en-US" sz="2700"/>
              <a:t>every condition must </a:t>
            </a:r>
            <a:r>
              <a:rPr lang="en-US" altLang="en-US" sz="2700" i="1"/>
              <a:t>independently affect</a:t>
            </a:r>
            <a:r>
              <a:rPr lang="en-US" altLang="en-US" sz="2700"/>
              <a:t> the decision’s output</a:t>
            </a:r>
          </a:p>
          <a:p>
            <a:pPr marL="342900" indent="-342900" defTabSz="914400">
              <a:lnSpc>
                <a:spcPct val="110000"/>
              </a:lnSpc>
            </a:pPr>
            <a:r>
              <a:rPr lang="en-US" altLang="en-US" sz="3100"/>
              <a:t>It is subsumed by compound conditions and subsumes all other criteria discussed so far</a:t>
            </a:r>
          </a:p>
          <a:p>
            <a:pPr marL="782638" lvl="1" indent="-285750" defTabSz="914400">
              <a:lnSpc>
                <a:spcPct val="110000"/>
              </a:lnSpc>
            </a:pPr>
            <a:r>
              <a:rPr lang="en-US" altLang="en-US" sz="2700"/>
              <a:t>stronger than statement and branch coverage</a:t>
            </a:r>
          </a:p>
          <a:p>
            <a:pPr marL="342900" indent="-342900" defTabSz="914400">
              <a:lnSpc>
                <a:spcPct val="110000"/>
              </a:lnSpc>
            </a:pPr>
            <a:r>
              <a:rPr lang="en-US" altLang="en-US" sz="3100"/>
              <a:t>A good balance of thoroughness and test size  (and therefore widely used)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">
            <a:extLst>
              <a:ext uri="{FF2B5EF4-FFF2-40B4-BE49-F238E27FC236}">
                <a16:creationId xmlns:a16="http://schemas.microsoft.com/office/drawing/2014/main" id="{6BC8E160-60E8-6BC2-A37D-8D1C17C389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367808F-0B08-4418-B360-E2CCB12E68DE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3A939B0D-AB7F-F092-B5BB-72E01C6A6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MC/DC test cases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3A7D70D6-217C-D932-4281-F489600E5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763713"/>
            <a:ext cx="9163050" cy="2214562"/>
          </a:xfrm>
        </p:spPr>
        <p:txBody>
          <a:bodyPr/>
          <a:lstStyle/>
          <a:p>
            <a:pPr>
              <a:lnSpc>
                <a:spcPct val="83000"/>
              </a:lnSpc>
              <a:buFont typeface="Comic Sans MS" panose="030F0702030302020204" pitchFamily="66" charset="0"/>
              <a:buNone/>
            </a:pPr>
            <a:r>
              <a:rPr lang="en-US" altLang="en-US" sz="3100" b="1">
                <a:latin typeface="Courier New" panose="02070309020205020404" pitchFamily="49" charset="0"/>
              </a:rPr>
              <a:t>If (A and B) then</a:t>
            </a:r>
            <a:r>
              <a:rPr lang="en-US" altLang="en-US" sz="3100" b="1"/>
              <a:t>…</a:t>
            </a:r>
            <a:endParaRPr lang="en-US" altLang="en-US" sz="3100" b="1">
              <a:latin typeface="Courier New" panose="02070309020205020404" pitchFamily="49" charset="0"/>
            </a:endParaRPr>
          </a:p>
          <a:p>
            <a:pPr>
              <a:lnSpc>
                <a:spcPct val="83000"/>
              </a:lnSpc>
            </a:pPr>
            <a:endParaRPr lang="en-US" altLang="en-US" sz="3100"/>
          </a:p>
          <a:p>
            <a:pPr>
              <a:lnSpc>
                <a:spcPct val="83000"/>
              </a:lnSpc>
            </a:pPr>
            <a:r>
              <a:rPr lang="en-US" altLang="en-US" sz="2300"/>
              <a:t>(1) create truth table for conditions.</a:t>
            </a:r>
          </a:p>
          <a:p>
            <a:pPr>
              <a:lnSpc>
                <a:spcPct val="83000"/>
              </a:lnSpc>
            </a:pPr>
            <a:r>
              <a:rPr lang="en-US" altLang="en-US" sz="2300"/>
              <a:t>(2) Extend truth table so that it indicated which test cases can be used to show the independence of each condition.</a:t>
            </a:r>
          </a:p>
          <a:p>
            <a:pPr>
              <a:lnSpc>
                <a:spcPct val="83000"/>
              </a:lnSpc>
            </a:pPr>
            <a:endParaRPr lang="en-US" altLang="en-US" sz="2300"/>
          </a:p>
          <a:p>
            <a:pPr>
              <a:lnSpc>
                <a:spcPct val="83000"/>
              </a:lnSpc>
            </a:pPr>
            <a:endParaRPr lang="en-US" altLang="en-US" sz="2700"/>
          </a:p>
        </p:txBody>
      </p:sp>
      <p:pic>
        <p:nvPicPr>
          <p:cNvPr id="62469" name="Picture 4">
            <a:extLst>
              <a:ext uri="{FF2B5EF4-FFF2-40B4-BE49-F238E27FC236}">
                <a16:creationId xmlns:a16="http://schemas.microsoft.com/office/drawing/2014/main" id="{3267339D-ABDD-C066-9DC7-3E27E2475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221163"/>
            <a:ext cx="1525587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5">
            <a:extLst>
              <a:ext uri="{FF2B5EF4-FFF2-40B4-BE49-F238E27FC236}">
                <a16:creationId xmlns:a16="http://schemas.microsoft.com/office/drawing/2014/main" id="{A6ACCE99-60B3-5A2F-BB9C-6FE400180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188" y="4140200"/>
            <a:ext cx="4154487" cy="229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1" name="AutoShape 6">
            <a:extLst>
              <a:ext uri="{FF2B5EF4-FFF2-40B4-BE49-F238E27FC236}">
                <a16:creationId xmlns:a16="http://schemas.microsoft.com/office/drawing/2014/main" id="{311B719C-3F72-2572-4B5D-06AEAEAEC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38" y="5094288"/>
            <a:ext cx="715962" cy="534987"/>
          </a:xfrm>
          <a:prstGeom prst="rightArrow">
            <a:avLst>
              <a:gd name="adj1" fmla="val 49676"/>
              <a:gd name="adj2" fmla="val 66424"/>
            </a:avLst>
          </a:prstGeom>
          <a:solidFill>
            <a:srgbClr val="CCEC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>
            <a:extLst>
              <a:ext uri="{FF2B5EF4-FFF2-40B4-BE49-F238E27FC236}">
                <a16:creationId xmlns:a16="http://schemas.microsoft.com/office/drawing/2014/main" id="{AB8C421D-D84D-C448-F191-6546E5A2D87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43D23DA6-4A79-47C9-BB32-4E5EE14A125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C2E35DBF-71DA-3B29-AE91-13CF408F6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test cases cont’d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82CAB60E-422B-230D-6CF9-453E4F7A7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83138" y="1763713"/>
            <a:ext cx="4787900" cy="5349875"/>
          </a:xfrm>
        </p:spPr>
        <p:txBody>
          <a:bodyPr/>
          <a:lstStyle/>
          <a:p>
            <a:endParaRPr lang="en-US" altLang="en-US" sz="2300"/>
          </a:p>
          <a:p>
            <a:endParaRPr lang="en-US" altLang="en-US" sz="2300"/>
          </a:p>
          <a:p>
            <a:r>
              <a:rPr lang="en-US" altLang="en-US" sz="2300"/>
              <a:t>Show independence of </a:t>
            </a:r>
            <a:r>
              <a:rPr lang="en-US" altLang="en-US" sz="2300" b="1"/>
              <a:t>A</a:t>
            </a:r>
            <a:r>
              <a:rPr lang="en-US" altLang="en-US" sz="2300"/>
              <a:t>:</a:t>
            </a:r>
          </a:p>
          <a:p>
            <a:pPr lvl="1"/>
            <a:r>
              <a:rPr lang="en-US" altLang="en-US" sz="2100"/>
              <a:t>Take 1 + 3</a:t>
            </a:r>
          </a:p>
          <a:p>
            <a:r>
              <a:rPr lang="en-US" altLang="en-US" sz="2300"/>
              <a:t>Show independence of </a:t>
            </a:r>
            <a:r>
              <a:rPr lang="en-US" altLang="en-US" sz="2300" b="1"/>
              <a:t>B</a:t>
            </a:r>
            <a:r>
              <a:rPr lang="en-US" altLang="en-US" sz="2300"/>
              <a:t>:</a:t>
            </a:r>
          </a:p>
          <a:p>
            <a:pPr lvl="1"/>
            <a:r>
              <a:rPr lang="en-US" altLang="en-US" sz="2100"/>
              <a:t>Take 1 + 2</a:t>
            </a:r>
          </a:p>
          <a:p>
            <a:r>
              <a:rPr lang="en-US" altLang="en-US" sz="2300"/>
              <a:t>Resulting test cases are </a:t>
            </a:r>
          </a:p>
          <a:p>
            <a:pPr lvl="1"/>
            <a:r>
              <a:rPr lang="en-US" altLang="en-US" sz="2100"/>
              <a:t>1 + 2 + 3</a:t>
            </a:r>
          </a:p>
          <a:p>
            <a:pPr lvl="1"/>
            <a:r>
              <a:rPr lang="en-US" altLang="en-US" sz="2100"/>
              <a:t>(T , T) + (T , F) + (F , T)</a:t>
            </a:r>
          </a:p>
          <a:p>
            <a:endParaRPr lang="en-US" altLang="en-US" sz="2300"/>
          </a:p>
        </p:txBody>
      </p:sp>
      <p:pic>
        <p:nvPicPr>
          <p:cNvPr id="63493" name="Picture 4">
            <a:extLst>
              <a:ext uri="{FF2B5EF4-FFF2-40B4-BE49-F238E27FC236}">
                <a16:creationId xmlns:a16="http://schemas.microsoft.com/office/drawing/2014/main" id="{513A0454-9704-FF33-FF77-558771695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2827338"/>
            <a:ext cx="4154487" cy="229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5">
            <a:extLst>
              <a:ext uri="{FF2B5EF4-FFF2-40B4-BE49-F238E27FC236}">
                <a16:creationId xmlns:a16="http://schemas.microsoft.com/office/drawing/2014/main" id="{B11273C5-6C2E-39B0-E3C9-9CAE152AA46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D15EE9A-8C8F-4A05-9D27-850866C2FD8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5753882-B7C0-AEAB-D914-201328216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More advanced example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FE6B903-A29A-77C6-9289-714121E9F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Comic Sans MS" panose="030F0702030302020204" pitchFamily="66" charset="0"/>
              <a:buNone/>
            </a:pPr>
            <a:r>
              <a:rPr lang="en-US" altLang="en-US" sz="3600" b="1">
                <a:latin typeface="Courier New" panose="02070309020205020404" pitchFamily="49" charset="0"/>
              </a:rPr>
              <a:t>If (A and (B or C)) then</a:t>
            </a:r>
            <a:r>
              <a:rPr lang="en-US" altLang="en-US" sz="3600" b="1"/>
              <a:t>…</a:t>
            </a:r>
            <a:endParaRPr lang="en-US" altLang="en-US" sz="3600" b="1">
              <a:latin typeface="Courier New" panose="02070309020205020404" pitchFamily="49" charset="0"/>
            </a:endParaRPr>
          </a:p>
          <a:p>
            <a:endParaRPr lang="en-US" altLang="en-US" sz="3600"/>
          </a:p>
          <a:p>
            <a:endParaRPr lang="en-US" altLang="en-US" sz="2700"/>
          </a:p>
        </p:txBody>
      </p:sp>
      <p:pic>
        <p:nvPicPr>
          <p:cNvPr id="64517" name="Picture 4">
            <a:extLst>
              <a:ext uri="{FF2B5EF4-FFF2-40B4-BE49-F238E27FC236}">
                <a16:creationId xmlns:a16="http://schemas.microsoft.com/office/drawing/2014/main" id="{5F40C816-B786-57DC-31DE-2EE391166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2747963"/>
            <a:ext cx="4997450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5">
            <a:extLst>
              <a:ext uri="{FF2B5EF4-FFF2-40B4-BE49-F238E27FC236}">
                <a16:creationId xmlns:a16="http://schemas.microsoft.com/office/drawing/2014/main" id="{C1FFB8A3-D779-2562-13C6-ED30F03F4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88" y="3065463"/>
            <a:ext cx="3571875" cy="326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Note: We want to determine the MINIMAL set of test cases</a:t>
            </a:r>
          </a:p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Here:</a:t>
            </a:r>
          </a:p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 {2,3,4,6}</a:t>
            </a:r>
          </a:p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{2,3,4,7}</a:t>
            </a:r>
          </a:p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n-US" altLang="en-US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Non-minimal set is:</a:t>
            </a:r>
          </a:p>
          <a:p>
            <a:pPr eaLnBrk="1" hangingPunct="1">
              <a:lnSpc>
                <a:spcPct val="93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{1,2,3,4,5}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5">
            <a:extLst>
              <a:ext uri="{FF2B5EF4-FFF2-40B4-BE49-F238E27FC236}">
                <a16:creationId xmlns:a16="http://schemas.microsoft.com/office/drawing/2014/main" id="{252C693D-2BEC-296E-28F7-E3B83ADF3D1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AA6DDE0-3D39-46E4-9AF6-DAD7BEC1016A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pic>
        <p:nvPicPr>
          <p:cNvPr id="65539" name="Picture 2">
            <a:extLst>
              <a:ext uri="{FF2B5EF4-FFF2-40B4-BE49-F238E27FC236}">
                <a16:creationId xmlns:a16="http://schemas.microsoft.com/office/drawing/2014/main" id="{2D00854E-570C-A20A-AB68-333F7F350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50" y="2827338"/>
            <a:ext cx="5395913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Rectangle 3">
            <a:extLst>
              <a:ext uri="{FF2B5EF4-FFF2-40B4-BE49-F238E27FC236}">
                <a16:creationId xmlns:a16="http://schemas.microsoft.com/office/drawing/2014/main" id="{56068E5F-8EBC-50F1-5022-17A5AAA2F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Where does it fit in?</a:t>
            </a:r>
          </a:p>
        </p:txBody>
      </p:sp>
      <p:sp>
        <p:nvSpPr>
          <p:cNvPr id="65541" name="Rectangle 4">
            <a:extLst>
              <a:ext uri="{FF2B5EF4-FFF2-40B4-BE49-F238E27FC236}">
                <a16:creationId xmlns:a16="http://schemas.microsoft.com/office/drawing/2014/main" id="{9A0D8ED0-2C1C-9429-E1D5-FDC375FB3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763713"/>
            <a:ext cx="5113338" cy="534987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en-US" sz="2300"/>
              <a:t>The MC/DC criterion is much stronger than the condition/decision coverage criterion, but the number of test cases to achieve the MC/DC criterions still varies linearly with the number of conditions n in the decisions.</a:t>
            </a:r>
          </a:p>
          <a:p>
            <a:pPr lvl="1">
              <a:lnSpc>
                <a:spcPct val="105000"/>
              </a:lnSpc>
            </a:pPr>
            <a:r>
              <a:rPr lang="en-US" altLang="en-US" sz="2100"/>
              <a:t>Much more complete coverage than condition/decision coverage, but</a:t>
            </a:r>
          </a:p>
          <a:p>
            <a:pPr lvl="1">
              <a:lnSpc>
                <a:spcPct val="105000"/>
              </a:lnSpc>
            </a:pPr>
            <a:r>
              <a:rPr lang="en-US" altLang="en-US" sz="2100"/>
              <a:t>at the same time it is not terribly costly in terms of number of test cases.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5">
            <a:extLst>
              <a:ext uri="{FF2B5EF4-FFF2-40B4-BE49-F238E27FC236}">
                <a16:creationId xmlns:a16="http://schemas.microsoft.com/office/drawing/2014/main" id="{254C47F6-1CF4-4A40-89B4-AAD4F779BC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59C9706-4BF0-436E-A04F-92B77EDAFC71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D1944AD9-9811-212D-A81D-FD516085D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Path Coverage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0C1E88E-D4F9-BE7C-EBC8-6D45DFB50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570038"/>
            <a:ext cx="9447213" cy="55435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000"/>
              <a:t>Design test cases such that: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3600"/>
              <a:t>All linearly independent paths in the program are executed at least once.</a:t>
            </a:r>
          </a:p>
          <a:p>
            <a:pPr marL="342900" indent="-34290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000"/>
              <a:t>Defined in terms of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3600"/>
              <a:t>Control flow graph (CFG) of a program.</a:t>
            </a:r>
            <a:r>
              <a:rPr lang="en-US" altLang="en-US" sz="4000"/>
              <a:t>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5">
            <a:extLst>
              <a:ext uri="{FF2B5EF4-FFF2-40B4-BE49-F238E27FC236}">
                <a16:creationId xmlns:a16="http://schemas.microsoft.com/office/drawing/2014/main" id="{04211CE1-34EC-591E-4FB7-C683DBA855F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1DA9DA1-BFFD-41AD-BDCC-9DCB8D113EA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418B4331-976F-B7DE-BBC2-C4A1C25AF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713" y="0"/>
            <a:ext cx="9372600" cy="1258888"/>
          </a:xfrm>
        </p:spPr>
        <p:txBody>
          <a:bodyPr/>
          <a:lstStyle/>
          <a:p>
            <a:pPr defTabSz="914400"/>
            <a:r>
              <a:rPr lang="en-US" altLang="en-US" sz="4900"/>
              <a:t>Path Coverage-Based Testing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A28890DE-0B3D-8FA3-A6A2-01CC6E031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5238"/>
            <a:ext cx="9917113" cy="5681662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000"/>
              <a:t>To understand the path coverage-based testing: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600"/>
              <a:t>we need to learn how to draw control flow graph of a program.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000"/>
              <a:t>A control flow graph (CFG) describes: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600">
                <a:solidFill>
                  <a:srgbClr val="0000CC"/>
                </a:solidFill>
              </a:rPr>
              <a:t>The sequence in which different instructions of a program get executed.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600">
                <a:solidFill>
                  <a:srgbClr val="0000CC"/>
                </a:solidFill>
              </a:rPr>
              <a:t>The way control flows through the program.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5">
            <a:extLst>
              <a:ext uri="{FF2B5EF4-FFF2-40B4-BE49-F238E27FC236}">
                <a16:creationId xmlns:a16="http://schemas.microsoft.com/office/drawing/2014/main" id="{FC1F8DA9-1861-13CC-4DF4-04DDF733A9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0991A22-1572-4F82-8F98-9796958A4BA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31F5A138-EECF-AF59-3EB8-59EE1720E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336550"/>
            <a:ext cx="8886825" cy="1258888"/>
          </a:xfrm>
        </p:spPr>
        <p:txBody>
          <a:bodyPr/>
          <a:lstStyle/>
          <a:p>
            <a:pPr defTabSz="914400"/>
            <a:r>
              <a:rPr lang="en-US" altLang="en-US" sz="4500"/>
              <a:t>How to Draw Control Flow Graph?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0B43FB7F-F729-4584-C134-83ABD2067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9875" y="1708150"/>
            <a:ext cx="9655175" cy="4972050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</a:pPr>
            <a:r>
              <a:rPr lang="en-US" altLang="en-US" sz="3600"/>
              <a:t>Number all statements of a program. </a:t>
            </a:r>
          </a:p>
          <a:p>
            <a:pPr marL="342900" indent="-342900" defTabSz="914400">
              <a:lnSpc>
                <a:spcPct val="105000"/>
              </a:lnSpc>
            </a:pPr>
            <a:r>
              <a:rPr lang="en-US" altLang="en-US" sz="3600"/>
              <a:t>Numbered statements: </a:t>
            </a:r>
          </a:p>
          <a:p>
            <a:pPr marL="742950" lvl="1" indent="-285750" defTabSz="914400">
              <a:lnSpc>
                <a:spcPct val="105000"/>
              </a:lnSpc>
            </a:pPr>
            <a:r>
              <a:rPr lang="en-US" altLang="en-US" sz="3200"/>
              <a:t>Represent nodes of control flow graph. </a:t>
            </a:r>
          </a:p>
          <a:p>
            <a:pPr marL="342900" indent="-342900" defTabSz="914400">
              <a:lnSpc>
                <a:spcPct val="105000"/>
              </a:lnSpc>
            </a:pPr>
            <a:r>
              <a:rPr lang="en-US" altLang="en-US" sz="3600"/>
              <a:t>An edge from one node to another node exists: </a:t>
            </a:r>
          </a:p>
          <a:p>
            <a:pPr marL="742950" lvl="1" indent="-285750" defTabSz="914400">
              <a:lnSpc>
                <a:spcPct val="105000"/>
              </a:lnSpc>
            </a:pPr>
            <a:r>
              <a:rPr lang="en-US" altLang="en-US" sz="3200"/>
              <a:t>If execution of the statement representing the first node </a:t>
            </a:r>
          </a:p>
          <a:p>
            <a:pPr marL="1143000" lvl="2" indent="-228600" defTabSz="914400">
              <a:lnSpc>
                <a:spcPct val="105000"/>
              </a:lnSpc>
            </a:pPr>
            <a:r>
              <a:rPr lang="en-US" altLang="en-US" sz="3100"/>
              <a:t>Can result in transfer of control to the other node.</a:t>
            </a:r>
            <a:r>
              <a:rPr lang="en-US" altLang="en-US" sz="2700"/>
              <a:t>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5">
            <a:extLst>
              <a:ext uri="{FF2B5EF4-FFF2-40B4-BE49-F238E27FC236}">
                <a16:creationId xmlns:a16="http://schemas.microsoft.com/office/drawing/2014/main" id="{E5FBBBA9-A88D-2EB8-5723-EFA170AC08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C51702F-D2FA-442C-AEDB-89250D6458AF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A3392D7-1D7C-7F76-BD92-C6CC0113E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6700"/>
              <a:t>Example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0FC07764-065D-A601-691D-24A426E16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200"/>
              </a:spcAft>
            </a:pPr>
            <a:r>
              <a:rPr lang="en-US" altLang="en-US"/>
              <a:t>int f1(int x,int y){                    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200"/>
              </a:spcAft>
            </a:pPr>
            <a:r>
              <a:rPr lang="en-US" altLang="en-US">
                <a:solidFill>
                  <a:srgbClr val="0033CC"/>
                </a:solidFill>
              </a:rPr>
              <a:t>1</a:t>
            </a:r>
            <a:r>
              <a:rPr lang="en-US" altLang="en-US"/>
              <a:t> while (x != y){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200"/>
              </a:spcAft>
            </a:pPr>
            <a:r>
              <a:rPr lang="en-US" altLang="en-US">
                <a:solidFill>
                  <a:srgbClr val="0033CC"/>
                </a:solidFill>
              </a:rPr>
              <a:t>2</a:t>
            </a:r>
            <a:r>
              <a:rPr lang="en-US" altLang="en-US"/>
              <a:t>    if (x&gt;y) then 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200"/>
              </a:spcAft>
            </a:pPr>
            <a:r>
              <a:rPr lang="en-US" altLang="en-US">
                <a:solidFill>
                  <a:srgbClr val="0033CC"/>
                </a:solidFill>
              </a:rPr>
              <a:t>3</a:t>
            </a:r>
            <a:r>
              <a:rPr lang="en-US" altLang="en-US"/>
              <a:t>         x=x-y;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200"/>
              </a:spcAft>
            </a:pPr>
            <a:r>
              <a:rPr lang="en-US" altLang="en-US">
                <a:solidFill>
                  <a:srgbClr val="0033CC"/>
                </a:solidFill>
              </a:rPr>
              <a:t>4</a:t>
            </a:r>
            <a:r>
              <a:rPr lang="en-US" altLang="en-US"/>
              <a:t>    else y=y-x;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200"/>
              </a:spcAft>
            </a:pPr>
            <a:r>
              <a:rPr lang="en-US" altLang="en-US">
                <a:solidFill>
                  <a:srgbClr val="0033CC"/>
                </a:solidFill>
              </a:rPr>
              <a:t>5</a:t>
            </a:r>
            <a:r>
              <a:rPr lang="en-US" altLang="en-US"/>
              <a:t> }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200"/>
              </a:spcAft>
            </a:pPr>
            <a:r>
              <a:rPr lang="en-US" altLang="en-US">
                <a:solidFill>
                  <a:srgbClr val="0033CC"/>
                </a:solidFill>
              </a:rPr>
              <a:t>6</a:t>
            </a:r>
            <a:r>
              <a:rPr lang="en-US" altLang="en-US"/>
              <a:t> return x;        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5">
            <a:extLst>
              <a:ext uri="{FF2B5EF4-FFF2-40B4-BE49-F238E27FC236}">
                <a16:creationId xmlns:a16="http://schemas.microsoft.com/office/drawing/2014/main" id="{E65059BA-35B8-FF1A-C0F7-348A957C0D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2C144F9-12AD-4F50-A5C1-FDB4273006C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55516AB9-6DE9-8D60-FBEF-997152840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169863"/>
            <a:ext cx="8601075" cy="1255712"/>
          </a:xfrm>
        </p:spPr>
        <p:txBody>
          <a:bodyPr/>
          <a:lstStyle/>
          <a:p>
            <a:pPr defTabSz="914400"/>
            <a:r>
              <a:rPr lang="en-US" altLang="en-US" sz="4900"/>
              <a:t>Example Control Flow Graph</a:t>
            </a:r>
          </a:p>
        </p:txBody>
      </p:sp>
      <p:grpSp>
        <p:nvGrpSpPr>
          <p:cNvPr id="70660" name="Group 3">
            <a:extLst>
              <a:ext uri="{FF2B5EF4-FFF2-40B4-BE49-F238E27FC236}">
                <a16:creationId xmlns:a16="http://schemas.microsoft.com/office/drawing/2014/main" id="{485FFC9A-666F-508D-1BDD-EFD6762C86B6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847850"/>
            <a:ext cx="5230813" cy="4979988"/>
            <a:chOff x="1640" y="1164"/>
            <a:chExt cx="1791" cy="2169"/>
          </a:xfrm>
        </p:grpSpPr>
        <p:sp>
          <p:nvSpPr>
            <p:cNvPr id="70661" name="Oval 4">
              <a:extLst>
                <a:ext uri="{FF2B5EF4-FFF2-40B4-BE49-F238E27FC236}">
                  <a16:creationId xmlns:a16="http://schemas.microsoft.com/office/drawing/2014/main" id="{F8E18245-2070-D4D1-EB24-1EDF5CE23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164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62" name="Oval 5">
              <a:extLst>
                <a:ext uri="{FF2B5EF4-FFF2-40B4-BE49-F238E27FC236}">
                  <a16:creationId xmlns:a16="http://schemas.microsoft.com/office/drawing/2014/main" id="{7C0FB0A0-4BF1-2C97-4DD0-C677FE239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640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63" name="Oval 6">
              <a:extLst>
                <a:ext uri="{FF2B5EF4-FFF2-40B4-BE49-F238E27FC236}">
                  <a16:creationId xmlns:a16="http://schemas.microsoft.com/office/drawing/2014/main" id="{3788035F-144A-6903-F548-425C93DA7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116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64" name="Oval 7">
              <a:extLst>
                <a:ext uri="{FF2B5EF4-FFF2-40B4-BE49-F238E27FC236}">
                  <a16:creationId xmlns:a16="http://schemas.microsoft.com/office/drawing/2014/main" id="{6C9A3754-3309-5ADD-D8A1-E68EB5C04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2116"/>
              <a:ext cx="317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65" name="Oval 8">
              <a:extLst>
                <a:ext uri="{FF2B5EF4-FFF2-40B4-BE49-F238E27FC236}">
                  <a16:creationId xmlns:a16="http://schemas.microsoft.com/office/drawing/2014/main" id="{8DF8F4C8-D060-F72F-6DB2-8491CF69A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540"/>
              <a:ext cx="318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66" name="Oval 9">
              <a:extLst>
                <a:ext uri="{FF2B5EF4-FFF2-40B4-BE49-F238E27FC236}">
                  <a16:creationId xmlns:a16="http://schemas.microsoft.com/office/drawing/2014/main" id="{A5FF07B0-E8A7-18B6-C38F-54B2B73A2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3016"/>
              <a:ext cx="318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67" name="Line 10">
              <a:extLst>
                <a:ext uri="{FF2B5EF4-FFF2-40B4-BE49-F238E27FC236}">
                  <a16:creationId xmlns:a16="http://schemas.microsoft.com/office/drawing/2014/main" id="{B2392469-5D1F-3768-DA21-0AA30ED6D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" y="1429"/>
              <a:ext cx="0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68" name="Line 11">
              <a:extLst>
                <a:ext uri="{FF2B5EF4-FFF2-40B4-BE49-F238E27FC236}">
                  <a16:creationId xmlns:a16="http://schemas.microsoft.com/office/drawing/2014/main" id="{3EC5B5CF-6B1B-E567-2FB0-AD0AD2A13A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0" y="1905"/>
              <a:ext cx="211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69" name="Line 12">
              <a:extLst>
                <a:ext uri="{FF2B5EF4-FFF2-40B4-BE49-F238E27FC236}">
                  <a16:creationId xmlns:a16="http://schemas.microsoft.com/office/drawing/2014/main" id="{7AAA1634-9565-5C34-553C-B438E688E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3" y="1905"/>
              <a:ext cx="212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70" name="Line 13">
              <a:extLst>
                <a:ext uri="{FF2B5EF4-FFF2-40B4-BE49-F238E27FC236}">
                  <a16:creationId xmlns:a16="http://schemas.microsoft.com/office/drawing/2014/main" id="{3BA442C4-C395-CF85-26CA-8D56E06C0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7" y="2434"/>
              <a:ext cx="211" cy="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71" name="Line 14">
              <a:extLst>
                <a:ext uri="{FF2B5EF4-FFF2-40B4-BE49-F238E27FC236}">
                  <a16:creationId xmlns:a16="http://schemas.microsoft.com/office/drawing/2014/main" id="{C4876B02-156F-9EDD-841B-FDF52E2286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2434"/>
              <a:ext cx="212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72" name="Line 15">
              <a:extLst>
                <a:ext uri="{FF2B5EF4-FFF2-40B4-BE49-F238E27FC236}">
                  <a16:creationId xmlns:a16="http://schemas.microsoft.com/office/drawing/2014/main" id="{D13191E3-0B0F-F569-6254-1B6AEA694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0" y="2751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73" name="Line 16">
              <a:extLst>
                <a:ext uri="{FF2B5EF4-FFF2-40B4-BE49-F238E27FC236}">
                  <a16:creationId xmlns:a16="http://schemas.microsoft.com/office/drawing/2014/main" id="{35750A21-35BD-294B-7768-E015B4321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0" y="1323"/>
              <a:ext cx="0" cy="14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74" name="Line 17">
              <a:extLst>
                <a:ext uri="{FF2B5EF4-FFF2-40B4-BE49-F238E27FC236}">
                  <a16:creationId xmlns:a16="http://schemas.microsoft.com/office/drawing/2014/main" id="{39967A8D-B8FB-60BF-9868-8C90469B2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1323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675" name="Freeform 18">
              <a:extLst>
                <a:ext uri="{FF2B5EF4-FFF2-40B4-BE49-F238E27FC236}">
                  <a16:creationId xmlns:a16="http://schemas.microsoft.com/office/drawing/2014/main" id="{E782853A-C7A7-2061-7C8E-F6A8FE0F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217"/>
              <a:ext cx="785" cy="1905"/>
            </a:xfrm>
            <a:custGeom>
              <a:avLst/>
              <a:gdLst>
                <a:gd name="T0" fmla="*/ 0 w 712"/>
                <a:gd name="T1" fmla="*/ 141 h 1296"/>
                <a:gd name="T2" fmla="*/ 582 w 712"/>
                <a:gd name="T3" fmla="*/ 212 h 1296"/>
                <a:gd name="T4" fmla="*/ 688 w 712"/>
                <a:gd name="T5" fmla="*/ 1411 h 1296"/>
                <a:gd name="T6" fmla="*/ 0 w 712"/>
                <a:gd name="T7" fmla="*/ 1905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2"/>
                <a:gd name="T13" fmla="*/ 0 h 1296"/>
                <a:gd name="T14" fmla="*/ 712 w 712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2" h="1296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5">
            <a:extLst>
              <a:ext uri="{FF2B5EF4-FFF2-40B4-BE49-F238E27FC236}">
                <a16:creationId xmlns:a16="http://schemas.microsoft.com/office/drawing/2014/main" id="{425A1C4C-F044-4D8A-27FB-17607378C8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CB876C3-1217-4E23-A004-61AD4D5679D6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47D926C-6C8F-18C8-FB8E-2B07A59D5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4900"/>
              <a:t>How to Draw Control flow Graph?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98A0B483-7592-9A4A-FF4A-5980B39427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/>
            <a:r>
              <a:rPr lang="en-US" altLang="en-US" sz="4800" b="1"/>
              <a:t>Sequence:</a:t>
            </a:r>
          </a:p>
          <a:p>
            <a:pPr marL="742950" lvl="1" indent="-285750" defTabSz="914400"/>
            <a:r>
              <a:rPr lang="en-US" altLang="en-US" sz="4500" b="1">
                <a:solidFill>
                  <a:srgbClr val="0033CC"/>
                </a:solidFill>
              </a:rPr>
              <a:t>1</a:t>
            </a:r>
            <a:r>
              <a:rPr lang="en-US" altLang="en-US" sz="4500" b="1"/>
              <a:t>  a=5;</a:t>
            </a:r>
          </a:p>
          <a:p>
            <a:pPr marL="742950" lvl="1" indent="-285750" defTabSz="914400"/>
            <a:r>
              <a:rPr lang="en-US" altLang="en-US" sz="4500" b="1">
                <a:solidFill>
                  <a:srgbClr val="0033CC"/>
                </a:solidFill>
              </a:rPr>
              <a:t>2</a:t>
            </a:r>
            <a:r>
              <a:rPr lang="en-US" altLang="en-US" sz="4500" b="1"/>
              <a:t>  b=a*b-1;</a:t>
            </a:r>
          </a:p>
        </p:txBody>
      </p:sp>
      <p:grpSp>
        <p:nvGrpSpPr>
          <p:cNvPr id="71685" name="Group 4">
            <a:extLst>
              <a:ext uri="{FF2B5EF4-FFF2-40B4-BE49-F238E27FC236}">
                <a16:creationId xmlns:a16="http://schemas.microsoft.com/office/drawing/2014/main" id="{D465B34A-533E-DD7C-20AC-ACE7CEA9BE48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2341563"/>
            <a:ext cx="1798637" cy="4014787"/>
            <a:chOff x="3387" y="1587"/>
            <a:chExt cx="317" cy="953"/>
          </a:xfrm>
        </p:grpSpPr>
        <p:sp>
          <p:nvSpPr>
            <p:cNvPr id="71686" name="Oval 5">
              <a:extLst>
                <a:ext uri="{FF2B5EF4-FFF2-40B4-BE49-F238E27FC236}">
                  <a16:creationId xmlns:a16="http://schemas.microsoft.com/office/drawing/2014/main" id="{144EEE50-BBE4-0A18-10D7-A8CD71E12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" y="1587"/>
              <a:ext cx="317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1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46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687" name="Oval 6">
              <a:extLst>
                <a:ext uri="{FF2B5EF4-FFF2-40B4-BE49-F238E27FC236}">
                  <a16:creationId xmlns:a16="http://schemas.microsoft.com/office/drawing/2014/main" id="{60684D22-DAD7-E6A7-D6EA-0828A12F5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" y="2222"/>
              <a:ext cx="317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1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46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688" name="Line 7">
              <a:extLst>
                <a:ext uri="{FF2B5EF4-FFF2-40B4-BE49-F238E27FC236}">
                  <a16:creationId xmlns:a16="http://schemas.microsoft.com/office/drawing/2014/main" id="{38673865-AF23-4CC8-5897-442EE96E8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5" y="1905"/>
              <a:ext cx="0" cy="3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>
            <a:extLst>
              <a:ext uri="{FF2B5EF4-FFF2-40B4-BE49-F238E27FC236}">
                <a16:creationId xmlns:a16="http://schemas.microsoft.com/office/drawing/2014/main" id="{AEE6305E-35FE-2450-902E-4D41CCE017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B47C20C-32ED-4034-AEE6-544CE9230794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1A42CF83-D564-97DF-2AC1-585D116E9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4900"/>
              <a:t>How to Draw Control Flow Graph?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226594A9-3F5D-026B-D623-EA15DE9D4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/>
            <a:r>
              <a:rPr lang="en-US" altLang="en-US" sz="4400" b="1"/>
              <a:t>Selection:</a:t>
            </a:r>
          </a:p>
          <a:p>
            <a:pPr marL="742950" lvl="1" indent="-285750" defTabSz="914400"/>
            <a:r>
              <a:rPr lang="en-US" altLang="en-US" sz="4000" b="1">
                <a:solidFill>
                  <a:srgbClr val="0033CC"/>
                </a:solidFill>
              </a:rPr>
              <a:t>1</a:t>
            </a:r>
            <a:r>
              <a:rPr lang="en-US" altLang="en-US" sz="4000" b="1"/>
              <a:t> if(a&gt;b) then</a:t>
            </a:r>
          </a:p>
          <a:p>
            <a:pPr marL="742950" lvl="1" indent="-285750" defTabSz="914400"/>
            <a:r>
              <a:rPr lang="en-US" altLang="en-US" sz="4000" b="1">
                <a:solidFill>
                  <a:srgbClr val="0033CC"/>
                </a:solidFill>
              </a:rPr>
              <a:t>2</a:t>
            </a:r>
            <a:r>
              <a:rPr lang="en-US" altLang="en-US" sz="4000" b="1"/>
              <a:t>          c=3;</a:t>
            </a:r>
          </a:p>
          <a:p>
            <a:pPr marL="742950" lvl="1" indent="-285750" defTabSz="914400"/>
            <a:r>
              <a:rPr lang="en-US" altLang="en-US" sz="4000" b="1">
                <a:solidFill>
                  <a:srgbClr val="0033CC"/>
                </a:solidFill>
              </a:rPr>
              <a:t>3</a:t>
            </a:r>
            <a:r>
              <a:rPr lang="en-US" altLang="en-US" sz="4000" b="1"/>
              <a:t> else   c=5;</a:t>
            </a:r>
          </a:p>
          <a:p>
            <a:pPr marL="742950" lvl="1" indent="-285750" defTabSz="914400"/>
            <a:r>
              <a:rPr lang="en-US" altLang="en-US" sz="4000" b="1">
                <a:solidFill>
                  <a:srgbClr val="0033CC"/>
                </a:solidFill>
              </a:rPr>
              <a:t>4</a:t>
            </a:r>
            <a:r>
              <a:rPr lang="en-US" altLang="en-US" sz="4000" b="1"/>
              <a:t> c=c*c;</a:t>
            </a:r>
          </a:p>
        </p:txBody>
      </p:sp>
      <p:grpSp>
        <p:nvGrpSpPr>
          <p:cNvPr id="72709" name="Group 4">
            <a:extLst>
              <a:ext uri="{FF2B5EF4-FFF2-40B4-BE49-F238E27FC236}">
                <a16:creationId xmlns:a16="http://schemas.microsoft.com/office/drawing/2014/main" id="{C030AA6B-595B-CD77-8D85-4556B43F3600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2603500"/>
            <a:ext cx="3884612" cy="3544888"/>
            <a:chOff x="3175" y="1640"/>
            <a:chExt cx="1111" cy="1217"/>
          </a:xfrm>
        </p:grpSpPr>
        <p:sp>
          <p:nvSpPr>
            <p:cNvPr id="72710" name="Oval 5">
              <a:extLst>
                <a:ext uri="{FF2B5EF4-FFF2-40B4-BE49-F238E27FC236}">
                  <a16:creationId xmlns:a16="http://schemas.microsoft.com/office/drawing/2014/main" id="{C74B0463-7808-AE24-61CD-CBD2E2644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" y="1640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1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4600" b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11" name="Oval 6">
              <a:extLst>
                <a:ext uri="{FF2B5EF4-FFF2-40B4-BE49-F238E27FC236}">
                  <a16:creationId xmlns:a16="http://schemas.microsoft.com/office/drawing/2014/main" id="{08E4966E-C5D6-779B-E7A9-9E4B8C537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116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1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4600" b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12" name="Oval 7">
              <a:extLst>
                <a:ext uri="{FF2B5EF4-FFF2-40B4-BE49-F238E27FC236}">
                  <a16:creationId xmlns:a16="http://schemas.microsoft.com/office/drawing/2014/main" id="{C8707018-EB81-DC57-35D3-F3EE90492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2116"/>
              <a:ext cx="317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1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4600" b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13" name="Oval 8">
              <a:extLst>
                <a:ext uri="{FF2B5EF4-FFF2-40B4-BE49-F238E27FC236}">
                  <a16:creationId xmlns:a16="http://schemas.microsoft.com/office/drawing/2014/main" id="{D5D4D433-39EF-2A36-DB60-17B769913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" y="2540"/>
              <a:ext cx="318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1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4600" b="1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14" name="Line 9">
              <a:extLst>
                <a:ext uri="{FF2B5EF4-FFF2-40B4-BE49-F238E27FC236}">
                  <a16:creationId xmlns:a16="http://schemas.microsoft.com/office/drawing/2014/main" id="{A14858B8-C0BF-6982-B7C2-74B80E3E3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0" y="1905"/>
              <a:ext cx="211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15" name="Line 10">
              <a:extLst>
                <a:ext uri="{FF2B5EF4-FFF2-40B4-BE49-F238E27FC236}">
                  <a16:creationId xmlns:a16="http://schemas.microsoft.com/office/drawing/2014/main" id="{4D98E325-84F8-4D35-F730-1BED6C80D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3" y="1905"/>
              <a:ext cx="212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16" name="Line 11">
              <a:extLst>
                <a:ext uri="{FF2B5EF4-FFF2-40B4-BE49-F238E27FC236}">
                  <a16:creationId xmlns:a16="http://schemas.microsoft.com/office/drawing/2014/main" id="{560330DF-7942-E2D8-33CD-CBC46E25A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7" y="2434"/>
              <a:ext cx="211" cy="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17" name="Line 12">
              <a:extLst>
                <a:ext uri="{FF2B5EF4-FFF2-40B4-BE49-F238E27FC236}">
                  <a16:creationId xmlns:a16="http://schemas.microsoft.com/office/drawing/2014/main" id="{2E44A2B8-F534-B759-1829-7E0123E229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6" y="2434"/>
              <a:ext cx="212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5">
            <a:extLst>
              <a:ext uri="{FF2B5EF4-FFF2-40B4-BE49-F238E27FC236}">
                <a16:creationId xmlns:a16="http://schemas.microsoft.com/office/drawing/2014/main" id="{6ADBD9B4-6103-0669-D567-067F14FC16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F85ED0B5-6CDA-49F8-9EAA-A0F003E803B9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8C3B7230-4995-98CC-06AF-7AA68CEDD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4900"/>
              <a:t>How to Draw Control Flow Graph?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5A5CF4A8-8024-A185-D113-3D73F45265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/>
            <a:r>
              <a:rPr lang="en-US" altLang="en-US" sz="4000" b="1"/>
              <a:t>Iteration:</a:t>
            </a:r>
          </a:p>
          <a:p>
            <a:pPr marL="742950" lvl="1" indent="-285750" defTabSz="914400"/>
            <a:r>
              <a:rPr lang="en-US" altLang="en-US" sz="3600" b="1">
                <a:solidFill>
                  <a:srgbClr val="0033CC"/>
                </a:solidFill>
              </a:rPr>
              <a:t>1</a:t>
            </a:r>
            <a:r>
              <a:rPr lang="en-US" altLang="en-US" sz="3600" b="1"/>
              <a:t> while(a&gt;b){</a:t>
            </a:r>
          </a:p>
          <a:p>
            <a:pPr marL="742950" lvl="1" indent="-285750" defTabSz="914400"/>
            <a:r>
              <a:rPr lang="en-US" altLang="en-US" sz="3600" b="1">
                <a:solidFill>
                  <a:srgbClr val="0033CC"/>
                </a:solidFill>
              </a:rPr>
              <a:t>2</a:t>
            </a:r>
            <a:r>
              <a:rPr lang="en-US" altLang="en-US" sz="3600" b="1"/>
              <a:t>       b=b*a;</a:t>
            </a:r>
          </a:p>
          <a:p>
            <a:pPr marL="742950" lvl="1" indent="-285750" defTabSz="914400"/>
            <a:r>
              <a:rPr lang="en-US" altLang="en-US" sz="3600" b="1">
                <a:solidFill>
                  <a:srgbClr val="0033CC"/>
                </a:solidFill>
              </a:rPr>
              <a:t>3</a:t>
            </a:r>
            <a:r>
              <a:rPr lang="en-US" altLang="en-US" sz="3600" b="1"/>
              <a:t>        b=b-1;}</a:t>
            </a:r>
          </a:p>
          <a:p>
            <a:pPr marL="742950" lvl="1" indent="-285750" defTabSz="914400"/>
            <a:r>
              <a:rPr lang="en-US" altLang="en-US" sz="3600" b="1">
                <a:solidFill>
                  <a:srgbClr val="0033CC"/>
                </a:solidFill>
              </a:rPr>
              <a:t>4</a:t>
            </a:r>
            <a:r>
              <a:rPr lang="en-US" altLang="en-US" sz="3600" b="1"/>
              <a:t> c=b+d;</a:t>
            </a:r>
          </a:p>
        </p:txBody>
      </p:sp>
      <p:grpSp>
        <p:nvGrpSpPr>
          <p:cNvPr id="73733" name="Group 4">
            <a:extLst>
              <a:ext uri="{FF2B5EF4-FFF2-40B4-BE49-F238E27FC236}">
                <a16:creationId xmlns:a16="http://schemas.microsoft.com/office/drawing/2014/main" id="{4D8D9646-EC0F-7417-72A5-DDD6AEE2EEEF}"/>
              </a:ext>
            </a:extLst>
          </p:cNvPr>
          <p:cNvGrpSpPr>
            <a:grpSpLocks/>
          </p:cNvGrpSpPr>
          <p:nvPr/>
        </p:nvGrpSpPr>
        <p:grpSpPr bwMode="auto">
          <a:xfrm>
            <a:off x="4887913" y="1798638"/>
            <a:ext cx="4953000" cy="5181600"/>
            <a:chOff x="3237" y="1270"/>
            <a:chExt cx="1790" cy="2169"/>
          </a:xfrm>
        </p:grpSpPr>
        <p:sp>
          <p:nvSpPr>
            <p:cNvPr id="73734" name="Oval 5">
              <a:extLst>
                <a:ext uri="{FF2B5EF4-FFF2-40B4-BE49-F238E27FC236}">
                  <a16:creationId xmlns:a16="http://schemas.microsoft.com/office/drawing/2014/main" id="{CE9FD422-57C1-4F01-A169-3A330CFA2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5" y="1270"/>
              <a:ext cx="317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35" name="Oval 6">
              <a:extLst>
                <a:ext uri="{FF2B5EF4-FFF2-40B4-BE49-F238E27FC236}">
                  <a16:creationId xmlns:a16="http://schemas.microsoft.com/office/drawing/2014/main" id="{CC9D6F30-97AB-5761-8238-5CA781DA5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5" y="1958"/>
              <a:ext cx="317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36" name="Oval 7">
              <a:extLst>
                <a:ext uri="{FF2B5EF4-FFF2-40B4-BE49-F238E27FC236}">
                  <a16:creationId xmlns:a16="http://schemas.microsoft.com/office/drawing/2014/main" id="{CC6B6F7B-45B3-295A-3089-371A99DDD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5" y="2646"/>
              <a:ext cx="317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37" name="Oval 8">
              <a:extLst>
                <a:ext uri="{FF2B5EF4-FFF2-40B4-BE49-F238E27FC236}">
                  <a16:creationId xmlns:a16="http://schemas.microsoft.com/office/drawing/2014/main" id="{EF09AECB-FF12-AD3E-8F2F-620E04F83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5" y="3122"/>
              <a:ext cx="317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38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38" name="Line 9">
              <a:extLst>
                <a:ext uri="{FF2B5EF4-FFF2-40B4-BE49-F238E27FC236}">
                  <a16:creationId xmlns:a16="http://schemas.microsoft.com/office/drawing/2014/main" id="{76BB0AF2-C02B-5239-42F8-10502AFAB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5" y="1534"/>
              <a:ext cx="8" cy="4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39" name="Line 10">
              <a:extLst>
                <a:ext uri="{FF2B5EF4-FFF2-40B4-BE49-F238E27FC236}">
                  <a16:creationId xmlns:a16="http://schemas.microsoft.com/office/drawing/2014/main" id="{20EE0D3A-A5DF-2AD8-91D2-4F8A4C662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2275"/>
              <a:ext cx="0" cy="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40" name="Line 11">
              <a:extLst>
                <a:ext uri="{FF2B5EF4-FFF2-40B4-BE49-F238E27FC236}">
                  <a16:creationId xmlns:a16="http://schemas.microsoft.com/office/drawing/2014/main" id="{5B0C799A-1B57-74C1-EF0A-C119F7DE85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7" y="2857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41" name="Line 12">
              <a:extLst>
                <a:ext uri="{FF2B5EF4-FFF2-40B4-BE49-F238E27FC236}">
                  <a16:creationId xmlns:a16="http://schemas.microsoft.com/office/drawing/2014/main" id="{0055472A-FF11-C8C0-2A4D-8093B22C1C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7" y="1429"/>
              <a:ext cx="0" cy="14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42" name="Line 13">
              <a:extLst>
                <a:ext uri="{FF2B5EF4-FFF2-40B4-BE49-F238E27FC236}">
                  <a16:creationId xmlns:a16="http://schemas.microsoft.com/office/drawing/2014/main" id="{01868B17-7B82-D1E7-F626-9F27018B5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7" y="1429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43" name="Freeform 14">
              <a:extLst>
                <a:ext uri="{FF2B5EF4-FFF2-40B4-BE49-F238E27FC236}">
                  <a16:creationId xmlns:a16="http://schemas.microsoft.com/office/drawing/2014/main" id="{098E7A5B-AEA0-B716-CBED-F17C1B8AB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323"/>
              <a:ext cx="785" cy="1905"/>
            </a:xfrm>
            <a:custGeom>
              <a:avLst/>
              <a:gdLst>
                <a:gd name="T0" fmla="*/ 0 w 712"/>
                <a:gd name="T1" fmla="*/ 141 h 1296"/>
                <a:gd name="T2" fmla="*/ 582 w 712"/>
                <a:gd name="T3" fmla="*/ 212 h 1296"/>
                <a:gd name="T4" fmla="*/ 688 w 712"/>
                <a:gd name="T5" fmla="*/ 1411 h 1296"/>
                <a:gd name="T6" fmla="*/ 0 w 712"/>
                <a:gd name="T7" fmla="*/ 1905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2"/>
                <a:gd name="T13" fmla="*/ 0 h 1296"/>
                <a:gd name="T14" fmla="*/ 712 w 712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2" h="1296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5">
            <a:extLst>
              <a:ext uri="{FF2B5EF4-FFF2-40B4-BE49-F238E27FC236}">
                <a16:creationId xmlns:a16="http://schemas.microsoft.com/office/drawing/2014/main" id="{C745D7FB-0ABA-AE6C-A029-2A15EBB31E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F017AD28-B7D9-4811-AD4D-8C1BAC11F7B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7514F78-F465-AE5A-805D-9CB25D0C7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Code Fragment</a:t>
            </a:r>
          </a:p>
        </p:txBody>
      </p:sp>
      <p:graphicFrame>
        <p:nvGraphicFramePr>
          <p:cNvPr id="74756" name="Object 3">
            <a:extLst>
              <a:ext uri="{FF2B5EF4-FFF2-40B4-BE49-F238E27FC236}">
                <a16:creationId xmlns:a16="http://schemas.microsoft.com/office/drawing/2014/main" id="{96FEAFBC-382A-C13F-C394-061E8FBFAB89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2100263" y="1681163"/>
          <a:ext cx="6048375" cy="529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72295" imgH="2429048" progId="Visio.Drawing.11">
                  <p:embed/>
                </p:oleObj>
              </mc:Choice>
              <mc:Fallback>
                <p:oleObj name="Visio" r:id="rId2" imgW="2772295" imgH="242904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1681163"/>
                        <a:ext cx="6048375" cy="529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5">
            <a:extLst>
              <a:ext uri="{FF2B5EF4-FFF2-40B4-BE49-F238E27FC236}">
                <a16:creationId xmlns:a16="http://schemas.microsoft.com/office/drawing/2014/main" id="{7CAD8709-35C9-2B2F-FDD0-1E8CB2AFA7F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4BFCE8A-F21F-4008-89A9-60F343941AD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C7933E9-8400-E201-0AC5-A41189059D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Control Flow Graph</a:t>
            </a:r>
          </a:p>
        </p:txBody>
      </p:sp>
      <p:graphicFrame>
        <p:nvGraphicFramePr>
          <p:cNvPr id="75780" name="Object 3">
            <a:extLst>
              <a:ext uri="{FF2B5EF4-FFF2-40B4-BE49-F238E27FC236}">
                <a16:creationId xmlns:a16="http://schemas.microsoft.com/office/drawing/2014/main" id="{3A2DCC1F-4718-152A-2447-41CD89F27D2B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3195638" y="1763713"/>
          <a:ext cx="3495675" cy="534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632614" imgH="6742661" progId="Visio.Drawing.11">
                  <p:embed/>
                </p:oleObj>
              </mc:Choice>
              <mc:Fallback>
                <p:oleObj name="Visio" r:id="rId2" imgW="4632614" imgH="674266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1763713"/>
                        <a:ext cx="3495675" cy="534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 Box 4">
            <a:extLst>
              <a:ext uri="{FF2B5EF4-FFF2-40B4-BE49-F238E27FC236}">
                <a16:creationId xmlns:a16="http://schemas.microsoft.com/office/drawing/2014/main" id="{C5883B1D-F833-7237-1C36-555920B3E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7138988"/>
            <a:ext cx="4252913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>
            <a:spAutoFit/>
          </a:bodyPr>
          <a:lstStyle>
            <a:lvl1pPr marL="377825" indent="-377825" algn="l" defTabSz="1008063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1008063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1008063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1008063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1008063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chemeClr val="tx1"/>
                </a:solidFill>
                <a:latin typeface="Arial" panose="020B0604020202020204" pitchFamily="34" charset="0"/>
              </a:rPr>
              <a:t>Source:  </a:t>
            </a:r>
            <a:r>
              <a:rPr lang="en-US" altLang="en-US" sz="1300" u="sng">
                <a:solidFill>
                  <a:schemeClr val="tx1"/>
                </a:solidFill>
                <a:latin typeface="Arial" panose="020B0604020202020204" pitchFamily="34" charset="0"/>
              </a:rPr>
              <a:t>The Art of Software Testing</a:t>
            </a:r>
            <a:r>
              <a:rPr lang="en-US" altLang="en-US" sz="1300">
                <a:solidFill>
                  <a:schemeClr val="tx1"/>
                </a:solidFill>
                <a:latin typeface="Arial" panose="020B0604020202020204" pitchFamily="34" charset="0"/>
              </a:rPr>
              <a:t> – Glenford Myers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5">
            <a:extLst>
              <a:ext uri="{FF2B5EF4-FFF2-40B4-BE49-F238E27FC236}">
                <a16:creationId xmlns:a16="http://schemas.microsoft.com/office/drawing/2014/main" id="{B3A79B37-55D4-2DEA-3B5A-F91A1C0427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09054D9-49BD-470C-A9DD-29030E09299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74378ED-AED3-352D-6441-EC0079495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7700"/>
              <a:t>Path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9DB5C0F9-0004-06AB-EE3C-7AC0ECB54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81150"/>
            <a:ext cx="9220200" cy="50990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15000"/>
              </a:spcAft>
            </a:pPr>
            <a:r>
              <a:rPr lang="en-US" altLang="en-US" sz="4800"/>
              <a:t>A path through a program: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5000"/>
              </a:spcAft>
            </a:pPr>
            <a:r>
              <a:rPr lang="en-US" altLang="en-US" sz="4400">
                <a:solidFill>
                  <a:srgbClr val="0000CC"/>
                </a:solidFill>
              </a:rPr>
              <a:t>A node and edge sequence from the starting node to a terminal node of the control flow graph.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5000"/>
              </a:spcAft>
            </a:pPr>
            <a:r>
              <a:rPr lang="en-US" altLang="en-US" sz="4400"/>
              <a:t> There may be several terminal nodes for  program.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5">
            <a:extLst>
              <a:ext uri="{FF2B5EF4-FFF2-40B4-BE49-F238E27FC236}">
                <a16:creationId xmlns:a16="http://schemas.microsoft.com/office/drawing/2014/main" id="{E25F2F98-0396-494B-7C77-070BA838EC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2D64675-DA83-4623-89A8-2FE2CB95E24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E8C0AD3C-C4D5-5111-7033-EB41B114E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4900"/>
              <a:t>Linearly Independent Path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547178FC-782F-3C2F-7A4D-B5A399F74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763713"/>
            <a:ext cx="9599613" cy="5349875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800"/>
              <a:t>Any path through the program: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500">
                <a:solidFill>
                  <a:srgbClr val="0000CC"/>
                </a:solidFill>
              </a:rPr>
              <a:t>Introduces at least one new edge:</a:t>
            </a:r>
          </a:p>
          <a:p>
            <a:pPr marL="1143000" lvl="2" indent="-22860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900">
                <a:solidFill>
                  <a:srgbClr val="0000CC"/>
                </a:solidFill>
              </a:rPr>
              <a:t>Not included in any other  independent paths.</a:t>
            </a:r>
            <a:r>
              <a:rPr lang="en-US" altLang="en-US" sz="3900"/>
              <a:t> 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5">
            <a:extLst>
              <a:ext uri="{FF2B5EF4-FFF2-40B4-BE49-F238E27FC236}">
                <a16:creationId xmlns:a16="http://schemas.microsoft.com/office/drawing/2014/main" id="{C75AA740-7476-6FC8-41A9-FF470A53A31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36C9529-B164-4170-A2BC-BA79D65D35E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35FC93E-627B-CC9F-94CA-89FB36650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Independent path</a:t>
            </a:r>
          </a:p>
        </p:txBody>
      </p:sp>
      <p:sp>
        <p:nvSpPr>
          <p:cNvPr id="917507" name="Rectangle 3">
            <a:extLst>
              <a:ext uri="{FF2B5EF4-FFF2-40B4-BE49-F238E27FC236}">
                <a16:creationId xmlns:a16="http://schemas.microsoft.com/office/drawing/2014/main" id="{ECB643BD-07D3-F785-B7F5-F70F61B72F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400"/>
              <a:t>It is straight forward: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000"/>
              <a:t>To identify linearly independent paths of simple programs.</a:t>
            </a:r>
          </a:p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400"/>
              <a:t>For complicated programs: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000"/>
              <a:t>It is not easy to determine the number of independent paths.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9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9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9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91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507" grpId="0" build="p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5">
            <a:extLst>
              <a:ext uri="{FF2B5EF4-FFF2-40B4-BE49-F238E27FC236}">
                <a16:creationId xmlns:a16="http://schemas.microsoft.com/office/drawing/2014/main" id="{A5F28ECB-0349-7A09-A615-C85927ADC7B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FBDC317-A5E0-45C7-9B29-E24CFC3F5B03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80AB6ACB-2621-2151-73E5-8A931E42A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420688"/>
            <a:ext cx="9013825" cy="1258887"/>
          </a:xfrm>
        </p:spPr>
        <p:txBody>
          <a:bodyPr/>
          <a:lstStyle/>
          <a:p>
            <a:pPr defTabSz="914400"/>
            <a:r>
              <a:rPr lang="en-US" altLang="en-US" sz="5500"/>
              <a:t>McCabe's Cyclomatic Metric 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B70D6BB2-1C2C-7D39-B92B-2442368A3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911350"/>
            <a:ext cx="9215438" cy="4972050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400"/>
              <a:t>An upper bound: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000"/>
              <a:t>For the number of linearly independent paths of a program </a:t>
            </a:r>
          </a:p>
          <a:p>
            <a:pPr marL="342900" indent="-342900" defTabSz="914400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400"/>
              <a:t>Provides a practical way of determining: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000"/>
              <a:t>The maximum number of linearly independent paths in a program.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5">
            <a:extLst>
              <a:ext uri="{FF2B5EF4-FFF2-40B4-BE49-F238E27FC236}">
                <a16:creationId xmlns:a16="http://schemas.microsoft.com/office/drawing/2014/main" id="{84EF6163-FB49-D69B-8856-50858B93C9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4B9EF77-49D2-48BD-8219-1F6F690702E6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228F0EB-98B5-0D87-B09D-13366B9B0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420688"/>
            <a:ext cx="8569325" cy="1258887"/>
          </a:xfrm>
        </p:spPr>
        <p:txBody>
          <a:bodyPr/>
          <a:lstStyle/>
          <a:p>
            <a:pPr defTabSz="914400"/>
            <a:r>
              <a:rPr lang="en-US" altLang="en-US"/>
              <a:t>McCabe's Cyclomatic Metric </a:t>
            </a: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1B33A4EC-7713-8931-A2A8-0E1756C38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2000250"/>
            <a:ext cx="8601075" cy="4972050"/>
          </a:xfrm>
        </p:spPr>
        <p:txBody>
          <a:bodyPr/>
          <a:lstStyle/>
          <a:p>
            <a:pPr marL="342900" indent="-342900" defTabSz="914400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400"/>
              <a:t>Given a control flow graph G,</a:t>
            </a:r>
            <a:br>
              <a:rPr lang="en-US" altLang="en-US" sz="4400"/>
            </a:br>
            <a:r>
              <a:rPr lang="en-US" altLang="en-US" sz="4400"/>
              <a:t>cyclomatic complexity V(G): </a:t>
            </a:r>
          </a:p>
          <a:p>
            <a:pPr marL="742950" lvl="1" indent="-285750" defTabSz="914400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100"/>
              <a:t> </a:t>
            </a:r>
            <a:r>
              <a:rPr lang="en-US" altLang="en-US" sz="4100">
                <a:solidFill>
                  <a:srgbClr val="0000CC"/>
                </a:solidFill>
              </a:rPr>
              <a:t>V(G)= E-N+2</a:t>
            </a:r>
          </a:p>
          <a:p>
            <a:pPr marL="1143000" lvl="2" indent="-228600" defTabSz="914400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500"/>
              <a:t>N is the number of  nodes in G</a:t>
            </a:r>
          </a:p>
          <a:p>
            <a:pPr marL="1143000" lvl="2" indent="-228600" defTabSz="914400">
              <a:lnSpc>
                <a:spcPct val="11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500"/>
              <a:t>E is the number of edges in 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5">
            <a:extLst>
              <a:ext uri="{FF2B5EF4-FFF2-40B4-BE49-F238E27FC236}">
                <a16:creationId xmlns:a16="http://schemas.microsoft.com/office/drawing/2014/main" id="{EFFB3BCA-3092-77D0-1D32-CF64748F562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2382D18-93C6-4FFF-8D6B-AF3281A51E6A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5D79348-61C9-7C42-FF56-B55B33EED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420688"/>
            <a:ext cx="8569325" cy="1258887"/>
          </a:xfrm>
        </p:spPr>
        <p:txBody>
          <a:bodyPr/>
          <a:lstStyle/>
          <a:p>
            <a:pPr defTabSz="914400"/>
            <a:r>
              <a:rPr lang="en-US" altLang="en-US"/>
              <a:t>Example Control Flow Graph </a:t>
            </a:r>
          </a:p>
        </p:txBody>
      </p:sp>
      <p:grpSp>
        <p:nvGrpSpPr>
          <p:cNvPr id="81924" name="Group 3">
            <a:extLst>
              <a:ext uri="{FF2B5EF4-FFF2-40B4-BE49-F238E27FC236}">
                <a16:creationId xmlns:a16="http://schemas.microsoft.com/office/drawing/2014/main" id="{060EDEE2-10CD-ECB3-6CB1-902ACBB607BD}"/>
              </a:ext>
            </a:extLst>
          </p:cNvPr>
          <p:cNvGrpSpPr>
            <a:grpSpLocks/>
          </p:cNvGrpSpPr>
          <p:nvPr/>
        </p:nvGrpSpPr>
        <p:grpSpPr bwMode="auto">
          <a:xfrm>
            <a:off x="1077913" y="1847850"/>
            <a:ext cx="4368800" cy="5056188"/>
            <a:chOff x="1640" y="1164"/>
            <a:chExt cx="1791" cy="2169"/>
          </a:xfrm>
        </p:grpSpPr>
        <p:sp>
          <p:nvSpPr>
            <p:cNvPr id="81926" name="Oval 4">
              <a:extLst>
                <a:ext uri="{FF2B5EF4-FFF2-40B4-BE49-F238E27FC236}">
                  <a16:creationId xmlns:a16="http://schemas.microsoft.com/office/drawing/2014/main" id="{50EF4C32-12D8-F6FF-E13A-44A95DAE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164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34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27" name="Oval 5">
              <a:extLst>
                <a:ext uri="{FF2B5EF4-FFF2-40B4-BE49-F238E27FC236}">
                  <a16:creationId xmlns:a16="http://schemas.microsoft.com/office/drawing/2014/main" id="{41BB15E3-C896-A375-2AE6-127C32850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640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34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28" name="Oval 6">
              <a:extLst>
                <a:ext uri="{FF2B5EF4-FFF2-40B4-BE49-F238E27FC236}">
                  <a16:creationId xmlns:a16="http://schemas.microsoft.com/office/drawing/2014/main" id="{DA7EA338-1028-F96D-2ADD-20732A497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116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34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29" name="Oval 7">
              <a:extLst>
                <a:ext uri="{FF2B5EF4-FFF2-40B4-BE49-F238E27FC236}">
                  <a16:creationId xmlns:a16="http://schemas.microsoft.com/office/drawing/2014/main" id="{2EB3F7F3-1FA9-A384-92B1-8FA070015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2116"/>
              <a:ext cx="317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34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30" name="Oval 8">
              <a:extLst>
                <a:ext uri="{FF2B5EF4-FFF2-40B4-BE49-F238E27FC236}">
                  <a16:creationId xmlns:a16="http://schemas.microsoft.com/office/drawing/2014/main" id="{E19FAF92-9C6F-B34F-D882-40D02F76A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540"/>
              <a:ext cx="318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34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31" name="Oval 9">
              <a:extLst>
                <a:ext uri="{FF2B5EF4-FFF2-40B4-BE49-F238E27FC236}">
                  <a16:creationId xmlns:a16="http://schemas.microsoft.com/office/drawing/2014/main" id="{550183FD-2ABB-C0EB-B770-3FEF84F67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3016"/>
              <a:ext cx="318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34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32" name="Line 10">
              <a:extLst>
                <a:ext uri="{FF2B5EF4-FFF2-40B4-BE49-F238E27FC236}">
                  <a16:creationId xmlns:a16="http://schemas.microsoft.com/office/drawing/2014/main" id="{46F63695-3626-F432-345A-D535ADB3B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" y="1429"/>
              <a:ext cx="0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3" name="Line 11">
              <a:extLst>
                <a:ext uri="{FF2B5EF4-FFF2-40B4-BE49-F238E27FC236}">
                  <a16:creationId xmlns:a16="http://schemas.microsoft.com/office/drawing/2014/main" id="{68B5346E-A366-03F1-E6B6-660E172FC6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0" y="1905"/>
              <a:ext cx="211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4" name="Line 12">
              <a:extLst>
                <a:ext uri="{FF2B5EF4-FFF2-40B4-BE49-F238E27FC236}">
                  <a16:creationId xmlns:a16="http://schemas.microsoft.com/office/drawing/2014/main" id="{9D2868E9-E3F4-164C-0099-3B18AA7C9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3" y="1905"/>
              <a:ext cx="212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5" name="Line 13">
              <a:extLst>
                <a:ext uri="{FF2B5EF4-FFF2-40B4-BE49-F238E27FC236}">
                  <a16:creationId xmlns:a16="http://schemas.microsoft.com/office/drawing/2014/main" id="{91148959-1614-55F2-5097-EA085CED4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7" y="2434"/>
              <a:ext cx="211" cy="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6" name="Line 14">
              <a:extLst>
                <a:ext uri="{FF2B5EF4-FFF2-40B4-BE49-F238E27FC236}">
                  <a16:creationId xmlns:a16="http://schemas.microsoft.com/office/drawing/2014/main" id="{C24ADDCE-FC8C-84AD-E95C-C52621EC3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2434"/>
              <a:ext cx="212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7" name="Line 15">
              <a:extLst>
                <a:ext uri="{FF2B5EF4-FFF2-40B4-BE49-F238E27FC236}">
                  <a16:creationId xmlns:a16="http://schemas.microsoft.com/office/drawing/2014/main" id="{46273903-1F88-CDEE-5096-FB100566C4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0" y="2751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8" name="Line 16">
              <a:extLst>
                <a:ext uri="{FF2B5EF4-FFF2-40B4-BE49-F238E27FC236}">
                  <a16:creationId xmlns:a16="http://schemas.microsoft.com/office/drawing/2014/main" id="{9B2923BA-7A30-E630-86A1-4B17A54518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0" y="1323"/>
              <a:ext cx="0" cy="14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9" name="Line 17">
              <a:extLst>
                <a:ext uri="{FF2B5EF4-FFF2-40B4-BE49-F238E27FC236}">
                  <a16:creationId xmlns:a16="http://schemas.microsoft.com/office/drawing/2014/main" id="{021365A8-4925-E2DC-EC6C-5858CADDE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1323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40" name="Freeform 18">
              <a:extLst>
                <a:ext uri="{FF2B5EF4-FFF2-40B4-BE49-F238E27FC236}">
                  <a16:creationId xmlns:a16="http://schemas.microsoft.com/office/drawing/2014/main" id="{D95FCE60-2507-1345-B8E7-A6C74F4C6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217"/>
              <a:ext cx="785" cy="1905"/>
            </a:xfrm>
            <a:custGeom>
              <a:avLst/>
              <a:gdLst>
                <a:gd name="T0" fmla="*/ 0 w 712"/>
                <a:gd name="T1" fmla="*/ 141 h 1296"/>
                <a:gd name="T2" fmla="*/ 582 w 712"/>
                <a:gd name="T3" fmla="*/ 212 h 1296"/>
                <a:gd name="T4" fmla="*/ 688 w 712"/>
                <a:gd name="T5" fmla="*/ 1411 h 1296"/>
                <a:gd name="T6" fmla="*/ 0 w 712"/>
                <a:gd name="T7" fmla="*/ 1905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2"/>
                <a:gd name="T13" fmla="*/ 0 h 1296"/>
                <a:gd name="T14" fmla="*/ 712 w 712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2" h="1296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81925" name="Text Box 19">
            <a:extLst>
              <a:ext uri="{FF2B5EF4-FFF2-40B4-BE49-F238E27FC236}">
                <a16:creationId xmlns:a16="http://schemas.microsoft.com/office/drawing/2014/main" id="{9A93C3D4-0745-62DE-9D04-6FBAB90B8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2289175"/>
            <a:ext cx="3386138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/>
              <a:t>Cyclomatic complexity = </a:t>
            </a:r>
            <a:br>
              <a:rPr lang="en-US" altLang="en-US" sz="3600" b="1"/>
            </a:br>
            <a:r>
              <a:rPr lang="en-US" altLang="en-US" sz="3600" b="1"/>
              <a:t>7-6+2 = 3.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5">
            <a:extLst>
              <a:ext uri="{FF2B5EF4-FFF2-40B4-BE49-F238E27FC236}">
                <a16:creationId xmlns:a16="http://schemas.microsoft.com/office/drawing/2014/main" id="{8A5B38D5-B49B-AE0C-DF02-35291B958B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B082B2B-A81B-4806-B739-F885A07BDF50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0F058F80-F0A1-0314-0178-7CD76C650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Cyclomatic Complexity</a:t>
            </a: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9F26A78-7ABF-7827-CCAC-6FA62C8EB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466850"/>
            <a:ext cx="9350375" cy="5213350"/>
          </a:xfrm>
        </p:spPr>
        <p:txBody>
          <a:bodyPr/>
          <a:lstStyle/>
          <a:p>
            <a:pPr marL="342900" indent="-342900" defTabSz="914400"/>
            <a:r>
              <a:rPr lang="en-US" altLang="en-US" sz="4400"/>
              <a:t>Another way of computing cyclomatic complexity: </a:t>
            </a:r>
          </a:p>
          <a:p>
            <a:pPr marL="742950" lvl="1" indent="-285750" defTabSz="914400"/>
            <a:r>
              <a:rPr lang="en-US" altLang="en-US" sz="4000"/>
              <a:t>inspect control flow graph</a:t>
            </a:r>
          </a:p>
          <a:p>
            <a:pPr marL="742950" lvl="1" indent="-285750" defTabSz="914400"/>
            <a:r>
              <a:rPr lang="en-US" altLang="en-US" sz="4000"/>
              <a:t>determine number of bounded areas in the graph</a:t>
            </a:r>
          </a:p>
          <a:p>
            <a:pPr marL="342900" indent="-342900" defTabSz="914400"/>
            <a:r>
              <a:rPr lang="en-US" altLang="en-US" sz="4400">
                <a:solidFill>
                  <a:srgbClr val="0000CC"/>
                </a:solidFill>
              </a:rPr>
              <a:t>V(G) = Total number of bounded areas + 1</a:t>
            </a:r>
          </a:p>
          <a:p>
            <a:pPr marL="742950" lvl="1" indent="-285750" defTabSz="914400"/>
            <a:r>
              <a:rPr lang="en-US" altLang="en-US"/>
              <a:t>Any  region enclosed by a nodes and edge sequence.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5">
            <a:extLst>
              <a:ext uri="{FF2B5EF4-FFF2-40B4-BE49-F238E27FC236}">
                <a16:creationId xmlns:a16="http://schemas.microsoft.com/office/drawing/2014/main" id="{FB303D0A-DBB7-5B0C-01E4-065531E063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2CEB01F-F74C-426A-9CF7-6F5D7A37AAD5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3E3042AE-2452-4531-1571-BEDECCBAE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420688"/>
            <a:ext cx="8569325" cy="1258887"/>
          </a:xfrm>
        </p:spPr>
        <p:txBody>
          <a:bodyPr/>
          <a:lstStyle/>
          <a:p>
            <a:pPr defTabSz="914400"/>
            <a:r>
              <a:rPr lang="en-US" altLang="en-US" sz="4900"/>
              <a:t>Example Control Flow Graph</a:t>
            </a:r>
          </a:p>
        </p:txBody>
      </p:sp>
      <p:grpSp>
        <p:nvGrpSpPr>
          <p:cNvPr id="83972" name="Group 3">
            <a:extLst>
              <a:ext uri="{FF2B5EF4-FFF2-40B4-BE49-F238E27FC236}">
                <a16:creationId xmlns:a16="http://schemas.microsoft.com/office/drawing/2014/main" id="{FDDA1738-2775-B657-B58C-A63BE3391849}"/>
              </a:ext>
            </a:extLst>
          </p:cNvPr>
          <p:cNvGrpSpPr>
            <a:grpSpLocks/>
          </p:cNvGrpSpPr>
          <p:nvPr/>
        </p:nvGrpSpPr>
        <p:grpSpPr bwMode="auto">
          <a:xfrm>
            <a:off x="1917700" y="1847850"/>
            <a:ext cx="4367213" cy="5335588"/>
            <a:chOff x="1640" y="1164"/>
            <a:chExt cx="1791" cy="2169"/>
          </a:xfrm>
        </p:grpSpPr>
        <p:sp>
          <p:nvSpPr>
            <p:cNvPr id="83973" name="Oval 4">
              <a:extLst>
                <a:ext uri="{FF2B5EF4-FFF2-40B4-BE49-F238E27FC236}">
                  <a16:creationId xmlns:a16="http://schemas.microsoft.com/office/drawing/2014/main" id="{584B33C3-957C-5227-FEF5-4A4748188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164"/>
              <a:ext cx="318" cy="31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35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4" name="Oval 5">
              <a:extLst>
                <a:ext uri="{FF2B5EF4-FFF2-40B4-BE49-F238E27FC236}">
                  <a16:creationId xmlns:a16="http://schemas.microsoft.com/office/drawing/2014/main" id="{ED893051-9322-CF0F-1464-35646D723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640"/>
              <a:ext cx="318" cy="31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35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5" name="Oval 6">
              <a:extLst>
                <a:ext uri="{FF2B5EF4-FFF2-40B4-BE49-F238E27FC236}">
                  <a16:creationId xmlns:a16="http://schemas.microsoft.com/office/drawing/2014/main" id="{E6574034-004E-9096-6D6B-D7D11E772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116"/>
              <a:ext cx="318" cy="31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35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6" name="Oval 7">
              <a:extLst>
                <a:ext uri="{FF2B5EF4-FFF2-40B4-BE49-F238E27FC236}">
                  <a16:creationId xmlns:a16="http://schemas.microsoft.com/office/drawing/2014/main" id="{D97FEE2E-AD58-E54F-3484-88DCFBF8E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2116"/>
              <a:ext cx="317" cy="31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35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7" name="Oval 8">
              <a:extLst>
                <a:ext uri="{FF2B5EF4-FFF2-40B4-BE49-F238E27FC236}">
                  <a16:creationId xmlns:a16="http://schemas.microsoft.com/office/drawing/2014/main" id="{B495B26A-B87B-AE39-D77A-C8282FD21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540"/>
              <a:ext cx="318" cy="317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35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8" name="Oval 9">
              <a:extLst>
                <a:ext uri="{FF2B5EF4-FFF2-40B4-BE49-F238E27FC236}">
                  <a16:creationId xmlns:a16="http://schemas.microsoft.com/office/drawing/2014/main" id="{42AA49DC-5DD8-6CA1-7211-B1BC46023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3016"/>
              <a:ext cx="318" cy="317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35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9" name="Line 10">
              <a:extLst>
                <a:ext uri="{FF2B5EF4-FFF2-40B4-BE49-F238E27FC236}">
                  <a16:creationId xmlns:a16="http://schemas.microsoft.com/office/drawing/2014/main" id="{30CA070C-BB01-1FE1-9846-BBAD628C9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" y="1429"/>
              <a:ext cx="0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80" name="Line 11">
              <a:extLst>
                <a:ext uri="{FF2B5EF4-FFF2-40B4-BE49-F238E27FC236}">
                  <a16:creationId xmlns:a16="http://schemas.microsoft.com/office/drawing/2014/main" id="{4F6ABBE3-31E1-CE3D-F598-506C59E0C0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0" y="1905"/>
              <a:ext cx="211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81" name="Line 12">
              <a:extLst>
                <a:ext uri="{FF2B5EF4-FFF2-40B4-BE49-F238E27FC236}">
                  <a16:creationId xmlns:a16="http://schemas.microsoft.com/office/drawing/2014/main" id="{F23E209F-806F-9744-E190-C745F2C94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3" y="1905"/>
              <a:ext cx="212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82" name="Line 13">
              <a:extLst>
                <a:ext uri="{FF2B5EF4-FFF2-40B4-BE49-F238E27FC236}">
                  <a16:creationId xmlns:a16="http://schemas.microsoft.com/office/drawing/2014/main" id="{046737C5-3255-2FBE-CF7F-033FDFD8F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7" y="2434"/>
              <a:ext cx="211" cy="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83" name="Line 14">
              <a:extLst>
                <a:ext uri="{FF2B5EF4-FFF2-40B4-BE49-F238E27FC236}">
                  <a16:creationId xmlns:a16="http://schemas.microsoft.com/office/drawing/2014/main" id="{3DD9DD41-0DFD-98E5-0B18-94F2B3522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2434"/>
              <a:ext cx="212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84" name="Line 15">
              <a:extLst>
                <a:ext uri="{FF2B5EF4-FFF2-40B4-BE49-F238E27FC236}">
                  <a16:creationId xmlns:a16="http://schemas.microsoft.com/office/drawing/2014/main" id="{DF47FEC1-535A-44E9-4D51-E6BC67D0C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0" y="2751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85" name="Line 16">
              <a:extLst>
                <a:ext uri="{FF2B5EF4-FFF2-40B4-BE49-F238E27FC236}">
                  <a16:creationId xmlns:a16="http://schemas.microsoft.com/office/drawing/2014/main" id="{928FE229-C6DC-DD72-1571-93548FE8C7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0" y="1323"/>
              <a:ext cx="0" cy="14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86" name="Line 17">
              <a:extLst>
                <a:ext uri="{FF2B5EF4-FFF2-40B4-BE49-F238E27FC236}">
                  <a16:creationId xmlns:a16="http://schemas.microsoft.com/office/drawing/2014/main" id="{1BE55B74-C199-0022-14DD-6FD7900AE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1323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3987" name="Freeform 18">
              <a:extLst>
                <a:ext uri="{FF2B5EF4-FFF2-40B4-BE49-F238E27FC236}">
                  <a16:creationId xmlns:a16="http://schemas.microsoft.com/office/drawing/2014/main" id="{A5F09235-BE34-A26B-2013-C5BB2019D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217"/>
              <a:ext cx="785" cy="1905"/>
            </a:xfrm>
            <a:custGeom>
              <a:avLst/>
              <a:gdLst>
                <a:gd name="T0" fmla="*/ 0 w 712"/>
                <a:gd name="T1" fmla="*/ 141 h 1296"/>
                <a:gd name="T2" fmla="*/ 582 w 712"/>
                <a:gd name="T3" fmla="*/ 212 h 1296"/>
                <a:gd name="T4" fmla="*/ 688 w 712"/>
                <a:gd name="T5" fmla="*/ 1411 h 1296"/>
                <a:gd name="T6" fmla="*/ 0 w 712"/>
                <a:gd name="T7" fmla="*/ 1905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2"/>
                <a:gd name="T13" fmla="*/ 0 h 1296"/>
                <a:gd name="T14" fmla="*/ 712 w 712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2" h="1296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5">
            <a:extLst>
              <a:ext uri="{FF2B5EF4-FFF2-40B4-BE49-F238E27FC236}">
                <a16:creationId xmlns:a16="http://schemas.microsoft.com/office/drawing/2014/main" id="{E6C82C57-0F97-ED07-3999-F56306CEB7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1F2E8B7-70C8-4B84-8013-4E7CC123BE58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DE8242A-C17E-AD7D-CC0B-35BBFCBCA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6800"/>
              <a:t>Example</a:t>
            </a:r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3DC96497-ECD7-1C1B-DBB9-A5C99F5C7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800"/>
              <a:t>From a visual examination of the CFG: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400"/>
              <a:t>Number of bounded areas is 2.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400"/>
              <a:t>Cyclomatic complexity = 2+1=3.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5">
            <a:extLst>
              <a:ext uri="{FF2B5EF4-FFF2-40B4-BE49-F238E27FC236}">
                <a16:creationId xmlns:a16="http://schemas.microsoft.com/office/drawing/2014/main" id="{49BD8CAB-EE98-6DE0-AFF4-F216444EB8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369B85F-E217-4D0F-B7D8-D45B07D1EE5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C4785B2-7EF9-96C6-F5F6-74F93F16D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5500"/>
              <a:t>Cyclomatic Complexity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5622EBF3-7A56-1D19-9282-6F1161586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400"/>
              <a:t>McCabe's metric provides:</a:t>
            </a:r>
          </a:p>
          <a:p>
            <a:pPr marL="1143000" lvl="2" indent="-22860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3500">
                <a:solidFill>
                  <a:srgbClr val="0033CC"/>
                </a:solidFill>
              </a:rPr>
              <a:t>A quantitative measure of  testing difficulty and the ultimate reliability</a:t>
            </a:r>
            <a:r>
              <a:rPr lang="en-US" altLang="en-US" sz="3500"/>
              <a:t> </a:t>
            </a:r>
          </a:p>
          <a:p>
            <a:pPr marL="342900" indent="-34290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400"/>
              <a:t>Intuitively,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000"/>
              <a:t>Number of bounded areas increases with the number of decision nodes and loops.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5">
            <a:extLst>
              <a:ext uri="{FF2B5EF4-FFF2-40B4-BE49-F238E27FC236}">
                <a16:creationId xmlns:a16="http://schemas.microsoft.com/office/drawing/2014/main" id="{C530ABFC-DCAE-1351-A29F-AA8C751375B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76BB795-2DE6-49EA-B6A8-C91C89778701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4F00B8AA-1F71-1908-FE53-0DB9AEA3C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Cyclomatic Complexity</a:t>
            </a: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7E16CB0B-BA46-3EC9-07FC-4B626194FE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400"/>
              <a:t>The first method of computing V(G) is amenable to automation: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000"/>
              <a:t>You can write a program which determines the number of nodes and edges of a graph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en-US" altLang="en-US" sz="4000"/>
              <a:t>Applies the formula to find V(G).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5">
            <a:extLst>
              <a:ext uri="{FF2B5EF4-FFF2-40B4-BE49-F238E27FC236}">
                <a16:creationId xmlns:a16="http://schemas.microsoft.com/office/drawing/2014/main" id="{AE6AFD05-295E-00FB-B842-C5E0B05EC9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D13447D-155C-4808-83CD-FDA4724A661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444131E3-7BC4-B506-061F-1C57861A7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Cyclomatic Complexity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FFD87318-0456-3012-CF30-70BF4133B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4400"/>
              <a:t>The cyclomatic complexity of a program provides: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4100"/>
              <a:t>A lower bound on the number of test cases to be designed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4100"/>
              <a:t>To guarantee coverage of all linearly independent paths.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5">
            <a:extLst>
              <a:ext uri="{FF2B5EF4-FFF2-40B4-BE49-F238E27FC236}">
                <a16:creationId xmlns:a16="http://schemas.microsoft.com/office/drawing/2014/main" id="{204B76FE-CD66-5186-D01D-1C040971F79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71CE9D2-2365-47D9-83E3-A59A7218E10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80B0B37B-6105-3475-F382-E8747D2E1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Cyclomatic Complexity</a:t>
            </a:r>
          </a:p>
        </p:txBody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B5F7396C-55BC-6307-34D8-2A230BDEF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5913" y="1570038"/>
            <a:ext cx="9263062" cy="49720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800"/>
              <a:t>A measure of the number of independent paths in a program.</a:t>
            </a:r>
          </a:p>
          <a:p>
            <a:pPr marL="342900" indent="-34290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800"/>
              <a:t>Provides a lower bound: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500"/>
              <a:t>for the number of test cases for path coverage. 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5">
            <a:extLst>
              <a:ext uri="{FF2B5EF4-FFF2-40B4-BE49-F238E27FC236}">
                <a16:creationId xmlns:a16="http://schemas.microsoft.com/office/drawing/2014/main" id="{07B98B07-CA26-F478-75EB-AE334C4C6E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8E318C5-E690-40AA-8407-D39ACBCED359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7374069-6040-5915-EF69-67DC4B905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Cyclomatic Complexity</a:t>
            </a: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F541FA8E-CAEE-7C23-2B5C-5666DF948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517650"/>
            <a:ext cx="9525000" cy="5162550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800"/>
              <a:t>Knowing the number of test cases required: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400"/>
              <a:t>Does not make it any easier to derive the test cases,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400"/>
              <a:t>Only gives an indication of the minimum number of test cases required.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5">
            <a:extLst>
              <a:ext uri="{FF2B5EF4-FFF2-40B4-BE49-F238E27FC236}">
                <a16:creationId xmlns:a16="http://schemas.microsoft.com/office/drawing/2014/main" id="{7BCC4AF0-1544-76B6-6F62-D9AD3D50FD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B5E3B80-70D8-4631-9524-0D959578E47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2A56A493-73E2-65C3-BF99-4F18F15F0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Practical Path Testing</a:t>
            </a:r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99C423FF-C7DB-54DE-BB5C-9C864BE69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416050"/>
            <a:ext cx="9677400" cy="52641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000">
                <a:solidFill>
                  <a:srgbClr val="0000CC"/>
                </a:solidFill>
              </a:rPr>
              <a:t>The tester proposes initial set of test data 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600"/>
              <a:t>Using his experience and judgement. 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4000">
                <a:solidFill>
                  <a:srgbClr val="0000CC"/>
                </a:solidFill>
              </a:rPr>
              <a:t>A dynamic program analyzer used:</a:t>
            </a:r>
            <a:r>
              <a:rPr lang="en-US" altLang="en-US" sz="4000"/>
              <a:t>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600"/>
              <a:t>Measures which parts of the program have been tested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5000"/>
              </a:spcAft>
            </a:pPr>
            <a:r>
              <a:rPr lang="en-US" altLang="en-US" sz="3600"/>
              <a:t>Result used to determine when to stop testing.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5">
            <a:extLst>
              <a:ext uri="{FF2B5EF4-FFF2-40B4-BE49-F238E27FC236}">
                <a16:creationId xmlns:a16="http://schemas.microsoft.com/office/drawing/2014/main" id="{32017571-D6CE-C430-60C3-8B5F6732C63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41A31BD-23F8-4FDD-9E27-460696410766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FD924657-ED34-7229-66F4-38E671D71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0"/>
            <a:ext cx="9153525" cy="1258888"/>
          </a:xfrm>
        </p:spPr>
        <p:txBody>
          <a:bodyPr/>
          <a:lstStyle/>
          <a:p>
            <a:pPr defTabSz="914400"/>
            <a:r>
              <a:rPr lang="en-US" altLang="en-US" sz="5500"/>
              <a:t>Derivation of Test Cases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93987FE8-1128-6EA4-4009-CC811C933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2275" y="1276350"/>
            <a:ext cx="9363075" cy="54038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300"/>
              <a:t>Draw control flow graph.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300"/>
              <a:t>Determine V(G).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300"/>
              <a:t>Determine the set of linearly independent paths.</a:t>
            </a:r>
          </a:p>
          <a:p>
            <a:pPr marL="342900" indent="-34290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4300"/>
              <a:t>Prepare test cases: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</a:pPr>
            <a:r>
              <a:rPr lang="en-US" altLang="en-US" sz="3900"/>
              <a:t>to force execution along each path.</a:t>
            </a:r>
            <a:endParaRPr lang="en-US" altLang="en-US" sz="44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5">
            <a:extLst>
              <a:ext uri="{FF2B5EF4-FFF2-40B4-BE49-F238E27FC236}">
                <a16:creationId xmlns:a16="http://schemas.microsoft.com/office/drawing/2014/main" id="{BB913B28-08AF-6768-D3E0-58928D9D312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C801A6F-23DB-424F-8261-69ED2E278068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E391A51-BEAC-10E2-0E65-6959FD2AC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7400"/>
              <a:t>Example</a:t>
            </a:r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6B17025-74A8-6DDD-549E-97C9AC114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570038"/>
            <a:ext cx="9253537" cy="5349875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300"/>
              </a:spcAft>
            </a:pPr>
            <a:r>
              <a:rPr lang="en-US" altLang="en-US"/>
              <a:t>int f1(int x,int y){                    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300"/>
              </a:spcAft>
            </a:pPr>
            <a:r>
              <a:rPr lang="en-US" altLang="en-US">
                <a:solidFill>
                  <a:srgbClr val="3399FF"/>
                </a:solidFill>
              </a:rPr>
              <a:t>1</a:t>
            </a:r>
            <a:r>
              <a:rPr lang="en-US" altLang="en-US"/>
              <a:t> while (x != y){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300"/>
              </a:spcAft>
            </a:pPr>
            <a:r>
              <a:rPr lang="en-US" altLang="en-US">
                <a:solidFill>
                  <a:srgbClr val="3399FF"/>
                </a:solidFill>
              </a:rPr>
              <a:t>2</a:t>
            </a:r>
            <a:r>
              <a:rPr lang="en-US" altLang="en-US"/>
              <a:t>    if (x&gt;y) then 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300"/>
              </a:spcAft>
            </a:pPr>
            <a:r>
              <a:rPr lang="en-US" altLang="en-US">
                <a:solidFill>
                  <a:srgbClr val="3399FF"/>
                </a:solidFill>
              </a:rPr>
              <a:t>3</a:t>
            </a:r>
            <a:r>
              <a:rPr lang="en-US" altLang="en-US"/>
              <a:t>         x=x-y;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300"/>
              </a:spcAft>
            </a:pPr>
            <a:r>
              <a:rPr lang="en-US" altLang="en-US">
                <a:solidFill>
                  <a:srgbClr val="3399FF"/>
                </a:solidFill>
              </a:rPr>
              <a:t>4</a:t>
            </a:r>
            <a:r>
              <a:rPr lang="en-US" altLang="en-US"/>
              <a:t>    else y=y-x;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300"/>
              </a:spcAft>
            </a:pPr>
            <a:r>
              <a:rPr lang="en-US" altLang="en-US">
                <a:solidFill>
                  <a:srgbClr val="3399FF"/>
                </a:solidFill>
              </a:rPr>
              <a:t>5</a:t>
            </a:r>
            <a:r>
              <a:rPr lang="en-US" altLang="en-US"/>
              <a:t> }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ts val="300"/>
              </a:spcAft>
            </a:pPr>
            <a:r>
              <a:rPr lang="en-US" altLang="en-US">
                <a:solidFill>
                  <a:srgbClr val="3399FF"/>
                </a:solidFill>
              </a:rPr>
              <a:t>6</a:t>
            </a:r>
            <a:r>
              <a:rPr lang="en-US" altLang="en-US"/>
              <a:t> return x;        }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5">
            <a:extLst>
              <a:ext uri="{FF2B5EF4-FFF2-40B4-BE49-F238E27FC236}">
                <a16:creationId xmlns:a16="http://schemas.microsoft.com/office/drawing/2014/main" id="{0752316C-775E-7A5E-52E2-D4B4B95E36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491EB313-5E5E-48C0-8DFB-05341FC3D16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79D861FE-5FA8-1BD1-417E-968836EB7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336550"/>
            <a:ext cx="8569325" cy="1258888"/>
          </a:xfrm>
        </p:spPr>
        <p:txBody>
          <a:bodyPr/>
          <a:lstStyle/>
          <a:p>
            <a:pPr defTabSz="914400"/>
            <a:r>
              <a:rPr lang="en-US" altLang="en-US" sz="5500"/>
              <a:t>Example Control Flow Diagram</a:t>
            </a:r>
          </a:p>
        </p:txBody>
      </p:sp>
      <p:grpSp>
        <p:nvGrpSpPr>
          <p:cNvPr id="94212" name="Group 3">
            <a:extLst>
              <a:ext uri="{FF2B5EF4-FFF2-40B4-BE49-F238E27FC236}">
                <a16:creationId xmlns:a16="http://schemas.microsoft.com/office/drawing/2014/main" id="{171C98A7-3F9B-297F-1E26-1C3528BBF9F4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847850"/>
            <a:ext cx="3821113" cy="5170488"/>
            <a:chOff x="1640" y="1164"/>
            <a:chExt cx="1791" cy="2169"/>
          </a:xfrm>
        </p:grpSpPr>
        <p:sp>
          <p:nvSpPr>
            <p:cNvPr id="94213" name="Oval 4">
              <a:extLst>
                <a:ext uri="{FF2B5EF4-FFF2-40B4-BE49-F238E27FC236}">
                  <a16:creationId xmlns:a16="http://schemas.microsoft.com/office/drawing/2014/main" id="{45168782-B7DB-92F3-D058-736796D6A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164"/>
              <a:ext cx="318" cy="31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14" name="Oval 5">
              <a:extLst>
                <a:ext uri="{FF2B5EF4-FFF2-40B4-BE49-F238E27FC236}">
                  <a16:creationId xmlns:a16="http://schemas.microsoft.com/office/drawing/2014/main" id="{120945DB-EFFC-CE6D-7FBE-62084B5D8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640"/>
              <a:ext cx="318" cy="31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15" name="Oval 6">
              <a:extLst>
                <a:ext uri="{FF2B5EF4-FFF2-40B4-BE49-F238E27FC236}">
                  <a16:creationId xmlns:a16="http://schemas.microsoft.com/office/drawing/2014/main" id="{398AEF9D-7C37-3E6A-AD1F-C848A5ADB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116"/>
              <a:ext cx="318" cy="31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16" name="Oval 7">
              <a:extLst>
                <a:ext uri="{FF2B5EF4-FFF2-40B4-BE49-F238E27FC236}">
                  <a16:creationId xmlns:a16="http://schemas.microsoft.com/office/drawing/2014/main" id="{A0443D22-D0E9-CD5A-C916-9FE14CA3C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2116"/>
              <a:ext cx="317" cy="318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17" name="Oval 8">
              <a:extLst>
                <a:ext uri="{FF2B5EF4-FFF2-40B4-BE49-F238E27FC236}">
                  <a16:creationId xmlns:a16="http://schemas.microsoft.com/office/drawing/2014/main" id="{021A095A-14F5-FE10-1D5A-31DF22A8E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540"/>
              <a:ext cx="318" cy="317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18" name="Oval 9">
              <a:extLst>
                <a:ext uri="{FF2B5EF4-FFF2-40B4-BE49-F238E27FC236}">
                  <a16:creationId xmlns:a16="http://schemas.microsoft.com/office/drawing/2014/main" id="{FAD17EB6-687A-76E6-42DF-F7C8A2CB6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3016"/>
              <a:ext cx="318" cy="317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0794" tIns="50397" rIns="100794" bIns="50397" anchor="ctr"/>
            <a:lstStyle>
              <a:lvl1pPr algn="l" defTabSz="1008063" eaLnBrk="0" hangingPunct="0">
                <a:lnSpc>
                  <a:spcPct val="91000"/>
                </a:lnSpc>
                <a:spcBef>
                  <a:spcPts val="975"/>
                </a:spcBef>
                <a:buFont typeface="Comic Sans MS" panose="030F0702030302020204" pitchFamily="66" charset="0"/>
                <a:buChar char="•"/>
                <a:defRPr sz="3900">
                  <a:solidFill>
                    <a:srgbClr val="000000"/>
                  </a:solidFill>
                  <a:latin typeface="Comic Sans MS" panose="030F0702030302020204" pitchFamily="66" charset="0"/>
                </a:defRPr>
              </a:lvl1pPr>
              <a:lvl2pPr marL="742950" indent="-285750" algn="l" defTabSz="1008063" eaLnBrk="0" hangingPunct="0">
                <a:lnSpc>
                  <a:spcPct val="91000"/>
                </a:lnSpc>
                <a:spcBef>
                  <a:spcPts val="863"/>
                </a:spcBef>
                <a:buFont typeface="Wingdings" panose="05000000000000000000" pitchFamily="2" charset="2"/>
                <a:buChar char=""/>
                <a:defRPr sz="3500">
                  <a:solidFill>
                    <a:srgbClr val="000000"/>
                  </a:solidFill>
                  <a:latin typeface="Comic Sans MS" panose="030F0702030302020204" pitchFamily="66" charset="0"/>
                </a:defRPr>
              </a:lvl2pPr>
              <a:lvl3pPr marL="1143000" indent="-228600" algn="l" defTabSz="1008063" eaLnBrk="0" hangingPunct="0">
                <a:lnSpc>
                  <a:spcPct val="91000"/>
                </a:lnSpc>
                <a:spcBef>
                  <a:spcPts val="750"/>
                </a:spcBef>
                <a:buFont typeface="Comic Sans MS" panose="030F0702030302020204" pitchFamily="66" charset="0"/>
                <a:buChar char="•"/>
                <a:defRPr sz="3000">
                  <a:solidFill>
                    <a:srgbClr val="000000"/>
                  </a:solidFill>
                  <a:latin typeface="Comic Sans MS" panose="030F0702030302020204" pitchFamily="66" charset="0"/>
                </a:defRPr>
              </a:lvl3pPr>
              <a:lvl4pPr marL="16002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–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4pPr>
              <a:lvl5pPr marL="2057400" indent="-228600" algn="l" defTabSz="1008063" eaLnBrk="0" hangingPunct="0">
                <a:lnSpc>
                  <a:spcPct val="91000"/>
                </a:lnSpc>
                <a:spcBef>
                  <a:spcPts val="650"/>
                </a:spcBef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5pPr>
              <a:lvl6pPr marL="25146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6pPr>
              <a:lvl7pPr marL="29718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7pPr>
              <a:lvl8pPr marL="34290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8pPr>
              <a:lvl9pPr marL="3886200" indent="-228600" defTabSz="1008063" eaLnBrk="0" fontAlgn="base" hangingPunct="0">
                <a:lnSpc>
                  <a:spcPct val="91000"/>
                </a:lnSpc>
                <a:spcBef>
                  <a:spcPts val="6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omic Sans MS" panose="030F0702030302020204" pitchFamily="66" charset="0"/>
                <a:buChar char="»"/>
                <a:defRPr sz="2600">
                  <a:solidFill>
                    <a:srgbClr val="000000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3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19" name="Line 10">
              <a:extLst>
                <a:ext uri="{FF2B5EF4-FFF2-40B4-BE49-F238E27FC236}">
                  <a16:creationId xmlns:a16="http://schemas.microsoft.com/office/drawing/2014/main" id="{BB9B7C38-E329-0849-754C-456ED75DC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" y="1429"/>
              <a:ext cx="0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0" name="Line 11">
              <a:extLst>
                <a:ext uri="{FF2B5EF4-FFF2-40B4-BE49-F238E27FC236}">
                  <a16:creationId xmlns:a16="http://schemas.microsoft.com/office/drawing/2014/main" id="{708A9491-4B6D-3230-F834-4647ECD45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0" y="1905"/>
              <a:ext cx="211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1" name="Line 12">
              <a:extLst>
                <a:ext uri="{FF2B5EF4-FFF2-40B4-BE49-F238E27FC236}">
                  <a16:creationId xmlns:a16="http://schemas.microsoft.com/office/drawing/2014/main" id="{CC6C267A-802B-6D06-3AB3-E3B0C64CA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3" y="1905"/>
              <a:ext cx="212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2" name="Line 13">
              <a:extLst>
                <a:ext uri="{FF2B5EF4-FFF2-40B4-BE49-F238E27FC236}">
                  <a16:creationId xmlns:a16="http://schemas.microsoft.com/office/drawing/2014/main" id="{6FA0703C-93B8-B82B-B4B1-E533154BBA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7" y="2434"/>
              <a:ext cx="211" cy="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3" name="Line 14">
              <a:extLst>
                <a:ext uri="{FF2B5EF4-FFF2-40B4-BE49-F238E27FC236}">
                  <a16:creationId xmlns:a16="http://schemas.microsoft.com/office/drawing/2014/main" id="{B61FB0C2-FB66-9039-F500-9709E3FEA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2434"/>
              <a:ext cx="212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4" name="Line 15">
              <a:extLst>
                <a:ext uri="{FF2B5EF4-FFF2-40B4-BE49-F238E27FC236}">
                  <a16:creationId xmlns:a16="http://schemas.microsoft.com/office/drawing/2014/main" id="{B9D6760D-A64E-7A29-8EF2-7A057FEF66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0" y="2751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5" name="Line 16">
              <a:extLst>
                <a:ext uri="{FF2B5EF4-FFF2-40B4-BE49-F238E27FC236}">
                  <a16:creationId xmlns:a16="http://schemas.microsoft.com/office/drawing/2014/main" id="{34B4F596-CDE8-B780-EEBE-6A51718969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0" y="1323"/>
              <a:ext cx="0" cy="14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6" name="Line 17">
              <a:extLst>
                <a:ext uri="{FF2B5EF4-FFF2-40B4-BE49-F238E27FC236}">
                  <a16:creationId xmlns:a16="http://schemas.microsoft.com/office/drawing/2014/main" id="{324662DC-B414-96BA-832B-BAE34F257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1323"/>
              <a:ext cx="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7" name="Freeform 18">
              <a:extLst>
                <a:ext uri="{FF2B5EF4-FFF2-40B4-BE49-F238E27FC236}">
                  <a16:creationId xmlns:a16="http://schemas.microsoft.com/office/drawing/2014/main" id="{C765F7C0-983D-8D01-EA0A-838343E0A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217"/>
              <a:ext cx="785" cy="1905"/>
            </a:xfrm>
            <a:custGeom>
              <a:avLst/>
              <a:gdLst>
                <a:gd name="T0" fmla="*/ 0 w 712"/>
                <a:gd name="T1" fmla="*/ 141 h 1296"/>
                <a:gd name="T2" fmla="*/ 582 w 712"/>
                <a:gd name="T3" fmla="*/ 212 h 1296"/>
                <a:gd name="T4" fmla="*/ 688 w 712"/>
                <a:gd name="T5" fmla="*/ 1411 h 1296"/>
                <a:gd name="T6" fmla="*/ 0 w 712"/>
                <a:gd name="T7" fmla="*/ 1905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2"/>
                <a:gd name="T13" fmla="*/ 0 h 1296"/>
                <a:gd name="T14" fmla="*/ 712 w 712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2" h="1296">
                  <a:moveTo>
                    <a:pt x="0" y="96"/>
                  </a:moveTo>
                  <a:cubicBezTo>
                    <a:pt x="212" y="48"/>
                    <a:pt x="424" y="0"/>
                    <a:pt x="528" y="144"/>
                  </a:cubicBezTo>
                  <a:cubicBezTo>
                    <a:pt x="632" y="288"/>
                    <a:pt x="712" y="768"/>
                    <a:pt x="624" y="960"/>
                  </a:cubicBezTo>
                  <a:cubicBezTo>
                    <a:pt x="536" y="1152"/>
                    <a:pt x="268" y="1224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5">
            <a:extLst>
              <a:ext uri="{FF2B5EF4-FFF2-40B4-BE49-F238E27FC236}">
                <a16:creationId xmlns:a16="http://schemas.microsoft.com/office/drawing/2014/main" id="{9FDE69F2-05D3-943C-AAC0-48141E0FE6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6F7FE1E-5F2F-4AF7-803C-8921A198D4C4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C9288158-20BE-7CF2-1269-135038838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5500"/>
              <a:t>Derivation of Test Cases</a:t>
            </a:r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B2FB582C-D437-C2F8-50FB-1A27E590E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5913" y="1708150"/>
            <a:ext cx="9228137" cy="49720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</a:pPr>
            <a:r>
              <a:rPr lang="en-US" altLang="en-US" sz="4400" b="1"/>
              <a:t>Number of independent paths: 3</a:t>
            </a:r>
          </a:p>
          <a:p>
            <a:pPr marL="742950" lvl="1" indent="-285750" defTabSz="914400">
              <a:lnSpc>
                <a:spcPct val="110000"/>
              </a:lnSpc>
            </a:pPr>
            <a:r>
              <a:rPr lang="en-US" altLang="en-US" sz="4000" b="1"/>
              <a:t>1,6     </a:t>
            </a:r>
            <a:r>
              <a:rPr lang="en-US" altLang="en-US" sz="4000" b="1">
                <a:solidFill>
                  <a:srgbClr val="3399FF"/>
                </a:solidFill>
              </a:rPr>
              <a:t>test case (x=1, y=1)</a:t>
            </a:r>
          </a:p>
          <a:p>
            <a:pPr marL="742950" lvl="1" indent="-285750" defTabSz="914400">
              <a:lnSpc>
                <a:spcPct val="110000"/>
              </a:lnSpc>
            </a:pPr>
            <a:r>
              <a:rPr lang="en-US" altLang="en-US" sz="4000" b="1"/>
              <a:t>1,2,3,5,1,6 </a:t>
            </a:r>
            <a:r>
              <a:rPr lang="en-US" altLang="en-US" sz="4000" b="1">
                <a:solidFill>
                  <a:srgbClr val="3399FF"/>
                </a:solidFill>
              </a:rPr>
              <a:t>test case(x=1, y=2)</a:t>
            </a:r>
            <a:endParaRPr lang="en-US" altLang="en-US" sz="4000" b="1"/>
          </a:p>
          <a:p>
            <a:pPr marL="742950" lvl="1" indent="-285750" defTabSz="914400">
              <a:lnSpc>
                <a:spcPct val="110000"/>
              </a:lnSpc>
            </a:pPr>
            <a:r>
              <a:rPr lang="en-US" altLang="en-US" sz="4000" b="1"/>
              <a:t>1,2,4,5,1,6  </a:t>
            </a:r>
            <a:r>
              <a:rPr lang="en-US" altLang="en-US" sz="4000" b="1">
                <a:solidFill>
                  <a:srgbClr val="3399FF"/>
                </a:solidFill>
              </a:rPr>
              <a:t>test case(x=2, y=1)</a:t>
            </a:r>
            <a:endParaRPr lang="en-US" altLang="en-US" sz="4000" b="1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5">
            <a:extLst>
              <a:ext uri="{FF2B5EF4-FFF2-40B4-BE49-F238E27FC236}">
                <a16:creationId xmlns:a16="http://schemas.microsoft.com/office/drawing/2014/main" id="{E32BDED7-A29D-1B7D-B703-EE261DD1A7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4CA36C7-760A-4C22-A8AB-201824D1DC03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F35E8B3-D989-6276-541F-6D51601BF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4900"/>
              <a:t>An Interesting Application of Cyclomatic Complexity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6DA9AD6-6D09-6F2F-C542-4CBE4ACBE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800"/>
              <a:t>Relationship exists between: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500"/>
              <a:t>McCabe's metric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500"/>
              <a:t>The number of errors existing in the code,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4500"/>
              <a:t>The time required to find and correct the errors. 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5">
            <a:extLst>
              <a:ext uri="{FF2B5EF4-FFF2-40B4-BE49-F238E27FC236}">
                <a16:creationId xmlns:a16="http://schemas.microsoft.com/office/drawing/2014/main" id="{C991D384-E85F-587B-064C-CD24AA417E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3AA321A-5F1F-4F64-8424-A920380D073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A550BB17-B429-04ED-7B29-19AAEEB1D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Cyclomatic Complexity</a:t>
            </a:r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38DB31D-9FEE-CAC3-920D-B3A39145C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5913" y="1630363"/>
            <a:ext cx="9253537" cy="5349875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800"/>
              <a:t>Cyclomatic complexity of a program: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400">
                <a:solidFill>
                  <a:srgbClr val="0033CC"/>
                </a:solidFill>
              </a:rPr>
              <a:t>Also indicates the psychological complexity of a program.</a:t>
            </a:r>
            <a:r>
              <a:rPr lang="en-US" altLang="en-US" sz="4400"/>
              <a:t>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400"/>
              <a:t>Difficulty level of understanding the program. 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5">
            <a:extLst>
              <a:ext uri="{FF2B5EF4-FFF2-40B4-BE49-F238E27FC236}">
                <a16:creationId xmlns:a16="http://schemas.microsoft.com/office/drawing/2014/main" id="{8873C934-590C-99BA-A43D-F25A830BB1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3B3C5E4-2C7F-4F91-96EE-18E3FF9C2C25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20948E33-3E75-73F8-371F-81FD04334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/>
              <a:t>Cyclomatic Complexity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B987D66F-D69F-2275-9908-A8D0E6B39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6075" y="1568450"/>
            <a:ext cx="9413875" cy="51117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</a:pPr>
            <a:r>
              <a:rPr lang="en-US" altLang="en-US" sz="4400"/>
              <a:t>From maintenance perspective,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</a:pPr>
            <a:r>
              <a:rPr lang="en-US" altLang="en-US" sz="4000"/>
              <a:t>Limit cyclomatic complexity of modules </a:t>
            </a:r>
          </a:p>
          <a:p>
            <a:pPr marL="1143000" lvl="2" indent="-228600" defTabSz="91440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</a:pPr>
            <a:r>
              <a:rPr lang="en-US" altLang="en-US" sz="3500"/>
              <a:t>To some reasonable value.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</a:pPr>
            <a:r>
              <a:rPr lang="en-US" altLang="en-US" sz="4000"/>
              <a:t>Good software development organizations: </a:t>
            </a:r>
          </a:p>
          <a:p>
            <a:pPr marL="1143000" lvl="2" indent="-228600" defTabSz="91440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</a:pPr>
            <a:r>
              <a:rPr lang="en-US" altLang="en-US" sz="3500"/>
              <a:t>Restrict cyclomatic complexity of functions to a maximum of ten or so.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5">
            <a:extLst>
              <a:ext uri="{FF2B5EF4-FFF2-40B4-BE49-F238E27FC236}">
                <a16:creationId xmlns:a16="http://schemas.microsoft.com/office/drawing/2014/main" id="{41F8880D-0331-4EE4-DE3A-75040DFE02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B53A890-0C60-4819-A963-8355A762CC9B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99331" name="Rectangle 24">
            <a:extLst>
              <a:ext uri="{FF2B5EF4-FFF2-40B4-BE49-F238E27FC236}">
                <a16:creationId xmlns:a16="http://schemas.microsoft.com/office/drawing/2014/main" id="{9FA72F62-2119-15E6-A911-FDE26B41A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1189038"/>
            <a:ext cx="5867400" cy="6172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74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20E7CD3B-2350-6025-73FE-65D2C024F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100"/>
              <a:t>White-Box Testing :  Summary</a:t>
            </a:r>
          </a:p>
        </p:txBody>
      </p:sp>
      <p:sp>
        <p:nvSpPr>
          <p:cNvPr id="976899" name="Text Box 3">
            <a:extLst>
              <a:ext uri="{FF2B5EF4-FFF2-40B4-BE49-F238E27FC236}">
                <a16:creationId xmlns:a16="http://schemas.microsoft.com/office/drawing/2014/main" id="{EDEDDD52-64A2-98D6-5632-0D2D6A549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388" y="1535113"/>
            <a:ext cx="1316037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 anchor="ctr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statement</a:t>
            </a:r>
          </a:p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coverage</a:t>
            </a:r>
          </a:p>
        </p:txBody>
      </p:sp>
      <p:sp>
        <p:nvSpPr>
          <p:cNvPr id="976900" name="Text Box 4">
            <a:extLst>
              <a:ext uri="{FF2B5EF4-FFF2-40B4-BE49-F238E27FC236}">
                <a16:creationId xmlns:a16="http://schemas.microsoft.com/office/drawing/2014/main" id="{079F1136-97D0-C967-00B5-9BDCFC07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663" y="2425700"/>
            <a:ext cx="1527175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condition</a:t>
            </a:r>
          </a:p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coverage</a:t>
            </a:r>
          </a:p>
        </p:txBody>
      </p:sp>
      <p:sp>
        <p:nvSpPr>
          <p:cNvPr id="976901" name="Text Box 5">
            <a:extLst>
              <a:ext uri="{FF2B5EF4-FFF2-40B4-BE49-F238E27FC236}">
                <a16:creationId xmlns:a16="http://schemas.microsoft.com/office/drawing/2014/main" id="{F8BA227B-9ADD-CB68-F778-DBC76F90C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2346325"/>
            <a:ext cx="18938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branch</a:t>
            </a:r>
          </a:p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(or decision)</a:t>
            </a:r>
          </a:p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coverage</a:t>
            </a:r>
          </a:p>
        </p:txBody>
      </p:sp>
      <p:sp>
        <p:nvSpPr>
          <p:cNvPr id="976902" name="Text Box 6">
            <a:extLst>
              <a:ext uri="{FF2B5EF4-FFF2-40B4-BE49-F238E27FC236}">
                <a16:creationId xmlns:a16="http://schemas.microsoft.com/office/drawing/2014/main" id="{EE6CDF77-3871-C358-4622-816F496D2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3571875"/>
            <a:ext cx="29368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branch and condition </a:t>
            </a:r>
            <a:br>
              <a:rPr lang="en-US" altLang="en-US" sz="1800" b="1">
                <a:solidFill>
                  <a:schemeClr val="accent2"/>
                </a:solidFill>
              </a:rPr>
            </a:br>
            <a:r>
              <a:rPr lang="en-US" altLang="en-US" sz="1800" b="1">
                <a:solidFill>
                  <a:schemeClr val="accent2"/>
                </a:solidFill>
              </a:rPr>
              <a:t>(or condition /decision) coverage</a:t>
            </a:r>
          </a:p>
        </p:txBody>
      </p:sp>
      <p:sp>
        <p:nvSpPr>
          <p:cNvPr id="976903" name="Text Box 7">
            <a:extLst>
              <a:ext uri="{FF2B5EF4-FFF2-40B4-BE49-F238E27FC236}">
                <a16:creationId xmlns:a16="http://schemas.microsoft.com/office/drawing/2014/main" id="{681BC8AE-ED9E-F2CE-3694-F3D9B6908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6113" y="6710363"/>
            <a:ext cx="1163637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94" tIns="50397" rIns="100794" bIns="50397" anchor="ctr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path</a:t>
            </a:r>
          </a:p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coverage</a:t>
            </a:r>
          </a:p>
        </p:txBody>
      </p:sp>
      <p:sp>
        <p:nvSpPr>
          <p:cNvPr id="976904" name="Text Box 8">
            <a:extLst>
              <a:ext uri="{FF2B5EF4-FFF2-40B4-BE49-F238E27FC236}">
                <a16:creationId xmlns:a16="http://schemas.microsoft.com/office/drawing/2014/main" id="{CF5D6DAA-120C-F21E-3F06-53DFE795E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4721225"/>
            <a:ext cx="26479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modified condition / decision coverage</a:t>
            </a:r>
          </a:p>
        </p:txBody>
      </p:sp>
      <p:cxnSp>
        <p:nvCxnSpPr>
          <p:cNvPr id="976905" name="AutoShape 9">
            <a:extLst>
              <a:ext uri="{FF2B5EF4-FFF2-40B4-BE49-F238E27FC236}">
                <a16:creationId xmlns:a16="http://schemas.microsoft.com/office/drawing/2014/main" id="{1D585A04-1840-7136-84A7-C5869914DD3E}"/>
              </a:ext>
            </a:extLst>
          </p:cNvPr>
          <p:cNvCxnSpPr>
            <a:cxnSpLocks noChangeShapeType="1"/>
            <a:stCxn id="976899" idx="2"/>
            <a:endCxn id="976900" idx="0"/>
          </p:cNvCxnSpPr>
          <p:nvPr/>
        </p:nvCxnSpPr>
        <p:spPr bwMode="auto">
          <a:xfrm flipH="1">
            <a:off x="3905250" y="2105025"/>
            <a:ext cx="1123950" cy="3206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6906" name="AutoShape 10">
            <a:extLst>
              <a:ext uri="{FF2B5EF4-FFF2-40B4-BE49-F238E27FC236}">
                <a16:creationId xmlns:a16="http://schemas.microsoft.com/office/drawing/2014/main" id="{8A0A3E12-F32C-1F9E-F6D3-4F26110373E7}"/>
              </a:ext>
            </a:extLst>
          </p:cNvPr>
          <p:cNvCxnSpPr>
            <a:cxnSpLocks noChangeShapeType="1"/>
            <a:stCxn id="976899" idx="2"/>
            <a:endCxn id="976901" idx="0"/>
          </p:cNvCxnSpPr>
          <p:nvPr/>
        </p:nvCxnSpPr>
        <p:spPr bwMode="auto">
          <a:xfrm>
            <a:off x="5029200" y="2105025"/>
            <a:ext cx="841375" cy="24130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6907" name="AutoShape 11">
            <a:extLst>
              <a:ext uri="{FF2B5EF4-FFF2-40B4-BE49-F238E27FC236}">
                <a16:creationId xmlns:a16="http://schemas.microsoft.com/office/drawing/2014/main" id="{A54EC912-D997-2B2E-EFA2-1E16FED661BD}"/>
              </a:ext>
            </a:extLst>
          </p:cNvPr>
          <p:cNvCxnSpPr>
            <a:cxnSpLocks noChangeShapeType="1"/>
            <a:stCxn id="976900" idx="2"/>
            <a:endCxn id="976902" idx="0"/>
          </p:cNvCxnSpPr>
          <p:nvPr/>
        </p:nvCxnSpPr>
        <p:spPr bwMode="auto">
          <a:xfrm>
            <a:off x="3905250" y="2995613"/>
            <a:ext cx="1123950" cy="57626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6908" name="AutoShape 12">
            <a:extLst>
              <a:ext uri="{FF2B5EF4-FFF2-40B4-BE49-F238E27FC236}">
                <a16:creationId xmlns:a16="http://schemas.microsoft.com/office/drawing/2014/main" id="{629749FC-82A7-247E-F9BE-ABD32F5864D2}"/>
              </a:ext>
            </a:extLst>
          </p:cNvPr>
          <p:cNvCxnSpPr>
            <a:cxnSpLocks noChangeShapeType="1"/>
            <a:stCxn id="976901" idx="2"/>
            <a:endCxn id="976902" idx="0"/>
          </p:cNvCxnSpPr>
          <p:nvPr/>
        </p:nvCxnSpPr>
        <p:spPr bwMode="auto">
          <a:xfrm flipH="1">
            <a:off x="5029200" y="3178175"/>
            <a:ext cx="841375" cy="39370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6909" name="AutoShape 13">
            <a:extLst>
              <a:ext uri="{FF2B5EF4-FFF2-40B4-BE49-F238E27FC236}">
                <a16:creationId xmlns:a16="http://schemas.microsoft.com/office/drawing/2014/main" id="{F62240C0-8192-39C0-38EE-9CDF1043A1DD}"/>
              </a:ext>
            </a:extLst>
          </p:cNvPr>
          <p:cNvCxnSpPr>
            <a:cxnSpLocks noChangeShapeType="1"/>
            <a:stCxn id="976902" idx="2"/>
            <a:endCxn id="976904" idx="0"/>
          </p:cNvCxnSpPr>
          <p:nvPr/>
        </p:nvCxnSpPr>
        <p:spPr bwMode="auto">
          <a:xfrm flipH="1">
            <a:off x="5026025" y="4292600"/>
            <a:ext cx="3175" cy="4286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6910" name="AutoShape 14">
            <a:extLst>
              <a:ext uri="{FF2B5EF4-FFF2-40B4-BE49-F238E27FC236}">
                <a16:creationId xmlns:a16="http://schemas.microsoft.com/office/drawing/2014/main" id="{40FB720A-305D-0059-36F6-BCD0647BD5FC}"/>
              </a:ext>
            </a:extLst>
          </p:cNvPr>
          <p:cNvCxnSpPr>
            <a:cxnSpLocks noChangeShapeType="1"/>
            <a:stCxn id="976904" idx="2"/>
            <a:endCxn id="976916" idx="0"/>
          </p:cNvCxnSpPr>
          <p:nvPr/>
        </p:nvCxnSpPr>
        <p:spPr bwMode="auto">
          <a:xfrm flipH="1">
            <a:off x="5021263" y="5235575"/>
            <a:ext cx="4762" cy="3460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45" name="Text Box 15">
            <a:extLst>
              <a:ext uri="{FF2B5EF4-FFF2-40B4-BE49-F238E27FC236}">
                <a16:creationId xmlns:a16="http://schemas.microsoft.com/office/drawing/2014/main" id="{60435C0E-136D-C376-B498-0C0A798E9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6623050"/>
            <a:ext cx="1754188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rgbClr val="0000CC"/>
                </a:solidFill>
                <a:latin typeface="Trebuchet MS" panose="020B0603020202020204" pitchFamily="34" charset="0"/>
              </a:rPr>
              <a:t>strongest</a:t>
            </a:r>
          </a:p>
        </p:txBody>
      </p:sp>
      <p:sp>
        <p:nvSpPr>
          <p:cNvPr id="99346" name="Text Box 16">
            <a:extLst>
              <a:ext uri="{FF2B5EF4-FFF2-40B4-BE49-F238E27FC236}">
                <a16:creationId xmlns:a16="http://schemas.microsoft.com/office/drawing/2014/main" id="{B1890D9A-7592-6BC4-FD14-430ABC66E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1541463"/>
            <a:ext cx="15605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rgbClr val="0000CC"/>
                </a:solidFill>
                <a:latin typeface="Trebuchet MS" panose="020B0603020202020204" pitchFamily="34" charset="0"/>
              </a:rPr>
              <a:t>weakest</a:t>
            </a:r>
          </a:p>
        </p:txBody>
      </p:sp>
      <p:sp>
        <p:nvSpPr>
          <p:cNvPr id="976913" name="Text Box 17">
            <a:extLst>
              <a:ext uri="{FF2B5EF4-FFF2-40B4-BE49-F238E27FC236}">
                <a16:creationId xmlns:a16="http://schemas.microsoft.com/office/drawing/2014/main" id="{F7C4524B-F42F-1DD7-D9CF-00E0EBD82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350" y="4616450"/>
            <a:ext cx="20970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independent path (or basis path)</a:t>
            </a:r>
          </a:p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coverage</a:t>
            </a:r>
          </a:p>
        </p:txBody>
      </p:sp>
      <p:cxnSp>
        <p:nvCxnSpPr>
          <p:cNvPr id="976914" name="AutoShape 18">
            <a:extLst>
              <a:ext uri="{FF2B5EF4-FFF2-40B4-BE49-F238E27FC236}">
                <a16:creationId xmlns:a16="http://schemas.microsoft.com/office/drawing/2014/main" id="{A97BAC34-2293-A83F-F4C4-2661F0F15839}"/>
              </a:ext>
            </a:extLst>
          </p:cNvPr>
          <p:cNvCxnSpPr>
            <a:cxnSpLocks noChangeShapeType="1"/>
            <a:stCxn id="976913" idx="2"/>
            <a:endCxn id="976903" idx="0"/>
          </p:cNvCxnSpPr>
          <p:nvPr/>
        </p:nvCxnSpPr>
        <p:spPr bwMode="auto">
          <a:xfrm flipH="1">
            <a:off x="5038725" y="5392738"/>
            <a:ext cx="2620963" cy="13176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6915" name="AutoShape 19">
            <a:extLst>
              <a:ext uri="{FF2B5EF4-FFF2-40B4-BE49-F238E27FC236}">
                <a16:creationId xmlns:a16="http://schemas.microsoft.com/office/drawing/2014/main" id="{87205852-AD37-3D7A-EE88-7589DBA92BB7}"/>
              </a:ext>
            </a:extLst>
          </p:cNvPr>
          <p:cNvCxnSpPr>
            <a:cxnSpLocks noChangeShapeType="1"/>
            <a:stCxn id="976901" idx="2"/>
            <a:endCxn id="976913" idx="0"/>
          </p:cNvCxnSpPr>
          <p:nvPr/>
        </p:nvCxnSpPr>
        <p:spPr bwMode="auto">
          <a:xfrm>
            <a:off x="5870575" y="3178175"/>
            <a:ext cx="1789113" cy="14382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6916" name="Text Box 20">
            <a:extLst>
              <a:ext uri="{FF2B5EF4-FFF2-40B4-BE49-F238E27FC236}">
                <a16:creationId xmlns:a16="http://schemas.microsoft.com/office/drawing/2014/main" id="{76084EB5-E16B-5692-E8CE-AFA8981C6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3925" y="5581650"/>
            <a:ext cx="3114675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multiple- condition</a:t>
            </a:r>
          </a:p>
          <a:p>
            <a:pPr algn="ctr">
              <a:lnSpc>
                <a:spcPct val="75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coverage</a:t>
            </a:r>
          </a:p>
        </p:txBody>
      </p:sp>
      <p:cxnSp>
        <p:nvCxnSpPr>
          <p:cNvPr id="976917" name="AutoShape 21">
            <a:extLst>
              <a:ext uri="{FF2B5EF4-FFF2-40B4-BE49-F238E27FC236}">
                <a16:creationId xmlns:a16="http://schemas.microsoft.com/office/drawing/2014/main" id="{41DFCA5C-CF83-D7AD-2503-FEFE29F65554}"/>
              </a:ext>
            </a:extLst>
          </p:cNvPr>
          <p:cNvCxnSpPr>
            <a:cxnSpLocks noChangeShapeType="1"/>
            <a:stCxn id="976916" idx="2"/>
            <a:endCxn id="976903" idx="0"/>
          </p:cNvCxnSpPr>
          <p:nvPr/>
        </p:nvCxnSpPr>
        <p:spPr bwMode="auto">
          <a:xfrm>
            <a:off x="5021263" y="6151563"/>
            <a:ext cx="17462" cy="55880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52" name="Text Box 22">
            <a:extLst>
              <a:ext uri="{FF2B5EF4-FFF2-40B4-BE49-F238E27FC236}">
                <a16:creationId xmlns:a16="http://schemas.microsoft.com/office/drawing/2014/main" id="{E88AFBF6-EF96-C095-53C1-9D5F5F46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6142038"/>
            <a:ext cx="2895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 algn="l" defTabSz="503238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503238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503238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503238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503238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chemeClr val="tx2"/>
                </a:solidFill>
                <a:latin typeface="Trebuchet MS" panose="020B0603020202020204" pitchFamily="34" charset="0"/>
              </a:rPr>
              <a:t>only if paths across composite conditions are distinguished</a:t>
            </a:r>
          </a:p>
        </p:txBody>
      </p:sp>
      <p:sp>
        <p:nvSpPr>
          <p:cNvPr id="99353" name="Line 23">
            <a:extLst>
              <a:ext uri="{FF2B5EF4-FFF2-40B4-BE49-F238E27FC236}">
                <a16:creationId xmlns:a16="http://schemas.microsoft.com/office/drawing/2014/main" id="{8E2AE3B0-6875-74EE-BE77-11B4F62DE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6351588"/>
            <a:ext cx="99218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6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6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6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6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6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6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76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6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76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76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76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76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76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76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76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76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76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76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76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76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976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976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76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76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6899" grpId="0" autoUpdateAnimBg="0"/>
      <p:bldP spid="976900" grpId="0" autoUpdateAnimBg="0"/>
      <p:bldP spid="976901" grpId="0" autoUpdateAnimBg="0"/>
      <p:bldP spid="976902" grpId="0" autoUpdateAnimBg="0"/>
      <p:bldP spid="976903" grpId="0" autoUpdateAnimBg="0"/>
      <p:bldP spid="976904" grpId="0" autoUpdateAnimBg="0"/>
      <p:bldP spid="976913" grpId="0" autoUpdateAnimBg="0"/>
      <p:bldP spid="976916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5">
            <a:extLst>
              <a:ext uri="{FF2B5EF4-FFF2-40B4-BE49-F238E27FC236}">
                <a16:creationId xmlns:a16="http://schemas.microsoft.com/office/drawing/2014/main" id="{FF739F48-1FCA-6EEA-3628-8BEB87F66C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7B3761C-C493-4870-9DA3-DA60BD8F21E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2A4A88C2-5B84-7939-0D74-CD60D21B3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/>
              <a:t>Data Flow-Based Testing</a:t>
            </a:r>
          </a:p>
        </p:txBody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42A32E02-F982-E747-AC12-36592E48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1708150"/>
            <a:ext cx="9337675" cy="514985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10000"/>
              </a:lnSpc>
              <a:spcBef>
                <a:spcPts val="988"/>
              </a:spcBef>
            </a:pPr>
            <a:r>
              <a:rPr lang="en-GB" altLang="en-US" sz="5200"/>
              <a:t>Selects test paths of a program: </a:t>
            </a:r>
          </a:p>
          <a:p>
            <a:pPr marL="742950" lvl="1" indent="-285750" defTabSz="914400">
              <a:lnSpc>
                <a:spcPct val="110000"/>
              </a:lnSpc>
              <a:spcBef>
                <a:spcPts val="875"/>
              </a:spcBef>
            </a:pPr>
            <a:r>
              <a:rPr lang="en-GB" altLang="en-US" sz="4900"/>
              <a:t>According to the locations of</a:t>
            </a:r>
          </a:p>
          <a:p>
            <a:pPr marL="1143000" lvl="2" indent="-228600" defTabSz="914400">
              <a:lnSpc>
                <a:spcPct val="110000"/>
              </a:lnSpc>
              <a:spcBef>
                <a:spcPts val="788"/>
              </a:spcBef>
            </a:pPr>
            <a:r>
              <a:rPr lang="en-GB" altLang="en-US" sz="4300">
                <a:solidFill>
                  <a:srgbClr val="0000CC"/>
                </a:solidFill>
              </a:rPr>
              <a:t>Definitions and uses of different variables in a program.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5">
            <a:extLst>
              <a:ext uri="{FF2B5EF4-FFF2-40B4-BE49-F238E27FC236}">
                <a16:creationId xmlns:a16="http://schemas.microsoft.com/office/drawing/2014/main" id="{6543070D-7F7B-3114-9170-48D35C5A447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C53810E-6359-4E21-95FC-C96966A5C3C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05F7B010-54E9-239F-D1B4-0DBB94E72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/>
              <a:t>Data Flow-Based Testing</a:t>
            </a:r>
          </a:p>
        </p:txBody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6A232C9A-9359-12D3-D776-B8B14530D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125" y="1558925"/>
            <a:ext cx="9405938" cy="5637213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10000"/>
              </a:lnSpc>
              <a:spcBef>
                <a:spcPct val="25000"/>
              </a:spcBef>
              <a:spcAft>
                <a:spcPct val="15000"/>
              </a:spcAft>
            </a:pPr>
            <a:r>
              <a:rPr lang="en-GB" altLang="en-US"/>
              <a:t>For a statement numbered S,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25000"/>
              </a:spcBef>
              <a:spcAft>
                <a:spcPct val="15000"/>
              </a:spcAft>
            </a:pPr>
            <a:r>
              <a:rPr lang="en-GB" altLang="en-US"/>
              <a:t>DEF(S) = {X/statement S contains a definition of X}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25000"/>
              </a:spcBef>
              <a:spcAft>
                <a:spcPct val="15000"/>
              </a:spcAft>
            </a:pPr>
            <a:r>
              <a:rPr lang="en-GB" altLang="en-US"/>
              <a:t>USES(S)= {X/statement S contains a use of X}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25000"/>
              </a:spcBef>
              <a:spcAft>
                <a:spcPct val="15000"/>
              </a:spcAft>
            </a:pPr>
            <a:r>
              <a:rPr lang="en-GB" altLang="en-US"/>
              <a:t>Example: </a:t>
            </a:r>
            <a:r>
              <a:rPr lang="en-GB" altLang="en-US" sz="3100">
                <a:solidFill>
                  <a:srgbClr val="0000CC"/>
                </a:solidFill>
                <a:latin typeface="Arial" panose="020B0604020202020204" pitchFamily="34" charset="0"/>
              </a:rPr>
              <a:t>1: a=b;</a:t>
            </a:r>
            <a:r>
              <a:rPr lang="en-GB" altLang="en-US"/>
              <a:t> DEF(1)={a}, USES(1)={b}.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25000"/>
              </a:spcBef>
              <a:spcAft>
                <a:spcPct val="15000"/>
              </a:spcAft>
            </a:pPr>
            <a:r>
              <a:rPr lang="en-GB" altLang="en-US">
                <a:latin typeface="times" panose="02020603050405020304" pitchFamily="18" charset="0"/>
              </a:rPr>
              <a:t>Example: 2</a:t>
            </a:r>
            <a:r>
              <a:rPr lang="en-GB" altLang="en-US" sz="3100">
                <a:solidFill>
                  <a:srgbClr val="0000CC"/>
                </a:solidFill>
                <a:latin typeface="Arial" panose="020B0604020202020204" pitchFamily="34" charset="0"/>
              </a:rPr>
              <a:t>: a=a+b;</a:t>
            </a:r>
            <a:r>
              <a:rPr lang="en-GB" altLang="en-US">
                <a:latin typeface="times" panose="02020603050405020304" pitchFamily="18" charset="0"/>
              </a:rPr>
              <a:t> DEF(1)={a}, USES(1)={a,b}.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5">
            <a:extLst>
              <a:ext uri="{FF2B5EF4-FFF2-40B4-BE49-F238E27FC236}">
                <a16:creationId xmlns:a16="http://schemas.microsoft.com/office/drawing/2014/main" id="{9D4B2AFA-5B5D-73D0-4719-A69C9F35D2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2BD1AEC-C5B9-45A5-886C-9CFFA70AE42C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6FFE7B3E-5DE7-24E9-4B5D-B94D7ACFB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/>
              <a:t>Data Flow-Based Testing</a:t>
            </a: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4AB0A33F-E408-DFA1-43AC-2F59BBB05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19841" tIns="51588" rIns="19841" bIns="51588"/>
          <a:lstStyle/>
          <a:p>
            <a:pPr marL="342900" indent="-34290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800"/>
              <a:t>A variable X is said to be </a:t>
            </a:r>
            <a:r>
              <a:rPr lang="en-GB" altLang="en-US" sz="4800">
                <a:solidFill>
                  <a:srgbClr val="0000CC"/>
                </a:solidFill>
              </a:rPr>
              <a:t>live</a:t>
            </a:r>
            <a:r>
              <a:rPr lang="en-GB" altLang="en-US" sz="4800"/>
              <a:t> at statement S1, if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500"/>
              <a:t>X is defined at a statement S: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500">
                <a:solidFill>
                  <a:srgbClr val="0000CC"/>
                </a:solidFill>
              </a:rPr>
              <a:t>There exists a path from S to S1 not containing any definition of X.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5">
            <a:extLst>
              <a:ext uri="{FF2B5EF4-FFF2-40B4-BE49-F238E27FC236}">
                <a16:creationId xmlns:a16="http://schemas.microsoft.com/office/drawing/2014/main" id="{BA16DB07-FB2E-DB3A-AE4A-9F98B6CC26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C36FE08-0615-4C79-A296-BB1889415421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0A52F7BE-D600-2402-39C6-B44BC4BF5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/>
              <a:t>DU Chain Example</a:t>
            </a:r>
          </a:p>
        </p:txBody>
      </p:sp>
      <p:sp>
        <p:nvSpPr>
          <p:cNvPr id="103428" name="Text Box 3">
            <a:extLst>
              <a:ext uri="{FF2B5EF4-FFF2-40B4-BE49-F238E27FC236}">
                <a16:creationId xmlns:a16="http://schemas.microsoft.com/office/drawing/2014/main" id="{A2AA905A-54D8-F54C-E73C-2909E9BA9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682750"/>
            <a:ext cx="8482013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841" tIns="51588" rIns="19841" bIns="51588"/>
          <a:lstStyle>
            <a:lvl1pPr algn="l" defTabSz="1008063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1008063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1008063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1008063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1008063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569913" algn="l"/>
                <a:tab pos="1470025" algn="l"/>
                <a:tab pos="2371725" algn="l"/>
                <a:tab pos="3270250" algn="l"/>
                <a:tab pos="4170363" algn="l"/>
                <a:tab pos="5068888" algn="l"/>
                <a:tab pos="5970588" algn="l"/>
                <a:tab pos="6870700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72000"/>
              </a:lnSpc>
              <a:spcBef>
                <a:spcPts val="675"/>
              </a:spcBef>
              <a:buClrTx/>
              <a:buSzTx/>
              <a:buFontTx/>
              <a:buNone/>
            </a:pP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1</a:t>
            </a:r>
            <a:r>
              <a:rPr lang="en-GB" altLang="en-US" sz="4000">
                <a:solidFill>
                  <a:schemeClr val="tx1"/>
                </a:solidFill>
                <a:latin typeface="times" panose="02020603050405020304" pitchFamily="18" charset="0"/>
              </a:rPr>
              <a:t> X(){</a:t>
            </a:r>
          </a:p>
          <a:p>
            <a:pPr>
              <a:lnSpc>
                <a:spcPct val="72000"/>
              </a:lnSpc>
              <a:spcBef>
                <a:spcPts val="675"/>
              </a:spcBef>
              <a:buClrTx/>
              <a:buSzTx/>
              <a:buFontTx/>
              <a:buNone/>
            </a:pP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2</a:t>
            </a:r>
            <a:r>
              <a:rPr lang="en-GB" altLang="en-US" sz="4000">
                <a:solidFill>
                  <a:schemeClr val="tx1"/>
                </a:solidFill>
                <a:latin typeface="times" panose="02020603050405020304" pitchFamily="18" charset="0"/>
              </a:rPr>
              <a:t>  a=5; </a:t>
            </a: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/* Defines variable a */</a:t>
            </a:r>
          </a:p>
          <a:p>
            <a:pPr>
              <a:lnSpc>
                <a:spcPct val="72000"/>
              </a:lnSpc>
              <a:spcBef>
                <a:spcPts val="675"/>
              </a:spcBef>
              <a:buClrTx/>
              <a:buSzTx/>
              <a:buFontTx/>
              <a:buNone/>
            </a:pP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3</a:t>
            </a:r>
            <a:r>
              <a:rPr lang="en-GB" altLang="en-US" sz="4000">
                <a:solidFill>
                  <a:schemeClr val="tx1"/>
                </a:solidFill>
                <a:latin typeface="times" panose="02020603050405020304" pitchFamily="18" charset="0"/>
              </a:rPr>
              <a:t>  While(C1) {                   		</a:t>
            </a:r>
          </a:p>
          <a:p>
            <a:pPr>
              <a:lnSpc>
                <a:spcPct val="72000"/>
              </a:lnSpc>
              <a:spcBef>
                <a:spcPts val="675"/>
              </a:spcBef>
              <a:buClrTx/>
              <a:buSzTx/>
              <a:buFontTx/>
              <a:buNone/>
            </a:pP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4</a:t>
            </a:r>
            <a:r>
              <a:rPr lang="en-GB" altLang="en-US" sz="4000">
                <a:solidFill>
                  <a:schemeClr val="tx1"/>
                </a:solidFill>
                <a:latin typeface="times" panose="02020603050405020304" pitchFamily="18" charset="0"/>
              </a:rPr>
              <a:t>     if (C2)                        </a:t>
            </a:r>
          </a:p>
          <a:p>
            <a:pPr>
              <a:lnSpc>
                <a:spcPct val="72000"/>
              </a:lnSpc>
              <a:spcBef>
                <a:spcPts val="675"/>
              </a:spcBef>
              <a:buClrTx/>
              <a:buSzTx/>
              <a:buFontTx/>
              <a:buNone/>
            </a:pP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5</a:t>
            </a:r>
            <a:r>
              <a:rPr lang="en-GB" altLang="en-US" sz="4000">
                <a:solidFill>
                  <a:schemeClr val="tx1"/>
                </a:solidFill>
                <a:latin typeface="times" panose="02020603050405020304" pitchFamily="18" charset="0"/>
              </a:rPr>
              <a:t>           b=a*a;   </a:t>
            </a: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/*Uses variable a */</a:t>
            </a:r>
          </a:p>
          <a:p>
            <a:pPr>
              <a:lnSpc>
                <a:spcPct val="72000"/>
              </a:lnSpc>
              <a:spcBef>
                <a:spcPts val="675"/>
              </a:spcBef>
              <a:buClrTx/>
              <a:buSzTx/>
              <a:buFontTx/>
              <a:buNone/>
            </a:pP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6           </a:t>
            </a:r>
            <a:r>
              <a:rPr lang="en-GB" altLang="en-US" sz="4000">
                <a:solidFill>
                  <a:schemeClr val="tx1"/>
                </a:solidFill>
                <a:latin typeface="times" panose="02020603050405020304" pitchFamily="18" charset="0"/>
              </a:rPr>
              <a:t>a=a-1; </a:t>
            </a: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/* Defines variable a */</a:t>
            </a:r>
          </a:p>
          <a:p>
            <a:pPr>
              <a:lnSpc>
                <a:spcPct val="72000"/>
              </a:lnSpc>
              <a:spcBef>
                <a:spcPts val="675"/>
              </a:spcBef>
              <a:buClrTx/>
              <a:buSzTx/>
              <a:buFontTx/>
              <a:buNone/>
            </a:pP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7</a:t>
            </a:r>
            <a:r>
              <a:rPr lang="en-GB" altLang="en-US" sz="4000">
                <a:solidFill>
                  <a:schemeClr val="tx1"/>
                </a:solidFill>
                <a:latin typeface="times" panose="02020603050405020304" pitchFamily="18" charset="0"/>
              </a:rPr>
              <a:t>     }</a:t>
            </a:r>
          </a:p>
          <a:p>
            <a:pPr>
              <a:lnSpc>
                <a:spcPct val="72000"/>
              </a:lnSpc>
              <a:spcBef>
                <a:spcPts val="675"/>
              </a:spcBef>
              <a:buClrTx/>
              <a:buSzTx/>
              <a:buFontTx/>
              <a:buNone/>
            </a:pP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8</a:t>
            </a:r>
            <a:r>
              <a:rPr lang="en-GB" altLang="en-US" sz="4000">
                <a:solidFill>
                  <a:schemeClr val="tx1"/>
                </a:solidFill>
                <a:latin typeface="times" panose="02020603050405020304" pitchFamily="18" charset="0"/>
              </a:rPr>
              <a:t>   print(a); } </a:t>
            </a:r>
            <a:r>
              <a:rPr lang="en-GB" altLang="en-US" sz="4000">
                <a:solidFill>
                  <a:srgbClr val="0000CC"/>
                </a:solidFill>
                <a:latin typeface="times" panose="02020603050405020304" pitchFamily="18" charset="0"/>
              </a:rPr>
              <a:t>/*Uses variable a */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5">
            <a:extLst>
              <a:ext uri="{FF2B5EF4-FFF2-40B4-BE49-F238E27FC236}">
                <a16:creationId xmlns:a16="http://schemas.microsoft.com/office/drawing/2014/main" id="{B01DE513-D243-5E8C-2A77-EF22DD1955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6D93A39-0317-4203-B0DD-1D9D270EEAB3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C68572E0-6500-973F-6463-B896F3118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/>
              <a:t>Definition-use chain (DU chain)</a:t>
            </a:r>
          </a:p>
        </p:txBody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AE80B5BA-A804-E6EF-E1D9-BC1B46FB2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19841" tIns="51588" rIns="19841" bIns="51588"/>
          <a:lstStyle/>
          <a:p>
            <a:pPr marL="342900" indent="-342900" defTabSz="914400">
              <a:lnSpc>
                <a:spcPct val="110000"/>
              </a:lnSpc>
              <a:spcBef>
                <a:spcPts val="788"/>
              </a:spcBef>
            </a:pPr>
            <a:r>
              <a:rPr lang="en-GB" altLang="en-US" sz="4400"/>
              <a:t>[X,S,S1], </a:t>
            </a:r>
          </a:p>
          <a:p>
            <a:pPr marL="742950" lvl="1" indent="-285750" defTabSz="914400">
              <a:lnSpc>
                <a:spcPct val="110000"/>
              </a:lnSpc>
              <a:spcBef>
                <a:spcPts val="713"/>
              </a:spcBef>
            </a:pPr>
            <a:r>
              <a:rPr lang="en-GB" altLang="en-US" sz="4000"/>
              <a:t>S and S1 are statement numbers, </a:t>
            </a:r>
          </a:p>
          <a:p>
            <a:pPr marL="742950" lvl="1" indent="-285750" defTabSz="914400">
              <a:lnSpc>
                <a:spcPct val="110000"/>
              </a:lnSpc>
              <a:spcBef>
                <a:spcPts val="713"/>
              </a:spcBef>
            </a:pPr>
            <a:r>
              <a:rPr lang="en-GB" altLang="en-US" sz="4000"/>
              <a:t>X in DEF(S)</a:t>
            </a:r>
          </a:p>
          <a:p>
            <a:pPr marL="742950" lvl="1" indent="-285750" defTabSz="914400">
              <a:lnSpc>
                <a:spcPct val="110000"/>
              </a:lnSpc>
              <a:spcBef>
                <a:spcPts val="713"/>
              </a:spcBef>
            </a:pPr>
            <a:r>
              <a:rPr lang="en-GB" altLang="en-US" sz="4000"/>
              <a:t>X in USES(S1), and </a:t>
            </a:r>
          </a:p>
          <a:p>
            <a:pPr marL="742950" lvl="1" indent="-285750" defTabSz="914400">
              <a:lnSpc>
                <a:spcPct val="110000"/>
              </a:lnSpc>
              <a:spcBef>
                <a:spcPts val="713"/>
              </a:spcBef>
            </a:pPr>
            <a:r>
              <a:rPr lang="en-GB" altLang="en-US" sz="4000"/>
              <a:t>the definition of X in the statement S is live at statement S1.  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5">
            <a:extLst>
              <a:ext uri="{FF2B5EF4-FFF2-40B4-BE49-F238E27FC236}">
                <a16:creationId xmlns:a16="http://schemas.microsoft.com/office/drawing/2014/main" id="{BB829C91-75D6-F601-B8B7-6DAC1BEBD1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5388EF7-B55F-40AA-82D6-80CB0DD197D0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A2DE398-4C60-C1AA-4BAC-AAA581EE6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/>
              <a:t>Data Flow-Based Testing</a:t>
            </a:r>
          </a:p>
        </p:txBody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AABADF37-D27B-DA42-9A11-B61BF81A3C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4975" y="1708150"/>
            <a:ext cx="9261475" cy="497205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875"/>
              </a:spcBef>
            </a:pPr>
            <a:r>
              <a:rPr lang="en-GB" altLang="en-US" sz="4000"/>
              <a:t>One simple data flow testing strategy: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88"/>
              </a:spcBef>
            </a:pPr>
            <a:r>
              <a:rPr lang="en-GB" altLang="en-US" sz="3600">
                <a:solidFill>
                  <a:srgbClr val="0000CC"/>
                </a:solidFill>
              </a:rPr>
              <a:t>Every DU chain in a program be covered at least once.</a:t>
            </a:r>
          </a:p>
          <a:p>
            <a:pPr marL="342900" indent="-342900" defTabSz="914400">
              <a:lnSpc>
                <a:spcPct val="105000"/>
              </a:lnSpc>
              <a:spcBef>
                <a:spcPts val="875"/>
              </a:spcBef>
            </a:pPr>
            <a:r>
              <a:rPr lang="en-GB" altLang="en-US" sz="4000"/>
              <a:t>Data flow testing strategies: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88"/>
              </a:spcBef>
            </a:pPr>
            <a:r>
              <a:rPr lang="en-GB" altLang="en-US" sz="3600"/>
              <a:t>Useful for selecting test paths of a program containing nested if and loop statements.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5">
            <a:extLst>
              <a:ext uri="{FF2B5EF4-FFF2-40B4-BE49-F238E27FC236}">
                <a16:creationId xmlns:a16="http://schemas.microsoft.com/office/drawing/2014/main" id="{834D9C07-58BA-8ACC-97DF-676C2609F64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FA18013-5776-4D38-B3AF-D19F263694CD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1E61F54F-3B17-47B7-5242-4309CCFE726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334963" y="1824038"/>
            <a:ext cx="9215437" cy="5156200"/>
          </a:xfrm>
        </p:spPr>
        <p:txBody>
          <a:bodyPr lIns="19841" tIns="51588" rIns="19841" bIns="51588" anchor="t"/>
          <a:lstStyle/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1</a:t>
            </a:r>
            <a:r>
              <a:rPr lang="en-GB" altLang="en-US" sz="3400" b="0"/>
              <a:t> X(){</a:t>
            </a:r>
          </a:p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2</a:t>
            </a:r>
            <a:r>
              <a:rPr lang="en-GB" altLang="en-US" sz="3400" b="0"/>
              <a:t>  B1;      </a:t>
            </a:r>
            <a:r>
              <a:rPr lang="en-GB" altLang="en-US" sz="3400" b="0">
                <a:solidFill>
                  <a:srgbClr val="0000CC"/>
                </a:solidFill>
              </a:rPr>
              <a:t>/* Defines variable a */</a:t>
            </a:r>
          </a:p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3</a:t>
            </a:r>
            <a:r>
              <a:rPr lang="en-GB" altLang="en-US" sz="3400" b="0"/>
              <a:t>  While(C1) {                   		</a:t>
            </a:r>
          </a:p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4</a:t>
            </a:r>
            <a:r>
              <a:rPr lang="en-GB" altLang="en-US" sz="3400" b="0"/>
              <a:t>     if (C2)                        </a:t>
            </a:r>
          </a:p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5</a:t>
            </a:r>
            <a:r>
              <a:rPr lang="en-GB" altLang="en-US" sz="3400" b="0"/>
              <a:t>           if(C4) B4; </a:t>
            </a:r>
            <a:r>
              <a:rPr lang="en-GB" altLang="en-US" sz="3400" b="0">
                <a:solidFill>
                  <a:srgbClr val="0000CC"/>
                </a:solidFill>
              </a:rPr>
              <a:t>/*Uses variable a */</a:t>
            </a:r>
            <a:r>
              <a:rPr lang="en-GB" altLang="en-US" sz="3400" b="0"/>
              <a:t>                       </a:t>
            </a:r>
          </a:p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6</a:t>
            </a:r>
            <a:r>
              <a:rPr lang="en-GB" altLang="en-US" sz="3400" b="0"/>
              <a:t> 	     else B5;</a:t>
            </a:r>
          </a:p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7</a:t>
            </a:r>
            <a:r>
              <a:rPr lang="en-GB" altLang="en-US" sz="3400" b="0"/>
              <a:t>          else  if (C3) B2;              </a:t>
            </a:r>
          </a:p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8</a:t>
            </a:r>
            <a:r>
              <a:rPr lang="en-GB" altLang="en-US" sz="3400" b="0"/>
              <a:t> 	     else B3;     }</a:t>
            </a:r>
          </a:p>
          <a:p>
            <a:pPr marL="1143000" lvl="2" indent="-228600" algn="l" defTabSz="914400">
              <a:spcBef>
                <a:spcPts val="613"/>
              </a:spcBef>
              <a:buFont typeface="Comic Sans MS" panose="030F0702030302020204" pitchFamily="66" charset="0"/>
              <a:buChar char="•"/>
            </a:pPr>
            <a:r>
              <a:rPr lang="en-GB" altLang="en-US" sz="3400" b="0">
                <a:solidFill>
                  <a:srgbClr val="0000CC"/>
                </a:solidFill>
              </a:rPr>
              <a:t>9</a:t>
            </a:r>
            <a:r>
              <a:rPr lang="en-GB" altLang="en-US" sz="3400" b="0"/>
              <a:t>  B6 }</a:t>
            </a:r>
          </a:p>
        </p:txBody>
      </p:sp>
      <p:sp>
        <p:nvSpPr>
          <p:cNvPr id="106500" name="Text Box 3">
            <a:extLst>
              <a:ext uri="{FF2B5EF4-FFF2-40B4-BE49-F238E27FC236}">
                <a16:creationId xmlns:a16="http://schemas.microsoft.com/office/drawing/2014/main" id="{F9D45EBE-5AD6-9C37-C54A-C86BF8CD2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234950"/>
            <a:ext cx="8566150" cy="125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841" tIns="51588" rIns="19841" bIns="51588" anchor="ctr"/>
          <a:lstStyle>
            <a:lvl1pPr algn="l" defTabSz="1008063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defTabSz="1008063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defTabSz="1008063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defTabSz="1008063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defTabSz="1008063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1008063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72000"/>
              </a:lnSpc>
              <a:spcBef>
                <a:spcPts val="575"/>
              </a:spcBef>
              <a:buClrTx/>
              <a:buSzTx/>
              <a:buFontTx/>
              <a:buNone/>
            </a:pPr>
            <a:r>
              <a:rPr lang="en-GB" altLang="en-US" sz="4900" b="1">
                <a:solidFill>
                  <a:schemeClr val="tx1"/>
                </a:solidFill>
              </a:rPr>
              <a:t>Data Flow-Based Testing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5">
            <a:extLst>
              <a:ext uri="{FF2B5EF4-FFF2-40B4-BE49-F238E27FC236}">
                <a16:creationId xmlns:a16="http://schemas.microsoft.com/office/drawing/2014/main" id="{51063658-C713-6A41-C488-B2B025D993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3E0A5D2-5EE4-4583-A16C-E51CACE255A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463B6830-D005-D7EE-C6B6-19176BB8F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 sz="5500"/>
              <a:t>Data Flow-Based Testing</a:t>
            </a:r>
          </a:p>
        </p:txBody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AABFAE59-2AE1-86D3-34EB-BE018CF367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1543050"/>
            <a:ext cx="8943975" cy="513715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10000"/>
              </a:lnSpc>
              <a:spcBef>
                <a:spcPts val="988"/>
              </a:spcBef>
            </a:pPr>
            <a:r>
              <a:rPr lang="en-GB" altLang="en-US" sz="4000"/>
              <a:t>[a,1,5]: a DU chain.</a:t>
            </a:r>
          </a:p>
          <a:p>
            <a:pPr marL="342900" indent="-342900" defTabSz="914400">
              <a:lnSpc>
                <a:spcPct val="110000"/>
              </a:lnSpc>
              <a:spcBef>
                <a:spcPts val="988"/>
              </a:spcBef>
            </a:pPr>
            <a:r>
              <a:rPr lang="en-GB" altLang="en-US" sz="4000"/>
              <a:t>Assume:</a:t>
            </a:r>
          </a:p>
          <a:p>
            <a:pPr marL="742950" lvl="1" indent="-285750" defTabSz="914400">
              <a:lnSpc>
                <a:spcPct val="110000"/>
              </a:lnSpc>
              <a:spcBef>
                <a:spcPts val="713"/>
              </a:spcBef>
            </a:pPr>
            <a:r>
              <a:rPr lang="en-GB" altLang="en-US" sz="3600"/>
              <a:t>DEF(X) = {B1, B2, B3, B4, B5} </a:t>
            </a:r>
          </a:p>
          <a:p>
            <a:pPr marL="742950" lvl="1" indent="-285750" defTabSz="914400">
              <a:lnSpc>
                <a:spcPct val="110000"/>
              </a:lnSpc>
              <a:spcBef>
                <a:spcPts val="713"/>
              </a:spcBef>
            </a:pPr>
            <a:r>
              <a:rPr lang="en-GB" altLang="en-US" sz="3600"/>
              <a:t>USED(X) = {B2, B3, B4, B5, B6}</a:t>
            </a:r>
          </a:p>
          <a:p>
            <a:pPr marL="742950" lvl="1" indent="-285750" defTabSz="914400">
              <a:lnSpc>
                <a:spcPct val="110000"/>
              </a:lnSpc>
              <a:spcBef>
                <a:spcPts val="713"/>
              </a:spcBef>
            </a:pPr>
            <a:r>
              <a:rPr lang="en-GB" altLang="en-US" sz="3600"/>
              <a:t>There are 25 DU chains. </a:t>
            </a:r>
          </a:p>
          <a:p>
            <a:pPr marL="342900" indent="-342900" defTabSz="914400">
              <a:lnSpc>
                <a:spcPct val="110000"/>
              </a:lnSpc>
              <a:spcBef>
                <a:spcPts val="988"/>
              </a:spcBef>
            </a:pPr>
            <a:r>
              <a:rPr lang="en-GB" altLang="en-US" sz="4000"/>
              <a:t>However only 5 paths are needed to cover these chains.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5">
            <a:extLst>
              <a:ext uri="{FF2B5EF4-FFF2-40B4-BE49-F238E27FC236}">
                <a16:creationId xmlns:a16="http://schemas.microsoft.com/office/drawing/2014/main" id="{EDFCB5B4-03EE-5DD7-31F7-6B00AE4645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3A96ECF-6D0E-4A45-AA9D-983C21ECA401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105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8C51B5A3-9758-B9B3-F031-264D6F217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988"/>
              </a:spcBef>
            </a:pPr>
            <a:r>
              <a:rPr lang="en-GB" altLang="en-US"/>
              <a:t>Mutation Testing</a:t>
            </a:r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B0DB8CF1-D7EC-90E0-7134-5E80B954D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1479550"/>
            <a:ext cx="9401175" cy="5200650"/>
          </a:xfrm>
        </p:spPr>
        <p:txBody>
          <a:bodyPr lIns="19841" tIns="51588" rIns="19841" bIns="51588"/>
          <a:lstStyle/>
          <a:p>
            <a:pPr marL="342900" indent="-342900" defTabSz="914400">
              <a:spcBef>
                <a:spcPts val="988"/>
              </a:spcBef>
            </a:pPr>
            <a:r>
              <a:rPr lang="en-GB" altLang="en-US"/>
              <a:t>The software is first tested:</a:t>
            </a:r>
          </a:p>
          <a:p>
            <a:pPr marL="742950" lvl="1" indent="-285750" defTabSz="914400">
              <a:spcBef>
                <a:spcPts val="713"/>
              </a:spcBef>
            </a:pPr>
            <a:r>
              <a:rPr lang="en-GB" altLang="en-US"/>
              <a:t>using an initial testing method based on white-box strategies we already discussed.</a:t>
            </a:r>
          </a:p>
          <a:p>
            <a:pPr marL="342900" indent="-342900" defTabSz="914400">
              <a:spcBef>
                <a:spcPts val="988"/>
              </a:spcBef>
            </a:pPr>
            <a:r>
              <a:rPr lang="en-GB" altLang="en-US"/>
              <a:t>After the initial testing is complete,</a:t>
            </a:r>
          </a:p>
          <a:p>
            <a:pPr marL="742950" lvl="1" indent="-285750" defTabSz="914400">
              <a:spcBef>
                <a:spcPts val="713"/>
              </a:spcBef>
            </a:pPr>
            <a:r>
              <a:rPr lang="en-GB" altLang="en-US"/>
              <a:t>mutation testing is taken up.</a:t>
            </a:r>
          </a:p>
          <a:p>
            <a:pPr marL="342900" indent="-342900" defTabSz="914400">
              <a:spcBef>
                <a:spcPts val="988"/>
              </a:spcBef>
            </a:pPr>
            <a:r>
              <a:rPr lang="en-GB" altLang="en-US"/>
              <a:t>The idea behind mutation testing: </a:t>
            </a:r>
          </a:p>
          <a:p>
            <a:pPr marL="742950" lvl="1" indent="-285750" defTabSz="914400">
              <a:spcBef>
                <a:spcPts val="713"/>
              </a:spcBef>
            </a:pPr>
            <a:r>
              <a:rPr lang="en-GB" altLang="en-US"/>
              <a:t>make a few arbitrary small changes to a program at a time. 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5">
            <a:extLst>
              <a:ext uri="{FF2B5EF4-FFF2-40B4-BE49-F238E27FC236}">
                <a16:creationId xmlns:a16="http://schemas.microsoft.com/office/drawing/2014/main" id="{14AF43A3-240B-D3FC-79EF-C90111C3CF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159A63E-F9DF-45A0-8B92-0719BC2B59E8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106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DB64E6F9-0FC7-1175-D97A-C927453FA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/>
              <a:t>Mutation Testing</a:t>
            </a:r>
          </a:p>
        </p:txBody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7052AB1E-CB6C-498E-6AAB-5D4181791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19841" tIns="51588" rIns="19841" bIns="51588"/>
          <a:lstStyle/>
          <a:p>
            <a:pPr marL="342900" indent="-342900" defTabSz="914400">
              <a:spcBef>
                <a:spcPts val="988"/>
              </a:spcBef>
            </a:pPr>
            <a:r>
              <a:rPr lang="en-GB" altLang="en-US" sz="5200"/>
              <a:t>Each time the program is changed, </a:t>
            </a:r>
          </a:p>
          <a:p>
            <a:pPr marL="742950" lvl="1" indent="-285750" defTabSz="914400">
              <a:spcBef>
                <a:spcPts val="875"/>
              </a:spcBef>
            </a:pPr>
            <a:r>
              <a:rPr lang="en-GB" altLang="en-US" sz="4900"/>
              <a:t>it is called a </a:t>
            </a:r>
            <a:r>
              <a:rPr lang="en-GB" altLang="en-US" sz="4900">
                <a:solidFill>
                  <a:srgbClr val="0000CC"/>
                </a:solidFill>
              </a:rPr>
              <a:t>mutated program</a:t>
            </a:r>
            <a:r>
              <a:rPr lang="en-GB" altLang="en-US" sz="4900"/>
              <a:t> </a:t>
            </a:r>
          </a:p>
          <a:p>
            <a:pPr marL="742950" lvl="1" indent="-285750" defTabSz="914400">
              <a:spcBef>
                <a:spcPts val="875"/>
              </a:spcBef>
            </a:pPr>
            <a:r>
              <a:rPr lang="en-GB" altLang="en-US" sz="4900"/>
              <a:t>the change is called a </a:t>
            </a:r>
            <a:r>
              <a:rPr lang="en-GB" altLang="en-US" sz="4900">
                <a:solidFill>
                  <a:srgbClr val="0000CC"/>
                </a:solidFill>
              </a:rPr>
              <a:t>mutant</a:t>
            </a:r>
            <a:r>
              <a:rPr lang="en-GB" altLang="en-US" sz="4900"/>
              <a:t>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5">
            <a:extLst>
              <a:ext uri="{FF2B5EF4-FFF2-40B4-BE49-F238E27FC236}">
                <a16:creationId xmlns:a16="http://schemas.microsoft.com/office/drawing/2014/main" id="{73DF9F99-CEE9-0BD2-C944-C129174853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3E11A9B-D219-4CD8-A050-5E8E50FCA6FA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107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5B9177F4-EC88-972C-80B8-1A7712982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525"/>
              </a:spcBef>
            </a:pPr>
            <a:r>
              <a:rPr lang="en-GB" altLang="en-US"/>
              <a:t>Mutation Testing</a:t>
            </a:r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EB5E1B6A-DD65-D7C0-EFD2-14AF5657E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530350"/>
            <a:ext cx="9337675" cy="514985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400"/>
              <a:t>A  mutated program: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000"/>
              <a:t>Tested against the full test suite of the program. </a:t>
            </a:r>
          </a:p>
          <a:p>
            <a:pPr marL="342900" indent="-34290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400"/>
              <a:t>If there exists at least one test case in the test suite for which: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000"/>
              <a:t>A mutant gives an incorrect result,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GB" altLang="en-US" sz="4000"/>
              <a:t>Then the mutant is said to be dead. 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5">
            <a:extLst>
              <a:ext uri="{FF2B5EF4-FFF2-40B4-BE49-F238E27FC236}">
                <a16:creationId xmlns:a16="http://schemas.microsoft.com/office/drawing/2014/main" id="{256C9E56-7CAA-B56A-6D45-4C010D7B204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4A98254-298B-454D-BBCE-3F33B9E0E1BA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108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4C54AC0D-31E5-DE7A-21DB-6570CEE25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1075"/>
              </a:spcBef>
            </a:pPr>
            <a:r>
              <a:rPr lang="en-GB" altLang="en-US" sz="6700"/>
              <a:t>Mutation Testing</a:t>
            </a:r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462C221B-7433-E7DD-C3FD-F643EBDF3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1325" y="1573213"/>
            <a:ext cx="9012238" cy="4899025"/>
          </a:xfrm>
        </p:spPr>
        <p:txBody>
          <a:bodyPr lIns="19841" tIns="51588" rIns="19841" bIns="51588"/>
          <a:lstStyle/>
          <a:p>
            <a:pPr marL="342900" indent="-342900" defTabSz="914400">
              <a:spcBef>
                <a:spcPts val="988"/>
              </a:spcBef>
            </a:pPr>
            <a:r>
              <a:rPr lang="en-GB" altLang="en-US"/>
              <a:t>If a mutant remains alive: </a:t>
            </a:r>
          </a:p>
          <a:p>
            <a:pPr marL="742950" lvl="1" indent="-285750" defTabSz="914400">
              <a:spcBef>
                <a:spcPts val="713"/>
              </a:spcBef>
            </a:pPr>
            <a:r>
              <a:rPr lang="en-GB" altLang="en-US"/>
              <a:t>even after all test cases have been exhausted, </a:t>
            </a:r>
          </a:p>
          <a:p>
            <a:pPr marL="742950" lvl="1" indent="-285750" defTabSz="914400">
              <a:spcBef>
                <a:spcPts val="713"/>
              </a:spcBef>
            </a:pPr>
            <a:r>
              <a:rPr lang="en-GB" altLang="en-US">
                <a:solidFill>
                  <a:srgbClr val="0000CC"/>
                </a:solidFill>
              </a:rPr>
              <a:t>the test suite is enhanced to kill the mutant.</a:t>
            </a:r>
            <a:r>
              <a:rPr lang="en-GB" altLang="en-US"/>
              <a:t> </a:t>
            </a:r>
          </a:p>
          <a:p>
            <a:pPr marL="342900" indent="-342900" defTabSz="914400">
              <a:spcBef>
                <a:spcPts val="988"/>
              </a:spcBef>
            </a:pPr>
            <a:r>
              <a:rPr lang="en-GB" altLang="en-US"/>
              <a:t>The process of generation and killing of mutants: </a:t>
            </a:r>
          </a:p>
          <a:p>
            <a:pPr marL="742950" lvl="1" indent="-285750" defTabSz="914400">
              <a:spcBef>
                <a:spcPts val="713"/>
              </a:spcBef>
            </a:pPr>
            <a:r>
              <a:rPr lang="en-GB" altLang="en-US">
                <a:solidFill>
                  <a:srgbClr val="0000CC"/>
                </a:solidFill>
              </a:rPr>
              <a:t>can be automated by predefining a set of primitive changes that can be applied to the program.</a:t>
            </a:r>
            <a:r>
              <a:rPr lang="en-GB" altLang="en-US"/>
              <a:t>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5">
            <a:extLst>
              <a:ext uri="{FF2B5EF4-FFF2-40B4-BE49-F238E27FC236}">
                <a16:creationId xmlns:a16="http://schemas.microsoft.com/office/drawing/2014/main" id="{507B6B6A-3608-111C-5033-8CBD019D8F3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CCF3339-79C7-486B-ADE5-5E7D238FB995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109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1D4F3FE7-2CFA-547D-E179-E5D1C3966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1075"/>
              </a:spcBef>
            </a:pPr>
            <a:r>
              <a:rPr lang="en-GB" altLang="en-US" sz="6700"/>
              <a:t>Mutation Testing</a:t>
            </a:r>
          </a:p>
        </p:txBody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251D21C2-639B-6E67-D68F-B3A55BEDD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500" y="1570038"/>
            <a:ext cx="9253538" cy="5543550"/>
          </a:xfrm>
        </p:spPr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875"/>
              </a:spcBef>
            </a:pPr>
            <a:r>
              <a:rPr lang="en-GB" altLang="en-US" sz="4800"/>
              <a:t>The primitive changes can be: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88"/>
              </a:spcBef>
            </a:pPr>
            <a:r>
              <a:rPr lang="en-GB" altLang="en-US" sz="4400"/>
              <a:t>altering an arithmetic operator,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88"/>
              </a:spcBef>
            </a:pPr>
            <a:r>
              <a:rPr lang="en-GB" altLang="en-US" sz="4400"/>
              <a:t>changing the value of a constant,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88"/>
              </a:spcBef>
            </a:pPr>
            <a:r>
              <a:rPr lang="en-GB" altLang="en-US" sz="4400"/>
              <a:t>changing a data type, etc. 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5">
            <a:extLst>
              <a:ext uri="{FF2B5EF4-FFF2-40B4-BE49-F238E27FC236}">
                <a16:creationId xmlns:a16="http://schemas.microsoft.com/office/drawing/2014/main" id="{8025913C-8C93-19B3-6795-B75E67DEF9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1EF8BF1-0BAC-4C6C-A092-4B85B7094E4F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110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1C051AF3-F978-7C45-3098-93CCEDCAE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01613"/>
            <a:ext cx="8566150" cy="1255712"/>
          </a:xfrm>
        </p:spPr>
        <p:txBody>
          <a:bodyPr lIns="19841" tIns="51588" rIns="19841" bIns="51588"/>
          <a:lstStyle/>
          <a:p>
            <a:pPr defTabSz="914400">
              <a:spcBef>
                <a:spcPts val="1075"/>
              </a:spcBef>
            </a:pPr>
            <a:r>
              <a:rPr lang="en-GB" altLang="en-US" sz="6700"/>
              <a:t>Mutation Testing</a:t>
            </a:r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C3BC1EA9-50AD-B82F-F39B-CA703933C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19841" tIns="51588" rIns="19841" bIns="51588"/>
          <a:lstStyle/>
          <a:p>
            <a:pPr marL="342900" indent="-342900" defTabSz="914400">
              <a:lnSpc>
                <a:spcPct val="105000"/>
              </a:lnSpc>
              <a:spcBef>
                <a:spcPts val="875"/>
              </a:spcBef>
            </a:pPr>
            <a:r>
              <a:rPr lang="en-GB" altLang="en-US" sz="4800"/>
              <a:t>A major disadvantage of  mutation testing: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88"/>
              </a:spcBef>
            </a:pPr>
            <a:r>
              <a:rPr lang="en-GB" altLang="en-US" sz="4400">
                <a:solidFill>
                  <a:srgbClr val="0000CC"/>
                </a:solidFill>
              </a:rPr>
              <a:t>computationally very expensive, </a:t>
            </a:r>
          </a:p>
          <a:p>
            <a:pPr marL="742950" lvl="1" indent="-285750" defTabSz="914400">
              <a:lnSpc>
                <a:spcPct val="105000"/>
              </a:lnSpc>
              <a:spcBef>
                <a:spcPts val="788"/>
              </a:spcBef>
            </a:pPr>
            <a:r>
              <a:rPr lang="en-GB" altLang="en-US" sz="4400">
                <a:solidFill>
                  <a:srgbClr val="0000CC"/>
                </a:solidFill>
              </a:rPr>
              <a:t>a large number of possible mutants can be generated.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5">
            <a:extLst>
              <a:ext uri="{FF2B5EF4-FFF2-40B4-BE49-F238E27FC236}">
                <a16:creationId xmlns:a16="http://schemas.microsoft.com/office/drawing/2014/main" id="{4125D43A-020F-1356-36A4-2F3B32E620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D865694-634E-4C87-AEA9-542E1FD086FF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111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1115D77C-8925-68FE-106F-3A3289C37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altLang="en-US" sz="6700"/>
              <a:t>Summary</a:t>
            </a:r>
          </a:p>
        </p:txBody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0C0B7B41-CDA3-4273-901E-A705EFDCD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7675" y="1581150"/>
            <a:ext cx="9299575" cy="5099050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4000"/>
              <a:t>Exhaustive testing of non-trivial systems is impractical: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600"/>
              <a:t>We need to design an optimal set of test cases </a:t>
            </a:r>
          </a:p>
          <a:p>
            <a:pPr marL="1143000" lvl="2" indent="-2286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500"/>
              <a:t>Should expose as many errors as possible. </a:t>
            </a:r>
          </a:p>
          <a:p>
            <a:pPr marL="342900" indent="-34290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500"/>
              <a:t>If we select test cases randomly: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100"/>
              <a:t>many of the selected test cases do not add to the significance of the test set.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5">
            <a:extLst>
              <a:ext uri="{FF2B5EF4-FFF2-40B4-BE49-F238E27FC236}">
                <a16:creationId xmlns:a16="http://schemas.microsoft.com/office/drawing/2014/main" id="{15CDF99B-01D1-B795-9CA4-491DD87AAF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6FBE0FA-A45D-4723-AAE5-4D068BF21067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112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8F957840-616B-F080-4D0C-185B360EC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-182563"/>
            <a:ext cx="9066212" cy="1955801"/>
          </a:xfrm>
        </p:spPr>
        <p:txBody>
          <a:bodyPr/>
          <a:lstStyle/>
          <a:p>
            <a:pPr defTabSz="914400"/>
            <a:r>
              <a:rPr lang="en-US" altLang="en-US" sz="7300">
                <a:solidFill>
                  <a:srgbClr val="0000CC"/>
                </a:solidFill>
              </a:rPr>
              <a:t>Summary</a:t>
            </a:r>
            <a:endParaRPr lang="en-US" altLang="en-US" sz="7300"/>
          </a:p>
        </p:txBody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A29460FA-190D-9367-3AC8-EF4A24CE5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479550"/>
            <a:ext cx="9274175" cy="5200650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3500"/>
              <a:t>There are two approaches to testing: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3100"/>
              <a:t>black-box testing and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3100"/>
              <a:t>white-box testing.</a:t>
            </a:r>
          </a:p>
          <a:p>
            <a:pPr marL="342900" indent="-34290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3500"/>
              <a:t>Designing test cases for black box testing: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3100"/>
              <a:t>does not require any knowledge of how the functions have been designed and implemented. 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3100"/>
              <a:t>Test cases can be designed by examining only SRS document.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5">
            <a:extLst>
              <a:ext uri="{FF2B5EF4-FFF2-40B4-BE49-F238E27FC236}">
                <a16:creationId xmlns:a16="http://schemas.microsoft.com/office/drawing/2014/main" id="{89834FF7-DBCC-6680-CE36-55D02D5AAB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9E57324-D912-4525-8ED2-6A903A8D9071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113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135A4DF7-7A4E-79A3-2C8E-91BF83AD8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-334963"/>
            <a:ext cx="9066212" cy="1955801"/>
          </a:xfrm>
        </p:spPr>
        <p:txBody>
          <a:bodyPr/>
          <a:lstStyle/>
          <a:p>
            <a:pPr defTabSz="914400"/>
            <a:r>
              <a:rPr lang="en-US" altLang="en-US" sz="7400">
                <a:solidFill>
                  <a:srgbClr val="0000CC"/>
                </a:solidFill>
              </a:rPr>
              <a:t>Summary</a:t>
            </a:r>
            <a:endParaRPr lang="en-US" altLang="en-US" sz="7400"/>
          </a:p>
        </p:txBody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02D4A6FC-22B5-8298-59F1-311230570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113" y="1341438"/>
            <a:ext cx="9439275" cy="5086350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500"/>
              <a:t>White box testing: 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100"/>
              <a:t>Requires knowledge about internals of the software.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100"/>
              <a:t>Design and code is required.</a:t>
            </a:r>
          </a:p>
          <a:p>
            <a:pPr marL="342900" indent="-34290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3100"/>
              <a:t>We have discussed a few white-box test strategies.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700"/>
              <a:t>Statement coverage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700"/>
              <a:t>branch coverage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700"/>
              <a:t>condition coverage</a:t>
            </a:r>
          </a:p>
          <a:p>
            <a:pPr marL="742950" lvl="1" indent="-28575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700"/>
              <a:t>path coverage</a:t>
            </a:r>
            <a:endParaRPr lang="en-US" altLang="en-US" sz="31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5">
            <a:extLst>
              <a:ext uri="{FF2B5EF4-FFF2-40B4-BE49-F238E27FC236}">
                <a16:creationId xmlns:a16="http://schemas.microsoft.com/office/drawing/2014/main" id="{6C90EFC4-7141-B737-4862-0B5997337A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lnSpc>
                <a:spcPct val="91000"/>
              </a:lnSpc>
              <a:spcBef>
                <a:spcPts val="975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900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  <a:lvl2pPr marL="742950" indent="-285750" algn="l" eaLnBrk="0" hangingPunct="0">
              <a:lnSpc>
                <a:spcPct val="91000"/>
              </a:lnSpc>
              <a:spcBef>
                <a:spcPts val="863"/>
              </a:spcBef>
              <a:buFont typeface="Wingdings" panose="05000000000000000000" pitchFamily="2" charset="2"/>
              <a:buChar char="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500">
                <a:solidFill>
                  <a:srgbClr val="000000"/>
                </a:solidFill>
                <a:latin typeface="Comic Sans MS" panose="030F0702030302020204" pitchFamily="66" charset="0"/>
              </a:defRPr>
            </a:lvl2pPr>
            <a:lvl3pPr marL="1143000" indent="-228600" algn="l" eaLnBrk="0" hangingPunct="0">
              <a:lnSpc>
                <a:spcPct val="91000"/>
              </a:lnSpc>
              <a:spcBef>
                <a:spcPts val="750"/>
              </a:spcBef>
              <a:buFont typeface="Comic Sans MS" panose="030F0702030302020204" pitchFamily="66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Comic Sans MS" panose="030F0702030302020204" pitchFamily="66" charset="0"/>
              </a:defRPr>
            </a:lvl3pPr>
            <a:lvl4pPr marL="16002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4pPr>
            <a:lvl5pPr marL="2057400" indent="-228600" algn="l" eaLnBrk="0" hangingPunct="0">
              <a:lnSpc>
                <a:spcPct val="91000"/>
              </a:lnSpc>
              <a:spcBef>
                <a:spcPts val="650"/>
              </a:spcBef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lnSpc>
                <a:spcPct val="91000"/>
              </a:lnSpc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9D4A375-BDCF-45DC-B6D7-A22EDFCD4649}" type="slidenum">
              <a:rPr lang="en-GB" altLang="en-US" sz="1500">
                <a:latin typeface="Arial" panose="020B0604020202020204" pitchFamily="34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114</a:t>
            </a:fld>
            <a:endParaRPr lang="en-GB" altLang="en-US" sz="1500">
              <a:latin typeface="Arial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70B3726E-E3AF-D983-60DA-368A3C717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-334963"/>
            <a:ext cx="9066212" cy="1955801"/>
          </a:xfrm>
        </p:spPr>
        <p:txBody>
          <a:bodyPr/>
          <a:lstStyle/>
          <a:p>
            <a:pPr defTabSz="914400"/>
            <a:r>
              <a:rPr lang="en-US" altLang="en-US" sz="7300">
                <a:solidFill>
                  <a:srgbClr val="0000CC"/>
                </a:solidFill>
              </a:rPr>
              <a:t>Summary</a:t>
            </a:r>
            <a:endParaRPr lang="en-US" altLang="en-US" sz="7300"/>
          </a:p>
        </p:txBody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A02A4C7B-6163-EA64-8D1A-BA760A989F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4175" y="1441450"/>
            <a:ext cx="9388475" cy="5238750"/>
          </a:xfrm>
        </p:spPr>
        <p:txBody>
          <a:bodyPr/>
          <a:lstStyle/>
          <a:p>
            <a:pPr marL="342900" indent="-342900" defTabSz="914400">
              <a:lnSpc>
                <a:spcPct val="105000"/>
              </a:lnSpc>
              <a:spcBef>
                <a:spcPct val="5000"/>
              </a:spcBef>
            </a:pPr>
            <a:r>
              <a:rPr lang="en-US" altLang="en-US" sz="3100"/>
              <a:t>A stronger testing strategy: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</a:pPr>
            <a:r>
              <a:rPr lang="en-US" altLang="en-US" sz="2700"/>
              <a:t>Provides more number of significant test cases than a weaker one.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</a:pPr>
            <a:r>
              <a:rPr lang="en-US" altLang="en-US" sz="2700"/>
              <a:t>Condition coverage is strongest among strategies we discussed.</a:t>
            </a:r>
          </a:p>
          <a:p>
            <a:pPr marL="342900" indent="-342900" defTabSz="914400">
              <a:lnSpc>
                <a:spcPct val="105000"/>
              </a:lnSpc>
              <a:spcBef>
                <a:spcPct val="5000"/>
              </a:spcBef>
            </a:pPr>
            <a:r>
              <a:rPr lang="en-US" altLang="en-US" sz="3100"/>
              <a:t>We discussed McCabe’s Cyclomatic complexity metric: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</a:pPr>
            <a:r>
              <a:rPr lang="en-US" altLang="en-US" sz="2700"/>
              <a:t>Provides an upper bound for linearly independent paths</a:t>
            </a:r>
          </a:p>
          <a:p>
            <a:pPr marL="742950" lvl="1" indent="-285750" defTabSz="914400">
              <a:lnSpc>
                <a:spcPct val="105000"/>
              </a:lnSpc>
              <a:spcBef>
                <a:spcPct val="5000"/>
              </a:spcBef>
            </a:pPr>
            <a:r>
              <a:rPr lang="en-US" altLang="en-US" sz="2700"/>
              <a:t>Correlates with understanding, testing, and debugging difficulty of a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457200" rtl="0" eaLnBrk="1" fontAlgn="base" latinLnBrk="0" hangingPunct="1">
          <a:lnSpc>
            <a:spcPct val="7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457200" rtl="0" eaLnBrk="1" fontAlgn="base" latinLnBrk="0" hangingPunct="1">
          <a:lnSpc>
            <a:spcPct val="7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5070</Words>
  <Application>Microsoft Office PowerPoint</Application>
  <PresentationFormat>Custom</PresentationFormat>
  <Paragraphs>813</Paragraphs>
  <Slides>114</Slides>
  <Notes>48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26" baseType="lpstr">
      <vt:lpstr>Comic Sans MS</vt:lpstr>
      <vt:lpstr>Times New Roman</vt:lpstr>
      <vt:lpstr>Wingdings</vt:lpstr>
      <vt:lpstr>Arial</vt:lpstr>
      <vt:lpstr>Courier New</vt:lpstr>
      <vt:lpstr>Arial Unicode MS</vt:lpstr>
      <vt:lpstr>Tahoma</vt:lpstr>
      <vt:lpstr>Trebuchet MS</vt:lpstr>
      <vt:lpstr>times</vt:lpstr>
      <vt:lpstr>Arial Black</vt:lpstr>
      <vt:lpstr>Default Design</vt:lpstr>
      <vt:lpstr>Microsoft Visio Drawing</vt:lpstr>
      <vt:lpstr>PowerPoint Presentation</vt:lpstr>
      <vt:lpstr>Defect Reduction Techniques</vt:lpstr>
      <vt:lpstr>Why Test?</vt:lpstr>
      <vt:lpstr>How Do You Test a Program?</vt:lpstr>
      <vt:lpstr>How Do You Test a Program?</vt:lpstr>
      <vt:lpstr>How Do You Test a Program?</vt:lpstr>
      <vt:lpstr>What’s So Hard About Testing ?</vt:lpstr>
      <vt:lpstr>Testing Facts</vt:lpstr>
      <vt:lpstr>Testing Facts</vt:lpstr>
      <vt:lpstr>Overview of Testing Activities</vt:lpstr>
      <vt:lpstr>Error, Faults, and Failures</vt:lpstr>
      <vt:lpstr>Pesticide Effect</vt:lpstr>
      <vt:lpstr>Pesticide Effect</vt:lpstr>
      <vt:lpstr>Fault Model</vt:lpstr>
      <vt:lpstr>Fault Model of an OO Program</vt:lpstr>
      <vt:lpstr>Hardware Fault-Model</vt:lpstr>
      <vt:lpstr>Software Testing</vt:lpstr>
      <vt:lpstr>Test Cases and Test Suites</vt:lpstr>
      <vt:lpstr>Test Cases and Test Suites</vt:lpstr>
      <vt:lpstr>Verification versus Validation</vt:lpstr>
      <vt:lpstr>Verification versus Validation</vt:lpstr>
      <vt:lpstr>Design of Test Cases</vt:lpstr>
      <vt:lpstr>Design of Test Cases</vt:lpstr>
      <vt:lpstr>Design of Test Cases</vt:lpstr>
      <vt:lpstr>Design of Test Cases</vt:lpstr>
      <vt:lpstr>Design of Test Cases</vt:lpstr>
      <vt:lpstr>Design of Test Cases</vt:lpstr>
      <vt:lpstr>Black-Box Testing</vt:lpstr>
      <vt:lpstr>White-box Testing</vt:lpstr>
      <vt:lpstr>White-Box Testing</vt:lpstr>
      <vt:lpstr>Why Both BB and WB Testing?</vt:lpstr>
      <vt:lpstr>Coverage-Based Testing Versus Fault-Based Testing</vt:lpstr>
      <vt:lpstr>Statement Coverage</vt:lpstr>
      <vt:lpstr>Statement Coverage</vt:lpstr>
      <vt:lpstr>Statement Coverage Criterion</vt:lpstr>
      <vt:lpstr>Statement Testing</vt:lpstr>
      <vt:lpstr>Example</vt:lpstr>
      <vt:lpstr>Euclid's GCD Algorithm</vt:lpstr>
      <vt:lpstr>Branch Coverage</vt:lpstr>
      <vt:lpstr>Branch Coverage</vt:lpstr>
      <vt:lpstr>Stronger Testing</vt:lpstr>
      <vt:lpstr>Stronger, Weaker, and Complementary Testing</vt:lpstr>
      <vt:lpstr>Example</vt:lpstr>
      <vt:lpstr>Example</vt:lpstr>
      <vt:lpstr>Branch Testing</vt:lpstr>
      <vt:lpstr>Statements vs Branch Testing</vt:lpstr>
      <vt:lpstr>All Branches can still miss conditions</vt:lpstr>
      <vt:lpstr>Condition Coverage</vt:lpstr>
      <vt:lpstr>Example</vt:lpstr>
      <vt:lpstr>Basic condition testing</vt:lpstr>
      <vt:lpstr>Branch Testing</vt:lpstr>
      <vt:lpstr>Branch Testing</vt:lpstr>
      <vt:lpstr>Condition Coverage</vt:lpstr>
      <vt:lpstr>Modified condition/decision (MC/DC)</vt:lpstr>
      <vt:lpstr>What is MC/DC?</vt:lpstr>
      <vt:lpstr>Condition Coverage</vt:lpstr>
      <vt:lpstr>MC/DC Coverage</vt:lpstr>
      <vt:lpstr>MC/DC: linear complexity</vt:lpstr>
      <vt:lpstr>Comments on MC/DC</vt:lpstr>
      <vt:lpstr>Creating MC/DC test cases</vt:lpstr>
      <vt:lpstr>Creating test cases cont’d</vt:lpstr>
      <vt:lpstr>More advanced example</vt:lpstr>
      <vt:lpstr>Where does it fit in?</vt:lpstr>
      <vt:lpstr>Path Coverage</vt:lpstr>
      <vt:lpstr>Path Coverage-Based Testing</vt:lpstr>
      <vt:lpstr>How to Draw Control Flow Graph?</vt:lpstr>
      <vt:lpstr>Example</vt:lpstr>
      <vt:lpstr>Example Control Flow Graph</vt:lpstr>
      <vt:lpstr>How to Draw Control flow Graph?</vt:lpstr>
      <vt:lpstr>How to Draw Control Flow Graph?</vt:lpstr>
      <vt:lpstr>How to Draw Control Flow Graph?</vt:lpstr>
      <vt:lpstr>Example Code Fragment</vt:lpstr>
      <vt:lpstr>Example Control Flow Graph</vt:lpstr>
      <vt:lpstr>Path</vt:lpstr>
      <vt:lpstr>Linearly Independent Path</vt:lpstr>
      <vt:lpstr>Independent path</vt:lpstr>
      <vt:lpstr>McCabe's Cyclomatic Metric </vt:lpstr>
      <vt:lpstr>McCabe's Cyclomatic Metric </vt:lpstr>
      <vt:lpstr>Example Control Flow Graph </vt:lpstr>
      <vt:lpstr>Cyclomatic Complexity</vt:lpstr>
      <vt:lpstr>Example Control Flow Graph</vt:lpstr>
      <vt:lpstr>Example</vt:lpstr>
      <vt:lpstr>Cyclomatic Complexity</vt:lpstr>
      <vt:lpstr>Cyclomatic Complexity</vt:lpstr>
      <vt:lpstr>Cyclomatic Complexity</vt:lpstr>
      <vt:lpstr>Cyclomatic Complexity</vt:lpstr>
      <vt:lpstr>Cyclomatic Complexity</vt:lpstr>
      <vt:lpstr>Practical Path Testing</vt:lpstr>
      <vt:lpstr>Derivation of Test Cases</vt:lpstr>
      <vt:lpstr>Example</vt:lpstr>
      <vt:lpstr>Example Control Flow Diagram</vt:lpstr>
      <vt:lpstr>Derivation of Test Cases</vt:lpstr>
      <vt:lpstr>An Interesting Application of Cyclomatic Complexity</vt:lpstr>
      <vt:lpstr>Cyclomatic Complexity</vt:lpstr>
      <vt:lpstr>Cyclomatic Complexity</vt:lpstr>
      <vt:lpstr>White-Box Testing :  Summary</vt:lpstr>
      <vt:lpstr>Data Flow-Based Testing</vt:lpstr>
      <vt:lpstr>Data Flow-Based Testing</vt:lpstr>
      <vt:lpstr>Data Flow-Based Testing</vt:lpstr>
      <vt:lpstr>DU Chain Example</vt:lpstr>
      <vt:lpstr>Definition-use chain (DU chain)</vt:lpstr>
      <vt:lpstr>Data Flow-Based Testing</vt:lpstr>
      <vt:lpstr>PowerPoint Presentation</vt:lpstr>
      <vt:lpstr>Data Flow-Based Testing</vt:lpstr>
      <vt:lpstr>Mutation Testing</vt:lpstr>
      <vt:lpstr>Mutation Testing</vt:lpstr>
      <vt:lpstr>Mutation Testing</vt:lpstr>
      <vt:lpstr>Mutation Testing</vt:lpstr>
      <vt:lpstr>Mutation Testing</vt:lpstr>
      <vt:lpstr>Mutation Testing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Operating Systems</dc:title>
  <dc:creator>rajib mall</dc:creator>
  <cp:lastModifiedBy>AMIYA CHOWDHURY</cp:lastModifiedBy>
  <cp:revision>38</cp:revision>
  <dcterms:modified xsi:type="dcterms:W3CDTF">2026-04-07T12:07:43Z</dcterms:modified>
</cp:coreProperties>
</file>