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Gill Sans"/>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GillSans-bold.fntdata"/><Relationship Id="rId50" Type="http://schemas.openxmlformats.org/officeDocument/2006/relationships/font" Target="fonts/GillSans-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what is regression test cases</a:t>
            </a:r>
            <a:endParaRPr/>
          </a:p>
        </p:txBody>
      </p:sp>
      <p:sp>
        <p:nvSpPr>
          <p:cNvPr id="267" name="Google Shape;26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2"/>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9" name="Shape 19"/>
        <p:cNvGrpSpPr/>
        <p:nvPr/>
      </p:nvGrpSpPr>
      <p:grpSpPr>
        <a:xfrm>
          <a:off x="0" y="0"/>
          <a:ext cx="0" cy="0"/>
          <a:chOff x="0" y="0"/>
          <a:chExt cx="0" cy="0"/>
        </a:xfrm>
      </p:grpSpPr>
      <p:sp>
        <p:nvSpPr>
          <p:cNvPr id="20" name="Google Shape;20;p3"/>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1" name="Google Shape;21;p3"/>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3"/>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1432560" y="269923"/>
            <a:ext cx="7406640" cy="11041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432560" y="1387548"/>
            <a:ext cx="7406640" cy="131445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8" name="Google Shape;28;p4"/>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1" name="Google Shape;31;p4"/>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2" name="Google Shape;32;p4"/>
          <p:cNvSpPr/>
          <p:nvPr/>
        </p:nvSpPr>
        <p:spPr>
          <a:xfrm>
            <a:off x="1157176" y="1008762"/>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3" name="Shape 33"/>
        <p:cNvGrpSpPr/>
        <p:nvPr/>
      </p:nvGrpSpPr>
      <p:grpSpPr>
        <a:xfrm>
          <a:off x="0" y="0"/>
          <a:ext cx="0" cy="0"/>
          <a:chOff x="0" y="0"/>
          <a:chExt cx="0" cy="0"/>
        </a:xfrm>
      </p:grpSpPr>
      <p:sp>
        <p:nvSpPr>
          <p:cNvPr id="34" name="Google Shape;34;p5"/>
          <p:cNvSpPr/>
          <p:nvPr/>
        </p:nvSpPr>
        <p:spPr>
          <a:xfrm>
            <a:off x="2282890" y="-41"/>
            <a:ext cx="6858000"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5" name="Google Shape;35;p5"/>
          <p:cNvSpPr txBox="1"/>
          <p:nvPr>
            <p:ph type="title"/>
          </p:nvPr>
        </p:nvSpPr>
        <p:spPr>
          <a:xfrm>
            <a:off x="2578392" y="1950244"/>
            <a:ext cx="6400800" cy="17145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2578392" y="800100"/>
            <a:ext cx="6400800" cy="1132284"/>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7" name="Google Shape;37;p5"/>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0" name="Google Shape;40;p5"/>
          <p:cNvSpPr/>
          <p:nvPr/>
        </p:nvSpPr>
        <p:spPr>
          <a:xfrm>
            <a:off x="2286000" y="0"/>
            <a:ext cx="76200"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 name="Google Shape;41;p5"/>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2" name="Google Shape;42;p5"/>
          <p:cNvSpPr/>
          <p:nvPr/>
        </p:nvSpPr>
        <p:spPr>
          <a:xfrm>
            <a:off x="2408064" y="2059403"/>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6"/>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body"/>
          </p:nvPr>
        </p:nvSpPr>
        <p:spPr>
          <a:xfrm>
            <a:off x="143560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6" name="Google Shape;46;p6"/>
          <p:cNvSpPr txBox="1"/>
          <p:nvPr>
            <p:ph idx="2" type="body"/>
          </p:nvPr>
        </p:nvSpPr>
        <p:spPr>
          <a:xfrm>
            <a:off x="527608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7" name="Google Shape;47;p6"/>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0" name="Shape 50"/>
        <p:cNvGrpSpPr/>
        <p:nvPr/>
      </p:nvGrpSpPr>
      <p:grpSpPr>
        <a:xfrm>
          <a:off x="0" y="0"/>
          <a:ext cx="0" cy="0"/>
          <a:chOff x="0" y="0"/>
          <a:chExt cx="0" cy="0"/>
        </a:xfrm>
      </p:grpSpPr>
      <p:sp>
        <p:nvSpPr>
          <p:cNvPr id="51" name="Google Shape;51;p7"/>
          <p:cNvSpPr txBox="1"/>
          <p:nvPr>
            <p:ph type="title"/>
          </p:nvPr>
        </p:nvSpPr>
        <p:spPr>
          <a:xfrm>
            <a:off x="457200" y="3870252"/>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 type="body"/>
          </p:nvPr>
        </p:nvSpPr>
        <p:spPr>
          <a:xfrm>
            <a:off x="45720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3" name="Google Shape;53;p7"/>
          <p:cNvSpPr txBox="1"/>
          <p:nvPr>
            <p:ph idx="2" type="body"/>
          </p:nvPr>
        </p:nvSpPr>
        <p:spPr>
          <a:xfrm>
            <a:off x="466344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7"/>
          <p:cNvSpPr txBox="1"/>
          <p:nvPr>
            <p:ph idx="3" type="body"/>
          </p:nvPr>
        </p:nvSpPr>
        <p:spPr>
          <a:xfrm>
            <a:off x="45720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5" name="Google Shape;55;p7"/>
          <p:cNvSpPr txBox="1"/>
          <p:nvPr>
            <p:ph idx="4" type="body"/>
          </p:nvPr>
        </p:nvSpPr>
        <p:spPr>
          <a:xfrm>
            <a:off x="466344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6" name="Google Shape;56;p7"/>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8"/>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4" name="Shape 64"/>
        <p:cNvGrpSpPr/>
        <p:nvPr/>
      </p:nvGrpSpPr>
      <p:grpSpPr>
        <a:xfrm>
          <a:off x="0" y="0"/>
          <a:ext cx="0" cy="0"/>
          <a:chOff x="0" y="0"/>
          <a:chExt cx="0" cy="0"/>
        </a:xfrm>
      </p:grpSpPr>
      <p:sp>
        <p:nvSpPr>
          <p:cNvPr id="65" name="Google Shape;65;p9"/>
          <p:cNvSpPr txBox="1"/>
          <p:nvPr>
            <p:ph type="title"/>
          </p:nvPr>
        </p:nvSpPr>
        <p:spPr>
          <a:xfrm>
            <a:off x="457200" y="162583"/>
            <a:ext cx="3810000" cy="871538"/>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457200" y="1055223"/>
            <a:ext cx="3810000" cy="5238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7" name="Google Shape;67;p9"/>
          <p:cNvSpPr txBox="1"/>
          <p:nvPr>
            <p:ph idx="2" type="body"/>
          </p:nvPr>
        </p:nvSpPr>
        <p:spPr>
          <a:xfrm>
            <a:off x="457200" y="1600201"/>
            <a:ext cx="8153400" cy="2994422"/>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8" name="Google Shape;68;p9"/>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5886896" y="800100"/>
            <a:ext cx="2743200" cy="14859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6" name="Google Shape;76;p10"/>
          <p:cNvSpPr/>
          <p:nvPr/>
        </p:nvSpPr>
        <p:spPr>
          <a:xfrm>
            <a:off x="762000" y="800100"/>
            <a:ext cx="4572000" cy="3429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77" name="Google Shape;77;p10"/>
          <p:cNvSpPr/>
          <p:nvPr>
            <p:ph idx="2" type="pic"/>
          </p:nvPr>
        </p:nvSpPr>
        <p:spPr>
          <a:xfrm>
            <a:off x="838200" y="857253"/>
            <a:ext cx="4419600" cy="2635898"/>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78" name="Google Shape;78;p10"/>
          <p:cNvSpPr/>
          <p:nvPr/>
        </p:nvSpPr>
        <p:spPr>
          <a:xfrm rot="-2131329">
            <a:off x="396725" y="715756"/>
            <a:ext cx="685800"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9" name="Google Shape;79;p10"/>
          <p:cNvSpPr/>
          <p:nvPr/>
        </p:nvSpPr>
        <p:spPr>
          <a:xfrm flipH="1" rot="2103354">
            <a:off x="5003667" y="702589"/>
            <a:ext cx="649224"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0" name="Google Shape;80;p10"/>
          <p:cNvSpPr txBox="1"/>
          <p:nvPr>
            <p:ph idx="1" type="body"/>
          </p:nvPr>
        </p:nvSpPr>
        <p:spPr>
          <a:xfrm>
            <a:off x="838200" y="3600450"/>
            <a:ext cx="4419600" cy="5715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1"/>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
          <p:cNvSpPr txBox="1"/>
          <p:nvPr>
            <p:ph idx="1" type="body"/>
          </p:nvPr>
        </p:nvSpPr>
        <p:spPr>
          <a:xfrm rot="5400000">
            <a:off x="3384423" y="-862965"/>
            <a:ext cx="360045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4" name="Google Shape;84;p11"/>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2"/>
          <p:cNvSpPr txBox="1"/>
          <p:nvPr>
            <p:ph type="title"/>
          </p:nvPr>
        </p:nvSpPr>
        <p:spPr>
          <a:xfrm rot="5400000">
            <a:off x="5578078" y="1485901"/>
            <a:ext cx="4388644"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2"/>
          <p:cNvSpPr txBox="1"/>
          <p:nvPr>
            <p:ph idx="1" type="body"/>
          </p:nvPr>
        </p:nvSpPr>
        <p:spPr>
          <a:xfrm rot="5400000">
            <a:off x="1729978" y="-380998"/>
            <a:ext cx="4388644" cy="5562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0" name="Google Shape;90;p12"/>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5" name="Shape 5"/>
        <p:cNvGrpSpPr/>
        <p:nvPr/>
      </p:nvGrpSpPr>
      <p:grpSpPr>
        <a:xfrm>
          <a:off x="0" y="0"/>
          <a:ext cx="0" cy="0"/>
          <a:chOff x="0" y="0"/>
          <a:chExt cx="0" cy="0"/>
        </a:xfrm>
      </p:grpSpPr>
      <p:sp>
        <p:nvSpPr>
          <p:cNvPr id="6" name="Google Shape;6;p1"/>
          <p:cNvSpPr/>
          <p:nvPr/>
        </p:nvSpPr>
        <p:spPr>
          <a:xfrm>
            <a:off x="-815927" y="-611941"/>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7" name="Google Shape;7;p1"/>
          <p:cNvSpPr/>
          <p:nvPr/>
        </p:nvSpPr>
        <p:spPr>
          <a:xfrm>
            <a:off x="168817" y="15827"/>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8" name="Google Shape;8;p1"/>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9" name="Google Shape;9;p1"/>
          <p:cNvSpPr/>
          <p:nvPr/>
        </p:nvSpPr>
        <p:spPr>
          <a:xfrm>
            <a:off x="1012873" y="-41"/>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0" name="Google Shape;10;p1"/>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2" name="Google Shape;12;p1"/>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1"/>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1"/>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1200" u="none" cap="none" strike="noStrike">
                <a:solidFill>
                  <a:srgbClr val="B3A787"/>
                </a:solidFill>
                <a:latin typeface="Gill Sans"/>
                <a:ea typeface="Gill Sans"/>
                <a:cs typeface="Gill Sans"/>
                <a:sym typeface="Gill Sans"/>
              </a:defRPr>
            </a:lvl1pPr>
            <a:lvl2pPr indent="0" lvl="1" marL="0" marR="0" rtl="0" algn="ctr">
              <a:spcBef>
                <a:spcPts val="0"/>
              </a:spcBef>
              <a:buNone/>
              <a:defRPr b="0" i="0" sz="1200" u="none" cap="none" strike="noStrike">
                <a:solidFill>
                  <a:srgbClr val="B3A787"/>
                </a:solidFill>
                <a:latin typeface="Gill Sans"/>
                <a:ea typeface="Gill Sans"/>
                <a:cs typeface="Gill Sans"/>
                <a:sym typeface="Gill Sans"/>
              </a:defRPr>
            </a:lvl2pPr>
            <a:lvl3pPr indent="0" lvl="2" marL="0" marR="0" rtl="0" algn="ctr">
              <a:spcBef>
                <a:spcPts val="0"/>
              </a:spcBef>
              <a:buNone/>
              <a:defRPr b="0" i="0" sz="1200" u="none" cap="none" strike="noStrike">
                <a:solidFill>
                  <a:srgbClr val="B3A787"/>
                </a:solidFill>
                <a:latin typeface="Gill Sans"/>
                <a:ea typeface="Gill Sans"/>
                <a:cs typeface="Gill Sans"/>
                <a:sym typeface="Gill Sans"/>
              </a:defRPr>
            </a:lvl3pPr>
            <a:lvl4pPr indent="0" lvl="3" marL="0" marR="0" rtl="0" algn="ctr">
              <a:spcBef>
                <a:spcPts val="0"/>
              </a:spcBef>
              <a:buNone/>
              <a:defRPr b="0" i="0" sz="1200" u="none" cap="none" strike="noStrike">
                <a:solidFill>
                  <a:srgbClr val="B3A787"/>
                </a:solidFill>
                <a:latin typeface="Gill Sans"/>
                <a:ea typeface="Gill Sans"/>
                <a:cs typeface="Gill Sans"/>
                <a:sym typeface="Gill Sans"/>
              </a:defRPr>
            </a:lvl4pPr>
            <a:lvl5pPr indent="0" lvl="4" marL="0" marR="0" rtl="0" algn="ctr">
              <a:spcBef>
                <a:spcPts val="0"/>
              </a:spcBef>
              <a:buNone/>
              <a:defRPr b="0" i="0" sz="1200" u="none" cap="none" strike="noStrike">
                <a:solidFill>
                  <a:srgbClr val="B3A787"/>
                </a:solidFill>
                <a:latin typeface="Gill Sans"/>
                <a:ea typeface="Gill Sans"/>
                <a:cs typeface="Gill Sans"/>
                <a:sym typeface="Gill Sans"/>
              </a:defRPr>
            </a:lvl5pPr>
            <a:lvl6pPr indent="0" lvl="5" marL="0" marR="0" rtl="0" algn="ctr">
              <a:spcBef>
                <a:spcPts val="0"/>
              </a:spcBef>
              <a:buNone/>
              <a:defRPr b="0" i="0" sz="1200" u="none" cap="none" strike="noStrike">
                <a:solidFill>
                  <a:srgbClr val="B3A787"/>
                </a:solidFill>
                <a:latin typeface="Gill Sans"/>
                <a:ea typeface="Gill Sans"/>
                <a:cs typeface="Gill Sans"/>
                <a:sym typeface="Gill Sans"/>
              </a:defRPr>
            </a:lvl6pPr>
            <a:lvl7pPr indent="0" lvl="6" marL="0" marR="0" rtl="0" algn="ctr">
              <a:spcBef>
                <a:spcPts val="0"/>
              </a:spcBef>
              <a:buNone/>
              <a:defRPr b="0" i="0" sz="1200" u="none" cap="none" strike="noStrike">
                <a:solidFill>
                  <a:srgbClr val="B3A787"/>
                </a:solidFill>
                <a:latin typeface="Gill Sans"/>
                <a:ea typeface="Gill Sans"/>
                <a:cs typeface="Gill Sans"/>
                <a:sym typeface="Gill Sans"/>
              </a:defRPr>
            </a:lvl7pPr>
            <a:lvl8pPr indent="0" lvl="7" marL="0" marR="0" rtl="0" algn="ctr">
              <a:spcBef>
                <a:spcPts val="0"/>
              </a:spcBef>
              <a:buNone/>
              <a:defRPr b="0" i="0" sz="1200" u="none" cap="none" strike="noStrike">
                <a:solidFill>
                  <a:srgbClr val="B3A787"/>
                </a:solidFill>
                <a:latin typeface="Gill Sans"/>
                <a:ea typeface="Gill Sans"/>
                <a:cs typeface="Gill Sans"/>
                <a:sym typeface="Gill Sans"/>
              </a:defRPr>
            </a:lvl8pPr>
            <a:lvl9pPr indent="0" lvl="8" marL="0" marR="0" rtl="0" algn="ctr">
              <a:spcBef>
                <a:spcPts val="0"/>
              </a:spcBef>
              <a:buNone/>
              <a:defRPr b="0" i="0" sz="1200" u="none" cap="none" strike="noStrike">
                <a:solidFill>
                  <a:srgbClr val="B3A787"/>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
        <p:nvSpPr>
          <p:cNvPr id="15" name="Google Shape;15;p1"/>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3"/>
          <p:cNvSpPr txBox="1"/>
          <p:nvPr>
            <p:ph type="title"/>
          </p:nvPr>
        </p:nvSpPr>
        <p:spPr>
          <a:xfrm>
            <a:off x="1066800" y="135255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Testing</a:t>
            </a:r>
            <a:endParaRPr/>
          </a:p>
        </p:txBody>
      </p:sp>
      <p:sp>
        <p:nvSpPr>
          <p:cNvPr id="98" name="Google Shape;98;p13"/>
          <p:cNvSpPr txBox="1"/>
          <p:nvPr>
            <p:ph idx="1" type="body"/>
          </p:nvPr>
        </p:nvSpPr>
        <p:spPr>
          <a:xfrm>
            <a:off x="990600" y="3028950"/>
            <a:ext cx="7498080" cy="1657350"/>
          </a:xfrm>
          <a:prstGeom prst="rect">
            <a:avLst/>
          </a:prstGeom>
          <a:noFill/>
          <a:ln>
            <a:noFill/>
          </a:ln>
        </p:spPr>
        <p:txBody>
          <a:bodyPr anchorCtr="0" anchor="t" bIns="45700" lIns="91425" spcFirstLastPara="1" rIns="91425" wrap="square" tIns="45700">
            <a:normAutofit/>
          </a:bodyPr>
          <a:lstStyle/>
          <a:p>
            <a:pPr indent="0" lvl="0" marL="82296" rtl="0" algn="ctr">
              <a:lnSpc>
                <a:spcPct val="100000"/>
              </a:lnSpc>
              <a:spcBef>
                <a:spcPts val="0"/>
              </a:spcBef>
              <a:spcAft>
                <a:spcPts val="0"/>
              </a:spcAft>
              <a:buSzPts val="1280"/>
              <a:buNone/>
            </a:pPr>
            <a:r>
              <a:rPr lang="en-US" sz="1600"/>
              <a:t>Dr. Durga Prasad Mohapatra</a:t>
            </a:r>
            <a:endParaRPr sz="1600"/>
          </a:p>
          <a:p>
            <a:pPr indent="0" lvl="0" marL="82296" rtl="0" algn="ctr">
              <a:lnSpc>
                <a:spcPct val="100000"/>
              </a:lnSpc>
              <a:spcBef>
                <a:spcPts val="0"/>
              </a:spcBef>
              <a:spcAft>
                <a:spcPts val="0"/>
              </a:spcAft>
              <a:buSzPts val="1280"/>
              <a:buNone/>
            </a:pPr>
            <a:r>
              <a:rPr lang="en-US" sz="1600"/>
              <a:t>Professor</a:t>
            </a:r>
            <a:endParaRPr/>
          </a:p>
          <a:p>
            <a:pPr indent="0" lvl="0" marL="82296" rtl="0" algn="ctr">
              <a:lnSpc>
                <a:spcPct val="100000"/>
              </a:lnSpc>
              <a:spcBef>
                <a:spcPts val="0"/>
              </a:spcBef>
              <a:spcAft>
                <a:spcPts val="0"/>
              </a:spcAft>
              <a:buSzPts val="1280"/>
              <a:buNone/>
            </a:pPr>
            <a:r>
              <a:rPr lang="en-US" sz="1600"/>
              <a:t>CSE Department</a:t>
            </a:r>
            <a:endParaRPr/>
          </a:p>
          <a:p>
            <a:pPr indent="0" lvl="0" marL="82296" rtl="0" algn="ctr">
              <a:lnSpc>
                <a:spcPct val="100000"/>
              </a:lnSpc>
              <a:spcBef>
                <a:spcPts val="0"/>
              </a:spcBef>
              <a:spcAft>
                <a:spcPts val="0"/>
              </a:spcAft>
              <a:buSzPts val="1280"/>
              <a:buNone/>
            </a:pPr>
            <a:r>
              <a:rPr lang="en-US" sz="1600"/>
              <a:t>NIT Rourkela</a:t>
            </a:r>
            <a:endParaRPr/>
          </a:p>
          <a:p>
            <a:pPr indent="0" lvl="0" marL="82296" rtl="0" algn="l">
              <a:lnSpc>
                <a:spcPct val="100000"/>
              </a:lnSpc>
              <a:spcBef>
                <a:spcPts val="0"/>
              </a:spcBef>
              <a:spcAft>
                <a:spcPts val="0"/>
              </a:spcAft>
              <a:buSzPts val="1280"/>
              <a:buNone/>
            </a:pPr>
            <a:r>
              <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txBox="1"/>
          <p:nvPr>
            <p:ph idx="4294967295" type="title"/>
          </p:nvPr>
        </p:nvSpPr>
        <p:spPr>
          <a:xfrm>
            <a:off x="457200" y="0"/>
            <a:ext cx="8537760" cy="945100"/>
          </a:xfrm>
          <a:prstGeom prst="rect">
            <a:avLst/>
          </a:prstGeom>
          <a:noFill/>
          <a:ln>
            <a:noFill/>
          </a:ln>
        </p:spPr>
        <p:txBody>
          <a:bodyPr anchorCtr="0" anchor="ctr" bIns="40800" lIns="81600" spcFirstLastPara="1" rIns="81600" wrap="square" tIns="40800">
            <a:normAutofit/>
          </a:bodyPr>
          <a:lstStyle/>
          <a:p>
            <a:pPr indent="0" lvl="0" marL="0" rtl="0" algn="ctr">
              <a:spcBef>
                <a:spcPts val="0"/>
              </a:spcBef>
              <a:spcAft>
                <a:spcPts val="0"/>
              </a:spcAft>
              <a:buClr>
                <a:srgbClr val="562214"/>
              </a:buClr>
              <a:buSzPts val="3600"/>
              <a:buFont typeface="Gill Sans"/>
              <a:buNone/>
            </a:pPr>
            <a:r>
              <a:rPr lang="en-US" sz="3600"/>
              <a:t>What is regression testing?</a:t>
            </a:r>
            <a:endParaRPr/>
          </a:p>
        </p:txBody>
      </p:sp>
      <p:sp>
        <p:nvSpPr>
          <p:cNvPr id="104" name="Google Shape;104;p14"/>
          <p:cNvSpPr txBox="1"/>
          <p:nvPr>
            <p:ph idx="4294967295" type="body"/>
          </p:nvPr>
        </p:nvSpPr>
        <p:spPr>
          <a:xfrm>
            <a:off x="990600" y="1200006"/>
            <a:ext cx="8001000" cy="2514504"/>
          </a:xfrm>
          <a:prstGeom prst="rect">
            <a:avLst/>
          </a:prstGeom>
          <a:solidFill>
            <a:srgbClr val="FFFFCC"/>
          </a:solidFill>
          <a:ln cap="flat" cmpd="sng" w="9525">
            <a:solidFill>
              <a:srgbClr val="FF0000"/>
            </a:solidFill>
            <a:prstDash val="solid"/>
            <a:round/>
            <a:headEnd len="sm" w="sm" type="none"/>
            <a:tailEnd len="sm" w="sm" type="none"/>
          </a:ln>
        </p:spPr>
        <p:txBody>
          <a:bodyPr anchorCtr="0" anchor="t" bIns="40800" lIns="81600" spcFirstLastPara="1" rIns="81600" wrap="square" tIns="40800">
            <a:normAutofit/>
          </a:bodyPr>
          <a:lstStyle/>
          <a:p>
            <a:pPr indent="-283464" lvl="0" marL="365760" rtl="0" algn="just">
              <a:lnSpc>
                <a:spcPct val="124000"/>
              </a:lnSpc>
              <a:spcBef>
                <a:spcPts val="0"/>
              </a:spcBef>
              <a:spcAft>
                <a:spcPts val="0"/>
              </a:spcAft>
              <a:buSzPts val="2240"/>
              <a:buNone/>
            </a:pPr>
            <a:r>
              <a:rPr lang="en-US" sz="2800">
                <a:solidFill>
                  <a:srgbClr val="0000CC"/>
                </a:solidFill>
              </a:rPr>
              <a:t>  Regression testing is testing done to check that a system update does not cause new errors or re-introduce errors that have been corrected earlier.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0" y="-72368"/>
            <a:ext cx="9144000" cy="856530"/>
          </a:xfrm>
          <a:prstGeom prst="rect">
            <a:avLst/>
          </a:prstGeom>
          <a:noFill/>
          <a:ln>
            <a:noFill/>
          </a:ln>
        </p:spPr>
        <p:txBody>
          <a:bodyPr anchorCtr="0" anchor="ctr" bIns="37025" lIns="74050" spcFirstLastPara="1" rIns="74050" wrap="square" tIns="37025">
            <a:normAutofit/>
          </a:bodyPr>
          <a:lstStyle/>
          <a:p>
            <a:pPr indent="0" lvl="0" marL="0" rtl="0" algn="ctr">
              <a:lnSpc>
                <a:spcPct val="85000"/>
              </a:lnSpc>
              <a:spcBef>
                <a:spcPts val="0"/>
              </a:spcBef>
              <a:spcAft>
                <a:spcPts val="0"/>
              </a:spcAft>
              <a:buClr>
                <a:srgbClr val="562214"/>
              </a:buClr>
              <a:buSzPts val="3600"/>
              <a:buFont typeface="Gill Sans"/>
              <a:buNone/>
            </a:pPr>
            <a:r>
              <a:rPr lang="en-US"/>
              <a:t>Need for Regression Testing</a:t>
            </a:r>
            <a:endParaRPr sz="1900"/>
          </a:p>
        </p:txBody>
      </p:sp>
      <p:sp>
        <p:nvSpPr>
          <p:cNvPr id="110" name="Google Shape;110;p15"/>
          <p:cNvSpPr txBox="1"/>
          <p:nvPr>
            <p:ph idx="1" type="body"/>
          </p:nvPr>
        </p:nvSpPr>
        <p:spPr>
          <a:xfrm>
            <a:off x="1142999" y="827552"/>
            <a:ext cx="8001001" cy="4336655"/>
          </a:xfrm>
          <a:prstGeom prst="rect">
            <a:avLst/>
          </a:prstGeom>
          <a:noFill/>
          <a:ln>
            <a:noFill/>
          </a:ln>
        </p:spPr>
        <p:txBody>
          <a:bodyPr anchorCtr="0" anchor="t" bIns="37025" lIns="74050" spcFirstLastPara="1" rIns="74050" wrap="square" tIns="37025">
            <a:normAutofit/>
          </a:bodyPr>
          <a:lstStyle/>
          <a:p>
            <a:pPr indent="-283464" lvl="0" marL="365760" rtl="0" algn="l">
              <a:lnSpc>
                <a:spcPct val="125000"/>
              </a:lnSpc>
              <a:spcBef>
                <a:spcPts val="0"/>
              </a:spcBef>
              <a:spcAft>
                <a:spcPts val="0"/>
              </a:spcAft>
              <a:buSzPts val="2240"/>
              <a:buChar char="⚫"/>
            </a:pPr>
            <a:r>
              <a:rPr lang="en-US"/>
              <a:t>Any system during use undergoes frequent code changes.</a:t>
            </a:r>
            <a:endParaRPr/>
          </a:p>
          <a:p>
            <a:pPr indent="-237744" lvl="1" marL="640080" rtl="0" algn="l">
              <a:lnSpc>
                <a:spcPct val="125000"/>
              </a:lnSpc>
              <a:spcBef>
                <a:spcPts val="972"/>
              </a:spcBef>
              <a:spcAft>
                <a:spcPts val="0"/>
              </a:spcAft>
              <a:buSzPts val="2800"/>
              <a:buChar char="◦"/>
            </a:pPr>
            <a:r>
              <a:rPr lang="en-US" sz="2800">
                <a:solidFill>
                  <a:srgbClr val="003300"/>
                </a:solidFill>
              </a:rPr>
              <a:t>Corrective, Adaptive, and Perfective changes.</a:t>
            </a:r>
            <a:endParaRPr/>
          </a:p>
          <a:p>
            <a:pPr indent="-283464" lvl="0" marL="365760" rtl="0" algn="l">
              <a:lnSpc>
                <a:spcPct val="125000"/>
              </a:lnSpc>
              <a:spcBef>
                <a:spcPts val="972"/>
              </a:spcBef>
              <a:spcAft>
                <a:spcPts val="0"/>
              </a:spcAft>
              <a:buSzPts val="2240"/>
              <a:buChar char="⚫"/>
            </a:pPr>
            <a:r>
              <a:rPr lang="en-US"/>
              <a:t>Regression testing needed after  every change:</a:t>
            </a:r>
            <a:endParaRPr/>
          </a:p>
          <a:p>
            <a:pPr indent="-237744" lvl="1" marL="640080" rtl="0" algn="l">
              <a:lnSpc>
                <a:spcPct val="125000"/>
              </a:lnSpc>
              <a:spcBef>
                <a:spcPts val="972"/>
              </a:spcBef>
              <a:spcAft>
                <a:spcPts val="0"/>
              </a:spcAft>
              <a:buSzPts val="2800"/>
              <a:buChar char="◦"/>
            </a:pPr>
            <a:r>
              <a:rPr lang="en-US" sz="2800">
                <a:solidFill>
                  <a:srgbClr val="0000CC"/>
                </a:solidFill>
              </a:rPr>
              <a:t>Ensures unchanged features continue to work fine.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5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5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5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500"/>
                                        <p:tgtEl>
                                          <p:spTgt spid="11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p:nvPr/>
        </p:nvSpPr>
        <p:spPr>
          <a:xfrm>
            <a:off x="914400" y="2314683"/>
            <a:ext cx="7073280" cy="2599833"/>
          </a:xfrm>
          <a:custGeom>
            <a:rect b="b" l="l" r="r" t="t"/>
            <a:pathLst>
              <a:path extrusionOk="0" h="2184" w="4496">
                <a:moveTo>
                  <a:pt x="88" y="456"/>
                </a:moveTo>
                <a:cubicBezTo>
                  <a:pt x="176" y="376"/>
                  <a:pt x="504" y="424"/>
                  <a:pt x="664" y="408"/>
                </a:cubicBezTo>
                <a:cubicBezTo>
                  <a:pt x="824" y="392"/>
                  <a:pt x="896" y="392"/>
                  <a:pt x="1048" y="360"/>
                </a:cubicBezTo>
                <a:cubicBezTo>
                  <a:pt x="1200" y="328"/>
                  <a:pt x="1440" y="272"/>
                  <a:pt x="1576" y="216"/>
                </a:cubicBezTo>
                <a:cubicBezTo>
                  <a:pt x="1712" y="160"/>
                  <a:pt x="1792" y="48"/>
                  <a:pt x="1864" y="24"/>
                </a:cubicBezTo>
                <a:cubicBezTo>
                  <a:pt x="1936" y="0"/>
                  <a:pt x="1912" y="56"/>
                  <a:pt x="2008" y="72"/>
                </a:cubicBezTo>
                <a:cubicBezTo>
                  <a:pt x="2104" y="88"/>
                  <a:pt x="2288" y="96"/>
                  <a:pt x="2440" y="120"/>
                </a:cubicBezTo>
                <a:cubicBezTo>
                  <a:pt x="2592" y="144"/>
                  <a:pt x="2760" y="176"/>
                  <a:pt x="2920" y="216"/>
                </a:cubicBezTo>
                <a:cubicBezTo>
                  <a:pt x="3080" y="256"/>
                  <a:pt x="3216" y="296"/>
                  <a:pt x="3400" y="360"/>
                </a:cubicBezTo>
                <a:cubicBezTo>
                  <a:pt x="3584" y="424"/>
                  <a:pt x="3848" y="520"/>
                  <a:pt x="4024" y="600"/>
                </a:cubicBezTo>
                <a:cubicBezTo>
                  <a:pt x="4200" y="680"/>
                  <a:pt x="4416" y="728"/>
                  <a:pt x="4456" y="840"/>
                </a:cubicBezTo>
                <a:cubicBezTo>
                  <a:pt x="4496" y="952"/>
                  <a:pt x="4352" y="1144"/>
                  <a:pt x="4264" y="1272"/>
                </a:cubicBezTo>
                <a:cubicBezTo>
                  <a:pt x="4176" y="1400"/>
                  <a:pt x="4056" y="1496"/>
                  <a:pt x="3928" y="1608"/>
                </a:cubicBezTo>
                <a:cubicBezTo>
                  <a:pt x="3800" y="1720"/>
                  <a:pt x="3648" y="1864"/>
                  <a:pt x="3496" y="1944"/>
                </a:cubicBezTo>
                <a:cubicBezTo>
                  <a:pt x="3344" y="2024"/>
                  <a:pt x="3192" y="2048"/>
                  <a:pt x="3016" y="2088"/>
                </a:cubicBezTo>
                <a:cubicBezTo>
                  <a:pt x="2840" y="2128"/>
                  <a:pt x="2672" y="2184"/>
                  <a:pt x="2440" y="2184"/>
                </a:cubicBezTo>
                <a:cubicBezTo>
                  <a:pt x="2208" y="2184"/>
                  <a:pt x="1872" y="2144"/>
                  <a:pt x="1624" y="2088"/>
                </a:cubicBezTo>
                <a:cubicBezTo>
                  <a:pt x="1376" y="2032"/>
                  <a:pt x="1136" y="1952"/>
                  <a:pt x="952" y="1848"/>
                </a:cubicBezTo>
                <a:cubicBezTo>
                  <a:pt x="768" y="1744"/>
                  <a:pt x="656" y="1624"/>
                  <a:pt x="520" y="1464"/>
                </a:cubicBezTo>
                <a:cubicBezTo>
                  <a:pt x="384" y="1304"/>
                  <a:pt x="216" y="1056"/>
                  <a:pt x="136" y="888"/>
                </a:cubicBezTo>
                <a:cubicBezTo>
                  <a:pt x="56" y="720"/>
                  <a:pt x="0" y="536"/>
                  <a:pt x="88" y="456"/>
                </a:cubicBezTo>
                <a:close/>
              </a:path>
            </a:pathLst>
          </a:custGeom>
          <a:solidFill>
            <a:schemeClr val="folHlink"/>
          </a:solidFill>
          <a:ln cap="flat" cmpd="sng" w="9525">
            <a:solidFill>
              <a:schemeClr val="dk1"/>
            </a:solidFill>
            <a:prstDash val="solid"/>
            <a:round/>
            <a:headEnd len="sm" w="sm" type="none"/>
            <a:tailEnd len="sm" w="sm" type="none"/>
          </a:ln>
        </p:spPr>
        <p:txBody>
          <a:bodyPr anchorCtr="0" anchor="t" bIns="37025" lIns="74025" spcFirstLastPara="1" rIns="74025" wrap="square" tIns="37025">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16" name="Google Shape;116;p16"/>
          <p:cNvSpPr/>
          <p:nvPr/>
        </p:nvSpPr>
        <p:spPr>
          <a:xfrm>
            <a:off x="1372320" y="2276879"/>
            <a:ext cx="2590560" cy="2637637"/>
          </a:xfrm>
          <a:custGeom>
            <a:rect b="b" l="l" r="r" t="t"/>
            <a:pathLst>
              <a:path extrusionOk="0" h="2216" w="1640">
                <a:moveTo>
                  <a:pt x="56" y="1352"/>
                </a:moveTo>
                <a:cubicBezTo>
                  <a:pt x="112" y="1264"/>
                  <a:pt x="360" y="1120"/>
                  <a:pt x="536" y="968"/>
                </a:cubicBezTo>
                <a:cubicBezTo>
                  <a:pt x="712" y="816"/>
                  <a:pt x="944" y="592"/>
                  <a:pt x="1112" y="440"/>
                </a:cubicBezTo>
                <a:cubicBezTo>
                  <a:pt x="1280" y="288"/>
                  <a:pt x="1464" y="112"/>
                  <a:pt x="1544" y="56"/>
                </a:cubicBezTo>
                <a:cubicBezTo>
                  <a:pt x="1624" y="0"/>
                  <a:pt x="1576" y="8"/>
                  <a:pt x="1592" y="104"/>
                </a:cubicBezTo>
                <a:cubicBezTo>
                  <a:pt x="1608" y="200"/>
                  <a:pt x="1640" y="424"/>
                  <a:pt x="1640" y="632"/>
                </a:cubicBezTo>
                <a:cubicBezTo>
                  <a:pt x="1640" y="840"/>
                  <a:pt x="1624" y="1152"/>
                  <a:pt x="1592" y="1352"/>
                </a:cubicBezTo>
                <a:cubicBezTo>
                  <a:pt x="1560" y="1552"/>
                  <a:pt x="1496" y="1696"/>
                  <a:pt x="1448" y="1832"/>
                </a:cubicBezTo>
                <a:cubicBezTo>
                  <a:pt x="1400" y="1968"/>
                  <a:pt x="1336" y="2120"/>
                  <a:pt x="1304" y="2168"/>
                </a:cubicBezTo>
                <a:cubicBezTo>
                  <a:pt x="1272" y="2216"/>
                  <a:pt x="1328" y="2152"/>
                  <a:pt x="1256" y="2120"/>
                </a:cubicBezTo>
                <a:cubicBezTo>
                  <a:pt x="1184" y="2088"/>
                  <a:pt x="992" y="2032"/>
                  <a:pt x="872" y="1976"/>
                </a:cubicBezTo>
                <a:cubicBezTo>
                  <a:pt x="752" y="1920"/>
                  <a:pt x="648" y="1864"/>
                  <a:pt x="536" y="1784"/>
                </a:cubicBezTo>
                <a:cubicBezTo>
                  <a:pt x="424" y="1704"/>
                  <a:pt x="280" y="1568"/>
                  <a:pt x="200" y="1496"/>
                </a:cubicBezTo>
                <a:cubicBezTo>
                  <a:pt x="120" y="1424"/>
                  <a:pt x="0" y="1440"/>
                  <a:pt x="56" y="1352"/>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37025" lIns="74025" spcFirstLastPara="1" rIns="74025" wrap="square" tIns="37025">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17" name="Google Shape;117;p16"/>
          <p:cNvSpPr/>
          <p:nvPr/>
        </p:nvSpPr>
        <p:spPr>
          <a:xfrm>
            <a:off x="964801" y="631867"/>
            <a:ext cx="7112160" cy="4282649"/>
          </a:xfrm>
          <a:prstGeom prst="ellipse">
            <a:avLst/>
          </a:prstGeom>
          <a:noFill/>
          <a:ln cap="flat" cmpd="sng" w="57150">
            <a:solidFill>
              <a:srgbClr val="0000FF"/>
            </a:solidFill>
            <a:prstDash val="solid"/>
            <a:round/>
            <a:headEnd len="sm" w="sm" type="none"/>
            <a:tailEnd len="sm" w="sm" type="none"/>
          </a:ln>
        </p:spPr>
        <p:txBody>
          <a:bodyPr anchorCtr="0" anchor="ctr" bIns="40800" lIns="81600" spcFirstLastPara="1" rIns="81600" wrap="square" tIns="40800">
            <a:noAutofit/>
          </a:bodyPr>
          <a:lstStyle/>
          <a:p>
            <a:pPr indent="0" lvl="0" marL="0" marR="0" rtl="0" algn="l">
              <a:spcBef>
                <a:spcPts val="0"/>
              </a:spcBef>
              <a:spcAft>
                <a:spcPts val="0"/>
              </a:spcAft>
              <a:buNone/>
            </a:pPr>
            <a:r>
              <a:t/>
            </a:r>
            <a:endParaRPr b="1" sz="1800">
              <a:solidFill>
                <a:srgbClr val="FFFFFF"/>
              </a:solidFill>
              <a:latin typeface="Gill Sans"/>
              <a:ea typeface="Gill Sans"/>
              <a:cs typeface="Gill Sans"/>
              <a:sym typeface="Gill Sans"/>
            </a:endParaRPr>
          </a:p>
        </p:txBody>
      </p:sp>
      <p:sp>
        <p:nvSpPr>
          <p:cNvPr id="118" name="Google Shape;118;p16"/>
          <p:cNvSpPr txBox="1"/>
          <p:nvPr/>
        </p:nvSpPr>
        <p:spPr>
          <a:xfrm>
            <a:off x="609120" y="3119368"/>
            <a:ext cx="6099840" cy="1575121"/>
          </a:xfrm>
          <a:prstGeom prst="rect">
            <a:avLst/>
          </a:prstGeom>
          <a:noFill/>
          <a:ln>
            <a:noFill/>
          </a:ln>
        </p:spPr>
        <p:txBody>
          <a:bodyPr anchorCtr="0" anchor="t" bIns="40800" lIns="81600" spcFirstLastPara="1" rIns="81600" wrap="square" tIns="40800">
            <a:spAutoFit/>
          </a:bodyPr>
          <a:lstStyle/>
          <a:p>
            <a:pPr indent="0" lvl="0" marL="0" marR="0" rtl="0" algn="l">
              <a:spcBef>
                <a:spcPts val="0"/>
              </a:spcBef>
              <a:spcAft>
                <a:spcPts val="0"/>
              </a:spcAft>
              <a:buNone/>
            </a:pPr>
            <a:r>
              <a:rPr b="1" lang="en-US" sz="3700" u="none">
                <a:solidFill>
                  <a:schemeClr val="dk1"/>
                </a:solidFill>
                <a:latin typeface="Comic Sans MS"/>
                <a:ea typeface="Comic Sans MS"/>
                <a:cs typeface="Comic Sans MS"/>
                <a:sym typeface="Comic Sans MS"/>
              </a:rPr>
              <a:t>        </a:t>
            </a:r>
            <a:r>
              <a:rPr b="1" lang="en-US" sz="4000" u="none">
                <a:solidFill>
                  <a:schemeClr val="dk1"/>
                </a:solidFill>
                <a:latin typeface="Comic Sans MS"/>
                <a:ea typeface="Comic Sans MS"/>
                <a:cs typeface="Comic Sans MS"/>
                <a:sym typeface="Comic Sans MS"/>
              </a:rPr>
              <a:t>T</a:t>
            </a:r>
            <a:r>
              <a:rPr b="1" baseline="-25000" lang="en-US" sz="4000" u="none">
                <a:solidFill>
                  <a:schemeClr val="dk1"/>
                </a:solidFill>
                <a:latin typeface="Comic Sans MS"/>
                <a:ea typeface="Comic Sans MS"/>
                <a:cs typeface="Comic Sans MS"/>
                <a:sym typeface="Comic Sans MS"/>
              </a:rPr>
              <a:t>or</a:t>
            </a:r>
            <a:endParaRPr/>
          </a:p>
          <a:p>
            <a:pPr indent="0" lvl="0" marL="0" marR="0" rtl="0" algn="l">
              <a:spcBef>
                <a:spcPts val="0"/>
              </a:spcBef>
              <a:spcAft>
                <a:spcPts val="0"/>
              </a:spcAft>
              <a:buNone/>
            </a:pPr>
            <a:r>
              <a:rPr b="1" lang="en-US" sz="1900" u="none">
                <a:solidFill>
                  <a:schemeClr val="dk1"/>
                </a:solidFill>
                <a:latin typeface="Comic Sans MS"/>
                <a:ea typeface="Comic Sans MS"/>
                <a:cs typeface="Comic Sans MS"/>
                <a:sym typeface="Comic Sans MS"/>
              </a:rPr>
              <a:t>           </a:t>
            </a:r>
            <a:r>
              <a:rPr b="1" lang="en-US" sz="1900" u="none">
                <a:solidFill>
                  <a:srgbClr val="FF0000"/>
                </a:solidFill>
                <a:latin typeface="Comic Sans MS"/>
                <a:ea typeface="Comic Sans MS"/>
                <a:cs typeface="Comic Sans MS"/>
                <a:sym typeface="Comic Sans MS"/>
              </a:rPr>
              <a:t>Optimized </a:t>
            </a:r>
            <a:endParaRPr/>
          </a:p>
          <a:p>
            <a:pPr indent="0" lvl="0" marL="0" marR="0" rtl="0" algn="l">
              <a:spcBef>
                <a:spcPts val="0"/>
              </a:spcBef>
              <a:spcAft>
                <a:spcPts val="0"/>
              </a:spcAft>
              <a:buNone/>
            </a:pPr>
            <a:r>
              <a:rPr b="1" lang="en-US" sz="1900" u="none">
                <a:solidFill>
                  <a:srgbClr val="FF0000"/>
                </a:solidFill>
                <a:latin typeface="Comic Sans MS"/>
                <a:ea typeface="Comic Sans MS"/>
                <a:cs typeface="Comic Sans MS"/>
                <a:sym typeface="Comic Sans MS"/>
              </a:rPr>
              <a:t>           Regression </a:t>
            </a:r>
            <a:endParaRPr/>
          </a:p>
          <a:p>
            <a:pPr indent="0" lvl="0" marL="0" marR="0" rtl="0" algn="l">
              <a:spcBef>
                <a:spcPts val="0"/>
              </a:spcBef>
              <a:spcAft>
                <a:spcPts val="0"/>
              </a:spcAft>
              <a:buNone/>
            </a:pPr>
            <a:r>
              <a:rPr b="1" lang="en-US" sz="1900" u="none">
                <a:solidFill>
                  <a:srgbClr val="FF0000"/>
                </a:solidFill>
                <a:latin typeface="Comic Sans MS"/>
                <a:ea typeface="Comic Sans MS"/>
                <a:cs typeface="Comic Sans MS"/>
                <a:sym typeface="Comic Sans MS"/>
              </a:rPr>
              <a:t>               Tests</a:t>
            </a:r>
            <a:endParaRPr/>
          </a:p>
        </p:txBody>
      </p:sp>
      <p:grpSp>
        <p:nvGrpSpPr>
          <p:cNvPr id="119" name="Google Shape;119;p16"/>
          <p:cNvGrpSpPr/>
          <p:nvPr/>
        </p:nvGrpSpPr>
        <p:grpSpPr>
          <a:xfrm>
            <a:off x="1008000" y="628626"/>
            <a:ext cx="6976800" cy="4210282"/>
            <a:chOff x="635" y="528"/>
            <a:chExt cx="4395" cy="3536"/>
          </a:xfrm>
        </p:grpSpPr>
        <p:sp>
          <p:nvSpPr>
            <p:cNvPr id="120" name="Google Shape;120;p16"/>
            <p:cNvSpPr/>
            <p:nvPr/>
          </p:nvSpPr>
          <p:spPr>
            <a:xfrm>
              <a:off x="635" y="528"/>
              <a:ext cx="2451" cy="1855"/>
            </a:xfrm>
            <a:custGeom>
              <a:rect b="b" l="l" r="r" t="t"/>
              <a:pathLst>
                <a:path extrusionOk="0" h="1403445" w="1510352">
                  <a:moveTo>
                    <a:pt x="0" y="1403445"/>
                  </a:moveTo>
                  <a:cubicBezTo>
                    <a:pt x="224051" y="1401170"/>
                    <a:pt x="448102" y="1398896"/>
                    <a:pt x="641445" y="1335206"/>
                  </a:cubicBezTo>
                  <a:cubicBezTo>
                    <a:pt x="834788" y="1271516"/>
                    <a:pt x="1023583" y="1196453"/>
                    <a:pt x="1160060" y="1021307"/>
                  </a:cubicBezTo>
                  <a:cubicBezTo>
                    <a:pt x="1296537" y="846161"/>
                    <a:pt x="1410268" y="448101"/>
                    <a:pt x="1460310" y="284328"/>
                  </a:cubicBezTo>
                  <a:cubicBezTo>
                    <a:pt x="1510352" y="120555"/>
                    <a:pt x="1458035" y="77338"/>
                    <a:pt x="1460310" y="38669"/>
                  </a:cubicBezTo>
                  <a:cubicBezTo>
                    <a:pt x="1462585" y="0"/>
                    <a:pt x="1473958" y="52316"/>
                    <a:pt x="1473958" y="52316"/>
                  </a:cubicBezTo>
                </a:path>
              </a:pathLst>
            </a:custGeom>
            <a:noFill/>
            <a:ln cap="flat" cmpd="sng" w="57150">
              <a:solidFill>
                <a:srgbClr val="003300"/>
              </a:solidFill>
              <a:prstDash val="solid"/>
              <a:miter lim="800000"/>
              <a:headEnd len="sm" w="sm" type="none"/>
              <a:tailEnd len="sm" w="sm" type="none"/>
            </a:ln>
          </p:spPr>
          <p:txBody>
            <a:bodyPr anchorCtr="0" anchor="ctr" bIns="50375" lIns="100750" spcFirstLastPara="1" rIns="100750" wrap="square" tIns="50375">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21" name="Google Shape;121;p16"/>
            <p:cNvSpPr/>
            <p:nvPr/>
          </p:nvSpPr>
          <p:spPr>
            <a:xfrm>
              <a:off x="2178" y="1971"/>
              <a:ext cx="317" cy="2093"/>
            </a:xfrm>
            <a:custGeom>
              <a:rect b="b" l="l" r="r" t="t"/>
              <a:pathLst>
                <a:path extrusionOk="0" h="1569493" w="191068">
                  <a:moveTo>
                    <a:pt x="150125" y="0"/>
                  </a:moveTo>
                  <a:cubicBezTo>
                    <a:pt x="170596" y="143301"/>
                    <a:pt x="191068" y="286603"/>
                    <a:pt x="191068" y="464024"/>
                  </a:cubicBezTo>
                  <a:cubicBezTo>
                    <a:pt x="191068" y="641445"/>
                    <a:pt x="181970" y="880281"/>
                    <a:pt x="150125" y="1064526"/>
                  </a:cubicBezTo>
                  <a:cubicBezTo>
                    <a:pt x="118280" y="1248771"/>
                    <a:pt x="0" y="1569493"/>
                    <a:pt x="0" y="1569493"/>
                  </a:cubicBezTo>
                </a:path>
              </a:pathLst>
            </a:custGeom>
            <a:noFill/>
            <a:ln cap="flat" cmpd="sng" w="57150">
              <a:solidFill>
                <a:srgbClr val="FF0066"/>
              </a:solidFill>
              <a:prstDash val="solid"/>
              <a:miter lim="800000"/>
              <a:headEnd len="sm" w="sm" type="none"/>
              <a:tailEnd len="sm" w="sm" type="none"/>
            </a:ln>
          </p:spPr>
          <p:txBody>
            <a:bodyPr anchorCtr="0" anchor="ctr" bIns="50375" lIns="100750" spcFirstLastPara="1" rIns="100750" wrap="square" tIns="50375">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22" name="Google Shape;122;p16"/>
            <p:cNvSpPr/>
            <p:nvPr/>
          </p:nvSpPr>
          <p:spPr>
            <a:xfrm>
              <a:off x="928" y="1971"/>
              <a:ext cx="1485" cy="1269"/>
            </a:xfrm>
            <a:custGeom>
              <a:rect b="b" l="l" r="r" t="t"/>
              <a:pathLst>
                <a:path extrusionOk="0" h="1269242" w="709684">
                  <a:moveTo>
                    <a:pt x="709684" y="0"/>
                  </a:moveTo>
                  <a:cubicBezTo>
                    <a:pt x="557284" y="290015"/>
                    <a:pt x="404884" y="580030"/>
                    <a:pt x="286603" y="791570"/>
                  </a:cubicBezTo>
                  <a:cubicBezTo>
                    <a:pt x="168322" y="1003110"/>
                    <a:pt x="84161" y="1136176"/>
                    <a:pt x="0" y="1269242"/>
                  </a:cubicBezTo>
                </a:path>
              </a:pathLst>
            </a:custGeom>
            <a:solidFill>
              <a:srgbClr val="C4BD97"/>
            </a:solidFill>
            <a:ln cap="flat" cmpd="sng" w="57150">
              <a:solidFill>
                <a:srgbClr val="FF0066"/>
              </a:solidFill>
              <a:prstDash val="solid"/>
              <a:miter lim="800000"/>
              <a:headEnd len="sm" w="sm" type="none"/>
              <a:tailEnd len="sm" w="sm" type="none"/>
            </a:ln>
          </p:spPr>
          <p:txBody>
            <a:bodyPr anchorCtr="0" anchor="ctr" bIns="50375" lIns="100750" spcFirstLastPara="1" rIns="100750" wrap="square" tIns="50375">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23" name="Google Shape;123;p16"/>
            <p:cNvSpPr txBox="1"/>
            <p:nvPr/>
          </p:nvSpPr>
          <p:spPr>
            <a:xfrm>
              <a:off x="1080" y="1047"/>
              <a:ext cx="1162" cy="951"/>
            </a:xfrm>
            <a:prstGeom prst="rect">
              <a:avLst/>
            </a:prstGeom>
            <a:noFill/>
            <a:ln>
              <a:noFill/>
            </a:ln>
          </p:spPr>
          <p:txBody>
            <a:bodyPr anchorCtr="0" anchor="t" bIns="50375" lIns="100750" spcFirstLastPara="1" rIns="100750" wrap="square" tIns="50375">
              <a:spAutoFit/>
            </a:bodyPr>
            <a:lstStyle/>
            <a:p>
              <a:pPr indent="0" lvl="0" marL="0" marR="0" rtl="0" algn="l">
                <a:spcBef>
                  <a:spcPts val="0"/>
                </a:spcBef>
                <a:spcAft>
                  <a:spcPts val="0"/>
                </a:spcAft>
                <a:buNone/>
              </a:pPr>
              <a:r>
                <a:rPr b="1" lang="en-US" sz="1700" u="none">
                  <a:solidFill>
                    <a:schemeClr val="dk1"/>
                  </a:solidFill>
                  <a:latin typeface="Comic Sans MS"/>
                  <a:ea typeface="Comic Sans MS"/>
                  <a:cs typeface="Comic Sans MS"/>
                  <a:sym typeface="Comic Sans MS"/>
                </a:rPr>
                <a:t>      </a:t>
              </a:r>
              <a:r>
                <a:rPr b="1" lang="en-US" sz="3700" u="none">
                  <a:solidFill>
                    <a:schemeClr val="dk1"/>
                  </a:solidFill>
                  <a:latin typeface="Comic Sans MS"/>
                  <a:ea typeface="Comic Sans MS"/>
                  <a:cs typeface="Comic Sans MS"/>
                  <a:sym typeface="Comic Sans MS"/>
                </a:rPr>
                <a:t>T</a:t>
              </a:r>
              <a:r>
                <a:rPr b="1" baseline="-25000" lang="en-US" sz="3700" u="none">
                  <a:solidFill>
                    <a:schemeClr val="dk1"/>
                  </a:solidFill>
                  <a:latin typeface="Comic Sans MS"/>
                  <a:ea typeface="Comic Sans MS"/>
                  <a:cs typeface="Comic Sans MS"/>
                  <a:sym typeface="Comic Sans MS"/>
                </a:rPr>
                <a:t>o</a:t>
              </a:r>
              <a:endParaRPr/>
            </a:p>
            <a:p>
              <a:pPr indent="0" lvl="0" marL="0" marR="0" rtl="0" algn="l">
                <a:spcBef>
                  <a:spcPts val="0"/>
                </a:spcBef>
                <a:spcAft>
                  <a:spcPts val="0"/>
                </a:spcAft>
                <a:buNone/>
              </a:pPr>
              <a:r>
                <a:rPr b="1" lang="en-US" sz="3000" u="none">
                  <a:solidFill>
                    <a:schemeClr val="dk1"/>
                  </a:solidFill>
                  <a:latin typeface="Comic Sans MS"/>
                  <a:ea typeface="Comic Sans MS"/>
                  <a:cs typeface="Comic Sans MS"/>
                  <a:sym typeface="Comic Sans MS"/>
                </a:rPr>
                <a:t>Obsolete</a:t>
              </a:r>
              <a:endParaRPr/>
            </a:p>
          </p:txBody>
        </p:sp>
        <p:sp>
          <p:nvSpPr>
            <p:cNvPr id="124" name="Google Shape;124;p16"/>
            <p:cNvSpPr txBox="1"/>
            <p:nvPr/>
          </p:nvSpPr>
          <p:spPr>
            <a:xfrm>
              <a:off x="3120" y="1200"/>
              <a:ext cx="1333" cy="990"/>
            </a:xfrm>
            <a:prstGeom prst="rect">
              <a:avLst/>
            </a:prstGeom>
            <a:noFill/>
            <a:ln>
              <a:noFill/>
            </a:ln>
          </p:spPr>
          <p:txBody>
            <a:bodyPr anchorCtr="0" anchor="t" bIns="50375" lIns="100750" spcFirstLastPara="1" rIns="100750" wrap="square" tIns="50375">
              <a:spAutoFit/>
            </a:bodyPr>
            <a:lstStyle/>
            <a:p>
              <a:pPr indent="0" lvl="0" marL="0" marR="0" rtl="0" algn="l">
                <a:spcBef>
                  <a:spcPts val="0"/>
                </a:spcBef>
                <a:spcAft>
                  <a:spcPts val="0"/>
                </a:spcAft>
                <a:buNone/>
              </a:pPr>
              <a:r>
                <a:rPr b="1" lang="en-US" sz="2600" u="none">
                  <a:solidFill>
                    <a:schemeClr val="dk1"/>
                  </a:solidFill>
                  <a:latin typeface="Comic Sans MS"/>
                  <a:ea typeface="Comic Sans MS"/>
                  <a:cs typeface="Comic Sans MS"/>
                  <a:sym typeface="Comic Sans MS"/>
                </a:rPr>
                <a:t>      </a:t>
              </a:r>
              <a:r>
                <a:rPr b="1" lang="en-US" sz="4000" u="none">
                  <a:solidFill>
                    <a:schemeClr val="dk1"/>
                  </a:solidFill>
                  <a:latin typeface="Comic Sans MS"/>
                  <a:ea typeface="Comic Sans MS"/>
                  <a:cs typeface="Comic Sans MS"/>
                  <a:sym typeface="Comic Sans MS"/>
                </a:rPr>
                <a:t>T</a:t>
              </a:r>
              <a:r>
                <a:rPr b="1" baseline="-25000" lang="en-US" sz="4000" u="none">
                  <a:solidFill>
                    <a:schemeClr val="dk1"/>
                  </a:solidFill>
                  <a:latin typeface="Comic Sans MS"/>
                  <a:ea typeface="Comic Sans MS"/>
                  <a:cs typeface="Comic Sans MS"/>
                  <a:sym typeface="Comic Sans MS"/>
                </a:rPr>
                <a:t>u</a:t>
              </a:r>
              <a:endParaRPr b="1" sz="4000" u="non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1" lang="en-US" sz="3000" u="none">
                  <a:solidFill>
                    <a:schemeClr val="dk1"/>
                  </a:solidFill>
                  <a:latin typeface="Comic Sans MS"/>
                  <a:ea typeface="Comic Sans MS"/>
                  <a:cs typeface="Comic Sans MS"/>
                  <a:sym typeface="Comic Sans MS"/>
                </a:rPr>
                <a:t>Redundant</a:t>
              </a:r>
              <a:endParaRPr/>
            </a:p>
          </p:txBody>
        </p:sp>
        <p:sp>
          <p:nvSpPr>
            <p:cNvPr id="125" name="Google Shape;125;p16"/>
            <p:cNvSpPr txBox="1"/>
            <p:nvPr/>
          </p:nvSpPr>
          <p:spPr>
            <a:xfrm>
              <a:off x="2544" y="2485"/>
              <a:ext cx="1984" cy="964"/>
            </a:xfrm>
            <a:prstGeom prst="rect">
              <a:avLst/>
            </a:prstGeom>
            <a:noFill/>
            <a:ln>
              <a:noFill/>
            </a:ln>
          </p:spPr>
          <p:txBody>
            <a:bodyPr anchorCtr="0" anchor="t" bIns="50375" lIns="100750" spcFirstLastPara="1" rIns="100750" wrap="square" tIns="50375">
              <a:spAutoFit/>
            </a:bodyPr>
            <a:lstStyle/>
            <a:p>
              <a:pPr indent="0" lvl="0" marL="0" marR="0" rtl="0" algn="l">
                <a:spcBef>
                  <a:spcPts val="0"/>
                </a:spcBef>
                <a:spcAft>
                  <a:spcPts val="0"/>
                </a:spcAft>
                <a:buNone/>
              </a:pPr>
              <a:r>
                <a:rPr b="1" lang="en-US" sz="4000" u="none">
                  <a:solidFill>
                    <a:schemeClr val="dk1"/>
                  </a:solidFill>
                  <a:latin typeface="Comic Sans MS"/>
                  <a:ea typeface="Comic Sans MS"/>
                  <a:cs typeface="Comic Sans MS"/>
                  <a:sym typeface="Comic Sans MS"/>
                </a:rPr>
                <a:t>         T</a:t>
              </a:r>
              <a:r>
                <a:rPr b="1" baseline="-25000" lang="en-US" sz="4000" u="none">
                  <a:solidFill>
                    <a:schemeClr val="dk1"/>
                  </a:solidFill>
                  <a:latin typeface="Comic Sans MS"/>
                  <a:ea typeface="Comic Sans MS"/>
                  <a:cs typeface="Comic Sans MS"/>
                  <a:sym typeface="Comic Sans MS"/>
                </a:rPr>
                <a:t>r</a:t>
              </a:r>
              <a:endParaRPr b="1" sz="4000" u="none">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b="1" lang="en-US" sz="2800" u="none">
                  <a:solidFill>
                    <a:srgbClr val="0000FF"/>
                  </a:solidFill>
                  <a:latin typeface="Comic Sans MS"/>
                  <a:ea typeface="Comic Sans MS"/>
                  <a:cs typeface="Comic Sans MS"/>
                  <a:sym typeface="Comic Sans MS"/>
                </a:rPr>
                <a:t>Regression Tests</a:t>
              </a:r>
              <a:endParaRPr/>
            </a:p>
          </p:txBody>
        </p:sp>
        <p:sp>
          <p:nvSpPr>
            <p:cNvPr id="126" name="Google Shape;126;p16"/>
            <p:cNvSpPr/>
            <p:nvPr/>
          </p:nvSpPr>
          <p:spPr>
            <a:xfrm>
              <a:off x="2393" y="1958"/>
              <a:ext cx="2637" cy="838"/>
            </a:xfrm>
            <a:custGeom>
              <a:rect b="b" l="l" r="r" t="t"/>
              <a:pathLst>
                <a:path extrusionOk="0" h="816" w="2160">
                  <a:moveTo>
                    <a:pt x="0" y="0"/>
                  </a:moveTo>
                  <a:cubicBezTo>
                    <a:pt x="444" y="100"/>
                    <a:pt x="888" y="200"/>
                    <a:pt x="1248" y="336"/>
                  </a:cubicBezTo>
                  <a:cubicBezTo>
                    <a:pt x="1608" y="472"/>
                    <a:pt x="1884" y="644"/>
                    <a:pt x="2160" y="816"/>
                  </a:cubicBezTo>
                </a:path>
              </a:pathLst>
            </a:custGeom>
            <a:noFill/>
            <a:ln cap="flat" cmpd="sng" w="571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grpSp>
      <p:sp>
        <p:nvSpPr>
          <p:cNvPr id="127" name="Google Shape;127;p16"/>
          <p:cNvSpPr txBox="1"/>
          <p:nvPr/>
        </p:nvSpPr>
        <p:spPr>
          <a:xfrm>
            <a:off x="216001" y="17905"/>
            <a:ext cx="8609760" cy="636411"/>
          </a:xfrm>
          <a:prstGeom prst="rect">
            <a:avLst/>
          </a:prstGeom>
          <a:noFill/>
          <a:ln>
            <a:noFill/>
          </a:ln>
        </p:spPr>
        <p:txBody>
          <a:bodyPr anchorCtr="0" anchor="t" bIns="40800" lIns="81600" spcFirstLastPara="1" rIns="81600" wrap="square" tIns="40800">
            <a:spAutoFit/>
          </a:bodyPr>
          <a:lstStyle/>
          <a:p>
            <a:pPr indent="0" lvl="0" marL="0" marR="0" rtl="0" algn="ctr">
              <a:spcBef>
                <a:spcPts val="0"/>
              </a:spcBef>
              <a:spcAft>
                <a:spcPts val="0"/>
              </a:spcAft>
              <a:buNone/>
            </a:pPr>
            <a:r>
              <a:rPr b="0" lang="en-US" sz="3600" u="none">
                <a:solidFill>
                  <a:schemeClr val="dk1"/>
                </a:solidFill>
                <a:latin typeface="Gill Sans"/>
                <a:ea typeface="Gill Sans"/>
                <a:cs typeface="Gill Sans"/>
                <a:sym typeface="Gill Sans"/>
              </a:rPr>
              <a:t>Partitions of an Existing Test Suite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1" y="-399642"/>
            <a:ext cx="8995680" cy="1331780"/>
          </a:xfrm>
          <a:prstGeom prst="rect">
            <a:avLst/>
          </a:prstGeom>
          <a:noFill/>
          <a:ln>
            <a:noFill/>
          </a:ln>
        </p:spPr>
        <p:txBody>
          <a:bodyPr anchorCtr="0" anchor="ctr" bIns="37025" lIns="74050" spcFirstLastPara="1" rIns="74050" wrap="square" tIns="37025">
            <a:normAutofit/>
          </a:bodyPr>
          <a:lstStyle/>
          <a:p>
            <a:pPr indent="0" lvl="0" marL="0" rtl="0" algn="ctr">
              <a:spcBef>
                <a:spcPts val="0"/>
              </a:spcBef>
              <a:spcAft>
                <a:spcPts val="0"/>
              </a:spcAft>
              <a:buClr>
                <a:srgbClr val="562214"/>
              </a:buClr>
              <a:buSzPts val="3600"/>
              <a:buFont typeface="Gill Sans"/>
              <a:buNone/>
            </a:pPr>
            <a:r>
              <a:rPr lang="en-US"/>
              <a:t>Major Regression Testing Tasks</a:t>
            </a:r>
            <a:endParaRPr/>
          </a:p>
        </p:txBody>
      </p:sp>
      <p:sp>
        <p:nvSpPr>
          <p:cNvPr id="133" name="Google Shape;133;p17"/>
          <p:cNvSpPr txBox="1"/>
          <p:nvPr>
            <p:ph idx="1" type="body"/>
          </p:nvPr>
        </p:nvSpPr>
        <p:spPr>
          <a:xfrm>
            <a:off x="1066800" y="514134"/>
            <a:ext cx="7848600" cy="3966176"/>
          </a:xfrm>
          <a:prstGeom prst="rect">
            <a:avLst/>
          </a:prstGeom>
          <a:noFill/>
          <a:ln>
            <a:noFill/>
          </a:ln>
        </p:spPr>
        <p:txBody>
          <a:bodyPr anchorCtr="0" anchor="t" bIns="37025" lIns="74050" spcFirstLastPara="1" rIns="74050" wrap="square" tIns="37025">
            <a:normAutofit fontScale="92500" lnSpcReduction="20000"/>
          </a:bodyPr>
          <a:lstStyle/>
          <a:p>
            <a:pPr indent="-303429" lvl="0" marL="303429" rtl="0" algn="l">
              <a:lnSpc>
                <a:spcPct val="120000"/>
              </a:lnSpc>
              <a:spcBef>
                <a:spcPts val="0"/>
              </a:spcBef>
              <a:spcAft>
                <a:spcPts val="0"/>
              </a:spcAft>
              <a:buSzPct val="80000"/>
              <a:buChar char="⚫"/>
            </a:pPr>
            <a:r>
              <a:rPr lang="en-US" sz="3000">
                <a:solidFill>
                  <a:srgbClr val="0000FF"/>
                </a:solidFill>
              </a:rPr>
              <a:t>Test revalidation (RTV):</a:t>
            </a:r>
            <a:endParaRPr/>
          </a:p>
          <a:p>
            <a:pPr indent="-254571" lvl="1" marL="662144" rtl="0" algn="l">
              <a:lnSpc>
                <a:spcPct val="120000"/>
              </a:lnSpc>
              <a:spcBef>
                <a:spcPts val="537"/>
              </a:spcBef>
              <a:spcAft>
                <a:spcPts val="0"/>
              </a:spcAft>
              <a:buSzPct val="100000"/>
              <a:buChar char="◦"/>
            </a:pPr>
            <a:r>
              <a:rPr lang="en-US" sz="2800"/>
              <a:t>Check which tests remain valid</a:t>
            </a:r>
            <a:endParaRPr/>
          </a:p>
          <a:p>
            <a:pPr indent="-303429" lvl="0" marL="303429" rtl="0" algn="l">
              <a:lnSpc>
                <a:spcPct val="120000"/>
              </a:lnSpc>
              <a:spcBef>
                <a:spcPts val="537"/>
              </a:spcBef>
              <a:spcAft>
                <a:spcPts val="0"/>
              </a:spcAft>
              <a:buSzPct val="80000"/>
              <a:buChar char="⚫"/>
            </a:pPr>
            <a:r>
              <a:rPr lang="en-US" sz="3000">
                <a:solidFill>
                  <a:srgbClr val="0000FF"/>
                </a:solidFill>
              </a:rPr>
              <a:t>Test selection (RTS):</a:t>
            </a:r>
            <a:endParaRPr/>
          </a:p>
          <a:p>
            <a:pPr indent="-254571" lvl="1" marL="662144" rtl="0" algn="l">
              <a:lnSpc>
                <a:spcPct val="120000"/>
              </a:lnSpc>
              <a:spcBef>
                <a:spcPts val="537"/>
              </a:spcBef>
              <a:spcAft>
                <a:spcPts val="0"/>
              </a:spcAft>
              <a:buSzPct val="100000"/>
              <a:buChar char="◦"/>
            </a:pPr>
            <a:r>
              <a:rPr lang="en-US" sz="2800"/>
              <a:t>Identify tests that execute modified portions.</a:t>
            </a:r>
            <a:endParaRPr/>
          </a:p>
          <a:p>
            <a:pPr indent="-303429" lvl="0" marL="303429" rtl="0" algn="l">
              <a:lnSpc>
                <a:spcPct val="120000"/>
              </a:lnSpc>
              <a:spcBef>
                <a:spcPts val="537"/>
              </a:spcBef>
              <a:spcAft>
                <a:spcPts val="0"/>
              </a:spcAft>
              <a:buSzPct val="80000"/>
              <a:buChar char="⚫"/>
            </a:pPr>
            <a:r>
              <a:rPr lang="en-US" sz="3000">
                <a:solidFill>
                  <a:srgbClr val="0000FF"/>
                </a:solidFill>
              </a:rPr>
              <a:t>Test minimization (RTM):</a:t>
            </a:r>
            <a:endParaRPr/>
          </a:p>
          <a:p>
            <a:pPr indent="-254571" lvl="1" marL="662144" rtl="0" algn="l">
              <a:lnSpc>
                <a:spcPct val="120000"/>
              </a:lnSpc>
              <a:spcBef>
                <a:spcPts val="537"/>
              </a:spcBef>
              <a:spcAft>
                <a:spcPts val="0"/>
              </a:spcAft>
              <a:buSzPct val="100000"/>
              <a:buChar char="◦"/>
            </a:pPr>
            <a:r>
              <a:rPr lang="en-US" sz="2800"/>
              <a:t>Remove redundant tests. </a:t>
            </a:r>
            <a:endParaRPr/>
          </a:p>
          <a:p>
            <a:pPr indent="-303429" lvl="0" marL="303429" rtl="0" algn="l">
              <a:lnSpc>
                <a:spcPct val="120000"/>
              </a:lnSpc>
              <a:spcBef>
                <a:spcPts val="537"/>
              </a:spcBef>
              <a:spcAft>
                <a:spcPts val="0"/>
              </a:spcAft>
              <a:buSzPct val="80000"/>
              <a:buChar char="⚫"/>
            </a:pPr>
            <a:r>
              <a:rPr lang="en-US" sz="3000">
                <a:solidFill>
                  <a:srgbClr val="0000FF"/>
                </a:solidFill>
              </a:rPr>
              <a:t>Test prioritization (RTP):</a:t>
            </a:r>
            <a:endParaRPr/>
          </a:p>
          <a:p>
            <a:pPr indent="-254571" lvl="1" marL="662144" rtl="0" algn="l">
              <a:lnSpc>
                <a:spcPct val="120000"/>
              </a:lnSpc>
              <a:spcBef>
                <a:spcPts val="537"/>
              </a:spcBef>
              <a:spcAft>
                <a:spcPts val="0"/>
              </a:spcAft>
              <a:buSzPct val="100000"/>
              <a:buChar char="◦"/>
            </a:pPr>
            <a:r>
              <a:rPr lang="en-US" sz="2800"/>
              <a:t>Prioritize tests </a:t>
            </a:r>
            <a:r>
              <a:rPr lang="en-US"/>
              <a:t>based</a:t>
            </a:r>
            <a:r>
              <a:rPr lang="en-US" sz="2800"/>
              <a:t> </a:t>
            </a:r>
            <a:r>
              <a:rPr lang="en-US"/>
              <a:t>on</a:t>
            </a:r>
            <a:r>
              <a:rPr lang="en-US" sz="2800"/>
              <a:t> </a:t>
            </a:r>
            <a:r>
              <a:rPr lang="en-US"/>
              <a:t>certain criteria.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500"/>
                                        <p:tgtEl>
                                          <p:spTgt spid="1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animEffect filter="fade" transition="in">
                                      <p:cBhvr>
                                        <p:cTn dur="500"/>
                                        <p:tgtEl>
                                          <p:spTgt spid="1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animEffect filter="fade" transition="in">
                                      <p:cBhvr>
                                        <p:cTn dur="500"/>
                                        <p:tgtEl>
                                          <p:spTgt spid="1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animEffect filter="fade" transition="in">
                                      <p:cBhvr>
                                        <p:cTn dur="500"/>
                                        <p:tgtEl>
                                          <p:spTgt spid="1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animEffect filter="fade" transition="in">
                                      <p:cBhvr>
                                        <p:cTn dur="500"/>
                                        <p:tgtEl>
                                          <p:spTgt spid="1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animEffect filter="fade" transition="in">
                                      <p:cBhvr>
                                        <p:cTn dur="500"/>
                                        <p:tgtEl>
                                          <p:spTgt spid="1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6" st="6"/>
                                            </p:txEl>
                                          </p:spTgt>
                                        </p:tgtEl>
                                        <p:attrNameLst>
                                          <p:attrName>style.visibility</p:attrName>
                                        </p:attrNameLst>
                                      </p:cBhvr>
                                      <p:to>
                                        <p:strVal val="visible"/>
                                      </p:to>
                                    </p:set>
                                    <p:animEffect filter="fade" transition="in">
                                      <p:cBhvr>
                                        <p:cTn dur="500"/>
                                        <p:tgtEl>
                                          <p:spTgt spid="13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7" st="7"/>
                                            </p:txEl>
                                          </p:spTgt>
                                        </p:tgtEl>
                                        <p:attrNameLst>
                                          <p:attrName>style.visibility</p:attrName>
                                        </p:attrNameLst>
                                      </p:cBhvr>
                                      <p:to>
                                        <p:strVal val="visible"/>
                                      </p:to>
                                    </p:set>
                                    <p:animEffect filter="fade" transition="in">
                                      <p:cBhvr>
                                        <p:cTn dur="500"/>
                                        <p:tgtEl>
                                          <p:spTgt spid="13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idx="4294967295" type="title"/>
          </p:nvPr>
        </p:nvSpPr>
        <p:spPr>
          <a:xfrm>
            <a:off x="456480" y="-332675"/>
            <a:ext cx="8225280" cy="1331780"/>
          </a:xfrm>
          <a:prstGeom prst="rect">
            <a:avLst/>
          </a:prstGeom>
          <a:noFill/>
          <a:ln>
            <a:noFill/>
          </a:ln>
        </p:spPr>
        <p:txBody>
          <a:bodyPr anchorCtr="0" anchor="ctr" bIns="40800" lIns="81600" spcFirstLastPara="1" rIns="81600" wrap="square" tIns="40800">
            <a:normAutofit/>
          </a:bodyPr>
          <a:lstStyle/>
          <a:p>
            <a:pPr indent="0" lvl="0" marL="0" rtl="0" algn="ctr">
              <a:spcBef>
                <a:spcPts val="0"/>
              </a:spcBef>
              <a:spcAft>
                <a:spcPts val="0"/>
              </a:spcAft>
              <a:buClr>
                <a:srgbClr val="562214"/>
              </a:buClr>
              <a:buSzPts val="3600"/>
              <a:buFont typeface="Gill Sans"/>
              <a:buNone/>
            </a:pPr>
            <a:r>
              <a:rPr lang="en-US" sz="3600"/>
              <a:t>Automating regression testing</a:t>
            </a:r>
            <a:endParaRPr/>
          </a:p>
        </p:txBody>
      </p:sp>
      <p:grpSp>
        <p:nvGrpSpPr>
          <p:cNvPr id="139" name="Google Shape;139;p18"/>
          <p:cNvGrpSpPr/>
          <p:nvPr/>
        </p:nvGrpSpPr>
        <p:grpSpPr>
          <a:xfrm>
            <a:off x="1050210" y="939911"/>
            <a:ext cx="7650680" cy="3887173"/>
            <a:chOff x="250" y="1117"/>
            <a:chExt cx="3934" cy="2614"/>
          </a:xfrm>
        </p:grpSpPr>
        <p:sp>
          <p:nvSpPr>
            <p:cNvPr id="140" name="Google Shape;140;p18"/>
            <p:cNvSpPr/>
            <p:nvPr/>
          </p:nvSpPr>
          <p:spPr>
            <a:xfrm>
              <a:off x="295" y="2296"/>
              <a:ext cx="1043" cy="454"/>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41" name="Google Shape;141;p18"/>
            <p:cNvSpPr/>
            <p:nvPr/>
          </p:nvSpPr>
          <p:spPr>
            <a:xfrm>
              <a:off x="295" y="1117"/>
              <a:ext cx="998" cy="635"/>
            </a:xfrm>
            <a:prstGeom prst="flowChartMultidocument">
              <a:avLst/>
            </a:prstGeom>
            <a:no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42" name="Google Shape;142;p18"/>
            <p:cNvSpPr txBox="1"/>
            <p:nvPr/>
          </p:nvSpPr>
          <p:spPr>
            <a:xfrm>
              <a:off x="398" y="2296"/>
              <a:ext cx="993" cy="482"/>
            </a:xfrm>
            <a:prstGeom prst="rect">
              <a:avLst/>
            </a:prstGeom>
            <a:noFill/>
            <a:ln>
              <a:noFill/>
            </a:ln>
          </p:spPr>
          <p:txBody>
            <a:bodyPr anchorCtr="0" anchor="t" bIns="50375" lIns="100775" spcFirstLastPara="1" rIns="100775" wrap="square" tIns="50375">
              <a:spAutoFit/>
            </a:bodyPr>
            <a:lstStyle/>
            <a:p>
              <a:pPr indent="0" lvl="0" marL="0" marR="0" rtl="0" algn="ctr">
                <a:spcBef>
                  <a:spcPts val="0"/>
                </a:spcBef>
                <a:spcAft>
                  <a:spcPts val="0"/>
                </a:spcAft>
                <a:buNone/>
              </a:pPr>
              <a:r>
                <a:rPr b="1" lang="en-US" sz="2000">
                  <a:solidFill>
                    <a:schemeClr val="dk1"/>
                  </a:solidFill>
                  <a:latin typeface="Comic Sans MS"/>
                  <a:ea typeface="Comic Sans MS"/>
                  <a:cs typeface="Comic Sans MS"/>
                  <a:sym typeface="Comic Sans MS"/>
                </a:rPr>
                <a:t>Build tests </a:t>
              </a:r>
              <a:br>
                <a:rPr b="1" lang="en-US" sz="2000">
                  <a:solidFill>
                    <a:schemeClr val="dk1"/>
                  </a:solidFill>
                  <a:latin typeface="Comic Sans MS"/>
                  <a:ea typeface="Comic Sans MS"/>
                  <a:cs typeface="Comic Sans MS"/>
                  <a:sym typeface="Comic Sans MS"/>
                </a:rPr>
              </a:br>
              <a:r>
                <a:rPr b="1" lang="en-US" sz="2000">
                  <a:solidFill>
                    <a:schemeClr val="dk1"/>
                  </a:solidFill>
                  <a:latin typeface="Comic Sans MS"/>
                  <a:ea typeface="Comic Sans MS"/>
                  <a:cs typeface="Comic Sans MS"/>
                  <a:sym typeface="Comic Sans MS"/>
                </a:rPr>
                <a:t>for version x </a:t>
              </a:r>
              <a:endParaRPr/>
            </a:p>
          </p:txBody>
        </p:sp>
        <p:sp>
          <p:nvSpPr>
            <p:cNvPr id="143" name="Google Shape;143;p18"/>
            <p:cNvSpPr/>
            <p:nvPr/>
          </p:nvSpPr>
          <p:spPr>
            <a:xfrm>
              <a:off x="703" y="1842"/>
              <a:ext cx="181" cy="409"/>
            </a:xfrm>
            <a:prstGeom prst="downArrow">
              <a:avLst>
                <a:gd fmla="val 50000" name="adj1"/>
                <a:gd fmla="val 56492"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44" name="Google Shape;144;p18"/>
            <p:cNvSpPr txBox="1"/>
            <p:nvPr/>
          </p:nvSpPr>
          <p:spPr>
            <a:xfrm>
              <a:off x="385" y="1344"/>
              <a:ext cx="716" cy="255"/>
            </a:xfrm>
            <a:prstGeom prst="rect">
              <a:avLst/>
            </a:prstGeom>
            <a:noFill/>
            <a:ln>
              <a:noFill/>
            </a:ln>
          </p:spPr>
          <p:txBody>
            <a:bodyPr anchorCtr="0" anchor="t" bIns="50375" lIns="100775" spcFirstLastPara="1" rIns="100775" wrap="square" tIns="50375">
              <a:spAutoFit/>
            </a:bodyPr>
            <a:lstStyle/>
            <a:p>
              <a:pPr indent="0" lvl="0" marL="0" marR="0" rtl="0" algn="ctr">
                <a:spcBef>
                  <a:spcPts val="0"/>
                </a:spcBef>
                <a:spcAft>
                  <a:spcPts val="0"/>
                </a:spcAft>
                <a:buNone/>
              </a:pPr>
              <a:r>
                <a:rPr b="1" lang="en-US" sz="1800">
                  <a:solidFill>
                    <a:schemeClr val="dk1"/>
                  </a:solidFill>
                  <a:latin typeface="Comic Sans MS"/>
                  <a:ea typeface="Comic Sans MS"/>
                  <a:cs typeface="Comic Sans MS"/>
                  <a:sym typeface="Comic Sans MS"/>
                </a:rPr>
                <a:t>Test data</a:t>
              </a:r>
              <a:endParaRPr/>
            </a:p>
          </p:txBody>
        </p:sp>
        <p:sp>
          <p:nvSpPr>
            <p:cNvPr id="145" name="Google Shape;145;p18"/>
            <p:cNvSpPr/>
            <p:nvPr/>
          </p:nvSpPr>
          <p:spPr>
            <a:xfrm>
              <a:off x="250" y="3249"/>
              <a:ext cx="1043" cy="454"/>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46" name="Google Shape;146;p18"/>
            <p:cNvSpPr txBox="1"/>
            <p:nvPr/>
          </p:nvSpPr>
          <p:spPr>
            <a:xfrm>
              <a:off x="353" y="3249"/>
              <a:ext cx="993" cy="482"/>
            </a:xfrm>
            <a:prstGeom prst="rect">
              <a:avLst/>
            </a:prstGeom>
            <a:noFill/>
            <a:ln>
              <a:noFill/>
            </a:ln>
          </p:spPr>
          <p:txBody>
            <a:bodyPr anchorCtr="0" anchor="t" bIns="50375" lIns="100775" spcFirstLastPara="1" rIns="100775" wrap="square" tIns="50375">
              <a:spAutoFit/>
            </a:bodyPr>
            <a:lstStyle/>
            <a:p>
              <a:pPr indent="0" lvl="0" marL="0" marR="0" rtl="0" algn="ctr">
                <a:spcBef>
                  <a:spcPts val="0"/>
                </a:spcBef>
                <a:spcAft>
                  <a:spcPts val="0"/>
                </a:spcAft>
                <a:buNone/>
              </a:pPr>
              <a:r>
                <a:rPr b="1" lang="en-US" sz="2000">
                  <a:solidFill>
                    <a:schemeClr val="dk1"/>
                  </a:solidFill>
                  <a:latin typeface="Comic Sans MS"/>
                  <a:ea typeface="Comic Sans MS"/>
                  <a:cs typeface="Comic Sans MS"/>
                  <a:sym typeface="Comic Sans MS"/>
                </a:rPr>
                <a:t>Run tests </a:t>
              </a:r>
              <a:br>
                <a:rPr b="1" lang="en-US" sz="2000">
                  <a:solidFill>
                    <a:schemeClr val="dk1"/>
                  </a:solidFill>
                  <a:latin typeface="Comic Sans MS"/>
                  <a:ea typeface="Comic Sans MS"/>
                  <a:cs typeface="Comic Sans MS"/>
                  <a:sym typeface="Comic Sans MS"/>
                </a:rPr>
              </a:br>
              <a:r>
                <a:rPr b="1" lang="en-US" sz="2000">
                  <a:solidFill>
                    <a:schemeClr val="dk1"/>
                  </a:solidFill>
                  <a:latin typeface="Comic Sans MS"/>
                  <a:ea typeface="Comic Sans MS"/>
                  <a:cs typeface="Comic Sans MS"/>
                  <a:sym typeface="Comic Sans MS"/>
                </a:rPr>
                <a:t>for version x </a:t>
              </a:r>
              <a:endParaRPr/>
            </a:p>
          </p:txBody>
        </p:sp>
        <p:sp>
          <p:nvSpPr>
            <p:cNvPr id="147" name="Google Shape;147;p18"/>
            <p:cNvSpPr/>
            <p:nvPr/>
          </p:nvSpPr>
          <p:spPr>
            <a:xfrm>
              <a:off x="657" y="2795"/>
              <a:ext cx="181" cy="409"/>
            </a:xfrm>
            <a:prstGeom prst="downArrow">
              <a:avLst>
                <a:gd fmla="val 50000" name="adj1"/>
                <a:gd fmla="val 56492"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48" name="Google Shape;148;p18"/>
            <p:cNvSpPr/>
            <p:nvPr/>
          </p:nvSpPr>
          <p:spPr>
            <a:xfrm>
              <a:off x="1883" y="1162"/>
              <a:ext cx="1043" cy="454"/>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49" name="Google Shape;149;p18"/>
            <p:cNvSpPr txBox="1"/>
            <p:nvPr/>
          </p:nvSpPr>
          <p:spPr>
            <a:xfrm>
              <a:off x="1986" y="1162"/>
              <a:ext cx="993" cy="482"/>
            </a:xfrm>
            <a:prstGeom prst="rect">
              <a:avLst/>
            </a:prstGeom>
            <a:noFill/>
            <a:ln>
              <a:noFill/>
            </a:ln>
          </p:spPr>
          <p:txBody>
            <a:bodyPr anchorCtr="0" anchor="t" bIns="50375" lIns="100775" spcFirstLastPara="1" rIns="100775" wrap="square" tIns="50375">
              <a:spAutoFit/>
            </a:bodyPr>
            <a:lstStyle/>
            <a:p>
              <a:pPr indent="0" lvl="0" marL="0" marR="0" rtl="0" algn="ctr">
                <a:spcBef>
                  <a:spcPts val="0"/>
                </a:spcBef>
                <a:spcAft>
                  <a:spcPts val="0"/>
                </a:spcAft>
                <a:buNone/>
              </a:pPr>
              <a:r>
                <a:rPr b="1" lang="en-US" sz="2000">
                  <a:solidFill>
                    <a:schemeClr val="dk1"/>
                  </a:solidFill>
                  <a:latin typeface="Comic Sans MS"/>
                  <a:ea typeface="Comic Sans MS"/>
                  <a:cs typeface="Comic Sans MS"/>
                  <a:sym typeface="Comic Sans MS"/>
                </a:rPr>
                <a:t>Build results </a:t>
              </a:r>
              <a:br>
                <a:rPr b="1" lang="en-US" sz="2000">
                  <a:solidFill>
                    <a:schemeClr val="dk1"/>
                  </a:solidFill>
                  <a:latin typeface="Comic Sans MS"/>
                  <a:ea typeface="Comic Sans MS"/>
                  <a:cs typeface="Comic Sans MS"/>
                  <a:sym typeface="Comic Sans MS"/>
                </a:rPr>
              </a:br>
              <a:r>
                <a:rPr b="1" lang="en-US" sz="2000">
                  <a:solidFill>
                    <a:schemeClr val="dk1"/>
                  </a:solidFill>
                  <a:latin typeface="Comic Sans MS"/>
                  <a:ea typeface="Comic Sans MS"/>
                  <a:cs typeface="Comic Sans MS"/>
                  <a:sym typeface="Comic Sans MS"/>
                </a:rPr>
                <a:t>for version x </a:t>
              </a:r>
              <a:endParaRPr/>
            </a:p>
          </p:txBody>
        </p:sp>
        <p:sp>
          <p:nvSpPr>
            <p:cNvPr id="150" name="Google Shape;150;p18"/>
            <p:cNvSpPr/>
            <p:nvPr/>
          </p:nvSpPr>
          <p:spPr>
            <a:xfrm>
              <a:off x="1383" y="1253"/>
              <a:ext cx="453" cy="181"/>
            </a:xfrm>
            <a:prstGeom prst="rightArrow">
              <a:avLst>
                <a:gd fmla="val 50000" name="adj1"/>
                <a:gd fmla="val 62569"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51" name="Google Shape;151;p18"/>
            <p:cNvSpPr/>
            <p:nvPr/>
          </p:nvSpPr>
          <p:spPr>
            <a:xfrm>
              <a:off x="1383" y="3385"/>
              <a:ext cx="454" cy="181"/>
            </a:xfrm>
            <a:prstGeom prst="rightArrow">
              <a:avLst>
                <a:gd fmla="val 50000" name="adj1"/>
                <a:gd fmla="val 62707"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52" name="Google Shape;152;p18"/>
            <p:cNvSpPr/>
            <p:nvPr/>
          </p:nvSpPr>
          <p:spPr>
            <a:xfrm>
              <a:off x="1927" y="3249"/>
              <a:ext cx="907" cy="453"/>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53" name="Google Shape;153;p18"/>
            <p:cNvSpPr txBox="1"/>
            <p:nvPr/>
          </p:nvSpPr>
          <p:spPr>
            <a:xfrm>
              <a:off x="2022" y="3348"/>
              <a:ext cx="696" cy="275"/>
            </a:xfrm>
            <a:prstGeom prst="rect">
              <a:avLst/>
            </a:prstGeom>
            <a:noFill/>
            <a:ln>
              <a:noFill/>
            </a:ln>
          </p:spPr>
          <p:txBody>
            <a:bodyPr anchorCtr="0" anchor="t" bIns="50375" lIns="100775" spcFirstLastPara="1" rIns="100775" wrap="square" tIns="50375">
              <a:spAutoFit/>
            </a:bodyPr>
            <a:lstStyle/>
            <a:p>
              <a:pPr indent="0" lvl="0" marL="0" marR="0" rtl="0" algn="ctr">
                <a:spcBef>
                  <a:spcPts val="0"/>
                </a:spcBef>
                <a:spcAft>
                  <a:spcPts val="0"/>
                </a:spcAft>
                <a:buNone/>
              </a:pPr>
              <a:r>
                <a:rPr b="1" lang="en-US" sz="2000">
                  <a:solidFill>
                    <a:schemeClr val="dk1"/>
                  </a:solidFill>
                  <a:latin typeface="Comic Sans MS"/>
                  <a:ea typeface="Comic Sans MS"/>
                  <a:cs typeface="Comic Sans MS"/>
                  <a:sym typeface="Comic Sans MS"/>
                </a:rPr>
                <a:t>Compare </a:t>
              </a:r>
              <a:endParaRPr/>
            </a:p>
          </p:txBody>
        </p:sp>
        <p:sp>
          <p:nvSpPr>
            <p:cNvPr id="154" name="Google Shape;154;p18"/>
            <p:cNvSpPr/>
            <p:nvPr/>
          </p:nvSpPr>
          <p:spPr>
            <a:xfrm>
              <a:off x="2245" y="1706"/>
              <a:ext cx="227" cy="1497"/>
            </a:xfrm>
            <a:prstGeom prst="downArrow">
              <a:avLst>
                <a:gd fmla="val 50000" name="adj1"/>
                <a:gd fmla="val 164868"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55" name="Google Shape;155;p18"/>
            <p:cNvSpPr/>
            <p:nvPr/>
          </p:nvSpPr>
          <p:spPr>
            <a:xfrm>
              <a:off x="2971" y="3385"/>
              <a:ext cx="454" cy="181"/>
            </a:xfrm>
            <a:prstGeom prst="rightArrow">
              <a:avLst>
                <a:gd fmla="val 50000" name="adj1"/>
                <a:gd fmla="val 62707"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ctr">
                <a:spcBef>
                  <a:spcPts val="0"/>
                </a:spcBef>
                <a:spcAft>
                  <a:spcPts val="0"/>
                </a:spcAft>
                <a:buNone/>
              </a:pPr>
              <a:r>
                <a:t/>
              </a:r>
              <a:endParaRPr b="1" sz="1800">
                <a:solidFill>
                  <a:schemeClr val="dk1"/>
                </a:solidFill>
                <a:latin typeface="Gill Sans"/>
                <a:ea typeface="Gill Sans"/>
                <a:cs typeface="Gill Sans"/>
                <a:sym typeface="Gill Sans"/>
              </a:endParaRPr>
            </a:p>
          </p:txBody>
        </p:sp>
        <p:sp>
          <p:nvSpPr>
            <p:cNvPr id="156" name="Google Shape;156;p18"/>
            <p:cNvSpPr txBox="1"/>
            <p:nvPr/>
          </p:nvSpPr>
          <p:spPr>
            <a:xfrm>
              <a:off x="3553" y="3352"/>
              <a:ext cx="631" cy="275"/>
            </a:xfrm>
            <a:prstGeom prst="rect">
              <a:avLst/>
            </a:prstGeom>
            <a:noFill/>
            <a:ln>
              <a:noFill/>
            </a:ln>
          </p:spPr>
          <p:txBody>
            <a:bodyPr anchorCtr="0" anchor="t" bIns="50375" lIns="100775" spcFirstLastPara="1" rIns="100775" wrap="square" tIns="50375">
              <a:spAutoFit/>
            </a:bodyPr>
            <a:lstStyle/>
            <a:p>
              <a:pPr indent="0" lvl="0" marL="0" marR="0" rtl="0" algn="ctr">
                <a:spcBef>
                  <a:spcPts val="0"/>
                </a:spcBef>
                <a:spcAft>
                  <a:spcPts val="0"/>
                </a:spcAft>
                <a:buNone/>
              </a:pPr>
              <a:r>
                <a:rPr b="1" lang="en-US" sz="2000">
                  <a:solidFill>
                    <a:schemeClr val="dk1"/>
                  </a:solidFill>
                  <a:latin typeface="Comic Sans MS"/>
                  <a:ea typeface="Comic Sans MS"/>
                  <a:cs typeface="Comic Sans MS"/>
                  <a:sym typeface="Comic Sans MS"/>
                </a:rPr>
                <a:t>Verdict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9"/>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Testing</a:t>
            </a:r>
            <a:endParaRPr/>
          </a:p>
        </p:txBody>
      </p:sp>
      <p:sp>
        <p:nvSpPr>
          <p:cNvPr id="162" name="Google Shape;162;p19"/>
          <p:cNvSpPr txBox="1"/>
          <p:nvPr>
            <p:ph idx="1" type="body"/>
          </p:nvPr>
        </p:nvSpPr>
        <p:spPr>
          <a:xfrm>
            <a:off x="1066800" y="1085850"/>
            <a:ext cx="7866888"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Does not belong to either unit test, integration test, or system test. </a:t>
            </a:r>
            <a:endParaRPr/>
          </a:p>
          <a:p>
            <a:pPr indent="-237744" lvl="1" marL="640080" rtl="0" algn="just">
              <a:lnSpc>
                <a:spcPct val="100000"/>
              </a:lnSpc>
              <a:spcBef>
                <a:spcPts val="788"/>
              </a:spcBef>
              <a:spcAft>
                <a:spcPts val="0"/>
              </a:spcAft>
              <a:buSzPts val="2400"/>
              <a:buChar char="◦"/>
            </a:pPr>
            <a:r>
              <a:rPr lang="en-US"/>
              <a:t>In stead, it is a separate dimension to these three forms of testing.</a:t>
            </a:r>
            <a:endParaRPr/>
          </a:p>
          <a:p>
            <a:pPr indent="-283464" lvl="0" marL="365760" rtl="0" algn="just">
              <a:lnSpc>
                <a:spcPct val="100000"/>
              </a:lnSpc>
              <a:spcBef>
                <a:spcPts val="388"/>
              </a:spcBef>
              <a:spcAft>
                <a:spcPts val="0"/>
              </a:spcAft>
              <a:buSzPts val="1920"/>
              <a:buChar char="⚫"/>
            </a:pPr>
            <a:r>
              <a:rPr lang="en-US" sz="2400"/>
              <a:t>Regression testing (RT)is the running of test suite:</a:t>
            </a:r>
            <a:endParaRPr/>
          </a:p>
          <a:p>
            <a:pPr indent="-237744" lvl="1" marL="640080" rtl="0" algn="just">
              <a:lnSpc>
                <a:spcPct val="100000"/>
              </a:lnSpc>
              <a:spcBef>
                <a:spcPts val="350"/>
              </a:spcBef>
              <a:spcAft>
                <a:spcPts val="0"/>
              </a:spcAft>
              <a:buSzPts val="2400"/>
              <a:buChar char="◦"/>
            </a:pPr>
            <a:r>
              <a:rPr lang="en-US"/>
              <a:t>after each change to the system or after each bug fix </a:t>
            </a:r>
            <a:endParaRPr/>
          </a:p>
          <a:p>
            <a:pPr indent="-237744" lvl="1" marL="640080" rtl="0" algn="just">
              <a:lnSpc>
                <a:spcPct val="100000"/>
              </a:lnSpc>
              <a:spcBef>
                <a:spcPts val="350"/>
              </a:spcBef>
              <a:spcAft>
                <a:spcPts val="0"/>
              </a:spcAft>
              <a:buSzPts val="2400"/>
              <a:buChar char="◦"/>
            </a:pPr>
            <a:r>
              <a:rPr lang="en-US">
                <a:solidFill>
                  <a:srgbClr val="0000CC"/>
                </a:solidFill>
              </a:rPr>
              <a:t>ensures that no new bug has been introduced due to the change or the bug fix.</a:t>
            </a:r>
            <a:endParaRPr/>
          </a:p>
          <a:p>
            <a:pPr indent="-181864" lvl="0" marL="365760" rtl="0" algn="just">
              <a:lnSpc>
                <a:spcPct val="100000"/>
              </a:lnSpc>
              <a:spcBef>
                <a:spcPts val="600"/>
              </a:spcBef>
              <a:spcAft>
                <a:spcPts val="0"/>
              </a:spcAft>
              <a:buSzPts val="1600"/>
              <a:buNone/>
            </a:pPr>
            <a:r>
              <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US"/>
              <a:t> </a:t>
            </a:r>
            <a:endParaRPr/>
          </a:p>
        </p:txBody>
      </p:sp>
      <p:sp>
        <p:nvSpPr>
          <p:cNvPr id="168" name="Google Shape;168;p20"/>
          <p:cNvSpPr txBox="1"/>
          <p:nvPr>
            <p:ph idx="1" type="body"/>
          </p:nvPr>
        </p:nvSpPr>
        <p:spPr>
          <a:xfrm>
            <a:off x="1143000" y="1085850"/>
            <a:ext cx="7790688"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Regression tests assure: </a:t>
            </a:r>
            <a:endParaRPr/>
          </a:p>
          <a:p>
            <a:pPr indent="-237744" lvl="1" marL="640080" rtl="0" algn="just">
              <a:lnSpc>
                <a:spcPct val="100000"/>
              </a:lnSpc>
              <a:spcBef>
                <a:spcPts val="788"/>
              </a:spcBef>
              <a:spcAft>
                <a:spcPts val="0"/>
              </a:spcAft>
              <a:buSzPts val="2400"/>
              <a:buChar char="◦"/>
            </a:pPr>
            <a:r>
              <a:rPr lang="en-US"/>
              <a:t>the new system’s performance is at least as good as the old system</a:t>
            </a:r>
            <a:endParaRPr/>
          </a:p>
          <a:p>
            <a:pPr indent="-237744" lvl="1" marL="640080" rtl="0" algn="just">
              <a:lnSpc>
                <a:spcPct val="100000"/>
              </a:lnSpc>
              <a:spcBef>
                <a:spcPts val="788"/>
              </a:spcBef>
              <a:spcAft>
                <a:spcPts val="0"/>
              </a:spcAft>
              <a:buSzPts val="2400"/>
              <a:buChar char="◦"/>
            </a:pPr>
            <a:r>
              <a:rPr lang="en-US"/>
              <a:t>always used during phased system development.</a:t>
            </a:r>
            <a:endParaRPr/>
          </a:p>
          <a:p>
            <a:pPr indent="-141223" lvl="0" marL="365760" rtl="0" algn="just">
              <a:lnSpc>
                <a:spcPct val="100000"/>
              </a:lnSpc>
              <a:spcBef>
                <a:spcPts val="875"/>
              </a:spcBef>
              <a:spcAft>
                <a:spcPts val="0"/>
              </a:spcAft>
              <a:buSzPts val="224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Testing</a:t>
            </a:r>
            <a:endParaRPr/>
          </a:p>
        </p:txBody>
      </p:sp>
      <p:sp>
        <p:nvSpPr>
          <p:cNvPr id="174" name="Google Shape;174;p21"/>
          <p:cNvSpPr txBox="1"/>
          <p:nvPr>
            <p:ph idx="1" type="body"/>
          </p:nvPr>
        </p:nvSpPr>
        <p:spPr>
          <a:xfrm>
            <a:off x="1066800" y="1085850"/>
            <a:ext cx="7866888"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solidFill>
                  <a:schemeClr val="dk1"/>
                </a:solidFill>
              </a:rPr>
              <a:t>Regression testing is any type of software testing that seeks to uncover new errors, or regressions, in the existing functionality after changes have been made to the software, such as functional enhancements, patches or configuration changes.</a:t>
            </a:r>
            <a:endParaRPr/>
          </a:p>
          <a:p>
            <a:pPr indent="-283464" lvl="0" marL="365760" rtl="0" algn="just">
              <a:lnSpc>
                <a:spcPct val="100000"/>
              </a:lnSpc>
              <a:spcBef>
                <a:spcPts val="875"/>
              </a:spcBef>
              <a:spcAft>
                <a:spcPts val="0"/>
              </a:spcAft>
              <a:buSzPts val="1920"/>
              <a:buChar char=""/>
            </a:pPr>
            <a:r>
              <a:rPr lang="en-US" sz="2400">
                <a:solidFill>
                  <a:schemeClr val="dk1"/>
                </a:solidFill>
              </a:rPr>
              <a:t>It can also be defined as the software maintenance task performed to instill confidence that changes are correct and have not adversely affected the unchanged portions of the program.</a:t>
            </a:r>
            <a:endParaRPr sz="24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914400" y="133350"/>
            <a:ext cx="85344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br>
              <a:rPr lang="en-US"/>
            </a:br>
            <a:br>
              <a:rPr lang="en-US"/>
            </a:br>
            <a:r>
              <a:rPr lang="en-US"/>
              <a:t>Progressive vs. Regressive Testing</a:t>
            </a:r>
            <a:br>
              <a:rPr lang="en-US"/>
            </a:br>
            <a:br>
              <a:rPr lang="en-US"/>
            </a:br>
            <a:endParaRPr/>
          </a:p>
        </p:txBody>
      </p:sp>
      <p:sp>
        <p:nvSpPr>
          <p:cNvPr id="180" name="Google Shape;180;p22"/>
          <p:cNvSpPr txBox="1"/>
          <p:nvPr>
            <p:ph idx="1" type="body"/>
          </p:nvPr>
        </p:nvSpPr>
        <p:spPr>
          <a:xfrm>
            <a:off x="877957" y="968237"/>
            <a:ext cx="8153400" cy="3429000"/>
          </a:xfrm>
          <a:prstGeom prst="rect">
            <a:avLst/>
          </a:prstGeom>
          <a:noFill/>
          <a:ln>
            <a:noFill/>
          </a:ln>
        </p:spPr>
        <p:txBody>
          <a:bodyPr anchorCtr="0" anchor="t" bIns="45700" lIns="91425" spcFirstLastPara="1" rIns="91425" wrap="square" tIns="0">
            <a:noAutofit/>
          </a:bodyPr>
          <a:lstStyle/>
          <a:p>
            <a:pPr indent="-283464" lvl="0" marL="365760" rtl="0" algn="just">
              <a:lnSpc>
                <a:spcPct val="100000"/>
              </a:lnSpc>
              <a:spcBef>
                <a:spcPts val="0"/>
              </a:spcBef>
              <a:spcAft>
                <a:spcPts val="0"/>
              </a:spcAft>
              <a:buSzPts val="1920"/>
              <a:buChar char="⚫"/>
            </a:pPr>
            <a:r>
              <a:rPr lang="en-US" sz="2400"/>
              <a:t>All different types of  testings  like Unit Testing, Integration Testing   are Progressive testing or Developmental  testing. </a:t>
            </a:r>
            <a:endParaRPr/>
          </a:p>
          <a:p>
            <a:pPr indent="-283464" lvl="0" marL="365760" rtl="0" algn="just">
              <a:lnSpc>
                <a:spcPct val="100000"/>
              </a:lnSpc>
              <a:spcBef>
                <a:spcPts val="875"/>
              </a:spcBef>
              <a:spcAft>
                <a:spcPts val="0"/>
              </a:spcAft>
              <a:buSzPts val="1920"/>
              <a:buChar char="⚫"/>
            </a:pPr>
            <a:r>
              <a:rPr lang="en-US" sz="2400"/>
              <a:t>From verification to validation, the testing process progresses towards release of the product.</a:t>
            </a:r>
            <a:endParaRPr/>
          </a:p>
          <a:p>
            <a:pPr indent="-283464" lvl="0" marL="365760" rtl="0" algn="just">
              <a:lnSpc>
                <a:spcPct val="100000"/>
              </a:lnSpc>
              <a:spcBef>
                <a:spcPts val="875"/>
              </a:spcBef>
              <a:spcAft>
                <a:spcPts val="0"/>
              </a:spcAft>
              <a:buSzPts val="1920"/>
              <a:buChar char="⚫"/>
            </a:pPr>
            <a:r>
              <a:rPr lang="en-US" sz="2400"/>
              <a:t>But, the intent of Regressive testing is to assure that a change, such as a   bug fix, did not introduce new bugs. One of the main reasons for regression testing is that it's often extremely difficult for a programmer to figure out how a change in one part of the software will echo in other parts of the software.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1435608" y="5715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testing     cont…</a:t>
            </a:r>
            <a:endParaRPr/>
          </a:p>
        </p:txBody>
      </p:sp>
      <p:sp>
        <p:nvSpPr>
          <p:cNvPr id="186" name="Google Shape;186;p23"/>
          <p:cNvSpPr txBox="1"/>
          <p:nvPr>
            <p:ph idx="1" type="body"/>
          </p:nvPr>
        </p:nvSpPr>
        <p:spPr>
          <a:xfrm>
            <a:off x="1066800" y="895350"/>
            <a:ext cx="8001000" cy="3886200"/>
          </a:xfrm>
          <a:prstGeom prst="rect">
            <a:avLst/>
          </a:prstGeom>
          <a:noFill/>
          <a:ln>
            <a:noFill/>
          </a:ln>
        </p:spPr>
        <p:txBody>
          <a:bodyPr anchorCtr="0" anchor="t" bIns="45700" lIns="91425" spcFirstLastPara="1" rIns="91425" wrap="square" tIns="0">
            <a:noAutofit/>
          </a:bodyPr>
          <a:lstStyle/>
          <a:p>
            <a:pPr indent="-283464" lvl="0" marL="365760" rtl="0" algn="just">
              <a:lnSpc>
                <a:spcPct val="100000"/>
              </a:lnSpc>
              <a:spcBef>
                <a:spcPts val="0"/>
              </a:spcBef>
              <a:spcAft>
                <a:spcPts val="0"/>
              </a:spcAft>
              <a:buSzPts val="1600"/>
              <a:buChar char="⚫"/>
            </a:pPr>
            <a:r>
              <a:rPr lang="en-US" sz="2000"/>
              <a:t>A system under test (SUT) is said to regress if, </a:t>
            </a:r>
            <a:endParaRPr sz="2000"/>
          </a:p>
          <a:p>
            <a:pPr indent="-606425" lvl="0" marL="688975" rtl="0" algn="just">
              <a:lnSpc>
                <a:spcPct val="100000"/>
              </a:lnSpc>
              <a:spcBef>
                <a:spcPts val="875"/>
              </a:spcBef>
              <a:spcAft>
                <a:spcPts val="0"/>
              </a:spcAft>
              <a:buSzPts val="1600"/>
              <a:buFont typeface="Noto Sans Symbols"/>
              <a:buChar char="⮚"/>
            </a:pPr>
            <a:r>
              <a:rPr lang="en-US" sz="2000"/>
              <a:t>a  modified component fails, or</a:t>
            </a:r>
            <a:endParaRPr sz="2000"/>
          </a:p>
          <a:p>
            <a:pPr indent="-606425" lvl="0" marL="688975" rtl="0" algn="just">
              <a:lnSpc>
                <a:spcPct val="100000"/>
              </a:lnSpc>
              <a:spcBef>
                <a:spcPts val="875"/>
              </a:spcBef>
              <a:spcAft>
                <a:spcPts val="0"/>
              </a:spcAft>
              <a:buSzPts val="1600"/>
              <a:buFont typeface="Noto Sans Symbols"/>
              <a:buChar char="⮚"/>
            </a:pPr>
            <a:r>
              <a:rPr lang="en-US" sz="2000"/>
              <a:t>a new component when used with unchanged  component, causes  failures in the unchanged component by generating side effects.</a:t>
            </a:r>
            <a:endParaRPr sz="2000"/>
          </a:p>
          <a:p>
            <a:pPr indent="-283464" lvl="0" marL="365760" rtl="0" algn="just">
              <a:lnSpc>
                <a:spcPct val="100000"/>
              </a:lnSpc>
              <a:spcBef>
                <a:spcPts val="875"/>
              </a:spcBef>
              <a:spcAft>
                <a:spcPts val="0"/>
              </a:spcAft>
              <a:buSzPts val="1600"/>
              <a:buChar char="⚫"/>
            </a:pPr>
            <a:r>
              <a:rPr lang="en-US" sz="2000"/>
              <a:t>Therefore the following versions will be there in the system:</a:t>
            </a:r>
            <a:endParaRPr/>
          </a:p>
          <a:p>
            <a:pPr indent="-283464" lvl="0" marL="365760" rtl="0" algn="just">
              <a:lnSpc>
                <a:spcPct val="100000"/>
              </a:lnSpc>
              <a:spcBef>
                <a:spcPts val="875"/>
              </a:spcBef>
              <a:spcAft>
                <a:spcPts val="0"/>
              </a:spcAft>
              <a:buSzPts val="1600"/>
              <a:buFont typeface="Noto Sans Symbols"/>
              <a:buChar char="⮚"/>
            </a:pPr>
            <a:r>
              <a:rPr lang="en-US" sz="2000"/>
              <a:t>Baseline   Version: The  version of a component that has passed a test suite.</a:t>
            </a:r>
            <a:endParaRPr/>
          </a:p>
          <a:p>
            <a:pPr indent="-283464" lvl="0" marL="365760" rtl="0" algn="just">
              <a:lnSpc>
                <a:spcPct val="100000"/>
              </a:lnSpc>
              <a:spcBef>
                <a:spcPts val="875"/>
              </a:spcBef>
              <a:spcAft>
                <a:spcPts val="0"/>
              </a:spcAft>
              <a:buSzPts val="1600"/>
              <a:buFont typeface="Noto Sans Symbols"/>
              <a:buChar char="⮚"/>
            </a:pPr>
            <a:r>
              <a:rPr lang="en-US" sz="2000"/>
              <a:t>Delta   Version: a changed version that has not passed a regression test.</a:t>
            </a:r>
            <a:endParaRPr/>
          </a:p>
          <a:p>
            <a:pPr indent="-283464" lvl="0" marL="365760" rtl="0" algn="just">
              <a:lnSpc>
                <a:spcPct val="100000"/>
              </a:lnSpc>
              <a:spcBef>
                <a:spcPts val="875"/>
              </a:spcBef>
              <a:spcAft>
                <a:spcPts val="0"/>
              </a:spcAft>
              <a:buSzPts val="1600"/>
              <a:buFont typeface="Noto Sans Symbols"/>
              <a:buChar char="⮚"/>
            </a:pPr>
            <a:r>
              <a:rPr lang="en-US" sz="2000"/>
              <a:t>Delta Build: an  executable configuration of the SUT that contains  all the Delta &amp; Baseline Components.</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t/>
            </a:r>
            <a:endParaRPr/>
          </a:p>
        </p:txBody>
      </p:sp>
      <p:sp>
        <p:nvSpPr>
          <p:cNvPr id="192" name="Google Shape;192;p24"/>
          <p:cNvSpPr txBox="1"/>
          <p:nvPr>
            <p:ph idx="1" type="body"/>
          </p:nvPr>
        </p:nvSpPr>
        <p:spPr>
          <a:xfrm>
            <a:off x="1143000" y="1085850"/>
            <a:ext cx="7790688" cy="3600450"/>
          </a:xfrm>
          <a:prstGeom prst="rect">
            <a:avLst/>
          </a:prstGeom>
          <a:noFill/>
          <a:ln>
            <a:noFill/>
          </a:ln>
        </p:spPr>
        <p:txBody>
          <a:bodyPr anchorCtr="0" anchor="t" bIns="45700" lIns="91425" spcFirstLastPara="1" rIns="91425" wrap="square" tIns="0">
            <a:normAutofit/>
          </a:bodyPr>
          <a:lstStyle/>
          <a:p>
            <a:pPr indent="-283464" lvl="0" marL="365760" rtl="0" algn="just">
              <a:lnSpc>
                <a:spcPct val="100000"/>
              </a:lnSpc>
              <a:spcBef>
                <a:spcPts val="0"/>
              </a:spcBef>
              <a:spcAft>
                <a:spcPts val="0"/>
              </a:spcAft>
              <a:buSzPts val="2240"/>
              <a:buChar char="⚫"/>
            </a:pPr>
            <a:r>
              <a:rPr lang="en-US"/>
              <a:t>So, we can say that, most test cases begin as progressive test cases and eventually become regression test cases.</a:t>
            </a:r>
            <a:endParaRPr/>
          </a:p>
          <a:p>
            <a:pPr indent="-283464" lvl="0" marL="365760" rtl="0" algn="just">
              <a:lnSpc>
                <a:spcPct val="100000"/>
              </a:lnSpc>
              <a:spcBef>
                <a:spcPts val="875"/>
              </a:spcBef>
              <a:spcAft>
                <a:spcPts val="0"/>
              </a:spcAft>
              <a:buSzPts val="2240"/>
              <a:buChar char="⚫"/>
            </a:pPr>
            <a:r>
              <a:rPr lang="en-US"/>
              <a:t>RT is not another testing activity; it is the re-execution of some or all of the already developed test cases.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title"/>
          </p:nvPr>
        </p:nvSpPr>
        <p:spPr>
          <a:xfrm>
            <a:off x="1371600" y="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Definition</a:t>
            </a:r>
            <a:endParaRPr/>
          </a:p>
        </p:txBody>
      </p:sp>
      <p:sp>
        <p:nvSpPr>
          <p:cNvPr id="198" name="Google Shape;198;p25"/>
          <p:cNvSpPr txBox="1"/>
          <p:nvPr>
            <p:ph idx="1" type="body"/>
          </p:nvPr>
        </p:nvSpPr>
        <p:spPr>
          <a:xfrm>
            <a:off x="1143000" y="666750"/>
            <a:ext cx="7650480" cy="4267200"/>
          </a:xfrm>
          <a:prstGeom prst="rect">
            <a:avLst/>
          </a:prstGeom>
          <a:noFill/>
          <a:ln>
            <a:noFill/>
          </a:ln>
        </p:spPr>
        <p:txBody>
          <a:bodyPr anchorCtr="0" anchor="t" bIns="45700" lIns="91425" spcFirstLastPara="1" rIns="91425" wrap="square" tIns="0">
            <a:noAutofit/>
          </a:bodyPr>
          <a:lstStyle/>
          <a:p>
            <a:pPr indent="-161543" lvl="0" marL="365760" rtl="0" algn="just">
              <a:lnSpc>
                <a:spcPct val="100000"/>
              </a:lnSpc>
              <a:spcBef>
                <a:spcPts val="0"/>
              </a:spcBef>
              <a:spcAft>
                <a:spcPts val="0"/>
              </a:spcAft>
              <a:buSzPts val="1920"/>
              <a:buNone/>
            </a:pPr>
            <a:r>
              <a:t/>
            </a:r>
            <a:endParaRPr sz="2400"/>
          </a:p>
          <a:p>
            <a:pPr indent="-283464" lvl="0" marL="365760" rtl="0" algn="just">
              <a:lnSpc>
                <a:spcPct val="100000"/>
              </a:lnSpc>
              <a:spcBef>
                <a:spcPts val="875"/>
              </a:spcBef>
              <a:spcAft>
                <a:spcPts val="0"/>
              </a:spcAft>
              <a:buSzPts val="1920"/>
              <a:buChar char="⚫"/>
            </a:pPr>
            <a:r>
              <a:rPr lang="en-US" sz="2400"/>
              <a:t>IEEE Definition:       </a:t>
            </a:r>
            <a:endParaRPr/>
          </a:p>
          <a:p>
            <a:pPr indent="-237744" lvl="1" marL="640080" rtl="0" algn="just">
              <a:lnSpc>
                <a:spcPct val="100000"/>
              </a:lnSpc>
              <a:spcBef>
                <a:spcPts val="875"/>
              </a:spcBef>
              <a:spcAft>
                <a:spcPts val="0"/>
              </a:spcAft>
              <a:buSzPts val="2000"/>
              <a:buChar char="◦"/>
            </a:pPr>
            <a:r>
              <a:rPr i="1" lang="en-US" sz="2000"/>
              <a:t>It is the selective retesting  of a system or component to verify that the modifications have not caused unintended effects and that the system or component still complies with its specified requirements.</a:t>
            </a:r>
            <a:endParaRPr/>
          </a:p>
          <a:p>
            <a:pPr indent="-283464" lvl="0" marL="365760" rtl="0" algn="just">
              <a:lnSpc>
                <a:spcPct val="100000"/>
              </a:lnSpc>
              <a:spcBef>
                <a:spcPts val="875"/>
              </a:spcBef>
              <a:spcAft>
                <a:spcPts val="0"/>
              </a:spcAft>
              <a:buSzPts val="1920"/>
              <a:buChar char="⚫"/>
            </a:pPr>
            <a:r>
              <a:rPr lang="en-US" sz="2400"/>
              <a:t>It can also be defined as</a:t>
            </a:r>
            <a:endParaRPr/>
          </a:p>
          <a:p>
            <a:pPr indent="-237744" lvl="1" marL="640080" rtl="0" algn="just">
              <a:lnSpc>
                <a:spcPct val="100000"/>
              </a:lnSpc>
              <a:spcBef>
                <a:spcPts val="875"/>
              </a:spcBef>
              <a:spcAft>
                <a:spcPts val="0"/>
              </a:spcAft>
              <a:buSzPts val="2000"/>
              <a:buChar char="◦"/>
            </a:pPr>
            <a:r>
              <a:rPr i="1" lang="en-US" sz="2000"/>
              <a:t>The s/w maintenance task performed on a modified program to instill confidence that changes are correct and have not adversely affected the unchanged portions of the program.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609600" y="133350"/>
            <a:ext cx="8219256" cy="86774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Importance of Regression Testing</a:t>
            </a:r>
            <a:endParaRPr/>
          </a:p>
        </p:txBody>
      </p:sp>
      <p:sp>
        <p:nvSpPr>
          <p:cNvPr id="204" name="Google Shape;204;p26"/>
          <p:cNvSpPr txBox="1"/>
          <p:nvPr>
            <p:ph idx="1" type="body"/>
          </p:nvPr>
        </p:nvSpPr>
        <p:spPr>
          <a:xfrm>
            <a:off x="1143000" y="1276350"/>
            <a:ext cx="8001000" cy="3600450"/>
          </a:xfrm>
          <a:prstGeom prst="rect">
            <a:avLst/>
          </a:prstGeom>
          <a:noFill/>
          <a:ln>
            <a:noFill/>
          </a:ln>
        </p:spPr>
        <p:txBody>
          <a:bodyPr anchorCtr="0" anchor="t" bIns="45700" lIns="91425" spcFirstLastPara="1" rIns="91425" wrap="square" tIns="0">
            <a:noAutofit/>
          </a:bodyPr>
          <a:lstStyle/>
          <a:p>
            <a:pPr indent="-283464" lvl="0" marL="365760" rtl="0" algn="just">
              <a:lnSpc>
                <a:spcPct val="100000"/>
              </a:lnSpc>
              <a:spcBef>
                <a:spcPts val="0"/>
              </a:spcBef>
              <a:spcAft>
                <a:spcPts val="0"/>
              </a:spcAft>
              <a:buSzPts val="1600"/>
              <a:buChar char="⚫"/>
            </a:pPr>
            <a:r>
              <a:rPr lang="en-US" sz="2000"/>
              <a:t>Regression testing is performed in case of bug fixing or whenever there is a need to incorporate a new requirement.</a:t>
            </a:r>
            <a:endParaRPr/>
          </a:p>
          <a:p>
            <a:pPr indent="-283464" lvl="0" marL="365760" rtl="0" algn="just">
              <a:lnSpc>
                <a:spcPct val="100000"/>
              </a:lnSpc>
              <a:spcBef>
                <a:spcPts val="875"/>
              </a:spcBef>
              <a:spcAft>
                <a:spcPts val="0"/>
              </a:spcAft>
              <a:buSzPts val="1600"/>
              <a:buChar char="⚫"/>
            </a:pPr>
            <a:r>
              <a:rPr lang="en-US" sz="2000"/>
              <a:t>Importance of Regression Testing is due to following Reasons:</a:t>
            </a:r>
            <a:endParaRPr/>
          </a:p>
          <a:p>
            <a:pPr indent="-283464" lvl="0" marL="365760" rtl="0" algn="just">
              <a:lnSpc>
                <a:spcPct val="100000"/>
              </a:lnSpc>
              <a:spcBef>
                <a:spcPts val="875"/>
              </a:spcBef>
              <a:spcAft>
                <a:spcPts val="0"/>
              </a:spcAft>
              <a:buSzPts val="1600"/>
              <a:buFont typeface="Noto Sans Symbols"/>
              <a:buChar char="⮚"/>
            </a:pPr>
            <a:r>
              <a:rPr lang="en-US" sz="2000"/>
              <a:t>It validates the parts of software where changes occur.</a:t>
            </a:r>
            <a:endParaRPr/>
          </a:p>
          <a:p>
            <a:pPr indent="-283464" lvl="0" marL="365760" rtl="0" algn="just">
              <a:lnSpc>
                <a:spcPct val="100000"/>
              </a:lnSpc>
              <a:spcBef>
                <a:spcPts val="875"/>
              </a:spcBef>
              <a:spcAft>
                <a:spcPts val="0"/>
              </a:spcAft>
              <a:buSzPts val="1600"/>
              <a:buFont typeface="Noto Sans Symbols"/>
              <a:buChar char="⮚"/>
            </a:pPr>
            <a:r>
              <a:rPr lang="en-US" sz="2000"/>
              <a:t>It validates the parts of the software which may be affected by the changes.</a:t>
            </a:r>
            <a:endParaRPr/>
          </a:p>
          <a:p>
            <a:pPr indent="-283464" lvl="0" marL="365760" rtl="0" algn="just">
              <a:lnSpc>
                <a:spcPct val="100000"/>
              </a:lnSpc>
              <a:spcBef>
                <a:spcPts val="875"/>
              </a:spcBef>
              <a:spcAft>
                <a:spcPts val="0"/>
              </a:spcAft>
              <a:buSzPts val="1600"/>
              <a:buFont typeface="Noto Sans Symbols"/>
              <a:buChar char="⮚"/>
            </a:pPr>
            <a:r>
              <a:rPr lang="en-US" sz="2000"/>
              <a:t>It ensures proper functioning of software before changes occur.</a:t>
            </a:r>
            <a:endParaRPr/>
          </a:p>
          <a:p>
            <a:pPr indent="-283464" lvl="0" marL="365760" rtl="0" algn="just">
              <a:lnSpc>
                <a:spcPct val="100000"/>
              </a:lnSpc>
              <a:spcBef>
                <a:spcPts val="875"/>
              </a:spcBef>
              <a:spcAft>
                <a:spcPts val="0"/>
              </a:spcAft>
              <a:buSzPts val="1600"/>
              <a:buFont typeface="Noto Sans Symbols"/>
              <a:buChar char="⮚"/>
            </a:pPr>
            <a:r>
              <a:rPr lang="en-US" sz="2000"/>
              <a:t>It enhances quality of   software, as it reduces the risk &amp; high risk bugs.</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type="title"/>
          </p:nvPr>
        </p:nvSpPr>
        <p:spPr>
          <a:xfrm>
            <a:off x="1447800" y="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Testability</a:t>
            </a:r>
            <a:endParaRPr/>
          </a:p>
        </p:txBody>
      </p:sp>
      <p:sp>
        <p:nvSpPr>
          <p:cNvPr id="210" name="Google Shape;210;p27"/>
          <p:cNvSpPr txBox="1"/>
          <p:nvPr>
            <p:ph idx="1" type="body"/>
          </p:nvPr>
        </p:nvSpPr>
        <p:spPr>
          <a:xfrm>
            <a:off x="1212574" y="895350"/>
            <a:ext cx="7924800" cy="3600450"/>
          </a:xfrm>
          <a:prstGeom prst="rect">
            <a:avLst/>
          </a:prstGeom>
          <a:noFill/>
          <a:ln>
            <a:noFill/>
          </a:ln>
        </p:spPr>
        <p:txBody>
          <a:bodyPr anchorCtr="0" anchor="t" bIns="45700" lIns="91425" spcFirstLastPara="1" rIns="91425" wrap="square" tIns="0">
            <a:noAutofit/>
          </a:bodyPr>
          <a:lstStyle/>
          <a:p>
            <a:pPr indent="-283464" lvl="0" marL="365760" rtl="0" algn="just">
              <a:lnSpc>
                <a:spcPct val="100000"/>
              </a:lnSpc>
              <a:spcBef>
                <a:spcPts val="0"/>
              </a:spcBef>
              <a:spcAft>
                <a:spcPts val="0"/>
              </a:spcAft>
              <a:buSzPts val="1920"/>
              <a:buChar char="⚫"/>
            </a:pPr>
            <a:r>
              <a:rPr lang="en-US" sz="2400"/>
              <a:t>Regression Testability refers to the property of a  program, modification, or test suite that lets it be effectively and efficiently regression-tested.</a:t>
            </a:r>
            <a:endParaRPr/>
          </a:p>
          <a:p>
            <a:pPr indent="-283464" lvl="0" marL="365760" rtl="0" algn="just">
              <a:lnSpc>
                <a:spcPct val="100000"/>
              </a:lnSpc>
              <a:spcBef>
                <a:spcPts val="875"/>
              </a:spcBef>
              <a:spcAft>
                <a:spcPts val="0"/>
              </a:spcAft>
              <a:buSzPts val="1920"/>
              <a:buChar char="⚫"/>
            </a:pPr>
            <a:r>
              <a:rPr lang="en-US" sz="2400"/>
              <a:t>It is a function of both the Design of the program and the Test Suite.</a:t>
            </a:r>
            <a:endParaRPr/>
          </a:p>
          <a:p>
            <a:pPr indent="-283464" lvl="0" marL="365760" rtl="0" algn="just">
              <a:lnSpc>
                <a:spcPct val="100000"/>
              </a:lnSpc>
              <a:spcBef>
                <a:spcPts val="875"/>
              </a:spcBef>
              <a:spcAft>
                <a:spcPts val="0"/>
              </a:spcAft>
              <a:buSzPts val="1920"/>
              <a:buChar char="⚫"/>
            </a:pPr>
            <a:r>
              <a:rPr lang="en-US" sz="2400"/>
              <a:t>Regression   Number:  Avg no. of affected test cases in the test suite that are affected by modification to a single instruction.</a:t>
            </a:r>
            <a:endParaRPr/>
          </a:p>
          <a:p>
            <a:pPr indent="-283464" lvl="0" marL="365760" rtl="0" algn="just">
              <a:lnSpc>
                <a:spcPct val="100000"/>
              </a:lnSpc>
              <a:spcBef>
                <a:spcPts val="875"/>
              </a:spcBef>
              <a:spcAft>
                <a:spcPts val="0"/>
              </a:spcAft>
              <a:buSzPts val="1920"/>
              <a:buChar char="⚫"/>
            </a:pPr>
            <a:r>
              <a:rPr lang="en-US" sz="2400"/>
              <a:t>If  Regression Testability is done at early stages it reduces cost of development and maintenance of the Software.</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xy" tx="0" sx="90000" ty="0" sy="90000"/>
        </a:blipFill>
      </p:bgPr>
    </p:bg>
    <p:spTree>
      <p:nvGrpSpPr>
        <p:cNvPr id="214" name="Shape 214"/>
        <p:cNvGrpSpPr/>
        <p:nvPr/>
      </p:nvGrpSpPr>
      <p:grpSpPr>
        <a:xfrm>
          <a:off x="0" y="0"/>
          <a:ext cx="0" cy="0"/>
          <a:chOff x="0" y="0"/>
          <a:chExt cx="0" cy="0"/>
        </a:xfrm>
      </p:grpSpPr>
      <p:sp>
        <p:nvSpPr>
          <p:cNvPr id="215" name="Google Shape;215;p28"/>
          <p:cNvSpPr txBox="1"/>
          <p:nvPr>
            <p:ph type="title"/>
          </p:nvPr>
        </p:nvSpPr>
        <p:spPr>
          <a:xfrm>
            <a:off x="1447800" y="13335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Objectives of Regression Testing</a:t>
            </a:r>
            <a:endParaRPr/>
          </a:p>
        </p:txBody>
      </p:sp>
      <p:sp>
        <p:nvSpPr>
          <p:cNvPr id="216" name="Google Shape;216;p28"/>
          <p:cNvSpPr txBox="1"/>
          <p:nvPr>
            <p:ph idx="1" type="body"/>
          </p:nvPr>
        </p:nvSpPr>
        <p:spPr>
          <a:xfrm>
            <a:off x="1219200" y="1276350"/>
            <a:ext cx="7714488"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It tests to check that the bug has been addressed:</a:t>
            </a:r>
            <a:endParaRPr/>
          </a:p>
          <a:p>
            <a:pPr indent="-283464" lvl="0" marL="365760" rtl="0" algn="just">
              <a:lnSpc>
                <a:spcPct val="100000"/>
              </a:lnSpc>
              <a:spcBef>
                <a:spcPts val="600"/>
              </a:spcBef>
              <a:spcAft>
                <a:spcPts val="0"/>
              </a:spcAft>
              <a:buSzPts val="2240"/>
              <a:buChar char="⚫"/>
            </a:pPr>
            <a:r>
              <a:rPr lang="en-US"/>
              <a:t>It finds other related bugs</a:t>
            </a:r>
            <a:endParaRPr/>
          </a:p>
          <a:p>
            <a:pPr indent="-283464" lvl="0" marL="365760" rtl="0" algn="just">
              <a:lnSpc>
                <a:spcPct val="100000"/>
              </a:lnSpc>
              <a:spcBef>
                <a:spcPts val="600"/>
              </a:spcBef>
              <a:spcAft>
                <a:spcPts val="0"/>
              </a:spcAft>
              <a:buSzPts val="2240"/>
              <a:buChar char="⚫"/>
            </a:pPr>
            <a:r>
              <a:rPr lang="en-US"/>
              <a:t>It tests to check on the other parts in the program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9"/>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When Regression Testing is Done?</a:t>
            </a:r>
            <a:endParaRPr/>
          </a:p>
        </p:txBody>
      </p:sp>
      <p:sp>
        <p:nvSpPr>
          <p:cNvPr id="222" name="Google Shape;222;p29"/>
          <p:cNvSpPr txBox="1"/>
          <p:nvPr>
            <p:ph idx="1" type="body"/>
          </p:nvPr>
        </p:nvSpPr>
        <p:spPr>
          <a:xfrm>
            <a:off x="1143000" y="1085850"/>
            <a:ext cx="784860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600"/>
              <a:buChar char="⚫"/>
            </a:pPr>
            <a:r>
              <a:rPr lang="en-US" sz="2000"/>
              <a:t>Corrective    Maintenance: Changes made to the system after   failure.</a:t>
            </a:r>
            <a:endParaRPr/>
          </a:p>
          <a:p>
            <a:pPr indent="-283464" lvl="0" marL="365760" rtl="0" algn="just">
              <a:lnSpc>
                <a:spcPct val="100000"/>
              </a:lnSpc>
              <a:spcBef>
                <a:spcPts val="600"/>
              </a:spcBef>
              <a:spcAft>
                <a:spcPts val="0"/>
              </a:spcAft>
              <a:buSzPts val="1600"/>
              <a:buChar char="⚫"/>
            </a:pPr>
            <a:r>
              <a:rPr lang="en-US" sz="2000"/>
              <a:t>Adaptive  Maintenance: Changes made to achieve continuing compatibility with the target environment or the other system.</a:t>
            </a:r>
            <a:endParaRPr/>
          </a:p>
          <a:p>
            <a:pPr indent="-283464" lvl="0" marL="365760" rtl="0" algn="just">
              <a:lnSpc>
                <a:spcPct val="100000"/>
              </a:lnSpc>
              <a:spcBef>
                <a:spcPts val="600"/>
              </a:spcBef>
              <a:spcAft>
                <a:spcPts val="0"/>
              </a:spcAft>
              <a:buSzPts val="1600"/>
              <a:buChar char="⚫"/>
            </a:pPr>
            <a:r>
              <a:rPr lang="en-US" sz="2000"/>
              <a:t>Perfective  Maintenance: Changes designed to improve/add capabilities.</a:t>
            </a:r>
            <a:endParaRPr/>
          </a:p>
          <a:p>
            <a:pPr indent="-283464" lvl="0" marL="365760" rtl="0" algn="just">
              <a:lnSpc>
                <a:spcPct val="100000"/>
              </a:lnSpc>
              <a:spcBef>
                <a:spcPts val="600"/>
              </a:spcBef>
              <a:spcAft>
                <a:spcPts val="0"/>
              </a:spcAft>
              <a:buSzPts val="1600"/>
              <a:buChar char="⚫"/>
            </a:pPr>
            <a:r>
              <a:rPr lang="en-US" sz="2000"/>
              <a:t>Rapid iterative  Development: The extreme programming approach.</a:t>
            </a:r>
            <a:endParaRPr/>
          </a:p>
          <a:p>
            <a:pPr indent="-283464" lvl="0" marL="365760" rtl="0" algn="just">
              <a:lnSpc>
                <a:spcPct val="100000"/>
              </a:lnSpc>
              <a:spcBef>
                <a:spcPts val="600"/>
              </a:spcBef>
              <a:spcAft>
                <a:spcPts val="0"/>
              </a:spcAft>
              <a:buSzPts val="1600"/>
              <a:buChar char="⚫"/>
            </a:pPr>
            <a:r>
              <a:rPr lang="en-US" sz="2000"/>
              <a:t>First Step of  Integration: Re-running accumulated  test  suite, as new components added.</a:t>
            </a:r>
            <a:endParaRPr/>
          </a:p>
          <a:p>
            <a:pPr indent="-283464" lvl="0" marL="365760" rtl="0" algn="just">
              <a:lnSpc>
                <a:spcPct val="100000"/>
              </a:lnSpc>
              <a:spcBef>
                <a:spcPts val="600"/>
              </a:spcBef>
              <a:spcAft>
                <a:spcPts val="0"/>
              </a:spcAft>
              <a:buSzPts val="1600"/>
              <a:buChar char="⚫"/>
            </a:pPr>
            <a:r>
              <a:rPr lang="en-US" sz="2000"/>
              <a:t>Compatibility Assessment &amp;   Benchmarking: Test suites for wide range of platforms and application.</a:t>
            </a:r>
            <a:endParaRPr/>
          </a:p>
          <a:p>
            <a:pPr indent="-181864" lvl="0" marL="365760" rtl="0" algn="just">
              <a:lnSpc>
                <a:spcPct val="100000"/>
              </a:lnSpc>
              <a:spcBef>
                <a:spcPts val="600"/>
              </a:spcBef>
              <a:spcAft>
                <a:spcPts val="0"/>
              </a:spcAft>
              <a:buSzPts val="1600"/>
              <a:buNone/>
            </a:pPr>
            <a:r>
              <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xy" tx="0" sx="90000" ty="0" sy="90000"/>
        </a:blipFill>
      </p:bgPr>
    </p:bg>
    <p:spTree>
      <p:nvGrpSpPr>
        <p:cNvPr id="226" name="Shape 226"/>
        <p:cNvGrpSpPr/>
        <p:nvPr/>
      </p:nvGrpSpPr>
      <p:grpSpPr>
        <a:xfrm>
          <a:off x="0" y="0"/>
          <a:ext cx="0" cy="0"/>
          <a:chOff x="0" y="0"/>
          <a:chExt cx="0" cy="0"/>
        </a:xfrm>
      </p:grpSpPr>
      <p:sp>
        <p:nvSpPr>
          <p:cNvPr id="227" name="Google Shape;227;p30"/>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Testing Types</a:t>
            </a:r>
            <a:endParaRPr/>
          </a:p>
        </p:txBody>
      </p:sp>
      <p:sp>
        <p:nvSpPr>
          <p:cNvPr id="228" name="Google Shape;228;p30"/>
          <p:cNvSpPr txBox="1"/>
          <p:nvPr>
            <p:ph idx="1" type="body"/>
          </p:nvPr>
        </p:nvSpPr>
        <p:spPr>
          <a:xfrm>
            <a:off x="1143000" y="1085850"/>
            <a:ext cx="784860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Bug-Fix  Regression: This testing is performed after bug has been reported &amp;  fixed. The goal is to repeat the test cases that expose the problem in the first place.</a:t>
            </a:r>
            <a:endParaRPr/>
          </a:p>
          <a:p>
            <a:pPr indent="-283464" lvl="0" marL="365760" rtl="0" algn="just">
              <a:lnSpc>
                <a:spcPct val="100000"/>
              </a:lnSpc>
              <a:spcBef>
                <a:spcPts val="600"/>
              </a:spcBef>
              <a:spcAft>
                <a:spcPts val="0"/>
              </a:spcAft>
              <a:buSzPts val="1920"/>
              <a:buChar char="⚫"/>
            </a:pPr>
            <a:r>
              <a:rPr lang="en-US" sz="2400"/>
              <a:t>Side-Effect  regression/Stability  Regression: It involves retesting   substantial  part of product. The goal is to prove that changes have no detrimental effect on earlier program. It tests the overall integrity of the program, not the success of software fixes.</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1371600" y="10767"/>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Defining Regression Testing Problem</a:t>
            </a:r>
            <a:endParaRPr/>
          </a:p>
        </p:txBody>
      </p:sp>
      <p:sp>
        <p:nvSpPr>
          <p:cNvPr id="234" name="Google Shape;234;p31"/>
          <p:cNvSpPr txBox="1"/>
          <p:nvPr>
            <p:ph idx="1" type="body"/>
          </p:nvPr>
        </p:nvSpPr>
        <p:spPr>
          <a:xfrm>
            <a:off x="1219200" y="1085850"/>
            <a:ext cx="7714488" cy="3600450"/>
          </a:xfrm>
          <a:prstGeom prst="rect">
            <a:avLst/>
          </a:prstGeom>
          <a:noFill/>
          <a:ln>
            <a:noFill/>
          </a:ln>
        </p:spPr>
        <p:txBody>
          <a:bodyPr anchorCtr="0" anchor="t" bIns="45700" lIns="91425" spcFirstLastPara="1" rIns="91425" wrap="square" tIns="45700">
            <a:normAutofit fontScale="92500" lnSpcReduction="10000"/>
          </a:bodyPr>
          <a:lstStyle/>
          <a:p>
            <a:pPr indent="0" lvl="0" marL="82296" rtl="0" algn="just">
              <a:lnSpc>
                <a:spcPct val="100000"/>
              </a:lnSpc>
              <a:spcBef>
                <a:spcPts val="0"/>
              </a:spcBef>
              <a:spcAft>
                <a:spcPts val="0"/>
              </a:spcAft>
              <a:buSzPct val="80000"/>
              <a:buNone/>
            </a:pPr>
            <a:r>
              <a:rPr lang="en-US"/>
              <a:t>Let,</a:t>
            </a:r>
            <a:endParaRPr/>
          </a:p>
          <a:p>
            <a:pPr indent="0" lvl="0" marL="82296" rtl="0" algn="just">
              <a:lnSpc>
                <a:spcPct val="100000"/>
              </a:lnSpc>
              <a:spcBef>
                <a:spcPts val="600"/>
              </a:spcBef>
              <a:spcAft>
                <a:spcPts val="0"/>
              </a:spcAft>
              <a:buSzPct val="80000"/>
              <a:buNone/>
            </a:pPr>
            <a:r>
              <a:rPr lang="en-US"/>
              <a:t>P  :denotes a program or procedure.</a:t>
            </a:r>
            <a:endParaRPr/>
          </a:p>
          <a:p>
            <a:pPr indent="0" lvl="0" marL="82296" rtl="0" algn="just">
              <a:lnSpc>
                <a:spcPct val="100000"/>
              </a:lnSpc>
              <a:spcBef>
                <a:spcPts val="600"/>
              </a:spcBef>
              <a:spcAft>
                <a:spcPts val="0"/>
              </a:spcAft>
              <a:buSzPct val="80000"/>
              <a:buNone/>
            </a:pPr>
            <a:r>
              <a:rPr lang="en-US"/>
              <a:t>P’ :denotes modified version of P.</a:t>
            </a:r>
            <a:endParaRPr/>
          </a:p>
          <a:p>
            <a:pPr indent="0" lvl="0" marL="82296" rtl="0" algn="just">
              <a:lnSpc>
                <a:spcPct val="100000"/>
              </a:lnSpc>
              <a:spcBef>
                <a:spcPts val="600"/>
              </a:spcBef>
              <a:spcAft>
                <a:spcPts val="0"/>
              </a:spcAft>
              <a:buSzPct val="80000"/>
              <a:buNone/>
            </a:pPr>
            <a:r>
              <a:rPr lang="en-US"/>
              <a:t>S  :denotes the specification for program P.</a:t>
            </a:r>
            <a:endParaRPr/>
          </a:p>
          <a:p>
            <a:pPr indent="0" lvl="0" marL="82296" rtl="0" algn="just">
              <a:lnSpc>
                <a:spcPct val="100000"/>
              </a:lnSpc>
              <a:spcBef>
                <a:spcPts val="600"/>
              </a:spcBef>
              <a:spcAft>
                <a:spcPts val="0"/>
              </a:spcAft>
              <a:buSzPct val="80000"/>
              <a:buNone/>
            </a:pPr>
            <a:r>
              <a:rPr lang="en-US"/>
              <a:t>S’ : denotes the specification for program P’.</a:t>
            </a:r>
            <a:endParaRPr/>
          </a:p>
          <a:p>
            <a:pPr indent="0" lvl="0" marL="82296" rtl="0" algn="just">
              <a:lnSpc>
                <a:spcPct val="100000"/>
              </a:lnSpc>
              <a:spcBef>
                <a:spcPts val="600"/>
              </a:spcBef>
              <a:spcAft>
                <a:spcPts val="0"/>
              </a:spcAft>
              <a:buSzPct val="80000"/>
              <a:buNone/>
            </a:pPr>
            <a:r>
              <a:rPr lang="en-US"/>
              <a:t>P(i):refer to output of P on input i,</a:t>
            </a:r>
            <a:endParaRPr/>
          </a:p>
          <a:p>
            <a:pPr indent="0" lvl="0" marL="82296" rtl="0" algn="just">
              <a:lnSpc>
                <a:spcPct val="100000"/>
              </a:lnSpc>
              <a:spcBef>
                <a:spcPts val="600"/>
              </a:spcBef>
              <a:spcAft>
                <a:spcPts val="0"/>
              </a:spcAft>
              <a:buSzPct val="80000"/>
              <a:buNone/>
            </a:pPr>
            <a:r>
              <a:rPr lang="en-US"/>
              <a:t>P’(i):refer to output of P’ on input i.</a:t>
            </a:r>
            <a:endParaRPr/>
          </a:p>
          <a:p>
            <a:pPr indent="0" lvl="0" marL="82296" rtl="0" algn="just">
              <a:lnSpc>
                <a:spcPct val="100000"/>
              </a:lnSpc>
              <a:spcBef>
                <a:spcPts val="600"/>
              </a:spcBef>
              <a:spcAft>
                <a:spcPts val="0"/>
              </a:spcAft>
              <a:buSzPct val="80000"/>
              <a:buNone/>
            </a:pPr>
            <a:r>
              <a:rPr lang="en-US"/>
              <a:t>T={t</a:t>
            </a:r>
            <a:r>
              <a:rPr lang="en-US">
                <a:latin typeface="Arial"/>
                <a:ea typeface="Arial"/>
                <a:cs typeface="Arial"/>
                <a:sym typeface="Arial"/>
              </a:rPr>
              <a:t>1</a:t>
            </a:r>
            <a:r>
              <a:rPr lang="en-US"/>
              <a:t>,t2…..tn}:denotes a set of test suite</a:t>
            </a:r>
            <a:endParaRPr/>
          </a:p>
          <a:p>
            <a:pPr indent="0" lvl="0" marL="82296" rtl="0" algn="just">
              <a:lnSpc>
                <a:spcPct val="100000"/>
              </a:lnSpc>
              <a:spcBef>
                <a:spcPts val="600"/>
              </a:spcBef>
              <a:spcAft>
                <a:spcPts val="0"/>
              </a:spcAft>
              <a:buSzPct val="8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xy" tx="0" sx="90000" ty="0" sy="90000"/>
        </a:blipFill>
      </p:bgPr>
    </p:bg>
    <p:spTree>
      <p:nvGrpSpPr>
        <p:cNvPr id="238" name="Shape 238"/>
        <p:cNvGrpSpPr/>
        <p:nvPr/>
      </p:nvGrpSpPr>
      <p:grpSpPr>
        <a:xfrm>
          <a:off x="0" y="0"/>
          <a:ext cx="0" cy="0"/>
          <a:chOff x="0" y="0"/>
          <a:chExt cx="0" cy="0"/>
        </a:xfrm>
      </p:grpSpPr>
      <p:sp>
        <p:nvSpPr>
          <p:cNvPr id="239" name="Google Shape;239;p32"/>
          <p:cNvSpPr txBox="1"/>
          <p:nvPr>
            <p:ph type="title"/>
          </p:nvPr>
        </p:nvSpPr>
        <p:spPr>
          <a:xfrm>
            <a:off x="1447800" y="13335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Testing: Problem Definition</a:t>
            </a:r>
            <a:endParaRPr/>
          </a:p>
        </p:txBody>
      </p:sp>
      <p:sp>
        <p:nvSpPr>
          <p:cNvPr id="240" name="Google Shape;240;p32"/>
          <p:cNvSpPr txBox="1"/>
          <p:nvPr>
            <p:ph idx="1" type="body"/>
          </p:nvPr>
        </p:nvSpPr>
        <p:spPr>
          <a:xfrm>
            <a:off x="1143000" y="11239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Given a program P,  its modified version P’,  and a test set  T that was used earlier to test P,  find a way to utilize T to gain sufficient confidence in the correctness of P’.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1447800" y="10767"/>
            <a:ext cx="7498080" cy="85725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US"/>
              <a:t>Is Regression Testing a Problem?</a:t>
            </a:r>
            <a:endParaRPr/>
          </a:p>
        </p:txBody>
      </p:sp>
      <p:sp>
        <p:nvSpPr>
          <p:cNvPr id="246" name="Google Shape;246;p33"/>
          <p:cNvSpPr txBox="1"/>
          <p:nvPr>
            <p:ph idx="1" type="body"/>
          </p:nvPr>
        </p:nvSpPr>
        <p:spPr>
          <a:xfrm>
            <a:off x="1219200" y="971550"/>
            <a:ext cx="7924800" cy="360045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2240"/>
              <a:buNone/>
            </a:pPr>
            <a:r>
              <a:rPr lang="en-US"/>
              <a:t>The following difficulties occur in Regression Testing:</a:t>
            </a:r>
            <a:endParaRPr/>
          </a:p>
          <a:p>
            <a:pPr indent="-283464" lvl="0" marL="365760" rtl="0" algn="just">
              <a:lnSpc>
                <a:spcPct val="100000"/>
              </a:lnSpc>
              <a:spcBef>
                <a:spcPts val="600"/>
              </a:spcBef>
              <a:spcAft>
                <a:spcPts val="0"/>
              </a:spcAft>
              <a:buSzPts val="2240"/>
              <a:buChar char="⚫"/>
            </a:pPr>
            <a:r>
              <a:rPr lang="en-US"/>
              <a:t>Large system can take a long time to retest.</a:t>
            </a:r>
            <a:endParaRPr/>
          </a:p>
          <a:p>
            <a:pPr indent="-283464" lvl="0" marL="365760" rtl="0" algn="just">
              <a:lnSpc>
                <a:spcPct val="100000"/>
              </a:lnSpc>
              <a:spcBef>
                <a:spcPts val="600"/>
              </a:spcBef>
              <a:spcAft>
                <a:spcPts val="0"/>
              </a:spcAft>
              <a:buSzPts val="2240"/>
              <a:buChar char="⚫"/>
            </a:pPr>
            <a:r>
              <a:rPr lang="en-US"/>
              <a:t>It can be difficult &amp; time consuming to create the tests.</a:t>
            </a:r>
            <a:endParaRPr/>
          </a:p>
          <a:p>
            <a:pPr indent="-283464" lvl="0" marL="365760" rtl="0" algn="just">
              <a:lnSpc>
                <a:spcPct val="100000"/>
              </a:lnSpc>
              <a:spcBef>
                <a:spcPts val="600"/>
              </a:spcBef>
              <a:spcAft>
                <a:spcPts val="0"/>
              </a:spcAft>
              <a:buSzPts val="2240"/>
              <a:buChar char="⚫"/>
            </a:pPr>
            <a:r>
              <a:rPr lang="en-US"/>
              <a:t>It can be difficult &amp; time consuming to evaluate the tests.</a:t>
            </a:r>
            <a:endParaRPr/>
          </a:p>
          <a:p>
            <a:pPr indent="-283464" lvl="0" marL="365760" rtl="0" algn="just">
              <a:lnSpc>
                <a:spcPct val="100000"/>
              </a:lnSpc>
              <a:spcBef>
                <a:spcPts val="600"/>
              </a:spcBef>
              <a:spcAft>
                <a:spcPts val="0"/>
              </a:spcAft>
              <a:buSzPts val="2240"/>
              <a:buChar char="⚫"/>
            </a:pPr>
            <a:r>
              <a:rPr lang="en-US"/>
              <a:t>Cost of testing can reduce the resources available for maintenance.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1371600" y="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Testing Techniques</a:t>
            </a:r>
            <a:endParaRPr/>
          </a:p>
        </p:txBody>
      </p:sp>
      <p:sp>
        <p:nvSpPr>
          <p:cNvPr id="252" name="Google Shape;252;p34"/>
          <p:cNvSpPr txBox="1"/>
          <p:nvPr>
            <p:ph idx="1" type="body"/>
          </p:nvPr>
        </p:nvSpPr>
        <p:spPr>
          <a:xfrm>
            <a:off x="1066800" y="1047750"/>
            <a:ext cx="784860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b="1" lang="en-US" sz="2400"/>
              <a:t>Regression Test Selection </a:t>
            </a:r>
            <a:r>
              <a:rPr lang="en-US" sz="2400"/>
              <a:t>: Reduce  the time required to retest by  selecting smaller Subset of test suite.</a:t>
            </a:r>
            <a:endParaRPr/>
          </a:p>
          <a:p>
            <a:pPr indent="-283464" lvl="0" marL="365760" rtl="0" algn="just">
              <a:lnSpc>
                <a:spcPct val="100000"/>
              </a:lnSpc>
              <a:spcBef>
                <a:spcPts val="600"/>
              </a:spcBef>
              <a:spcAft>
                <a:spcPts val="0"/>
              </a:spcAft>
              <a:buSzPts val="1920"/>
              <a:buChar char="⚫"/>
            </a:pPr>
            <a:r>
              <a:rPr b="1" lang="en-US" sz="2400"/>
              <a:t>Test case Prioritization  Technique</a:t>
            </a:r>
            <a:r>
              <a:rPr lang="en-US" sz="2400"/>
              <a:t>: Prioritize  the test cases then execute according to  priority. There are two types of Prioritization:</a:t>
            </a:r>
            <a:endParaRPr/>
          </a:p>
          <a:p>
            <a:pPr indent="-237744" lvl="1" marL="640080" rtl="0" algn="just">
              <a:lnSpc>
                <a:spcPct val="100000"/>
              </a:lnSpc>
              <a:spcBef>
                <a:spcPts val="550"/>
              </a:spcBef>
              <a:spcAft>
                <a:spcPts val="0"/>
              </a:spcAft>
              <a:buSzPts val="2000"/>
              <a:buChar char="◦"/>
            </a:pPr>
            <a:r>
              <a:rPr lang="en-US" sz="2000"/>
              <a:t>General Test case Prioritization – no knowledge of the modification. </a:t>
            </a:r>
            <a:endParaRPr/>
          </a:p>
          <a:p>
            <a:pPr indent="-237744" lvl="1" marL="640080" rtl="0" algn="just">
              <a:lnSpc>
                <a:spcPct val="100000"/>
              </a:lnSpc>
              <a:spcBef>
                <a:spcPts val="550"/>
              </a:spcBef>
              <a:spcAft>
                <a:spcPts val="0"/>
              </a:spcAft>
              <a:buSzPts val="2000"/>
              <a:buChar char="◦"/>
            </a:pPr>
            <a:r>
              <a:rPr lang="en-US" sz="2000"/>
              <a:t>Version-Specific Test case Prioritization - knowledge of the modification is known. </a:t>
            </a:r>
            <a:endParaRPr/>
          </a:p>
          <a:p>
            <a:pPr indent="-283464" lvl="0" marL="365760" rtl="0" algn="just">
              <a:lnSpc>
                <a:spcPct val="100000"/>
              </a:lnSpc>
              <a:spcBef>
                <a:spcPts val="600"/>
              </a:spcBef>
              <a:spcAft>
                <a:spcPts val="0"/>
              </a:spcAft>
              <a:buSzPts val="1920"/>
              <a:buChar char="⚫"/>
            </a:pPr>
            <a:r>
              <a:rPr b="1" lang="en-US" sz="2400"/>
              <a:t>Test suite Reduction   Technique </a:t>
            </a:r>
            <a:r>
              <a:rPr lang="en-US" sz="2400"/>
              <a:t>: reduce testing costs by eliminating  redundant  test cases.</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type="title"/>
          </p:nvPr>
        </p:nvSpPr>
        <p:spPr>
          <a:xfrm>
            <a:off x="1371600" y="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Selective Retest Technique</a:t>
            </a:r>
            <a:endParaRPr/>
          </a:p>
        </p:txBody>
      </p:sp>
      <p:sp>
        <p:nvSpPr>
          <p:cNvPr id="258" name="Google Shape;258;p35"/>
          <p:cNvSpPr txBox="1"/>
          <p:nvPr>
            <p:ph idx="1" type="body"/>
          </p:nvPr>
        </p:nvSpPr>
        <p:spPr>
          <a:xfrm>
            <a:off x="990600" y="895350"/>
            <a:ext cx="8001000" cy="41910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600"/>
              <a:buChar char="⚫"/>
            </a:pPr>
            <a:r>
              <a:rPr lang="en-US" sz="2000"/>
              <a:t>Software maintenance includes more than 60% of development costs. </a:t>
            </a:r>
            <a:endParaRPr sz="2000"/>
          </a:p>
          <a:p>
            <a:pPr indent="-283464" lvl="0" marL="365760" rtl="0" algn="just">
              <a:lnSpc>
                <a:spcPct val="100000"/>
              </a:lnSpc>
              <a:spcBef>
                <a:spcPts val="600"/>
              </a:spcBef>
              <a:spcAft>
                <a:spcPts val="0"/>
              </a:spcAft>
              <a:buSzPts val="1600"/>
              <a:buChar char="⚫"/>
            </a:pPr>
            <a:r>
              <a:rPr lang="en-US" sz="2000"/>
              <a:t>In that case, testing costs dominate because many systems require labour-intensive manual testing. Selective retest techniques attempt to reduce the cost of testing by identifying the portions of </a:t>
            </a:r>
            <a:r>
              <a:rPr i="1" lang="en-US" sz="2000"/>
              <a:t>P’</a:t>
            </a:r>
            <a:r>
              <a:rPr lang="en-US" sz="2000"/>
              <a:t> that must be exercised by the regression test suite. </a:t>
            </a:r>
            <a:endParaRPr sz="2000"/>
          </a:p>
          <a:p>
            <a:pPr indent="-283464" lvl="0" marL="365760" rtl="0" algn="just">
              <a:lnSpc>
                <a:spcPct val="100000"/>
              </a:lnSpc>
              <a:spcBef>
                <a:spcPts val="600"/>
              </a:spcBef>
              <a:spcAft>
                <a:spcPts val="0"/>
              </a:spcAft>
              <a:buSzPts val="1600"/>
              <a:buChar char="⚫"/>
            </a:pPr>
            <a:r>
              <a:rPr lang="en-US" sz="2000"/>
              <a:t>Selective retesting is distinctly different from a retest-all approach that always executes every test in an existing </a:t>
            </a:r>
            <a:r>
              <a:rPr i="1" lang="en-US" sz="2000"/>
              <a:t>regression test suite </a:t>
            </a:r>
            <a:r>
              <a:rPr lang="en-US" sz="2000"/>
              <a:t>( RTS).</a:t>
            </a:r>
            <a:endParaRPr/>
          </a:p>
          <a:p>
            <a:pPr indent="-283464" lvl="0" marL="365760" rtl="0" algn="just">
              <a:lnSpc>
                <a:spcPct val="100000"/>
              </a:lnSpc>
              <a:spcBef>
                <a:spcPts val="600"/>
              </a:spcBef>
              <a:spcAft>
                <a:spcPts val="0"/>
              </a:spcAft>
              <a:buSzPts val="1600"/>
              <a:buChar char="⚫"/>
            </a:pPr>
            <a:r>
              <a:rPr lang="en-US" sz="2000"/>
              <a:t>The objective of Selective Retest Technique is </a:t>
            </a:r>
            <a:r>
              <a:rPr i="1" lang="en-US" sz="2000"/>
              <a:t>cost reduction</a:t>
            </a:r>
            <a:r>
              <a:rPr lang="en-US" sz="2000"/>
              <a:t>. It is the process of selecting a subset of the regression test suite that tests the changes.</a:t>
            </a:r>
            <a:endParaRPr/>
          </a:p>
          <a:p>
            <a:pPr indent="-181864" lvl="0" marL="365760" rtl="0" algn="just">
              <a:lnSpc>
                <a:spcPct val="100000"/>
              </a:lnSpc>
              <a:spcBef>
                <a:spcPts val="600"/>
              </a:spcBef>
              <a:spcAft>
                <a:spcPts val="0"/>
              </a:spcAft>
              <a:buSzPts val="1600"/>
              <a:buNone/>
            </a:pPr>
            <a:r>
              <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body"/>
          </p:nvPr>
        </p:nvSpPr>
        <p:spPr>
          <a:xfrm>
            <a:off x="1143000" y="971550"/>
            <a:ext cx="7848600" cy="3886200"/>
          </a:xfrm>
          <a:prstGeom prst="rect">
            <a:avLst/>
          </a:prstGeom>
          <a:noFill/>
          <a:ln>
            <a:noFill/>
          </a:ln>
        </p:spPr>
        <p:txBody>
          <a:bodyPr anchorCtr="0" anchor="t" bIns="45700" lIns="91425" spcFirstLastPara="1" rIns="91425" wrap="square" tIns="45700">
            <a:noAutofit/>
          </a:bodyPr>
          <a:lstStyle/>
          <a:p>
            <a:pPr indent="0" lvl="0" marL="82296" rtl="0" algn="just">
              <a:lnSpc>
                <a:spcPct val="100000"/>
              </a:lnSpc>
              <a:spcBef>
                <a:spcPts val="0"/>
              </a:spcBef>
              <a:spcAft>
                <a:spcPts val="0"/>
              </a:spcAft>
              <a:buSzPts val="1920"/>
              <a:buNone/>
            </a:pPr>
            <a:r>
              <a:rPr i="1" lang="en-US" sz="2400"/>
              <a:t>It has following characteristic features:</a:t>
            </a:r>
            <a:endParaRPr/>
          </a:p>
          <a:p>
            <a:pPr indent="-283464" lvl="0" marL="365760" rtl="0" algn="just">
              <a:lnSpc>
                <a:spcPct val="100000"/>
              </a:lnSpc>
              <a:spcBef>
                <a:spcPts val="600"/>
              </a:spcBef>
              <a:spcAft>
                <a:spcPts val="0"/>
              </a:spcAft>
              <a:buSzPts val="1920"/>
              <a:buChar char="⚫"/>
            </a:pPr>
            <a:r>
              <a:rPr lang="en-US" sz="2400"/>
              <a:t>It minimizes the resources required to regression test a new version.</a:t>
            </a:r>
            <a:endParaRPr/>
          </a:p>
          <a:p>
            <a:pPr indent="-283464" lvl="0" marL="365760" rtl="0" algn="just">
              <a:lnSpc>
                <a:spcPct val="100000"/>
              </a:lnSpc>
              <a:spcBef>
                <a:spcPts val="600"/>
              </a:spcBef>
              <a:spcAft>
                <a:spcPts val="0"/>
              </a:spcAft>
              <a:buSzPts val="1920"/>
              <a:buChar char="⚫"/>
            </a:pPr>
            <a:r>
              <a:rPr lang="en-US" sz="2400"/>
              <a:t>It minimizes   no. of test cases.</a:t>
            </a:r>
            <a:endParaRPr/>
          </a:p>
          <a:p>
            <a:pPr indent="-283464" lvl="0" marL="365760" rtl="0" algn="just">
              <a:lnSpc>
                <a:spcPct val="100000"/>
              </a:lnSpc>
              <a:spcBef>
                <a:spcPts val="600"/>
              </a:spcBef>
              <a:spcAft>
                <a:spcPts val="0"/>
              </a:spcAft>
              <a:buSzPts val="1920"/>
              <a:buChar char="⚫"/>
            </a:pPr>
            <a:r>
              <a:rPr lang="en-US" sz="2400"/>
              <a:t>It is needed to remove obsolete, uncontrollable &amp; redundant test cases.</a:t>
            </a:r>
            <a:endParaRPr/>
          </a:p>
          <a:p>
            <a:pPr indent="-283464" lvl="0" marL="365760" rtl="0" algn="just">
              <a:lnSpc>
                <a:spcPct val="100000"/>
              </a:lnSpc>
              <a:spcBef>
                <a:spcPts val="600"/>
              </a:spcBef>
              <a:spcAft>
                <a:spcPts val="0"/>
              </a:spcAft>
              <a:buSzPts val="1920"/>
              <a:buChar char="⚫"/>
            </a:pPr>
            <a:r>
              <a:rPr lang="en-US" sz="2400"/>
              <a:t>It analyses the relationship between test cases &amp; software elements they cover.</a:t>
            </a:r>
            <a:endParaRPr/>
          </a:p>
          <a:p>
            <a:pPr indent="-283464" lvl="0" marL="365760" rtl="0" algn="just">
              <a:lnSpc>
                <a:spcPct val="100000"/>
              </a:lnSpc>
              <a:spcBef>
                <a:spcPts val="600"/>
              </a:spcBef>
              <a:spcAft>
                <a:spcPts val="0"/>
              </a:spcAft>
              <a:buSzPts val="1920"/>
              <a:buChar char="⚫"/>
            </a:pPr>
            <a:r>
              <a:rPr lang="en-US" sz="2400"/>
              <a:t>It uses the information about changes to select the test cases.</a:t>
            </a:r>
            <a:endParaRPr/>
          </a:p>
          <a:p>
            <a:pPr indent="-161543" lvl="0" marL="365760" rtl="0" algn="l">
              <a:lnSpc>
                <a:spcPct val="100000"/>
              </a:lnSpc>
              <a:spcBef>
                <a:spcPts val="600"/>
              </a:spcBef>
              <a:spcAft>
                <a:spcPts val="0"/>
              </a:spcAft>
              <a:buSzPts val="1920"/>
              <a:buNone/>
            </a:pPr>
            <a:r>
              <a:t/>
            </a:r>
            <a:endParaRPr sz="2400"/>
          </a:p>
        </p:txBody>
      </p:sp>
      <p:sp>
        <p:nvSpPr>
          <p:cNvPr id="264" name="Google Shape;264;p36"/>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Selective Retest Technique cont…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type="title"/>
          </p:nvPr>
        </p:nvSpPr>
        <p:spPr>
          <a:xfrm>
            <a:off x="1402296" y="0"/>
            <a:ext cx="7498080" cy="53697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br>
              <a:rPr lang="en-US"/>
            </a:br>
            <a:r>
              <a:rPr lang="en-US"/>
              <a:t>Selective Retest Technique       cont…</a:t>
            </a:r>
            <a:endParaRPr/>
          </a:p>
        </p:txBody>
      </p:sp>
      <p:grpSp>
        <p:nvGrpSpPr>
          <p:cNvPr id="270" name="Google Shape;270;p37"/>
          <p:cNvGrpSpPr/>
          <p:nvPr/>
        </p:nvGrpSpPr>
        <p:grpSpPr>
          <a:xfrm>
            <a:off x="1219200" y="1366099"/>
            <a:ext cx="7632848" cy="3263051"/>
            <a:chOff x="323528" y="1693935"/>
            <a:chExt cx="7632848" cy="2876037"/>
          </a:xfrm>
        </p:grpSpPr>
        <p:sp>
          <p:nvSpPr>
            <p:cNvPr id="271" name="Google Shape;271;p37"/>
            <p:cNvSpPr/>
            <p:nvPr/>
          </p:nvSpPr>
          <p:spPr>
            <a:xfrm>
              <a:off x="1613725" y="1693935"/>
              <a:ext cx="967203" cy="567816"/>
            </a:xfrm>
            <a:prstGeom prst="flowChartMagneticDisk">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Gill Sans"/>
                  <a:ea typeface="Gill Sans"/>
                  <a:cs typeface="Gill Sans"/>
                  <a:sym typeface="Gill Sans"/>
                </a:rPr>
                <a:t>Test suite T</a:t>
              </a:r>
              <a:endParaRPr sz="1400">
                <a:solidFill>
                  <a:schemeClr val="lt1"/>
                </a:solidFill>
                <a:latin typeface="Gill Sans"/>
                <a:ea typeface="Gill Sans"/>
                <a:cs typeface="Gill Sans"/>
                <a:sym typeface="Gill Sans"/>
              </a:endParaRPr>
            </a:p>
          </p:txBody>
        </p:sp>
        <p:sp>
          <p:nvSpPr>
            <p:cNvPr id="272" name="Google Shape;272;p37"/>
            <p:cNvSpPr/>
            <p:nvPr/>
          </p:nvSpPr>
          <p:spPr>
            <a:xfrm>
              <a:off x="323528" y="3543858"/>
              <a:ext cx="1490464" cy="1026114"/>
            </a:xfrm>
            <a:prstGeom prst="flowChartMagneticDisk">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Gill Sans"/>
                  <a:ea typeface="Gill Sans"/>
                  <a:cs typeface="Gill Sans"/>
                  <a:sym typeface="Gill Sans"/>
                </a:rPr>
                <a:t>T’ Regression test cases</a:t>
              </a:r>
              <a:endParaRPr sz="1800">
                <a:solidFill>
                  <a:schemeClr val="lt1"/>
                </a:solidFill>
                <a:latin typeface="Gill Sans"/>
                <a:ea typeface="Gill Sans"/>
                <a:cs typeface="Gill Sans"/>
                <a:sym typeface="Gill Sans"/>
              </a:endParaRPr>
            </a:p>
          </p:txBody>
        </p:sp>
        <p:sp>
          <p:nvSpPr>
            <p:cNvPr id="273" name="Google Shape;273;p37"/>
            <p:cNvSpPr/>
            <p:nvPr/>
          </p:nvSpPr>
          <p:spPr>
            <a:xfrm>
              <a:off x="1813992" y="3543858"/>
              <a:ext cx="1677888" cy="864096"/>
            </a:xfrm>
            <a:prstGeom prst="flowChartMagneticDisk">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Gill Sans"/>
                  <a:ea typeface="Gill Sans"/>
                  <a:cs typeface="Gill Sans"/>
                  <a:sym typeface="Gill Sans"/>
                </a:rPr>
                <a:t>T’’ New test cases </a:t>
              </a:r>
              <a:endParaRPr sz="1800">
                <a:solidFill>
                  <a:schemeClr val="lt1"/>
                </a:solidFill>
                <a:latin typeface="Gill Sans"/>
                <a:ea typeface="Gill Sans"/>
                <a:cs typeface="Gill Sans"/>
                <a:sym typeface="Gill Sans"/>
              </a:endParaRPr>
            </a:p>
          </p:txBody>
        </p:sp>
        <p:sp>
          <p:nvSpPr>
            <p:cNvPr id="274" name="Google Shape;274;p37"/>
            <p:cNvSpPr/>
            <p:nvPr/>
          </p:nvSpPr>
          <p:spPr>
            <a:xfrm>
              <a:off x="323528" y="2355726"/>
              <a:ext cx="914400" cy="684560"/>
            </a:xfrm>
            <a:prstGeom prst="rect">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Gill Sans"/>
                  <a:ea typeface="Gill Sans"/>
                  <a:cs typeface="Gill Sans"/>
                  <a:sym typeface="Gill Sans"/>
                </a:rPr>
                <a:t>T’’  new test cases </a:t>
              </a:r>
              <a:endParaRPr sz="1400">
                <a:solidFill>
                  <a:schemeClr val="lt1"/>
                </a:solidFill>
                <a:latin typeface="Gill Sans"/>
                <a:ea typeface="Gill Sans"/>
                <a:cs typeface="Gill Sans"/>
                <a:sym typeface="Gill Sans"/>
              </a:endParaRPr>
            </a:p>
          </p:txBody>
        </p:sp>
        <p:sp>
          <p:nvSpPr>
            <p:cNvPr id="275" name="Google Shape;275;p37"/>
            <p:cNvSpPr/>
            <p:nvPr/>
          </p:nvSpPr>
          <p:spPr>
            <a:xfrm>
              <a:off x="4860032" y="1693935"/>
              <a:ext cx="1872208" cy="459486"/>
            </a:xfrm>
            <a:prstGeom prst="rect">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Gill Sans"/>
                  <a:ea typeface="Gill Sans"/>
                  <a:cs typeface="Gill Sans"/>
                  <a:sym typeface="Gill Sans"/>
                </a:rPr>
                <a:t>Program p</a:t>
              </a:r>
              <a:endParaRPr sz="1800">
                <a:solidFill>
                  <a:schemeClr val="lt1"/>
                </a:solidFill>
                <a:latin typeface="Gill Sans"/>
                <a:ea typeface="Gill Sans"/>
                <a:cs typeface="Gill Sans"/>
                <a:sym typeface="Gill Sans"/>
              </a:endParaRPr>
            </a:p>
          </p:txBody>
        </p:sp>
        <p:sp>
          <p:nvSpPr>
            <p:cNvPr id="276" name="Google Shape;276;p37"/>
            <p:cNvSpPr/>
            <p:nvPr/>
          </p:nvSpPr>
          <p:spPr>
            <a:xfrm>
              <a:off x="6084168" y="2895786"/>
              <a:ext cx="1872208" cy="1107558"/>
            </a:xfrm>
            <a:prstGeom prst="rect">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Program P</a:t>
              </a:r>
              <a:endParaRPr/>
            </a:p>
            <a:p>
              <a:pPr indent="0" lvl="0" marL="0" marR="0" rtl="0" algn="ctr">
                <a:spcBef>
                  <a:spcPts val="0"/>
                </a:spcBef>
                <a:spcAft>
                  <a:spcPts val="0"/>
                </a:spcAft>
                <a:buNone/>
              </a:pPr>
              <a:r>
                <a:t/>
              </a:r>
              <a:endParaRPr sz="100">
                <a:solidFill>
                  <a:schemeClr val="lt1"/>
                </a:solidFill>
                <a:latin typeface="Arial"/>
                <a:ea typeface="Arial"/>
                <a:cs typeface="Arial"/>
                <a:sym typeface="Arial"/>
              </a:endParaRPr>
            </a:p>
            <a:p>
              <a:pPr indent="0" lvl="0" marL="0" marR="0" rtl="0" algn="ctr">
                <a:spcBef>
                  <a:spcPts val="0"/>
                </a:spcBef>
                <a:spcAft>
                  <a:spcPts val="0"/>
                </a:spcAft>
                <a:buNone/>
              </a:pPr>
              <a:r>
                <a:rPr lang="en-US" sz="1400">
                  <a:solidFill>
                    <a:schemeClr val="lt1"/>
                  </a:solidFill>
                  <a:latin typeface="Arial"/>
                  <a:ea typeface="Arial"/>
                  <a:cs typeface="Arial"/>
                  <a:sym typeface="Arial"/>
                </a:rPr>
                <a:t>Changed feature</a:t>
              </a:r>
              <a:endParaRPr/>
            </a:p>
            <a:p>
              <a:pPr indent="0" lvl="0" marL="0" marR="0" rtl="0" algn="ctr">
                <a:spcBef>
                  <a:spcPts val="0"/>
                </a:spcBef>
                <a:spcAft>
                  <a:spcPts val="0"/>
                </a:spcAft>
                <a:buNone/>
              </a:pPr>
              <a:r>
                <a:rPr lang="en-US" sz="1400">
                  <a:solidFill>
                    <a:schemeClr val="lt1"/>
                  </a:solidFill>
                  <a:latin typeface="Arial"/>
                  <a:ea typeface="Arial"/>
                  <a:cs typeface="Arial"/>
                  <a:sym typeface="Arial"/>
                </a:rPr>
                <a:t>New featur</a:t>
              </a:r>
              <a:r>
                <a:rPr lang="en-US" sz="1800">
                  <a:solidFill>
                    <a:schemeClr val="lt1"/>
                  </a:solidFill>
                  <a:latin typeface="Gill Sans"/>
                  <a:ea typeface="Gill Sans"/>
                  <a:cs typeface="Gill Sans"/>
                  <a:sym typeface="Gill Sans"/>
                </a:rPr>
                <a:t>e</a:t>
              </a:r>
              <a:endParaRPr sz="1800">
                <a:solidFill>
                  <a:schemeClr val="lt1"/>
                </a:solidFill>
                <a:latin typeface="Gill Sans"/>
                <a:ea typeface="Gill Sans"/>
                <a:cs typeface="Gill Sans"/>
                <a:sym typeface="Gill Sans"/>
              </a:endParaRPr>
            </a:p>
          </p:txBody>
        </p:sp>
        <p:sp>
          <p:nvSpPr>
            <p:cNvPr id="277" name="Google Shape;277;p37"/>
            <p:cNvSpPr/>
            <p:nvPr/>
          </p:nvSpPr>
          <p:spPr>
            <a:xfrm>
              <a:off x="1839794" y="2261751"/>
              <a:ext cx="484632" cy="1390119"/>
            </a:xfrm>
            <a:prstGeom prst="downArrow">
              <a:avLst>
                <a:gd fmla="val 50000" name="adj1"/>
                <a:gd fmla="val 50000" name="adj2"/>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78" name="Google Shape;278;p37"/>
            <p:cNvSpPr/>
            <p:nvPr/>
          </p:nvSpPr>
          <p:spPr>
            <a:xfrm>
              <a:off x="1247738" y="2568215"/>
              <a:ext cx="731975" cy="363474"/>
            </a:xfrm>
            <a:prstGeom prst="rightArrow">
              <a:avLst>
                <a:gd fmla="val 50000" name="adj1"/>
                <a:gd fmla="val 50000" name="adj2"/>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79" name="Google Shape;279;p37"/>
            <p:cNvSpPr/>
            <p:nvPr/>
          </p:nvSpPr>
          <p:spPr>
            <a:xfrm>
              <a:off x="3491880" y="3543858"/>
              <a:ext cx="2592288" cy="378042"/>
            </a:xfrm>
            <a:prstGeom prst="rightArrow">
              <a:avLst>
                <a:gd fmla="val 50000" name="adj1"/>
                <a:gd fmla="val 50000" name="adj2"/>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0" name="Google Shape;280;p37"/>
            <p:cNvSpPr/>
            <p:nvPr/>
          </p:nvSpPr>
          <p:spPr>
            <a:xfrm>
              <a:off x="2580928" y="1923678"/>
              <a:ext cx="2279104" cy="108330"/>
            </a:xfrm>
            <a:prstGeom prst="rightArrow">
              <a:avLst>
                <a:gd fmla="val 50000" name="adj1"/>
                <a:gd fmla="val 50000" name="adj2"/>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1" name="Google Shape;281;p37"/>
            <p:cNvSpPr/>
            <p:nvPr/>
          </p:nvSpPr>
          <p:spPr>
            <a:xfrm>
              <a:off x="6246707" y="2200726"/>
              <a:ext cx="216024" cy="695060"/>
            </a:xfrm>
            <a:prstGeom prst="downArrow">
              <a:avLst>
                <a:gd fmla="val 50000" name="adj1"/>
                <a:gd fmla="val 50000" name="adj2"/>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82" name="Google Shape;282;p37"/>
          <p:cNvSpPr txBox="1"/>
          <p:nvPr/>
        </p:nvSpPr>
        <p:spPr>
          <a:xfrm>
            <a:off x="8421143" y="2320617"/>
            <a:ext cx="3529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P’</a:t>
            </a:r>
            <a:endParaRPr sz="1800">
              <a:solidFill>
                <a:schemeClr val="dk1"/>
              </a:solidFill>
              <a:latin typeface="Gill Sans"/>
              <a:ea typeface="Gill Sans"/>
              <a:cs typeface="Gill Sans"/>
              <a:sym typeface="Gill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type="title"/>
          </p:nvPr>
        </p:nvSpPr>
        <p:spPr>
          <a:xfrm>
            <a:off x="1447800" y="133350"/>
            <a:ext cx="7498080" cy="57978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US"/>
              <a:t>Selective Retest Technique cont…</a:t>
            </a:r>
            <a:endParaRPr/>
          </a:p>
        </p:txBody>
      </p:sp>
      <p:sp>
        <p:nvSpPr>
          <p:cNvPr id="288" name="Google Shape;288;p38"/>
          <p:cNvSpPr txBox="1"/>
          <p:nvPr>
            <p:ph idx="1" type="body"/>
          </p:nvPr>
        </p:nvSpPr>
        <p:spPr>
          <a:xfrm>
            <a:off x="1106557" y="971550"/>
            <a:ext cx="8001000" cy="4114800"/>
          </a:xfrm>
          <a:prstGeom prst="rect">
            <a:avLst/>
          </a:prstGeom>
          <a:noFill/>
          <a:ln>
            <a:noFill/>
          </a:ln>
        </p:spPr>
        <p:txBody>
          <a:bodyPr anchorCtr="0" anchor="t" bIns="45700" lIns="91425" spcFirstLastPara="1" rIns="91425" wrap="square" tIns="45700">
            <a:noAutofit/>
          </a:bodyPr>
          <a:lstStyle/>
          <a:p>
            <a:pPr indent="0" lvl="0" marL="82296" rtl="0" algn="just">
              <a:lnSpc>
                <a:spcPct val="100000"/>
              </a:lnSpc>
              <a:spcBef>
                <a:spcPts val="0"/>
              </a:spcBef>
              <a:spcAft>
                <a:spcPts val="0"/>
              </a:spcAft>
              <a:buSzPts val="1920"/>
              <a:buNone/>
            </a:pPr>
            <a:r>
              <a:rPr lang="en-US" sz="2400">
                <a:latin typeface="Arial"/>
                <a:ea typeface="Arial"/>
                <a:cs typeface="Arial"/>
                <a:sym typeface="Arial"/>
              </a:rPr>
              <a:t>1</a:t>
            </a:r>
            <a:r>
              <a:rPr lang="en-US" sz="2400"/>
              <a:t>. Select T’ subset of  T, a set of test cases to execute on  P’.</a:t>
            </a:r>
            <a:endParaRPr/>
          </a:p>
          <a:p>
            <a:pPr indent="0" lvl="0" marL="82296" rtl="0" algn="just">
              <a:lnSpc>
                <a:spcPct val="100000"/>
              </a:lnSpc>
              <a:spcBef>
                <a:spcPts val="600"/>
              </a:spcBef>
              <a:spcAft>
                <a:spcPts val="0"/>
              </a:spcAft>
              <a:buSzPts val="1920"/>
              <a:buNone/>
            </a:pPr>
            <a:r>
              <a:rPr lang="en-US" sz="2400"/>
              <a:t>2. Test P’ with  T’, establishing correctness of P’ with respect to T’.</a:t>
            </a:r>
            <a:endParaRPr/>
          </a:p>
          <a:p>
            <a:pPr indent="0" lvl="0" marL="82296" rtl="0" algn="just">
              <a:lnSpc>
                <a:spcPct val="100000"/>
              </a:lnSpc>
              <a:spcBef>
                <a:spcPts val="600"/>
              </a:spcBef>
              <a:spcAft>
                <a:spcPts val="0"/>
              </a:spcAft>
              <a:buSzPts val="1920"/>
              <a:buNone/>
            </a:pPr>
            <a:r>
              <a:rPr lang="en-US" sz="2400"/>
              <a:t>3. If necessary create  T’’, a set of new functional or structural test cases  for p’.</a:t>
            </a:r>
            <a:endParaRPr/>
          </a:p>
          <a:p>
            <a:pPr indent="0" lvl="0" marL="82296" rtl="0" algn="just">
              <a:lnSpc>
                <a:spcPct val="100000"/>
              </a:lnSpc>
              <a:spcBef>
                <a:spcPts val="600"/>
              </a:spcBef>
              <a:spcAft>
                <a:spcPts val="0"/>
              </a:spcAft>
              <a:buSzPts val="1920"/>
              <a:buNone/>
            </a:pPr>
            <a:r>
              <a:rPr lang="en-US" sz="2400"/>
              <a:t>4. Test P’ with T’’, establishing correctness of P’ with respect to T’’.</a:t>
            </a:r>
            <a:endParaRPr/>
          </a:p>
          <a:p>
            <a:pPr indent="0" lvl="0" marL="82296" rtl="0" algn="just">
              <a:lnSpc>
                <a:spcPct val="100000"/>
              </a:lnSpc>
              <a:spcBef>
                <a:spcPts val="600"/>
              </a:spcBef>
              <a:spcAft>
                <a:spcPts val="0"/>
              </a:spcAft>
              <a:buSzPts val="1920"/>
              <a:buNone/>
            </a:pPr>
            <a:r>
              <a:rPr lang="en-US" sz="2400"/>
              <a:t>5. Create T’’’, a new test suite and test execution profile for  P’, from T,  T’ and  T’’.</a:t>
            </a:r>
            <a:endParaRPr/>
          </a:p>
          <a:p>
            <a:pPr indent="0" lvl="0" marL="82296" rtl="0" algn="l">
              <a:lnSpc>
                <a:spcPct val="100000"/>
              </a:lnSpc>
              <a:spcBef>
                <a:spcPts val="600"/>
              </a:spcBef>
              <a:spcAft>
                <a:spcPts val="0"/>
              </a:spcAft>
              <a:buSzPts val="1920"/>
              <a:buNone/>
            </a:pPr>
            <a:r>
              <a:rPr i="1" lang="en-US" sz="2400"/>
              <a:t>Each of these steps involves the following important problems:</a:t>
            </a:r>
            <a:endParaRPr/>
          </a:p>
          <a:p>
            <a:pPr indent="0" lvl="0" marL="82296" rtl="0" algn="just">
              <a:lnSpc>
                <a:spcPct val="100000"/>
              </a:lnSpc>
              <a:spcBef>
                <a:spcPts val="600"/>
              </a:spcBef>
              <a:spcAft>
                <a:spcPts val="0"/>
              </a:spcAft>
              <a:buSzPts val="1920"/>
              <a:buNone/>
            </a:pPr>
            <a:r>
              <a:t/>
            </a:r>
            <a:endParaRPr sz="2400"/>
          </a:p>
          <a:p>
            <a:pPr indent="0" lvl="0" marL="82296" rtl="0" algn="just">
              <a:lnSpc>
                <a:spcPct val="100000"/>
              </a:lnSpc>
              <a:spcBef>
                <a:spcPts val="600"/>
              </a:spcBef>
              <a:spcAft>
                <a:spcPts val="0"/>
              </a:spcAft>
              <a:buSzPts val="1920"/>
              <a:buNone/>
            </a:pPr>
            <a:r>
              <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9"/>
          <p:cNvSpPr txBox="1"/>
          <p:nvPr>
            <p:ph type="title"/>
          </p:nvPr>
        </p:nvSpPr>
        <p:spPr>
          <a:xfrm>
            <a:off x="1371600" y="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Selective Retest Technique cont…</a:t>
            </a:r>
            <a:endParaRPr/>
          </a:p>
        </p:txBody>
      </p:sp>
      <p:sp>
        <p:nvSpPr>
          <p:cNvPr id="294" name="Google Shape;294;p39"/>
          <p:cNvSpPr txBox="1"/>
          <p:nvPr>
            <p:ph idx="1" type="body"/>
          </p:nvPr>
        </p:nvSpPr>
        <p:spPr>
          <a:xfrm>
            <a:off x="914400" y="819150"/>
            <a:ext cx="8153400" cy="38481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b="1" lang="en-US"/>
              <a:t>Regressive test selection problem</a:t>
            </a:r>
            <a:r>
              <a:rPr lang="en-US"/>
              <a:t>: The problem is to select a subset of T’ of T with which P’ will be tested.</a:t>
            </a:r>
            <a:endParaRPr/>
          </a:p>
          <a:p>
            <a:pPr indent="-283464" lvl="0" marL="365760" rtl="0" algn="just">
              <a:lnSpc>
                <a:spcPct val="100000"/>
              </a:lnSpc>
              <a:spcBef>
                <a:spcPts val="600"/>
              </a:spcBef>
              <a:spcAft>
                <a:spcPts val="0"/>
              </a:spcAft>
              <a:buSzPts val="2240"/>
              <a:buChar char="⚫"/>
            </a:pPr>
            <a:r>
              <a:rPr b="1" lang="en-US"/>
              <a:t>Coverage test selection problem</a:t>
            </a:r>
            <a:r>
              <a:rPr lang="en-US"/>
              <a:t>: Specification that requires additional testing.</a:t>
            </a:r>
            <a:endParaRPr/>
          </a:p>
          <a:p>
            <a:pPr indent="-283464" lvl="0" marL="365760" rtl="0" algn="just">
              <a:lnSpc>
                <a:spcPct val="100000"/>
              </a:lnSpc>
              <a:spcBef>
                <a:spcPts val="600"/>
              </a:spcBef>
              <a:spcAft>
                <a:spcPts val="0"/>
              </a:spcAft>
              <a:buSzPts val="2240"/>
              <a:buChar char="⚫"/>
            </a:pPr>
            <a:r>
              <a:rPr b="1" lang="en-US"/>
              <a:t>Test suite execution  problem</a:t>
            </a:r>
            <a:r>
              <a:rPr lang="en-US"/>
              <a:t>: Execute test case  efficiently and checking test results for correctness.</a:t>
            </a:r>
            <a:endParaRPr/>
          </a:p>
          <a:p>
            <a:pPr indent="-283464" lvl="0" marL="365760" rtl="0" algn="just">
              <a:lnSpc>
                <a:spcPct val="100000"/>
              </a:lnSpc>
              <a:spcBef>
                <a:spcPts val="600"/>
              </a:spcBef>
              <a:spcAft>
                <a:spcPts val="0"/>
              </a:spcAft>
              <a:buSzPts val="2240"/>
              <a:buChar char="⚫"/>
            </a:pPr>
            <a:r>
              <a:rPr b="1" lang="en-US"/>
              <a:t>Test maintenance  problem</a:t>
            </a:r>
            <a:r>
              <a:rPr lang="en-US"/>
              <a:t>: Update &amp; store test information.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1371600" y="82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Strategies for Test case Selection</a:t>
            </a:r>
            <a:endParaRPr/>
          </a:p>
        </p:txBody>
      </p:sp>
      <p:sp>
        <p:nvSpPr>
          <p:cNvPr id="300" name="Google Shape;300;p40"/>
          <p:cNvSpPr txBox="1"/>
          <p:nvPr>
            <p:ph idx="1" type="body"/>
          </p:nvPr>
        </p:nvSpPr>
        <p:spPr>
          <a:xfrm>
            <a:off x="1066800" y="971550"/>
            <a:ext cx="8077200" cy="405765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920"/>
              <a:buNone/>
            </a:pPr>
            <a:r>
              <a:rPr lang="en-US" sz="2400"/>
              <a:t>A procedure for selecting the   test case  is provided by a test criterion . The criteria are as follows: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US"/>
              <a:t>Selection criteria based on code</a:t>
            </a:r>
            <a:endParaRPr/>
          </a:p>
        </p:txBody>
      </p:sp>
      <p:sp>
        <p:nvSpPr>
          <p:cNvPr id="306" name="Google Shape;306;p41"/>
          <p:cNvSpPr txBox="1"/>
          <p:nvPr>
            <p:ph idx="1" type="body"/>
          </p:nvPr>
        </p:nvSpPr>
        <p:spPr>
          <a:xfrm>
            <a:off x="914400" y="819150"/>
            <a:ext cx="7924800" cy="3371850"/>
          </a:xfrm>
          <a:prstGeom prst="rect">
            <a:avLst/>
          </a:prstGeom>
          <a:noFill/>
          <a:ln>
            <a:noFill/>
          </a:ln>
        </p:spPr>
        <p:txBody>
          <a:bodyPr anchorCtr="0" anchor="t" bIns="45700" lIns="91425" spcFirstLastPara="1" rIns="91425" wrap="square" tIns="45700">
            <a:noAutofit/>
          </a:bodyPr>
          <a:lstStyle/>
          <a:p>
            <a:pPr indent="0" lvl="0" marL="82296" rtl="0" algn="just">
              <a:lnSpc>
                <a:spcPct val="100000"/>
              </a:lnSpc>
              <a:spcBef>
                <a:spcPts val="0"/>
              </a:spcBef>
              <a:spcAft>
                <a:spcPts val="0"/>
              </a:spcAft>
              <a:buSzPts val="1920"/>
              <a:buNone/>
            </a:pPr>
            <a:r>
              <a:t/>
            </a:r>
            <a:endParaRPr sz="2400"/>
          </a:p>
          <a:p>
            <a:pPr indent="-283464" lvl="0" marL="365760" rtl="0" algn="just">
              <a:lnSpc>
                <a:spcPct val="100000"/>
              </a:lnSpc>
              <a:spcBef>
                <a:spcPts val="600"/>
              </a:spcBef>
              <a:spcAft>
                <a:spcPts val="0"/>
              </a:spcAft>
              <a:buSzPts val="1920"/>
              <a:buChar char="⚫"/>
            </a:pPr>
            <a:r>
              <a:rPr lang="en-US" sz="2400"/>
              <a:t>Motivation: Potential failures can only be detected if the parts of the code that can cause faults are executed.</a:t>
            </a:r>
            <a:endParaRPr/>
          </a:p>
          <a:p>
            <a:pPr indent="-283464" lvl="0" marL="365760" rtl="0" algn="just">
              <a:lnSpc>
                <a:spcPct val="100000"/>
              </a:lnSpc>
              <a:spcBef>
                <a:spcPts val="600"/>
              </a:spcBef>
              <a:spcAft>
                <a:spcPts val="0"/>
              </a:spcAft>
              <a:buSzPts val="1920"/>
              <a:buChar char="⚫"/>
            </a:pPr>
            <a:r>
              <a:rPr lang="en-US" sz="2400"/>
              <a:t>All the code based regression test selection techniques attempt to select a subset T’ of T that will be helpful in establishing confidence that P’s functionality has been preserved where required.</a:t>
            </a:r>
            <a:endParaRPr/>
          </a:p>
          <a:p>
            <a:pPr indent="-283464" lvl="0" marL="365760" rtl="0" algn="just">
              <a:lnSpc>
                <a:spcPct val="100000"/>
              </a:lnSpc>
              <a:spcBef>
                <a:spcPts val="600"/>
              </a:spcBef>
              <a:spcAft>
                <a:spcPts val="0"/>
              </a:spcAft>
              <a:buSzPts val="1920"/>
              <a:buChar char="⚫"/>
            </a:pPr>
            <a:r>
              <a:rPr lang="en-US" sz="2400"/>
              <a:t>All code-based test selection techniques are concerned with locating tests in T that expose faults in P’.</a:t>
            </a:r>
            <a:endParaRPr/>
          </a:p>
          <a:p>
            <a:pPr indent="-283464" lvl="0" marL="365760" rtl="0" algn="just">
              <a:lnSpc>
                <a:spcPct val="100000"/>
              </a:lnSpc>
              <a:spcBef>
                <a:spcPts val="600"/>
              </a:spcBef>
              <a:spcAft>
                <a:spcPts val="0"/>
              </a:spcAft>
              <a:buSzPts val="1920"/>
              <a:buChar char="⚫"/>
            </a:pPr>
            <a:r>
              <a:rPr lang="en-US" sz="2400"/>
              <a:t>The following tests are based on these criteria:</a:t>
            </a:r>
            <a:endParaRPr/>
          </a:p>
          <a:p>
            <a:pPr indent="-161543" lvl="0" marL="365760" rtl="0" algn="l">
              <a:lnSpc>
                <a:spcPct val="100000"/>
              </a:lnSpc>
              <a:spcBef>
                <a:spcPts val="600"/>
              </a:spcBef>
              <a:spcAft>
                <a:spcPts val="0"/>
              </a:spcAft>
              <a:buSzPts val="1920"/>
              <a:buNone/>
            </a:pPr>
            <a:r>
              <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2"/>
          <p:cNvSpPr txBox="1"/>
          <p:nvPr>
            <p:ph idx="1" type="body"/>
          </p:nvPr>
        </p:nvSpPr>
        <p:spPr>
          <a:xfrm>
            <a:off x="940904" y="1047750"/>
            <a:ext cx="8126896" cy="39243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b="1" lang="en-US" sz="2400"/>
              <a:t>Fault-revealing test  cases</a:t>
            </a:r>
            <a:r>
              <a:rPr lang="en-US" sz="2400"/>
              <a:t>: A test case t detects a fault in P’ if it causes P’ to  fail. Hence t  is faulting revealing for P’.</a:t>
            </a:r>
            <a:endParaRPr/>
          </a:p>
          <a:p>
            <a:pPr indent="-237744" lvl="1" marL="640080" rtl="0" algn="just">
              <a:lnSpc>
                <a:spcPct val="100000"/>
              </a:lnSpc>
              <a:spcBef>
                <a:spcPts val="550"/>
              </a:spcBef>
              <a:spcAft>
                <a:spcPts val="0"/>
              </a:spcAft>
              <a:buSzPts val="2000"/>
              <a:buChar char="◦"/>
            </a:pPr>
            <a:r>
              <a:rPr lang="en-US" sz="2000"/>
              <a:t>There is no effective procedure to find the tests in T that are fault revealing for P’.</a:t>
            </a:r>
            <a:endParaRPr/>
          </a:p>
          <a:p>
            <a:pPr indent="-237744" lvl="1" marL="640080" rtl="0" algn="just">
              <a:lnSpc>
                <a:spcPct val="100000"/>
              </a:lnSpc>
              <a:spcBef>
                <a:spcPts val="550"/>
              </a:spcBef>
              <a:spcAft>
                <a:spcPts val="0"/>
              </a:spcAft>
              <a:buSzPts val="2000"/>
              <a:buChar char="◦"/>
            </a:pPr>
            <a:r>
              <a:rPr lang="en-US" sz="2000"/>
              <a:t>Under certain conditions, however, a regression test selection technique can select a superset of the tests in T that are fault- revealing for P’.</a:t>
            </a:r>
            <a:endParaRPr/>
          </a:p>
          <a:p>
            <a:pPr indent="-237744" lvl="1" marL="640080" rtl="0" algn="just">
              <a:lnSpc>
                <a:spcPct val="100000"/>
              </a:lnSpc>
              <a:spcBef>
                <a:spcPts val="550"/>
              </a:spcBef>
              <a:spcAft>
                <a:spcPts val="0"/>
              </a:spcAft>
              <a:buSzPts val="2000"/>
              <a:buChar char="◦"/>
            </a:pPr>
            <a:r>
              <a:rPr lang="en-US" sz="2000"/>
              <a:t>Under these conditions, such a technique omits no tests in T that can reveal faults in P’.</a:t>
            </a:r>
            <a:endParaRPr/>
          </a:p>
          <a:p>
            <a:pPr indent="-161543" lvl="0" marL="365760" rtl="0" algn="l">
              <a:lnSpc>
                <a:spcPct val="100000"/>
              </a:lnSpc>
              <a:spcBef>
                <a:spcPts val="600"/>
              </a:spcBef>
              <a:spcAft>
                <a:spcPts val="0"/>
              </a:spcAft>
              <a:buSzPts val="1920"/>
              <a:buNone/>
            </a:pPr>
            <a:r>
              <a:t/>
            </a:r>
            <a:endParaRPr sz="2400"/>
          </a:p>
        </p:txBody>
      </p:sp>
      <p:sp>
        <p:nvSpPr>
          <p:cNvPr id="312" name="Google Shape;312;p42"/>
          <p:cNvSpPr txBox="1"/>
          <p:nvPr/>
        </p:nvSpPr>
        <p:spPr>
          <a:xfrm>
            <a:off x="1143000" y="209550"/>
            <a:ext cx="7772400" cy="8572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562214"/>
              </a:buClr>
              <a:buSzPts val="3600"/>
              <a:buFont typeface="Gill Sans"/>
              <a:buNone/>
            </a:pPr>
            <a:r>
              <a:rPr lang="en-US" sz="3600">
                <a:solidFill>
                  <a:srgbClr val="562214"/>
                </a:solidFill>
                <a:latin typeface="Gill Sans"/>
                <a:ea typeface="Gill Sans"/>
                <a:cs typeface="Gill Sans"/>
                <a:sym typeface="Gill Sans"/>
              </a:rPr>
              <a:t>Selection criteria based on code  cont…</a:t>
            </a:r>
            <a:endParaRPr sz="3600">
              <a:solidFill>
                <a:srgbClr val="562214"/>
              </a:solidFill>
              <a:latin typeface="Gill Sans"/>
              <a:ea typeface="Gill Sans"/>
              <a:cs typeface="Gill Sans"/>
              <a:sym typeface="Gill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3"/>
          <p:cNvSpPr txBox="1"/>
          <p:nvPr>
            <p:ph type="title"/>
          </p:nvPr>
        </p:nvSpPr>
        <p:spPr>
          <a:xfrm>
            <a:off x="1447800" y="10767"/>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Selection criteria based on code  cont…</a:t>
            </a:r>
            <a:endParaRPr/>
          </a:p>
        </p:txBody>
      </p:sp>
      <p:sp>
        <p:nvSpPr>
          <p:cNvPr id="318" name="Google Shape;318;p43"/>
          <p:cNvSpPr txBox="1"/>
          <p:nvPr>
            <p:ph idx="1" type="body"/>
          </p:nvPr>
        </p:nvSpPr>
        <p:spPr>
          <a:xfrm>
            <a:off x="990600" y="971550"/>
            <a:ext cx="8153400" cy="38481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b="1" lang="en-US"/>
              <a:t>Modification-revealing test  cases</a:t>
            </a:r>
            <a:r>
              <a:rPr lang="en-US"/>
              <a:t>:</a:t>
            </a:r>
            <a:endParaRPr/>
          </a:p>
          <a:p>
            <a:pPr indent="-237744" lvl="1" marL="640080" rtl="0" algn="just">
              <a:lnSpc>
                <a:spcPct val="100000"/>
              </a:lnSpc>
              <a:spcBef>
                <a:spcPts val="550"/>
              </a:spcBef>
              <a:spcAft>
                <a:spcPts val="0"/>
              </a:spcAft>
              <a:buSzPts val="2400"/>
              <a:buChar char="◦"/>
            </a:pPr>
            <a:r>
              <a:rPr lang="en-US"/>
              <a:t>A test case t is modification revealing for P and P’ if and only if it causes the outputs of P and P’ to differ.</a:t>
            </a:r>
            <a:endParaRPr/>
          </a:p>
          <a:p>
            <a:pPr indent="-283464" lvl="0" marL="365760" rtl="0" algn="just">
              <a:lnSpc>
                <a:spcPct val="100000"/>
              </a:lnSpc>
              <a:spcBef>
                <a:spcPts val="600"/>
              </a:spcBef>
              <a:spcAft>
                <a:spcPts val="0"/>
              </a:spcAft>
              <a:buSzPts val="2240"/>
              <a:buChar char="⚫"/>
            </a:pPr>
            <a:r>
              <a:rPr b="1" lang="en-US"/>
              <a:t>Modification-traversing test  cases</a:t>
            </a:r>
            <a:r>
              <a:rPr lang="en-US"/>
              <a:t>:</a:t>
            </a:r>
            <a:endParaRPr/>
          </a:p>
          <a:p>
            <a:pPr indent="-237744" lvl="1" marL="640080" rtl="0" algn="just">
              <a:lnSpc>
                <a:spcPct val="100000"/>
              </a:lnSpc>
              <a:spcBef>
                <a:spcPts val="550"/>
              </a:spcBef>
              <a:spcAft>
                <a:spcPts val="0"/>
              </a:spcAft>
              <a:buSzPts val="2400"/>
              <a:buChar char="◦"/>
            </a:pPr>
            <a:r>
              <a:rPr lang="en-US"/>
              <a:t>A test case t is modification traversing if and only if it executes new or modified code in p’.</a:t>
            </a:r>
            <a:endParaRPr/>
          </a:p>
          <a:p>
            <a:pPr indent="-237744" lvl="1" marL="640080" rtl="0" algn="just">
              <a:lnSpc>
                <a:spcPct val="100000"/>
              </a:lnSpc>
              <a:spcBef>
                <a:spcPts val="550"/>
              </a:spcBef>
              <a:spcAft>
                <a:spcPts val="0"/>
              </a:spcAft>
              <a:buSzPts val="2400"/>
              <a:buChar char="◦"/>
            </a:pPr>
            <a:r>
              <a:rPr lang="en-US"/>
              <a:t>These tests are useful because a non-obsolete test t in T can only be modification-revealing for P and P’ if it is modification traversing for P and P’.</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4"/>
          <p:cNvSpPr txBox="1"/>
          <p:nvPr>
            <p:ph type="title"/>
          </p:nvPr>
        </p:nvSpPr>
        <p:spPr>
          <a:xfrm>
            <a:off x="1447800" y="13335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Regression Test Selection Techniques</a:t>
            </a:r>
            <a:endParaRPr/>
          </a:p>
        </p:txBody>
      </p:sp>
      <p:sp>
        <p:nvSpPr>
          <p:cNvPr id="324" name="Google Shape;324;p44"/>
          <p:cNvSpPr txBox="1"/>
          <p:nvPr>
            <p:ph idx="1" type="body"/>
          </p:nvPr>
        </p:nvSpPr>
        <p:spPr>
          <a:xfrm>
            <a:off x="1066800" y="1085850"/>
            <a:ext cx="800100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Minimization  Techniques:  </a:t>
            </a:r>
            <a:endParaRPr/>
          </a:p>
          <a:p>
            <a:pPr indent="-237744" lvl="1" marL="640080" rtl="0" algn="just">
              <a:lnSpc>
                <a:spcPct val="100000"/>
              </a:lnSpc>
              <a:spcBef>
                <a:spcPts val="550"/>
              </a:spcBef>
              <a:spcAft>
                <a:spcPts val="0"/>
              </a:spcAft>
              <a:buSzPts val="2000"/>
              <a:buChar char="◦"/>
            </a:pPr>
            <a:r>
              <a:rPr lang="en-US" sz="2000"/>
              <a:t>attempt to select minimal sets of test cases from T that yield coverage/affected portion of P.</a:t>
            </a:r>
            <a:endParaRPr/>
          </a:p>
          <a:p>
            <a:pPr indent="-283464" lvl="0" marL="365760" rtl="0" algn="just">
              <a:lnSpc>
                <a:spcPct val="100000"/>
              </a:lnSpc>
              <a:spcBef>
                <a:spcPts val="600"/>
              </a:spcBef>
              <a:spcAft>
                <a:spcPts val="0"/>
              </a:spcAft>
              <a:buSzPts val="1920"/>
              <a:buChar char="⚫"/>
            </a:pPr>
            <a:r>
              <a:rPr lang="en-US" sz="2400"/>
              <a:t>Dataflow Techniques:  </a:t>
            </a:r>
            <a:endParaRPr/>
          </a:p>
          <a:p>
            <a:pPr indent="-237744" lvl="1" marL="640080" rtl="0" algn="just">
              <a:lnSpc>
                <a:spcPct val="100000"/>
              </a:lnSpc>
              <a:spcBef>
                <a:spcPts val="550"/>
              </a:spcBef>
              <a:spcAft>
                <a:spcPts val="0"/>
              </a:spcAft>
              <a:buSzPts val="2000"/>
              <a:buChar char="◦"/>
            </a:pPr>
            <a:r>
              <a:rPr lang="en-US" sz="2000"/>
              <a:t>It selects test cases that exercise data interaction that have been affected by modification.</a:t>
            </a:r>
            <a:endParaRPr/>
          </a:p>
          <a:p>
            <a:pPr indent="-237744" lvl="1" marL="640080" rtl="0" algn="just">
              <a:lnSpc>
                <a:spcPct val="100000"/>
              </a:lnSpc>
              <a:spcBef>
                <a:spcPts val="550"/>
              </a:spcBef>
              <a:spcAft>
                <a:spcPts val="0"/>
              </a:spcAft>
              <a:buSzPts val="2000"/>
              <a:buChar char="◦"/>
            </a:pPr>
            <a:r>
              <a:rPr lang="en-US" sz="2000"/>
              <a:t>Every definition-use pair that is deleted from P, new in P’, or modified for P’, should be tested.</a:t>
            </a:r>
            <a:endParaRPr/>
          </a:p>
          <a:p>
            <a:pPr indent="-237744" lvl="1" marL="640080" rtl="0" algn="just">
              <a:lnSpc>
                <a:spcPct val="100000"/>
              </a:lnSpc>
              <a:spcBef>
                <a:spcPts val="550"/>
              </a:spcBef>
              <a:spcAft>
                <a:spcPts val="0"/>
              </a:spcAft>
              <a:buSzPts val="2000"/>
              <a:buChar char="◦"/>
            </a:pPr>
            <a:r>
              <a:rPr lang="en-US" sz="2000"/>
              <a:t>The technique selects every test case in T that, when executed on P, exercised, deleted, or </a:t>
            </a:r>
            <a:r>
              <a:rPr lang="en-US" sz="2000">
                <a:highlight>
                  <a:srgbClr val="00FF00"/>
                </a:highlight>
              </a:rPr>
              <a:t>modified definition-use pairs</a:t>
            </a:r>
            <a:r>
              <a:rPr lang="en-US" sz="2000"/>
              <a:t>, or executed a statement containing a modified predicate.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5"/>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Continued…</a:t>
            </a:r>
            <a:endParaRPr/>
          </a:p>
        </p:txBody>
      </p:sp>
      <p:sp>
        <p:nvSpPr>
          <p:cNvPr id="330" name="Google Shape;330;p45"/>
          <p:cNvSpPr txBox="1"/>
          <p:nvPr>
            <p:ph idx="1" type="body"/>
          </p:nvPr>
        </p:nvSpPr>
        <p:spPr>
          <a:xfrm>
            <a:off x="1066800" y="1085850"/>
            <a:ext cx="7866888"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US"/>
              <a:t>Safe  Techniques: </a:t>
            </a:r>
            <a:endParaRPr/>
          </a:p>
          <a:p>
            <a:pPr indent="-237744" lvl="1" marL="640080" rtl="0" algn="just">
              <a:lnSpc>
                <a:spcPct val="100000"/>
              </a:lnSpc>
              <a:spcBef>
                <a:spcPts val="550"/>
              </a:spcBef>
              <a:spcAft>
                <a:spcPts val="0"/>
              </a:spcAft>
              <a:buSzPts val="2400"/>
              <a:buChar char="◦"/>
            </a:pPr>
            <a:r>
              <a:rPr lang="en-US"/>
              <a:t>An explicit set of safety condition needs to be satisfied here.</a:t>
            </a:r>
            <a:endParaRPr/>
          </a:p>
          <a:p>
            <a:pPr indent="-237744" lvl="1" marL="640080" rtl="0" algn="just">
              <a:lnSpc>
                <a:spcPct val="100000"/>
              </a:lnSpc>
              <a:spcBef>
                <a:spcPts val="550"/>
              </a:spcBef>
              <a:spcAft>
                <a:spcPts val="0"/>
              </a:spcAft>
              <a:buSzPts val="2400"/>
              <a:buChar char="◦"/>
            </a:pPr>
            <a:r>
              <a:rPr lang="en-US"/>
              <a:t>When an explicit set of safety conditions can be satisfied, safe regression test selection techniques guarantee that the selected subset T’ contains all the test cases in the original test suite T that can reveal faults in P’.</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6"/>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Continued…</a:t>
            </a:r>
            <a:endParaRPr/>
          </a:p>
        </p:txBody>
      </p:sp>
      <p:sp>
        <p:nvSpPr>
          <p:cNvPr id="336" name="Google Shape;336;p46"/>
          <p:cNvSpPr txBox="1"/>
          <p:nvPr>
            <p:ph idx="1" type="body"/>
          </p:nvPr>
        </p:nvSpPr>
        <p:spPr>
          <a:xfrm>
            <a:off x="1066800" y="1200150"/>
            <a:ext cx="792480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Ad doc/Random Techniques: </a:t>
            </a:r>
            <a:endParaRPr/>
          </a:p>
          <a:p>
            <a:pPr indent="-237744" lvl="1" marL="640080" rtl="0" algn="just">
              <a:lnSpc>
                <a:spcPct val="100000"/>
              </a:lnSpc>
              <a:spcBef>
                <a:spcPts val="550"/>
              </a:spcBef>
              <a:spcAft>
                <a:spcPts val="0"/>
              </a:spcAft>
              <a:buSzPts val="2000"/>
              <a:buChar char="◦"/>
            </a:pPr>
            <a:r>
              <a:rPr lang="en-US" sz="2000"/>
              <a:t>When time constraints prohibit the use of all test cases, select test cases based on ‘Intuitions’/Randomly select predetermined no. of test cases.</a:t>
            </a:r>
            <a:endParaRPr/>
          </a:p>
          <a:p>
            <a:pPr indent="-237744" lvl="1" marL="640080" rtl="0" algn="just">
              <a:lnSpc>
                <a:spcPct val="100000"/>
              </a:lnSpc>
              <a:spcBef>
                <a:spcPts val="550"/>
              </a:spcBef>
              <a:spcAft>
                <a:spcPts val="0"/>
              </a:spcAft>
              <a:buSzPts val="2000"/>
              <a:buChar char="◦"/>
            </a:pPr>
            <a:r>
              <a:rPr lang="en-US" sz="2000"/>
              <a:t>Another simple approach is to randomly select a predetermined number of test cases from T.</a:t>
            </a:r>
            <a:endParaRPr/>
          </a:p>
          <a:p>
            <a:pPr indent="-283464" lvl="0" marL="365760" rtl="0" algn="just">
              <a:lnSpc>
                <a:spcPct val="100000"/>
              </a:lnSpc>
              <a:spcBef>
                <a:spcPts val="600"/>
              </a:spcBef>
              <a:spcAft>
                <a:spcPts val="0"/>
              </a:spcAft>
              <a:buSzPts val="1920"/>
              <a:buChar char="⚫"/>
            </a:pPr>
            <a:r>
              <a:rPr lang="en-US" sz="2400"/>
              <a:t>Retest-all  Technique: </a:t>
            </a:r>
            <a:endParaRPr/>
          </a:p>
          <a:p>
            <a:pPr indent="-237744" lvl="1" marL="640080" rtl="0" algn="just">
              <a:lnSpc>
                <a:spcPct val="100000"/>
              </a:lnSpc>
              <a:spcBef>
                <a:spcPts val="550"/>
              </a:spcBef>
              <a:spcAft>
                <a:spcPts val="0"/>
              </a:spcAft>
              <a:buSzPts val="2000"/>
              <a:buChar char="◦"/>
            </a:pPr>
            <a:r>
              <a:rPr lang="en-US" sz="2000"/>
              <a:t>The retest-all technique simply reuses all the existing test cases.</a:t>
            </a:r>
            <a:endParaRPr/>
          </a:p>
          <a:p>
            <a:pPr indent="-237744" lvl="1" marL="640080" rtl="0" algn="just">
              <a:lnSpc>
                <a:spcPct val="100000"/>
              </a:lnSpc>
              <a:spcBef>
                <a:spcPts val="550"/>
              </a:spcBef>
              <a:spcAft>
                <a:spcPts val="0"/>
              </a:spcAft>
              <a:buSzPts val="2000"/>
              <a:buChar char="◦"/>
            </a:pPr>
            <a:r>
              <a:rPr lang="en-US" sz="2000"/>
              <a:t>To test P’, the technique effectively selects all test cases in T.</a:t>
            </a:r>
            <a:endParaRPr sz="2000"/>
          </a:p>
          <a:p>
            <a:pPr indent="-161543" lvl="0" marL="365760" rtl="0" algn="l">
              <a:lnSpc>
                <a:spcPct val="100000"/>
              </a:lnSpc>
              <a:spcBef>
                <a:spcPts val="600"/>
              </a:spcBef>
              <a:spcAft>
                <a:spcPts val="0"/>
              </a:spcAft>
              <a:buSzPts val="1920"/>
              <a:buNone/>
            </a:pPr>
            <a:r>
              <a:t/>
            </a:r>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7"/>
          <p:cNvSpPr txBox="1"/>
          <p:nvPr>
            <p:ph type="title"/>
          </p:nvPr>
        </p:nvSpPr>
        <p:spPr>
          <a:xfrm>
            <a:off x="1143000" y="205978"/>
            <a:ext cx="7790688" cy="61317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2800"/>
              <a:buFont typeface="Gill Sans"/>
              <a:buNone/>
            </a:pPr>
            <a:r>
              <a:rPr lang="en-US" sz="2800"/>
              <a:t>Evaluating  Regression Test Selection Techniques</a:t>
            </a:r>
            <a:endParaRPr sz="2800"/>
          </a:p>
        </p:txBody>
      </p:sp>
      <p:sp>
        <p:nvSpPr>
          <p:cNvPr id="342" name="Google Shape;342;p47"/>
          <p:cNvSpPr txBox="1"/>
          <p:nvPr>
            <p:ph idx="1" type="body"/>
          </p:nvPr>
        </p:nvSpPr>
        <p:spPr>
          <a:xfrm>
            <a:off x="1066800" y="819150"/>
            <a:ext cx="7924800" cy="4191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600"/>
              <a:buChar char="⚫"/>
            </a:pPr>
            <a:r>
              <a:rPr lang="en-US" sz="2000"/>
              <a:t> Rothermel  et al. have recognized the following categories for evaluating Regression test selection techniques:</a:t>
            </a:r>
            <a:endParaRPr/>
          </a:p>
          <a:p>
            <a:pPr indent="-283464" lvl="0" marL="365760" rtl="0" algn="just">
              <a:lnSpc>
                <a:spcPct val="100000"/>
              </a:lnSpc>
              <a:spcBef>
                <a:spcPts val="600"/>
              </a:spcBef>
              <a:spcAft>
                <a:spcPts val="0"/>
              </a:spcAft>
              <a:buSzPts val="1600"/>
              <a:buChar char="⚫"/>
            </a:pPr>
            <a:r>
              <a:rPr lang="en-US" sz="2000"/>
              <a:t> Inclusiveness: </a:t>
            </a:r>
            <a:endParaRPr/>
          </a:p>
          <a:p>
            <a:pPr indent="-237744" lvl="1" marL="640080" rtl="0" algn="just">
              <a:lnSpc>
                <a:spcPct val="100000"/>
              </a:lnSpc>
              <a:spcBef>
                <a:spcPts val="550"/>
              </a:spcBef>
              <a:spcAft>
                <a:spcPts val="0"/>
              </a:spcAft>
              <a:buSzPts val="1800"/>
              <a:buChar char="◦"/>
            </a:pPr>
            <a:r>
              <a:rPr lang="en-US" sz="1800"/>
              <a:t>It measures the extent to which M chooses modification-revealing test from T for inclusion in T’.  [ M: Regression Test selection Technique]</a:t>
            </a:r>
            <a:endParaRPr/>
          </a:p>
          <a:p>
            <a:pPr indent="-237744" lvl="1" marL="640080" rtl="0" algn="just">
              <a:lnSpc>
                <a:spcPct val="100000"/>
              </a:lnSpc>
              <a:spcBef>
                <a:spcPts val="550"/>
              </a:spcBef>
              <a:spcAft>
                <a:spcPts val="0"/>
              </a:spcAft>
              <a:buSzPts val="1800"/>
              <a:buChar char="◦"/>
            </a:pPr>
            <a:r>
              <a:rPr lang="en-US" sz="1800"/>
              <a:t>Suppose T contains n tests that are modification revealing for P and P’, suppose M selects m of these tests. The inclusiveness of M relative to P and P’ and T is:</a:t>
            </a:r>
            <a:endParaRPr/>
          </a:p>
          <a:p>
            <a:pPr indent="-285750" lvl="0" marL="285750" rtl="0" algn="just">
              <a:lnSpc>
                <a:spcPct val="100000"/>
              </a:lnSpc>
              <a:spcBef>
                <a:spcPts val="600"/>
              </a:spcBef>
              <a:spcAft>
                <a:spcPts val="0"/>
              </a:spcAft>
              <a:buSzPts val="1440"/>
              <a:buChar char="⚫"/>
            </a:pPr>
            <a:r>
              <a:rPr lang="en-US" sz="1800"/>
              <a:t>    	</a:t>
            </a:r>
            <a:r>
              <a:rPr lang="en-US" sz="1800">
                <a:latin typeface="Arial"/>
                <a:ea typeface="Arial"/>
                <a:cs typeface="Arial"/>
                <a:sym typeface="Arial"/>
              </a:rPr>
              <a:t>1</a:t>
            </a:r>
            <a:r>
              <a:rPr lang="en-US" sz="1800"/>
              <a:t>.INCL(M) = (100 * (m / n) %, if n != 0</a:t>
            </a:r>
            <a:endParaRPr/>
          </a:p>
          <a:p>
            <a:pPr indent="-285750" lvl="0" marL="285750" rtl="0" algn="just">
              <a:lnSpc>
                <a:spcPct val="100000"/>
              </a:lnSpc>
              <a:spcBef>
                <a:spcPts val="600"/>
              </a:spcBef>
              <a:spcAft>
                <a:spcPts val="0"/>
              </a:spcAft>
              <a:buSzPts val="1440"/>
              <a:buChar char="⚫"/>
            </a:pPr>
            <a:r>
              <a:rPr lang="en-US" sz="1800"/>
              <a:t>    	2. INCL(M) = 100%, if n = 0</a:t>
            </a:r>
            <a:endParaRPr/>
          </a:p>
          <a:p>
            <a:pPr indent="-285750" lvl="0" marL="285750" rtl="0" algn="just">
              <a:lnSpc>
                <a:spcPct val="100000"/>
              </a:lnSpc>
              <a:spcBef>
                <a:spcPts val="600"/>
              </a:spcBef>
              <a:spcAft>
                <a:spcPts val="0"/>
              </a:spcAft>
              <a:buSzPts val="1440"/>
              <a:buChar char="⚫"/>
            </a:pPr>
            <a:r>
              <a:rPr lang="en-US" sz="1800"/>
              <a:t>(here T contains n modification-revealing  tests  &amp; M contains  m modification-revealing  tests .)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8"/>
          <p:cNvSpPr txBox="1"/>
          <p:nvPr>
            <p:ph type="title"/>
          </p:nvPr>
        </p:nvSpPr>
        <p:spPr>
          <a:xfrm>
            <a:off x="1447800" y="0"/>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Example</a:t>
            </a:r>
            <a:endParaRPr/>
          </a:p>
        </p:txBody>
      </p:sp>
      <p:sp>
        <p:nvSpPr>
          <p:cNvPr id="348" name="Google Shape;348;p48"/>
          <p:cNvSpPr txBox="1"/>
          <p:nvPr>
            <p:ph idx="1" type="body"/>
          </p:nvPr>
        </p:nvSpPr>
        <p:spPr>
          <a:xfrm>
            <a:off x="1066800" y="1085850"/>
            <a:ext cx="792480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For example, if </a:t>
            </a:r>
            <a:r>
              <a:rPr i="1" lang="en-US" sz="2400"/>
              <a:t>T </a:t>
            </a:r>
            <a:r>
              <a:rPr lang="en-US" sz="2400"/>
              <a:t>contains 100 tests of which 20 are modification-revealing for </a:t>
            </a:r>
            <a:r>
              <a:rPr i="1" lang="en-US" sz="2400"/>
              <a:t>P </a:t>
            </a:r>
            <a:r>
              <a:rPr lang="en-US" sz="2400"/>
              <a:t>and </a:t>
            </a:r>
            <a:r>
              <a:rPr i="1" lang="en-US" sz="2400"/>
              <a:t>P’</a:t>
            </a:r>
            <a:r>
              <a:rPr lang="en-US" sz="2400"/>
              <a:t>, and </a:t>
            </a:r>
            <a:r>
              <a:rPr i="1" lang="en-US" sz="2400"/>
              <a:t>M </a:t>
            </a:r>
            <a:r>
              <a:rPr lang="en-US" sz="2400"/>
              <a:t>selects 4 of these 20 tests, then </a:t>
            </a:r>
            <a:r>
              <a:rPr i="1" lang="en-US" sz="2400"/>
              <a:t>M </a:t>
            </a:r>
            <a:r>
              <a:rPr lang="en-US" sz="2400"/>
              <a:t>is 20% inclusive relative to </a:t>
            </a:r>
            <a:r>
              <a:rPr i="1" lang="en-US" sz="2400"/>
              <a:t>P</a:t>
            </a:r>
            <a:r>
              <a:rPr lang="en-US" sz="2400"/>
              <a:t>, </a:t>
            </a:r>
            <a:r>
              <a:rPr i="1" lang="en-US" sz="2400"/>
              <a:t>P’, </a:t>
            </a:r>
            <a:r>
              <a:rPr lang="en-US" sz="2400"/>
              <a:t>and </a:t>
            </a:r>
            <a:r>
              <a:rPr i="1" lang="en-US" sz="2400"/>
              <a:t>T</a:t>
            </a:r>
            <a:r>
              <a:rPr lang="en-US" sz="2400"/>
              <a:t>. </a:t>
            </a:r>
            <a:endParaRPr sz="2400"/>
          </a:p>
          <a:p>
            <a:pPr indent="-283464" lvl="0" marL="365760" rtl="0" algn="just">
              <a:lnSpc>
                <a:spcPct val="100000"/>
              </a:lnSpc>
              <a:spcBef>
                <a:spcPts val="600"/>
              </a:spcBef>
              <a:spcAft>
                <a:spcPts val="0"/>
              </a:spcAft>
              <a:buSzPts val="1920"/>
              <a:buChar char="⚫"/>
            </a:pPr>
            <a:r>
              <a:rPr lang="en-US" sz="2400"/>
              <a:t>If </a:t>
            </a:r>
            <a:r>
              <a:rPr i="1" lang="en-US" sz="2400"/>
              <a:t>T </a:t>
            </a:r>
            <a:r>
              <a:rPr lang="en-US" sz="2400"/>
              <a:t>contains no modification-revealing tests, then every test selection technique is 100% inclusive relative to </a:t>
            </a:r>
            <a:r>
              <a:rPr i="1" lang="en-US" sz="2400"/>
              <a:t>P</a:t>
            </a:r>
            <a:r>
              <a:rPr lang="en-US" sz="2400"/>
              <a:t>, </a:t>
            </a:r>
            <a:r>
              <a:rPr i="1" lang="en-US" sz="2400"/>
              <a:t>P’, </a:t>
            </a:r>
            <a:r>
              <a:rPr lang="en-US" sz="2400"/>
              <a:t>and </a:t>
            </a:r>
            <a:r>
              <a:rPr i="1" lang="en-US" sz="2400"/>
              <a:t>T</a:t>
            </a:r>
            <a:r>
              <a:rPr lang="en-US" sz="2400"/>
              <a:t>.</a:t>
            </a:r>
            <a:endParaRPr/>
          </a:p>
          <a:p>
            <a:pPr indent="-283464" lvl="0" marL="365760" rtl="0" algn="just">
              <a:lnSpc>
                <a:spcPct val="100000"/>
              </a:lnSpc>
              <a:spcBef>
                <a:spcPts val="600"/>
              </a:spcBef>
              <a:spcAft>
                <a:spcPts val="0"/>
              </a:spcAft>
              <a:buSzPts val="1920"/>
              <a:buChar char="⚫"/>
            </a:pPr>
            <a:r>
              <a:rPr lang="en-US" sz="2400">
                <a:highlight>
                  <a:srgbClr val="00FF00"/>
                </a:highlight>
              </a:rPr>
              <a:t>If for all </a:t>
            </a:r>
            <a:r>
              <a:rPr i="1" lang="en-US" sz="2400">
                <a:highlight>
                  <a:srgbClr val="00FF00"/>
                </a:highlight>
              </a:rPr>
              <a:t>P</a:t>
            </a:r>
            <a:r>
              <a:rPr lang="en-US" sz="2400">
                <a:highlight>
                  <a:srgbClr val="00FF00"/>
                </a:highlight>
              </a:rPr>
              <a:t>, </a:t>
            </a:r>
            <a:r>
              <a:rPr i="1" lang="en-US" sz="2400">
                <a:highlight>
                  <a:srgbClr val="00FF00"/>
                </a:highlight>
              </a:rPr>
              <a:t>P’, </a:t>
            </a:r>
            <a:r>
              <a:rPr lang="en-US" sz="2400">
                <a:highlight>
                  <a:srgbClr val="00FF00"/>
                </a:highlight>
              </a:rPr>
              <a:t>and </a:t>
            </a:r>
            <a:r>
              <a:rPr i="1" lang="en-US" sz="2400">
                <a:highlight>
                  <a:srgbClr val="00FF00"/>
                </a:highlight>
              </a:rPr>
              <a:t>T</a:t>
            </a:r>
            <a:r>
              <a:rPr lang="en-US" sz="2400">
                <a:highlight>
                  <a:srgbClr val="00FF00"/>
                </a:highlight>
              </a:rPr>
              <a:t>, </a:t>
            </a:r>
            <a:r>
              <a:rPr i="1" lang="en-US" sz="2400">
                <a:highlight>
                  <a:srgbClr val="00FF00"/>
                </a:highlight>
              </a:rPr>
              <a:t>M </a:t>
            </a:r>
            <a:r>
              <a:rPr lang="en-US" sz="2400">
                <a:highlight>
                  <a:srgbClr val="00FF00"/>
                </a:highlight>
              </a:rPr>
              <a:t>is 100% inclusive relative to </a:t>
            </a:r>
            <a:r>
              <a:rPr i="1" lang="en-US" sz="2400">
                <a:highlight>
                  <a:srgbClr val="00FF00"/>
                </a:highlight>
              </a:rPr>
              <a:t>P</a:t>
            </a:r>
            <a:r>
              <a:rPr lang="en-US" sz="2400">
                <a:highlight>
                  <a:srgbClr val="00FF00"/>
                </a:highlight>
              </a:rPr>
              <a:t>, </a:t>
            </a:r>
            <a:r>
              <a:rPr i="1" lang="en-US" sz="2400">
                <a:highlight>
                  <a:srgbClr val="00FF00"/>
                </a:highlight>
              </a:rPr>
              <a:t>P’, </a:t>
            </a:r>
            <a:r>
              <a:rPr lang="en-US" sz="2400">
                <a:highlight>
                  <a:srgbClr val="00FF00"/>
                </a:highlight>
              </a:rPr>
              <a:t>and </a:t>
            </a:r>
            <a:r>
              <a:rPr i="1" lang="en-US" sz="2400">
                <a:highlight>
                  <a:srgbClr val="00FF00"/>
                </a:highlight>
              </a:rPr>
              <a:t>T</a:t>
            </a:r>
            <a:r>
              <a:rPr lang="en-US" sz="2400">
                <a:highlight>
                  <a:srgbClr val="00FF00"/>
                </a:highlight>
              </a:rPr>
              <a:t>, then </a:t>
            </a:r>
            <a:r>
              <a:rPr i="1" lang="en-US" sz="2400">
                <a:highlight>
                  <a:srgbClr val="00FF00"/>
                </a:highlight>
              </a:rPr>
              <a:t>M </a:t>
            </a:r>
            <a:r>
              <a:rPr lang="en-US" sz="2400">
                <a:highlight>
                  <a:srgbClr val="00FF00"/>
                </a:highlight>
              </a:rPr>
              <a:t>is safe.</a:t>
            </a:r>
            <a:endParaRPr>
              <a:highlight>
                <a:srgbClr val="00FF00"/>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9"/>
          <p:cNvSpPr txBox="1"/>
          <p:nvPr>
            <p:ph type="title"/>
          </p:nvPr>
        </p:nvSpPr>
        <p:spPr>
          <a:xfrm>
            <a:off x="1066800" y="10767"/>
            <a:ext cx="8077200" cy="73218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sz="2800"/>
              <a:t>Evaluating  Regression Test Selection Techniques cont…</a:t>
            </a:r>
            <a:endParaRPr sz="2800"/>
          </a:p>
        </p:txBody>
      </p:sp>
      <p:sp>
        <p:nvSpPr>
          <p:cNvPr id="354" name="Google Shape;354;p49"/>
          <p:cNvSpPr txBox="1"/>
          <p:nvPr>
            <p:ph idx="1" type="body"/>
          </p:nvPr>
        </p:nvSpPr>
        <p:spPr>
          <a:xfrm>
            <a:off x="990600" y="742950"/>
            <a:ext cx="8001000" cy="45529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US"/>
              <a:t>Precision</a:t>
            </a:r>
            <a:r>
              <a:rPr lang="en-US" sz="3200"/>
              <a:t>:</a:t>
            </a:r>
            <a:r>
              <a:rPr lang="en-US" sz="3600"/>
              <a:t> </a:t>
            </a:r>
            <a:r>
              <a:rPr lang="en-US" sz="2400"/>
              <a:t>It measures the extent to which M omits  tests that are non-modification-revealing.</a:t>
            </a:r>
            <a:endParaRPr/>
          </a:p>
          <a:p>
            <a:pPr indent="-237744" lvl="1" marL="640080" rtl="0" algn="just">
              <a:lnSpc>
                <a:spcPct val="100000"/>
              </a:lnSpc>
              <a:spcBef>
                <a:spcPts val="550"/>
              </a:spcBef>
              <a:spcAft>
                <a:spcPts val="0"/>
              </a:spcAft>
              <a:buSzPts val="2400"/>
              <a:buChar char="◦"/>
            </a:pPr>
            <a:r>
              <a:rPr lang="en-US"/>
              <a:t>Suppose T contains n tests that are non-modification revealing for P and P’, and suppose M omits m of these tests. </a:t>
            </a:r>
            <a:endParaRPr/>
          </a:p>
          <a:p>
            <a:pPr indent="-237744" lvl="1" marL="640080" rtl="0" algn="just">
              <a:lnSpc>
                <a:spcPct val="100000"/>
              </a:lnSpc>
              <a:spcBef>
                <a:spcPts val="550"/>
              </a:spcBef>
              <a:spcAft>
                <a:spcPts val="0"/>
              </a:spcAft>
              <a:buSzPts val="2400"/>
              <a:buChar char="◦"/>
            </a:pPr>
            <a:r>
              <a:rPr lang="en-US"/>
              <a:t>The precision of M relative to P,  P’, and  T is given by</a:t>
            </a:r>
            <a:endParaRPr/>
          </a:p>
          <a:p>
            <a:pPr indent="0" lvl="0" marL="0" rtl="0" algn="just">
              <a:lnSpc>
                <a:spcPct val="100000"/>
              </a:lnSpc>
              <a:spcBef>
                <a:spcPts val="600"/>
              </a:spcBef>
              <a:spcAft>
                <a:spcPts val="0"/>
              </a:spcAft>
              <a:buSzPts val="1920"/>
              <a:buNone/>
            </a:pPr>
            <a:r>
              <a:rPr lang="en-US" sz="2400"/>
              <a:t>    		</a:t>
            </a:r>
            <a:r>
              <a:rPr lang="en-US" sz="2400">
                <a:latin typeface="Arial"/>
                <a:ea typeface="Arial"/>
                <a:cs typeface="Arial"/>
                <a:sym typeface="Arial"/>
              </a:rPr>
              <a:t>1</a:t>
            </a:r>
            <a:r>
              <a:rPr lang="en-US" sz="2400"/>
              <a:t>. Precision = 100 * (m / n)%,  if n != 0              </a:t>
            </a:r>
            <a:endParaRPr/>
          </a:p>
          <a:p>
            <a:pPr indent="0" lvl="0" marL="0" rtl="0" algn="just">
              <a:lnSpc>
                <a:spcPct val="100000"/>
              </a:lnSpc>
              <a:spcBef>
                <a:spcPts val="600"/>
              </a:spcBef>
              <a:spcAft>
                <a:spcPts val="0"/>
              </a:spcAft>
              <a:buSzPts val="1920"/>
              <a:buNone/>
            </a:pPr>
            <a:r>
              <a:rPr lang="en-US" sz="2400"/>
              <a:t>    		2. Precision = </a:t>
            </a:r>
            <a:r>
              <a:rPr lang="en-US" sz="2400">
                <a:solidFill>
                  <a:srgbClr val="000000"/>
                </a:solidFill>
              </a:rPr>
              <a:t>100%,  if n = 0</a:t>
            </a:r>
            <a:endParaRPr sz="2400"/>
          </a:p>
          <a:p>
            <a:pPr indent="0" lvl="0" marL="82296" rtl="0" algn="just">
              <a:lnSpc>
                <a:spcPct val="100000"/>
              </a:lnSpc>
              <a:spcBef>
                <a:spcPts val="600"/>
              </a:spcBef>
              <a:spcAft>
                <a:spcPts val="0"/>
              </a:spcAft>
              <a:buSzPts val="3200"/>
              <a:buNone/>
            </a:pPr>
            <a:r>
              <a:rPr lang="en-US" sz="4000"/>
              <a:t> </a:t>
            </a:r>
            <a:endParaRPr sz="3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0"/>
          <p:cNvSpPr txBox="1"/>
          <p:nvPr>
            <p:ph idx="1" type="body"/>
          </p:nvPr>
        </p:nvSpPr>
        <p:spPr>
          <a:xfrm>
            <a:off x="1219200" y="1085850"/>
            <a:ext cx="7714488"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920"/>
              <a:buChar char="⚫"/>
            </a:pPr>
            <a:r>
              <a:rPr lang="en-US" sz="2400"/>
              <a:t>For example, if </a:t>
            </a:r>
            <a:r>
              <a:rPr i="1" lang="en-US" sz="2400"/>
              <a:t>T </a:t>
            </a:r>
            <a:r>
              <a:rPr lang="en-US" sz="2400"/>
              <a:t>contains 50 tests of which 22 are non-modification-revealing for </a:t>
            </a:r>
            <a:r>
              <a:rPr i="1" lang="en-US" sz="2400"/>
              <a:t>P </a:t>
            </a:r>
            <a:r>
              <a:rPr lang="en-US" sz="2400"/>
              <a:t>and </a:t>
            </a:r>
            <a:r>
              <a:rPr i="1" lang="en-US" sz="2400"/>
              <a:t>P’</a:t>
            </a:r>
            <a:r>
              <a:rPr lang="en-US" sz="2400"/>
              <a:t>, and </a:t>
            </a:r>
            <a:r>
              <a:rPr i="1" lang="en-US" sz="2400"/>
              <a:t>M </a:t>
            </a:r>
            <a:r>
              <a:rPr lang="en-US" sz="2400"/>
              <a:t>omits </a:t>
            </a:r>
            <a:r>
              <a:rPr lang="en-US" sz="2400">
                <a:latin typeface="Arial"/>
                <a:ea typeface="Arial"/>
                <a:cs typeface="Arial"/>
                <a:sym typeface="Arial"/>
              </a:rPr>
              <a:t>11</a:t>
            </a:r>
            <a:r>
              <a:rPr lang="en-US" sz="2400"/>
              <a:t> of these 22 tests, then </a:t>
            </a:r>
            <a:r>
              <a:rPr i="1" lang="en-US" sz="2400"/>
              <a:t>M </a:t>
            </a:r>
            <a:r>
              <a:rPr lang="en-US" sz="2400"/>
              <a:t>is 50% precise relative to </a:t>
            </a:r>
            <a:r>
              <a:rPr i="1" lang="en-US" sz="2400"/>
              <a:t>P</a:t>
            </a:r>
            <a:r>
              <a:rPr lang="en-US" sz="2400"/>
              <a:t>, </a:t>
            </a:r>
            <a:r>
              <a:rPr i="1" lang="en-US" sz="2400"/>
              <a:t>P’, </a:t>
            </a:r>
            <a:r>
              <a:rPr lang="en-US" sz="2400"/>
              <a:t>and </a:t>
            </a:r>
            <a:r>
              <a:rPr i="1" lang="en-US" sz="2400"/>
              <a:t>T</a:t>
            </a:r>
            <a:r>
              <a:rPr lang="en-US" sz="2400"/>
              <a:t>. </a:t>
            </a:r>
            <a:endParaRPr sz="2400"/>
          </a:p>
          <a:p>
            <a:pPr indent="-283464" lvl="0" marL="365760" rtl="0" algn="just">
              <a:lnSpc>
                <a:spcPct val="100000"/>
              </a:lnSpc>
              <a:spcBef>
                <a:spcPts val="600"/>
              </a:spcBef>
              <a:spcAft>
                <a:spcPts val="0"/>
              </a:spcAft>
              <a:buSzPts val="1920"/>
              <a:buChar char="⚫"/>
            </a:pPr>
            <a:r>
              <a:rPr lang="en-US" sz="2400"/>
              <a:t>If </a:t>
            </a:r>
            <a:r>
              <a:rPr i="1" lang="en-US" sz="2400"/>
              <a:t>T </a:t>
            </a:r>
            <a:r>
              <a:rPr lang="en-US" sz="2400"/>
              <a:t>contains no non-modification-revealing tests, then every test selection technique is 100% precise relative to </a:t>
            </a:r>
            <a:r>
              <a:rPr i="1" lang="en-US" sz="2400"/>
              <a:t>P</a:t>
            </a:r>
            <a:r>
              <a:rPr lang="en-US" sz="2400"/>
              <a:t>, </a:t>
            </a:r>
            <a:r>
              <a:rPr i="1" lang="en-US" sz="2400"/>
              <a:t>P’, </a:t>
            </a:r>
            <a:r>
              <a:rPr lang="en-US" sz="2400"/>
              <a:t>and </a:t>
            </a:r>
            <a:r>
              <a:rPr i="1" lang="en-US" sz="2400"/>
              <a:t>T</a:t>
            </a:r>
            <a:r>
              <a:rPr lang="en-US" sz="2400"/>
              <a:t>.</a:t>
            </a:r>
            <a:endParaRPr/>
          </a:p>
        </p:txBody>
      </p:sp>
      <p:sp>
        <p:nvSpPr>
          <p:cNvPr id="360" name="Google Shape;360;p50"/>
          <p:cNvSpPr txBox="1"/>
          <p:nvPr>
            <p:ph type="title"/>
          </p:nvPr>
        </p:nvSpPr>
        <p:spPr>
          <a:xfrm>
            <a:off x="1219200" y="10767"/>
            <a:ext cx="7726680" cy="73218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2800"/>
              <a:buFont typeface="Gill Sans"/>
              <a:buNone/>
            </a:pPr>
            <a:r>
              <a:rPr lang="en-US" sz="2800"/>
              <a:t>Example</a:t>
            </a:r>
            <a:endParaRPr sz="2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1"/>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Efficiency</a:t>
            </a:r>
            <a:r>
              <a:rPr lang="en-US" sz="3200"/>
              <a:t>:</a:t>
            </a:r>
            <a:r>
              <a:rPr lang="en-US" sz="3600"/>
              <a:t> </a:t>
            </a:r>
            <a:r>
              <a:rPr lang="en-US" sz="2400"/>
              <a:t>Measured in terms of their Space &amp; Time Requirements.</a:t>
            </a:r>
            <a:endParaRPr/>
          </a:p>
          <a:p>
            <a:pPr indent="-237744" lvl="1" marL="640080" rtl="0" algn="just">
              <a:lnSpc>
                <a:spcPct val="100000"/>
              </a:lnSpc>
              <a:spcBef>
                <a:spcPts val="550"/>
              </a:spcBef>
              <a:spcAft>
                <a:spcPts val="0"/>
              </a:spcAft>
              <a:buSzPts val="2400"/>
              <a:buChar char="◦"/>
            </a:pPr>
            <a:r>
              <a:rPr lang="en-US"/>
              <a:t>Where time is concerned, test selection technique is more economical than the reset all technique, if the cost of selecting T’ is less than the cost of running the test in  T- T’.</a:t>
            </a:r>
            <a:endParaRPr/>
          </a:p>
          <a:p>
            <a:pPr indent="-237744" lvl="1" marL="640080" rtl="0" algn="just">
              <a:lnSpc>
                <a:spcPct val="100000"/>
              </a:lnSpc>
              <a:spcBef>
                <a:spcPts val="550"/>
              </a:spcBef>
              <a:spcAft>
                <a:spcPts val="0"/>
              </a:spcAft>
              <a:buSzPts val="2400"/>
              <a:buChar char="◦"/>
            </a:pPr>
            <a:r>
              <a:rPr lang="en-US"/>
              <a:t>Space efficiency depends on the test history and program analysis information a technique must store.</a:t>
            </a:r>
            <a:endParaRPr/>
          </a:p>
          <a:p>
            <a:pPr indent="-100584" lvl="0" marL="365760" rtl="0" algn="l">
              <a:lnSpc>
                <a:spcPct val="100000"/>
              </a:lnSpc>
              <a:spcBef>
                <a:spcPts val="600"/>
              </a:spcBef>
              <a:spcAft>
                <a:spcPts val="0"/>
              </a:spcAft>
              <a:buSzPts val="2880"/>
              <a:buNone/>
            </a:pPr>
            <a:r>
              <a:t/>
            </a:r>
            <a:endParaRPr sz="3600"/>
          </a:p>
        </p:txBody>
      </p:sp>
      <p:sp>
        <p:nvSpPr>
          <p:cNvPr id="366" name="Google Shape;366;p51"/>
          <p:cNvSpPr txBox="1"/>
          <p:nvPr>
            <p:ph type="title"/>
          </p:nvPr>
        </p:nvSpPr>
        <p:spPr>
          <a:xfrm>
            <a:off x="990600" y="10767"/>
            <a:ext cx="8153400" cy="73218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sz="2800"/>
              <a:t>Evaluating  Regression Test Selection Techniques     cont …</a:t>
            </a:r>
            <a:endParaRPr sz="2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2"/>
          <p:cNvSpPr txBox="1"/>
          <p:nvPr>
            <p:ph type="title"/>
          </p:nvPr>
        </p:nvSpPr>
        <p:spPr>
          <a:xfrm>
            <a:off x="1066800" y="205978"/>
            <a:ext cx="7866888" cy="61317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Steps  for Regression Test Case Prioritization </a:t>
            </a:r>
            <a:br>
              <a:rPr lang="en-US"/>
            </a:br>
            <a:endParaRPr/>
          </a:p>
        </p:txBody>
      </p:sp>
      <p:sp>
        <p:nvSpPr>
          <p:cNvPr id="372" name="Google Shape;372;p52"/>
          <p:cNvSpPr txBox="1"/>
          <p:nvPr>
            <p:ph idx="1" type="body"/>
          </p:nvPr>
        </p:nvSpPr>
        <p:spPr>
          <a:xfrm>
            <a:off x="1066800" y="895350"/>
            <a:ext cx="7924800" cy="39624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600"/>
              <a:buNone/>
            </a:pPr>
            <a:r>
              <a:rPr lang="en-US" sz="2000">
                <a:latin typeface="Arial"/>
                <a:ea typeface="Arial"/>
                <a:cs typeface="Arial"/>
                <a:sym typeface="Arial"/>
              </a:rPr>
              <a:t>1</a:t>
            </a:r>
            <a:r>
              <a:rPr lang="en-US" sz="2000"/>
              <a:t>. Select T’ subset of  T, a set of test cases to execute on P’.</a:t>
            </a:r>
            <a:endParaRPr/>
          </a:p>
          <a:p>
            <a:pPr indent="-283464" lvl="0" marL="365760" rtl="0" algn="just">
              <a:lnSpc>
                <a:spcPct val="100000"/>
              </a:lnSpc>
              <a:spcBef>
                <a:spcPts val="600"/>
              </a:spcBef>
              <a:spcAft>
                <a:spcPts val="0"/>
              </a:spcAft>
              <a:buSzPts val="1600"/>
              <a:buNone/>
            </a:pPr>
            <a:r>
              <a:rPr lang="en-US" sz="2000"/>
              <a:t>2. Produce T’</a:t>
            </a:r>
            <a:r>
              <a:rPr baseline="-25000" lang="en-US" sz="2000"/>
              <a:t>p</a:t>
            </a:r>
            <a:r>
              <a:rPr lang="en-US" sz="2000"/>
              <a:t> , a permutation of  T’, such that   T’</a:t>
            </a:r>
            <a:r>
              <a:rPr baseline="-25000" lang="en-US" sz="2000"/>
              <a:t>p</a:t>
            </a:r>
            <a:r>
              <a:rPr lang="en-US" sz="2000"/>
              <a:t> will have a better rate of fault detection than T’.</a:t>
            </a:r>
            <a:endParaRPr/>
          </a:p>
          <a:p>
            <a:pPr indent="-283464" lvl="0" marL="365760" rtl="0" algn="just">
              <a:lnSpc>
                <a:spcPct val="100000"/>
              </a:lnSpc>
              <a:spcBef>
                <a:spcPts val="600"/>
              </a:spcBef>
              <a:spcAft>
                <a:spcPts val="0"/>
              </a:spcAft>
              <a:buSzPts val="1600"/>
              <a:buNone/>
            </a:pPr>
            <a:r>
              <a:rPr lang="en-US" sz="2000"/>
              <a:t>3. Test P’ with     T’</a:t>
            </a:r>
            <a:r>
              <a:rPr baseline="-25000" lang="en-US" sz="2000"/>
              <a:t>p</a:t>
            </a:r>
            <a:r>
              <a:rPr lang="en-US" sz="2000"/>
              <a:t>, establishing correctness of P’ with respect to T’.</a:t>
            </a:r>
            <a:endParaRPr/>
          </a:p>
          <a:p>
            <a:pPr indent="-283464" lvl="0" marL="365760" rtl="0" algn="just">
              <a:lnSpc>
                <a:spcPct val="100000"/>
              </a:lnSpc>
              <a:spcBef>
                <a:spcPts val="600"/>
              </a:spcBef>
              <a:spcAft>
                <a:spcPts val="0"/>
              </a:spcAft>
              <a:buSzPts val="1600"/>
              <a:buNone/>
            </a:pPr>
            <a:r>
              <a:rPr lang="en-US" sz="2000"/>
              <a:t>4. If necessary create  T’’, a set of new functional or structural test cases  for p’.</a:t>
            </a:r>
            <a:endParaRPr/>
          </a:p>
          <a:p>
            <a:pPr indent="-283464" lvl="0" marL="365760" rtl="0" algn="just">
              <a:lnSpc>
                <a:spcPct val="100000"/>
              </a:lnSpc>
              <a:spcBef>
                <a:spcPts val="600"/>
              </a:spcBef>
              <a:spcAft>
                <a:spcPts val="0"/>
              </a:spcAft>
              <a:buSzPts val="1600"/>
              <a:buNone/>
            </a:pPr>
            <a:r>
              <a:rPr lang="en-US" sz="2000"/>
              <a:t>5. Test P’ with T’’, establishing correctness of P’ with respect to T’’.</a:t>
            </a:r>
            <a:endParaRPr/>
          </a:p>
          <a:p>
            <a:pPr indent="-283464" lvl="0" marL="365760" rtl="0" algn="just">
              <a:lnSpc>
                <a:spcPct val="100000"/>
              </a:lnSpc>
              <a:spcBef>
                <a:spcPts val="600"/>
              </a:spcBef>
              <a:spcAft>
                <a:spcPts val="0"/>
              </a:spcAft>
              <a:buSzPts val="1600"/>
              <a:buNone/>
            </a:pPr>
            <a:r>
              <a:rPr lang="en-US" sz="2000"/>
              <a:t>6. Create T’’’, a new test suite and test execution profile for  P’, from T,  T’</a:t>
            </a:r>
            <a:r>
              <a:rPr baseline="-25000" lang="en-US" sz="2000"/>
              <a:t>p</a:t>
            </a:r>
            <a:r>
              <a:rPr lang="en-US" sz="2000"/>
              <a:t> and T’’,</a:t>
            </a:r>
            <a:endParaRPr/>
          </a:p>
          <a:p>
            <a:pPr indent="0" lvl="0" marL="0" rtl="0" algn="just">
              <a:lnSpc>
                <a:spcPct val="100000"/>
              </a:lnSpc>
              <a:spcBef>
                <a:spcPts val="600"/>
              </a:spcBef>
              <a:spcAft>
                <a:spcPts val="0"/>
              </a:spcAft>
              <a:buSzPts val="1600"/>
              <a:buNone/>
            </a:pPr>
            <a:r>
              <a:rPr lang="en-US" sz="2000"/>
              <a:t>     ( T’</a:t>
            </a:r>
            <a:r>
              <a:rPr baseline="-25000" lang="en-US" sz="2000"/>
              <a:t>p</a:t>
            </a:r>
            <a:r>
              <a:rPr lang="en-US" sz="2000"/>
              <a:t>: Contains Execution ordering of regression tests)</a:t>
            </a:r>
            <a:endParaRPr/>
          </a:p>
          <a:p>
            <a:pPr indent="-181864" lvl="0" marL="365760" rtl="0" algn="just">
              <a:lnSpc>
                <a:spcPct val="100000"/>
              </a:lnSpc>
              <a:spcBef>
                <a:spcPts val="600"/>
              </a:spcBef>
              <a:spcAft>
                <a:spcPts val="0"/>
              </a:spcAft>
              <a:buSzPts val="1600"/>
              <a:buNone/>
            </a:pPr>
            <a:r>
              <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3"/>
          <p:cNvSpPr txBox="1"/>
          <p:nvPr>
            <p:ph idx="1" type="body"/>
          </p:nvPr>
        </p:nvSpPr>
        <p:spPr>
          <a:xfrm>
            <a:off x="1119809" y="971550"/>
            <a:ext cx="8001000" cy="39243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Step </a:t>
            </a:r>
            <a:r>
              <a:rPr lang="en-US" sz="2400">
                <a:latin typeface="Arial"/>
                <a:ea typeface="Arial"/>
                <a:cs typeface="Arial"/>
                <a:sym typeface="Arial"/>
              </a:rPr>
              <a:t>1</a:t>
            </a:r>
            <a:r>
              <a:rPr lang="en-US" sz="2400"/>
              <a:t> allows the tester to select T’ such that it is proper subset of T or that it actually contains every test that T contains.</a:t>
            </a:r>
            <a:endParaRPr/>
          </a:p>
          <a:p>
            <a:pPr indent="-283464" lvl="0" marL="365760" rtl="0" algn="just">
              <a:lnSpc>
                <a:spcPct val="100000"/>
              </a:lnSpc>
              <a:spcBef>
                <a:spcPts val="600"/>
              </a:spcBef>
              <a:spcAft>
                <a:spcPts val="0"/>
              </a:spcAft>
              <a:buSzPts val="1920"/>
              <a:buChar char="⚫"/>
            </a:pPr>
            <a:r>
              <a:rPr lang="en-US" sz="2400"/>
              <a:t>Step 2 could produce T’</a:t>
            </a:r>
            <a:r>
              <a:rPr baseline="-25000" lang="en-US" sz="2400"/>
              <a:t>p</a:t>
            </a:r>
            <a:r>
              <a:rPr lang="en-US" sz="2400"/>
              <a:t> so that it contains an execution  ordering for the regression test that is the same or different than the order provided by T’.</a:t>
            </a:r>
            <a:endParaRPr/>
          </a:p>
          <a:p>
            <a:pPr indent="-283464" lvl="0" marL="365760" rtl="0" algn="just">
              <a:lnSpc>
                <a:spcPct val="100000"/>
              </a:lnSpc>
              <a:spcBef>
                <a:spcPts val="600"/>
              </a:spcBef>
              <a:spcAft>
                <a:spcPts val="0"/>
              </a:spcAft>
              <a:buSzPts val="1920"/>
              <a:buChar char="⚫"/>
            </a:pPr>
            <a:r>
              <a:rPr lang="en-US" sz="2400"/>
              <a:t>The intension behind prioritizing the execution of a regression test suite is to ensure that the defects normally introduced by the competent programmers are discovered earlier in the testing process.</a:t>
            </a:r>
            <a:endParaRPr/>
          </a:p>
          <a:p>
            <a:pPr indent="-237744" lvl="1" marL="640080" rtl="0" algn="l">
              <a:lnSpc>
                <a:spcPct val="100000"/>
              </a:lnSpc>
              <a:spcBef>
                <a:spcPts val="550"/>
              </a:spcBef>
              <a:spcAft>
                <a:spcPts val="0"/>
              </a:spcAft>
              <a:buSzPts val="2000"/>
              <a:buNone/>
            </a:pPr>
            <a:r>
              <a:t/>
            </a:r>
            <a:endParaRPr baseline="-25000" sz="2000"/>
          </a:p>
        </p:txBody>
      </p:sp>
      <p:sp>
        <p:nvSpPr>
          <p:cNvPr id="378" name="Google Shape;378;p53"/>
          <p:cNvSpPr txBox="1"/>
          <p:nvPr/>
        </p:nvSpPr>
        <p:spPr>
          <a:xfrm>
            <a:off x="1066800" y="205978"/>
            <a:ext cx="7866888" cy="6131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62214"/>
              </a:buClr>
              <a:buSzPts val="3200"/>
              <a:buFont typeface="Gill Sans"/>
              <a:buNone/>
            </a:pPr>
            <a:r>
              <a:rPr lang="en-US" sz="3200">
                <a:solidFill>
                  <a:srgbClr val="562214"/>
                </a:solidFill>
                <a:latin typeface="Gill Sans"/>
                <a:ea typeface="Gill Sans"/>
                <a:cs typeface="Gill Sans"/>
                <a:sym typeface="Gill Sans"/>
              </a:rPr>
              <a:t>Steps  for Regression Test Case Prioritization </a:t>
            </a:r>
            <a:br>
              <a:rPr lang="en-US" sz="3200">
                <a:solidFill>
                  <a:srgbClr val="562214"/>
                </a:solidFill>
                <a:latin typeface="Gill Sans"/>
                <a:ea typeface="Gill Sans"/>
                <a:cs typeface="Gill Sans"/>
                <a:sym typeface="Gill Sans"/>
              </a:rPr>
            </a:br>
            <a:endParaRPr sz="3200">
              <a:solidFill>
                <a:srgbClr val="562214"/>
              </a:solidFill>
              <a:latin typeface="Gill Sans"/>
              <a:ea typeface="Gill Sans"/>
              <a:cs typeface="Gill Sans"/>
              <a:sym typeface="Gill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4"/>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Summary</a:t>
            </a:r>
            <a:endParaRPr/>
          </a:p>
        </p:txBody>
      </p:sp>
      <p:sp>
        <p:nvSpPr>
          <p:cNvPr id="384" name="Google Shape;384;p54"/>
          <p:cNvSpPr txBox="1"/>
          <p:nvPr>
            <p:ph idx="1" type="body"/>
          </p:nvPr>
        </p:nvSpPr>
        <p:spPr>
          <a:xfrm>
            <a:off x="1143000" y="1085850"/>
            <a:ext cx="792480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Regression testing is the selective retesting of a System or Component to verify that Modifications have not caused unintended effects and that the System or Component still complies with its Specified Requirements.</a:t>
            </a:r>
            <a:endParaRPr/>
          </a:p>
          <a:p>
            <a:pPr indent="-283464" lvl="0" marL="365760" rtl="0" algn="just">
              <a:lnSpc>
                <a:spcPct val="100000"/>
              </a:lnSpc>
              <a:spcBef>
                <a:spcPts val="600"/>
              </a:spcBef>
              <a:spcAft>
                <a:spcPts val="0"/>
              </a:spcAft>
              <a:buSzPts val="1920"/>
              <a:buChar char="⚫"/>
            </a:pPr>
            <a:r>
              <a:rPr lang="en-US" sz="2400"/>
              <a:t>It has positive Influence on software quality.</a:t>
            </a:r>
            <a:endParaRPr/>
          </a:p>
          <a:p>
            <a:pPr indent="-283464" lvl="0" marL="365760" rtl="0" algn="just">
              <a:lnSpc>
                <a:spcPct val="100000"/>
              </a:lnSpc>
              <a:spcBef>
                <a:spcPts val="600"/>
              </a:spcBef>
              <a:spcAft>
                <a:spcPts val="0"/>
              </a:spcAft>
              <a:buSzPts val="1920"/>
              <a:buChar char="⚫"/>
            </a:pPr>
            <a:r>
              <a:rPr lang="en-US" sz="2400"/>
              <a:t>Regression number is the average number of affected test cases in the test suite that are affected by any modification to a single  instruction.</a:t>
            </a:r>
            <a:endParaRPr/>
          </a:p>
          <a:p>
            <a:pPr indent="-283464" lvl="0" marL="365760" rtl="0" algn="just">
              <a:lnSpc>
                <a:spcPct val="100000"/>
              </a:lnSpc>
              <a:spcBef>
                <a:spcPts val="600"/>
              </a:spcBef>
              <a:spcAft>
                <a:spcPts val="0"/>
              </a:spcAft>
              <a:buSzPts val="1920"/>
              <a:buChar char="⚫"/>
            </a:pPr>
            <a:r>
              <a:rPr lang="en-US" sz="2400"/>
              <a:t>It is of two types: bug-fix regression and side-effect regression.</a:t>
            </a:r>
            <a:endParaRPr/>
          </a:p>
          <a:p>
            <a:pPr indent="-161543" lvl="0" marL="365760" rtl="0" algn="l">
              <a:lnSpc>
                <a:spcPct val="100000"/>
              </a:lnSpc>
              <a:spcBef>
                <a:spcPts val="600"/>
              </a:spcBef>
              <a:spcAft>
                <a:spcPts val="0"/>
              </a:spcAft>
              <a:buSzPts val="1920"/>
              <a:buNone/>
            </a:pPr>
            <a:r>
              <a:t/>
            </a:r>
            <a:endParaRPr sz="2400"/>
          </a:p>
          <a:p>
            <a:pPr indent="-220980" lvl="0" marL="342900" rtl="0" algn="l">
              <a:lnSpc>
                <a:spcPct val="100000"/>
              </a:lnSpc>
              <a:spcBef>
                <a:spcPts val="600"/>
              </a:spcBef>
              <a:spcAft>
                <a:spcPts val="0"/>
              </a:spcAft>
              <a:buSzPts val="1920"/>
              <a:buNone/>
            </a:pPr>
            <a:r>
              <a:t/>
            </a:r>
            <a:endParaRPr sz="24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5"/>
          <p:cNvSpPr txBox="1"/>
          <p:nvPr/>
        </p:nvSpPr>
        <p:spPr>
          <a:xfrm>
            <a:off x="1127125" y="209550"/>
            <a:ext cx="7864475" cy="646113"/>
          </a:xfrm>
          <a:prstGeom prst="rect">
            <a:avLst/>
          </a:prstGeom>
          <a:noFill/>
          <a:ln>
            <a:noFill/>
          </a:ln>
        </p:spPr>
        <p:txBody>
          <a:bodyPr anchorCtr="0" anchor="ctr" bIns="39300" lIns="15100" spcFirstLastPara="1" rIns="15100" wrap="square" tIns="39300">
            <a:noAutofit/>
          </a:bodyPr>
          <a:lstStyle/>
          <a:p>
            <a:pPr indent="0" lvl="0" marL="0" marR="0" rtl="0" algn="ctr">
              <a:spcBef>
                <a:spcPts val="0"/>
              </a:spcBef>
              <a:spcAft>
                <a:spcPts val="0"/>
              </a:spcAft>
              <a:buNone/>
            </a:pPr>
            <a:r>
              <a:rPr lang="en-US" sz="3200">
                <a:solidFill>
                  <a:srgbClr val="572314"/>
                </a:solidFill>
                <a:latin typeface="Gill Sans"/>
                <a:ea typeface="Gill Sans"/>
                <a:cs typeface="Gill Sans"/>
                <a:sym typeface="Gill Sans"/>
              </a:rPr>
              <a:t>References </a:t>
            </a:r>
            <a:endParaRPr/>
          </a:p>
        </p:txBody>
      </p:sp>
      <p:sp>
        <p:nvSpPr>
          <p:cNvPr id="390" name="Google Shape;390;p55"/>
          <p:cNvSpPr/>
          <p:nvPr/>
        </p:nvSpPr>
        <p:spPr>
          <a:xfrm>
            <a:off x="1143000" y="1047750"/>
            <a:ext cx="7848600" cy="3397250"/>
          </a:xfrm>
          <a:prstGeom prst="rect">
            <a:avLst/>
          </a:prstGeom>
          <a:noFill/>
          <a:ln>
            <a:noFill/>
          </a:ln>
        </p:spPr>
        <p:txBody>
          <a:bodyPr anchorCtr="0" anchor="t" bIns="51200" lIns="102400" spcFirstLastPara="1" rIns="102400" wrap="square" tIns="51200">
            <a:noAutofit/>
          </a:bodyPr>
          <a:lstStyle/>
          <a:p>
            <a:pPr indent="-384015" lvl="0" marL="384015" marR="0" rtl="0" algn="just">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Rajib Mall, Fundamentals of Software Engineering, (Chapter – 10), Fifth Edition, PHI Learning Pvt. Ltd., 2018.</a:t>
            </a:r>
            <a:endParaRPr/>
          </a:p>
          <a:p>
            <a:pPr indent="-384015" lvl="0" marL="384015" marR="0" rtl="0" algn="just">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Naresh Chauhan, Software Testing: Principles and Practices, (Chapter – 8), Second Edition, Oxford University Press,  2016.</a:t>
            </a:r>
            <a:endParaRPr/>
          </a:p>
          <a:p>
            <a:pPr indent="-206215" lvl="0" marL="384015" marR="0" rtl="0" algn="just">
              <a:spcBef>
                <a:spcPts val="0"/>
              </a:spcBef>
              <a:spcAft>
                <a:spcPts val="0"/>
              </a:spcAft>
              <a:buClr>
                <a:schemeClr val="dk1"/>
              </a:buClr>
              <a:buSzPts val="2800"/>
              <a:buFont typeface="Gill Sans"/>
              <a:buNone/>
            </a:pPr>
            <a:r>
              <a:t/>
            </a:r>
            <a:endParaRPr sz="28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1800">
              <a:solidFill>
                <a:srgbClr val="000000"/>
              </a:solidFill>
              <a:latin typeface="Gill Sans"/>
              <a:ea typeface="Gill Sans"/>
              <a:cs typeface="Gill Sans"/>
              <a:sym typeface="Gill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6"/>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p>
            <a:pPr indent="0" lvl="0" marL="82296" rtl="0" algn="ctr">
              <a:lnSpc>
                <a:spcPct val="100000"/>
              </a:lnSpc>
              <a:spcBef>
                <a:spcPts val="0"/>
              </a:spcBef>
              <a:spcAft>
                <a:spcPts val="0"/>
              </a:spcAft>
              <a:buSzPts val="3840"/>
              <a:buNone/>
            </a:pPr>
            <a:r>
              <a:t/>
            </a:r>
            <a:endParaRPr sz="4800"/>
          </a:p>
          <a:p>
            <a:pPr indent="0" lvl="0" marL="82296" rtl="0" algn="ctr">
              <a:lnSpc>
                <a:spcPct val="100000"/>
              </a:lnSpc>
              <a:spcBef>
                <a:spcPts val="600"/>
              </a:spcBef>
              <a:spcAft>
                <a:spcPts val="0"/>
              </a:spcAft>
              <a:buSzPts val="3840"/>
              <a:buNone/>
            </a:pPr>
            <a:r>
              <a:rPr lang="en-US" sz="4800"/>
              <a:t>Thank You</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