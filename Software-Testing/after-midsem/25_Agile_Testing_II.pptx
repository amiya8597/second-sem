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3" r:id="rId2"/>
  </p:sldMasterIdLst>
  <p:notesMasterIdLst>
    <p:notesMasterId r:id="rId64"/>
  </p:notesMasterIdLst>
  <p:sldIdLst>
    <p:sldId id="524" r:id="rId3"/>
    <p:sldId id="485" r:id="rId4"/>
    <p:sldId id="526" r:id="rId5"/>
    <p:sldId id="527" r:id="rId6"/>
    <p:sldId id="528" r:id="rId7"/>
    <p:sldId id="486" r:id="rId8"/>
    <p:sldId id="522" r:id="rId9"/>
    <p:sldId id="488" r:id="rId10"/>
    <p:sldId id="490" r:id="rId11"/>
    <p:sldId id="491" r:id="rId12"/>
    <p:sldId id="492" r:id="rId13"/>
    <p:sldId id="493" r:id="rId14"/>
    <p:sldId id="494" r:id="rId15"/>
    <p:sldId id="498" r:id="rId16"/>
    <p:sldId id="495" r:id="rId17"/>
    <p:sldId id="497" r:id="rId18"/>
    <p:sldId id="499" r:id="rId19"/>
    <p:sldId id="500" r:id="rId20"/>
    <p:sldId id="502" r:id="rId21"/>
    <p:sldId id="503" r:id="rId22"/>
    <p:sldId id="504" r:id="rId23"/>
    <p:sldId id="505" r:id="rId24"/>
    <p:sldId id="506" r:id="rId25"/>
    <p:sldId id="507" r:id="rId26"/>
    <p:sldId id="509" r:id="rId27"/>
    <p:sldId id="510" r:id="rId28"/>
    <p:sldId id="511" r:id="rId29"/>
    <p:sldId id="512" r:id="rId30"/>
    <p:sldId id="513" r:id="rId31"/>
    <p:sldId id="514" r:id="rId32"/>
    <p:sldId id="531" r:id="rId33"/>
    <p:sldId id="532" r:id="rId34"/>
    <p:sldId id="533" r:id="rId35"/>
    <p:sldId id="534" r:id="rId36"/>
    <p:sldId id="535" r:id="rId37"/>
    <p:sldId id="536" r:id="rId38"/>
    <p:sldId id="537" r:id="rId39"/>
    <p:sldId id="538" r:id="rId40"/>
    <p:sldId id="539" r:id="rId41"/>
    <p:sldId id="540" r:id="rId42"/>
    <p:sldId id="541" r:id="rId43"/>
    <p:sldId id="542" r:id="rId44"/>
    <p:sldId id="543" r:id="rId45"/>
    <p:sldId id="544" r:id="rId46"/>
    <p:sldId id="545" r:id="rId47"/>
    <p:sldId id="546" r:id="rId48"/>
    <p:sldId id="547" r:id="rId49"/>
    <p:sldId id="548" r:id="rId50"/>
    <p:sldId id="549" r:id="rId51"/>
    <p:sldId id="550" r:id="rId52"/>
    <p:sldId id="551" r:id="rId53"/>
    <p:sldId id="552" r:id="rId54"/>
    <p:sldId id="553" r:id="rId55"/>
    <p:sldId id="554" r:id="rId56"/>
    <p:sldId id="555" r:id="rId57"/>
    <p:sldId id="556" r:id="rId58"/>
    <p:sldId id="557" r:id="rId59"/>
    <p:sldId id="558" r:id="rId60"/>
    <p:sldId id="529" r:id="rId61"/>
    <p:sldId id="530" r:id="rId62"/>
    <p:sldId id="525" r:id="rId6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FFFFF"/>
    <a:srgbClr val="6600CC"/>
    <a:srgbClr val="333399"/>
    <a:srgbClr val="F5E5C7"/>
    <a:srgbClr val="FDE2D3"/>
    <a:srgbClr val="F7E9D1"/>
    <a:srgbClr val="EDD09B"/>
    <a:srgbClr val="E5BA6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34" autoAdjust="0"/>
  </p:normalViewPr>
  <p:slideViewPr>
    <p:cSldViewPr>
      <p:cViewPr varScale="1">
        <p:scale>
          <a:sx n="148" d="100"/>
          <a:sy n="148" d="100"/>
        </p:scale>
        <p:origin x="-480" y="-10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8AFF1-86C9-4393-B194-E243FDA77780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F026C-078E-4EE5-9BC2-B66583B329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15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970338" y="8828088"/>
            <a:ext cx="3036887" cy="46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59" tIns="46580" rIns="93159" bIns="46580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3000"/>
              </a:lnSpc>
              <a:spcBef>
                <a:spcPct val="0"/>
              </a:spcBef>
            </a:pPr>
            <a:fld id="{54CE3B49-2A3B-49DA-9557-6A74FC2D3440}" type="slidenum">
              <a:rPr lang="en-US" altLang="en-US" sz="3200">
                <a:solidFill>
                  <a:schemeClr val="bg1"/>
                </a:solidFill>
              </a:rPr>
              <a:pPr>
                <a:lnSpc>
                  <a:spcPct val="93000"/>
                </a:lnSpc>
                <a:spcBef>
                  <a:spcPct val="0"/>
                </a:spcBef>
              </a:pPr>
              <a:t>10</a:t>
            </a:fld>
            <a:endParaRPr lang="en-US" altLang="en-US" sz="3200">
              <a:solidFill>
                <a:schemeClr val="bg1"/>
              </a:solidFill>
            </a:endParaRPr>
          </a:p>
        </p:txBody>
      </p:sp>
      <p:sp>
        <p:nvSpPr>
          <p:cNvPr id="340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40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47071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604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638583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Text Box 2"/>
          <p:cNvSpPr txBox="1">
            <a:spLocks noChangeArrowheads="1"/>
          </p:cNvSpPr>
          <p:nvPr/>
        </p:nvSpPr>
        <p:spPr bwMode="auto">
          <a:xfrm>
            <a:off x="1025525" y="706438"/>
            <a:ext cx="4957763" cy="34845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1692" tIns="40846" rIns="81692" bIns="40846" anchor="ctr"/>
          <a:lstStyle>
            <a:lvl1pPr defTabSz="4079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4079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4079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4079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4079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07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07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07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07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6000"/>
              </a:lnSpc>
              <a:spcBef>
                <a:spcPct val="0"/>
              </a:spcBef>
            </a:pPr>
            <a:endParaRPr lang="en-US" altLang="en-US" sz="2100" b="0">
              <a:solidFill>
                <a:schemeClr val="bg1"/>
              </a:solidFill>
            </a:endParaRPr>
          </a:p>
        </p:txBody>
      </p:sp>
      <p:sp>
        <p:nvSpPr>
          <p:cNvPr id="306179" name="Rectangle 3"/>
          <p:cNvSpPr>
            <a:spLocks noGrp="1" noChangeArrowheads="1"/>
          </p:cNvSpPr>
          <p:nvPr>
            <p:ph type="body"/>
          </p:nvPr>
        </p:nvSpPr>
        <p:spPr>
          <a:xfrm>
            <a:off x="1085850" y="4421188"/>
            <a:ext cx="4841875" cy="35702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99038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706438"/>
            <a:ext cx="6192837" cy="34845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129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85850" y="4422775"/>
            <a:ext cx="4845050" cy="3482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6353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706438"/>
            <a:ext cx="6192837" cy="34845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85850" y="4422775"/>
            <a:ext cx="4845050" cy="3482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94698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9463" y="796925"/>
            <a:ext cx="5462587" cy="3073400"/>
          </a:xfrm>
        </p:spPr>
      </p:sp>
      <p:sp>
        <p:nvSpPr>
          <p:cNvPr id="320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6535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829939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7988" y="706438"/>
            <a:ext cx="6192837" cy="3484562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87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85850" y="4422775"/>
            <a:ext cx="4845050" cy="3482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70835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Text Box 2"/>
          <p:cNvSpPr txBox="1">
            <a:spLocks noChangeArrowheads="1"/>
          </p:cNvSpPr>
          <p:nvPr/>
        </p:nvSpPr>
        <p:spPr bwMode="auto">
          <a:xfrm>
            <a:off x="1025525" y="706438"/>
            <a:ext cx="4957763" cy="34845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1692" tIns="40846" rIns="81692" bIns="40846" anchor="ctr"/>
          <a:lstStyle>
            <a:lvl1pPr defTabSz="4079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 defTabSz="4079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 defTabSz="4079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 defTabSz="4079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 defTabSz="4079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07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07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07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079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6000"/>
              </a:lnSpc>
              <a:spcBef>
                <a:spcPct val="0"/>
              </a:spcBef>
            </a:pPr>
            <a:endParaRPr lang="en-US" altLang="en-US" sz="2100">
              <a:solidFill>
                <a:schemeClr val="bg1"/>
              </a:solidFill>
            </a:endParaRPr>
          </a:p>
        </p:txBody>
      </p:sp>
      <p:sp>
        <p:nvSpPr>
          <p:cNvPr id="250883" name="Rectangle 3"/>
          <p:cNvSpPr>
            <a:spLocks noGrp="1" noChangeArrowheads="1"/>
          </p:cNvSpPr>
          <p:nvPr>
            <p:ph type="body"/>
          </p:nvPr>
        </p:nvSpPr>
        <p:spPr>
          <a:xfrm>
            <a:off x="1085850" y="4421188"/>
            <a:ext cx="4841875" cy="35702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36985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696913"/>
            <a:ext cx="6192838" cy="3484562"/>
          </a:xfrm>
        </p:spPr>
      </p:sp>
      <p:sp>
        <p:nvSpPr>
          <p:cNvPr id="253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4838"/>
            <a:ext cx="5138737" cy="4183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365587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696913"/>
            <a:ext cx="6192838" cy="3484562"/>
          </a:xfrm>
        </p:spPr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5038" y="4414838"/>
            <a:ext cx="5138737" cy="41830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07980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927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D2AD-E1A2-4D4E-937C-71DB583AD006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EB06-7684-47CA-9A8D-E5AFBEBBB6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35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D2AD-E1A2-4D4E-937C-71DB583AD006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EB06-7684-47CA-9A8D-E5AFBEBBB6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9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D2AD-E1A2-4D4E-937C-71DB583AD006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EB06-7684-47CA-9A8D-E5AFBEBBB6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14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1" cy="32623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370013"/>
            <a:ext cx="3867151" cy="32623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D2AD-E1A2-4D4E-937C-71DB583AD006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EB06-7684-47CA-9A8D-E5AFBEBBB6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43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274640"/>
            <a:ext cx="7886700" cy="9937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1879600"/>
            <a:ext cx="3868737" cy="27622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9600"/>
            <a:ext cx="3887788" cy="27622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D2AD-E1A2-4D4E-937C-71DB583AD006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EB06-7684-47CA-9A8D-E5AFBEBBB6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D2AD-E1A2-4D4E-937C-71DB583AD006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EB06-7684-47CA-9A8D-E5AFBEBBB6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25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D2AD-E1A2-4D4E-937C-71DB583AD006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EB06-7684-47CA-9A8D-E5AFBEBBB6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67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9" y="741365"/>
            <a:ext cx="4629151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D2AD-E1A2-4D4E-937C-71DB583AD006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EB06-7684-47CA-9A8D-E5AFBEBBB6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9" y="741365"/>
            <a:ext cx="4629151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D2AD-E1A2-4D4E-937C-71DB583AD006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EB06-7684-47CA-9A8D-E5AFBEBBB6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3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D2AD-E1A2-4D4E-937C-71DB583AD006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EB06-7684-47CA-9A8D-E5AFBEBBB6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8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4640"/>
            <a:ext cx="1971675" cy="4357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4640"/>
            <a:ext cx="5762625" cy="4357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1D2AD-E1A2-4D4E-937C-71DB583AD006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5EB06-7684-47CA-9A8D-E5AFBEBBB6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27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1C57B59-44A0-4655-9E53-22E664B1E8EE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F18D5C-939B-4F9A-8339-4C3CBE10699E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81BB04-A137-4510-83C7-0C099352FE9E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BD71C9-1D82-427E-B555-72B6509E27BD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F72B9C-C0A3-48FD-9D7D-948CE71850A6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114B08F-9961-4F50-83BF-DC4094DA3AF5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9D360AF-9824-4BB5-8DAE-668FEBAB2105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727DA5-7573-4557-993F-CBDF81FDD3CF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9087FFC-1AE6-4EF3-9380-E850C6DE895F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2E7B01C-1F2F-4BD0-BB4F-6D208A654B65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05979"/>
            <a:ext cx="1828800" cy="4388644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05980"/>
            <a:ext cx="5562600" cy="4388644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E86EBB4-2544-429B-8DD2-9CB8DE213E3F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1" y="133351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476726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1D2AD-E1A2-4D4E-937C-71DB583AD006}" type="datetimeFigureOut">
              <a:rPr lang="en-US" smtClean="0"/>
              <a:pPr/>
              <a:t>4/8/2024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5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 smtClean="0"/>
              <a:t>Fundamentals of Software Engineering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6726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5EB06-7684-47CA-9A8D-E5AFBEBBB6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7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B259E413-9DE2-4B21-9AD0-1DC13404DEA0}" type="datetime1">
              <a:rPr lang="en-US" smtClean="0"/>
              <a:pPr/>
              <a:t>4/8/2024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F815AC96-4A5A-4699-9DBD-ACAB251D8C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200150"/>
            <a:ext cx="8153400" cy="1104138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dirty="0" smtClean="0"/>
              <a:t>Agile </a:t>
            </a:r>
            <a:r>
              <a:rPr lang="en-IN" sz="4000" dirty="0"/>
              <a:t>Based Software </a:t>
            </a:r>
            <a:r>
              <a:rPr lang="en-IN" sz="4000" dirty="0" smtClean="0"/>
              <a:t>Development Models</a:t>
            </a:r>
            <a:endParaRPr lang="en-IN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3608" y="2931790"/>
            <a:ext cx="7406640" cy="1314450"/>
          </a:xfrm>
        </p:spPr>
        <p:txBody>
          <a:bodyPr>
            <a:normAutofit/>
          </a:bodyPr>
          <a:lstStyle/>
          <a:p>
            <a:pPr algn="ctr"/>
            <a:r>
              <a:rPr lang="en-IN" sz="2400" dirty="0" smtClean="0">
                <a:latin typeface="+mj-lt"/>
              </a:rPr>
              <a:t>Prof. </a:t>
            </a:r>
            <a:r>
              <a:rPr lang="en-IN" sz="2400" dirty="0" err="1" smtClean="0">
                <a:latin typeface="+mj-lt"/>
              </a:rPr>
              <a:t>Durga</a:t>
            </a:r>
            <a:r>
              <a:rPr lang="en-IN" sz="2400" dirty="0" smtClean="0">
                <a:latin typeface="+mj-lt"/>
              </a:rPr>
              <a:t> Prasad </a:t>
            </a:r>
            <a:r>
              <a:rPr lang="en-IN" sz="2400" dirty="0" err="1" smtClean="0">
                <a:latin typeface="+mj-lt"/>
              </a:rPr>
              <a:t>Mohapatra</a:t>
            </a:r>
            <a:endParaRPr lang="en-IN" sz="2400" dirty="0" smtClean="0">
              <a:latin typeface="+mj-lt"/>
            </a:endParaRPr>
          </a:p>
          <a:p>
            <a:pPr algn="ctr"/>
            <a:r>
              <a:rPr lang="en-IN" sz="2400" dirty="0" smtClean="0">
                <a:latin typeface="+mj-lt"/>
              </a:rPr>
              <a:t>Dept. of CSE, NIT Rourkela</a:t>
            </a:r>
          </a:p>
          <a:p>
            <a:pPr algn="ctr"/>
            <a:r>
              <a:rPr lang="en-IN" sz="2400" dirty="0" smtClean="0">
                <a:latin typeface="+mj-lt"/>
              </a:rPr>
              <a:t>India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5080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476619" y="2038350"/>
            <a:ext cx="4037671" cy="933218"/>
          </a:xfrm>
          <a:solidFill>
            <a:srgbClr val="FFFFCC"/>
          </a:solidFill>
          <a:ln>
            <a:solidFill>
              <a:srgbClr val="FF0000"/>
            </a:solidFill>
            <a:round/>
            <a:headEnd/>
            <a:tailEnd/>
          </a:ln>
        </p:spPr>
        <p:txBody>
          <a:bodyPr>
            <a:noAutofit/>
          </a:bodyPr>
          <a:lstStyle/>
          <a:p>
            <a:pPr algn="ctr"/>
            <a:r>
              <a:rPr lang="en-US" altLang="en-US" sz="6600" b="1" dirty="0">
                <a:solidFill>
                  <a:srgbClr val="0000FF"/>
                </a:solidFill>
              </a:rPr>
              <a:t>Scrum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76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123950"/>
            <a:ext cx="7498080" cy="360045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IN" sz="2800" dirty="0"/>
              <a:t>Scrum is an Agile framework which concentrates on how team members should function to produce system flexibly in a constantly changing environment.</a:t>
            </a:r>
          </a:p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IN" sz="2800" dirty="0"/>
              <a:t>Scrum is concerned with the product owner, project lead, and the team working together in an intensive and interdependent manner.</a:t>
            </a:r>
          </a:p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97093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/>
              <a:t>Introduction          </a:t>
            </a:r>
            <a:r>
              <a:rPr lang="en-IN" sz="3600" dirty="0" err="1"/>
              <a:t>cont</a:t>
            </a:r>
            <a:r>
              <a:rPr lang="en-IN" sz="3600" dirty="0"/>
              <a:t> …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1085850"/>
            <a:ext cx="7498080" cy="3924300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IN" sz="2800" dirty="0"/>
              <a:t>Scrum process includes three phases: </a:t>
            </a:r>
          </a:p>
          <a:p>
            <a:pPr lvl="1"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IN" sz="2400" dirty="0" smtClean="0">
                <a:solidFill>
                  <a:srgbClr val="0070C0"/>
                </a:solidFill>
              </a:rPr>
              <a:t>Pre-game</a:t>
            </a:r>
            <a:endParaRPr lang="en-IN" sz="2400" dirty="0">
              <a:solidFill>
                <a:srgbClr val="0070C0"/>
              </a:solidFill>
            </a:endParaRPr>
          </a:p>
          <a:p>
            <a:pPr lvl="1"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IN" sz="2400" dirty="0" smtClean="0">
                <a:solidFill>
                  <a:srgbClr val="0070C0"/>
                </a:solidFill>
              </a:rPr>
              <a:t>Development</a:t>
            </a:r>
          </a:p>
          <a:p>
            <a:pPr lvl="1"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IN" sz="2400" dirty="0" smtClean="0">
                <a:solidFill>
                  <a:srgbClr val="0070C0"/>
                </a:solidFill>
              </a:rPr>
              <a:t>Post-game</a:t>
            </a:r>
          </a:p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5178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dirty="0"/>
              <a:t>Introduction          </a:t>
            </a:r>
            <a:r>
              <a:rPr lang="en-IN" sz="3600" dirty="0" err="1"/>
              <a:t>cont</a:t>
            </a:r>
            <a:r>
              <a:rPr lang="en-IN" sz="3600" dirty="0"/>
              <a:t> …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608" y="895350"/>
            <a:ext cx="7498080" cy="4248150"/>
          </a:xfrm>
        </p:spPr>
        <p:txBody>
          <a:bodyPr>
            <a:normAutofit fontScale="40000" lnSpcReduction="20000"/>
          </a:bodyPr>
          <a:lstStyle/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IN" sz="5100" dirty="0" smtClean="0"/>
              <a:t>There </a:t>
            </a:r>
            <a:r>
              <a:rPr lang="en-IN" sz="5100" dirty="0"/>
              <a:t>are six identifiable roles in Scrum that have different tasks and purposes during the process and its practices: </a:t>
            </a:r>
            <a:endParaRPr lang="en-IN" sz="5100" dirty="0" smtClean="0"/>
          </a:p>
          <a:p>
            <a:pPr lvl="1"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IN" sz="5000" dirty="0" smtClean="0">
                <a:solidFill>
                  <a:srgbClr val="0070C0"/>
                </a:solidFill>
              </a:rPr>
              <a:t>Scrum master</a:t>
            </a:r>
          </a:p>
          <a:p>
            <a:pPr lvl="1"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IN" sz="5000" dirty="0" smtClean="0">
                <a:solidFill>
                  <a:srgbClr val="0070C0"/>
                </a:solidFill>
              </a:rPr>
              <a:t>Product owner</a:t>
            </a:r>
          </a:p>
          <a:p>
            <a:pPr lvl="1"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IN" sz="5000" dirty="0" smtClean="0">
                <a:solidFill>
                  <a:srgbClr val="0070C0"/>
                </a:solidFill>
              </a:rPr>
              <a:t>Scrum team</a:t>
            </a:r>
          </a:p>
          <a:p>
            <a:pPr lvl="1"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IN" sz="5000" dirty="0" smtClean="0">
                <a:solidFill>
                  <a:srgbClr val="0070C0"/>
                </a:solidFill>
              </a:rPr>
              <a:t>Customer</a:t>
            </a:r>
          </a:p>
          <a:p>
            <a:pPr lvl="1"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IN" sz="5000" dirty="0" smtClean="0">
                <a:solidFill>
                  <a:srgbClr val="0070C0"/>
                </a:solidFill>
              </a:rPr>
              <a:t>User</a:t>
            </a:r>
          </a:p>
          <a:p>
            <a:pPr lvl="1"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IN" sz="5000" dirty="0" smtClean="0">
                <a:solidFill>
                  <a:srgbClr val="0070C0"/>
                </a:solidFill>
              </a:rPr>
              <a:t>Management</a:t>
            </a:r>
            <a:endParaRPr lang="en-US" sz="5000" dirty="0">
              <a:solidFill>
                <a:srgbClr val="0070C0"/>
              </a:solidFill>
            </a:endParaRPr>
          </a:p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1654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>
          <a:xfrm>
            <a:off x="722150" y="-203176"/>
            <a:ext cx="7801299" cy="933219"/>
          </a:xfrm>
        </p:spPr>
        <p:txBody>
          <a:bodyPr anchor="ctr">
            <a:normAutofit/>
          </a:bodyPr>
          <a:lstStyle/>
          <a:p>
            <a:pPr algn="ctr"/>
            <a:r>
              <a:rPr lang="en-US" altLang="en-US" sz="3600" dirty="0"/>
              <a:t>Scrum: Characteristics</a:t>
            </a:r>
          </a:p>
        </p:txBody>
      </p:sp>
      <p:sp>
        <p:nvSpPr>
          <p:cNvPr id="334851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666750"/>
            <a:ext cx="8153400" cy="4047185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US" altLang="en-US" sz="2800" dirty="0"/>
              <a:t>Self-organizing teams</a:t>
            </a:r>
          </a:p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US" altLang="en-US" sz="2800" dirty="0"/>
              <a:t>Product progresses in a series of month-long </a:t>
            </a:r>
            <a:r>
              <a:rPr lang="en-US" altLang="en-US" sz="2800" b="1" dirty="0"/>
              <a:t>sprints </a:t>
            </a:r>
            <a:r>
              <a:rPr lang="en-US" altLang="en-US" sz="2800" dirty="0"/>
              <a:t>(iterations or runs or development </a:t>
            </a:r>
            <a:r>
              <a:rPr lang="en-US" altLang="en-US" sz="2800" dirty="0" smtClean="0"/>
              <a:t>cycles)</a:t>
            </a:r>
            <a:endParaRPr lang="en-US" altLang="en-US" sz="2800" dirty="0"/>
          </a:p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US" altLang="en-US" sz="2800" dirty="0"/>
              <a:t>Requirements are captured as items in a </a:t>
            </a:r>
            <a:r>
              <a:rPr lang="en-US" altLang="en-US" sz="2800" dirty="0" smtClean="0"/>
              <a:t>list, called </a:t>
            </a:r>
            <a:r>
              <a:rPr lang="en-US" altLang="en-US" sz="2800" b="1" dirty="0" smtClean="0"/>
              <a:t>product </a:t>
            </a:r>
            <a:r>
              <a:rPr lang="en-US" altLang="en-US" sz="2800" b="1" dirty="0"/>
              <a:t>backlog</a:t>
            </a:r>
          </a:p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</a:pPr>
            <a:r>
              <a:rPr lang="en-US" altLang="en-US" sz="2800" dirty="0"/>
              <a:t>One of the agile processes</a:t>
            </a:r>
            <a:endParaRPr lang="en-US" altLang="en-US" sz="2800" dirty="0">
              <a:solidFill>
                <a:schemeClr val="accent2"/>
              </a:solidFill>
            </a:endParaRPr>
          </a:p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1225"/>
              </a:spcAft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415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7315201" y="3181542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omic Sans MS" panose="030F0702030302020204" pitchFamily="66" charset="0"/>
              </a:rPr>
              <a:t>Product 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increment</a:t>
            </a:r>
            <a:endParaRPr lang="en-US" b="1" dirty="0">
              <a:latin typeface="Comic Sans MS" panose="030F0702030302020204" pitchFamily="66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990601" y="217296"/>
            <a:ext cx="8077199" cy="3276600"/>
            <a:chOff x="-533400" y="1047750"/>
            <a:chExt cx="7953271" cy="2397466"/>
          </a:xfrm>
        </p:grpSpPr>
        <p:sp>
          <p:nvSpPr>
            <p:cNvPr id="6" name="Cube 5"/>
            <p:cNvSpPr/>
            <p:nvPr/>
          </p:nvSpPr>
          <p:spPr>
            <a:xfrm>
              <a:off x="0" y="2759416"/>
              <a:ext cx="457200" cy="152400"/>
            </a:xfrm>
            <a:prstGeom prst="cub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7" name="Cube 6"/>
            <p:cNvSpPr/>
            <p:nvPr/>
          </p:nvSpPr>
          <p:spPr>
            <a:xfrm>
              <a:off x="0" y="2607016"/>
              <a:ext cx="457200" cy="152400"/>
            </a:xfrm>
            <a:prstGeom prst="cub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8" name="Cube 7"/>
            <p:cNvSpPr/>
            <p:nvPr/>
          </p:nvSpPr>
          <p:spPr>
            <a:xfrm>
              <a:off x="0" y="2454616"/>
              <a:ext cx="457200" cy="152400"/>
            </a:xfrm>
            <a:prstGeom prst="cub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9" name="Cube 8"/>
            <p:cNvSpPr/>
            <p:nvPr/>
          </p:nvSpPr>
          <p:spPr>
            <a:xfrm>
              <a:off x="0" y="2302216"/>
              <a:ext cx="457200" cy="152400"/>
            </a:xfrm>
            <a:prstGeom prst="cub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0" name="Cube 9"/>
            <p:cNvSpPr/>
            <p:nvPr/>
          </p:nvSpPr>
          <p:spPr>
            <a:xfrm>
              <a:off x="0" y="2149816"/>
              <a:ext cx="457200" cy="152400"/>
            </a:xfrm>
            <a:prstGeom prst="cub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1" name="Cube 10"/>
            <p:cNvSpPr/>
            <p:nvPr/>
          </p:nvSpPr>
          <p:spPr>
            <a:xfrm>
              <a:off x="0" y="1997416"/>
              <a:ext cx="457200" cy="152400"/>
            </a:xfrm>
            <a:prstGeom prst="cub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2" name="Cube 11"/>
            <p:cNvSpPr/>
            <p:nvPr/>
          </p:nvSpPr>
          <p:spPr>
            <a:xfrm>
              <a:off x="0" y="1845016"/>
              <a:ext cx="457200" cy="152400"/>
            </a:xfrm>
            <a:prstGeom prst="cub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-533400" y="2879550"/>
              <a:ext cx="2743200" cy="2640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Comic Sans MS" panose="030F0702030302020204" pitchFamily="66" charset="0"/>
                </a:rPr>
                <a:t>Product backlog</a:t>
              </a:r>
              <a:endParaRPr lang="en-US" b="1" dirty="0">
                <a:latin typeface="Comic Sans MS" panose="030F0702030302020204" pitchFamily="66" charset="0"/>
              </a:endParaRPr>
            </a:p>
          </p:txBody>
        </p:sp>
        <p:sp>
          <p:nvSpPr>
            <p:cNvPr id="15" name="Cube 14"/>
            <p:cNvSpPr/>
            <p:nvPr/>
          </p:nvSpPr>
          <p:spPr>
            <a:xfrm>
              <a:off x="2199752" y="2545909"/>
              <a:ext cx="457200" cy="152400"/>
            </a:xfrm>
            <a:prstGeom prst="cub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16" name="Cube 15"/>
            <p:cNvSpPr/>
            <p:nvPr/>
          </p:nvSpPr>
          <p:spPr>
            <a:xfrm>
              <a:off x="2199752" y="2393509"/>
              <a:ext cx="457200" cy="152400"/>
            </a:xfrm>
            <a:prstGeom prst="cub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981200" y="2698503"/>
              <a:ext cx="2743200" cy="462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Comic Sans MS" panose="030F0702030302020204" pitchFamily="66" charset="0"/>
                </a:rPr>
                <a:t>Sprint </a:t>
              </a:r>
            </a:p>
            <a:p>
              <a:r>
                <a:rPr lang="en-IN" b="1" dirty="0">
                  <a:latin typeface="Comic Sans MS" panose="030F0702030302020204" pitchFamily="66" charset="0"/>
                </a:rPr>
                <a:t>backlog</a:t>
              </a:r>
              <a:endParaRPr lang="en-US" b="1" dirty="0">
                <a:latin typeface="Comic Sans MS" panose="030F0702030302020204" pitchFamily="66" charset="0"/>
              </a:endParaRPr>
            </a:p>
          </p:txBody>
        </p:sp>
        <p:sp>
          <p:nvSpPr>
            <p:cNvPr id="23" name="Right Arrow 22"/>
            <p:cNvSpPr/>
            <p:nvPr/>
          </p:nvSpPr>
          <p:spPr>
            <a:xfrm>
              <a:off x="533400" y="2454616"/>
              <a:ext cx="1524000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24" name="Curved Down Arrow 23"/>
            <p:cNvSpPr/>
            <p:nvPr/>
          </p:nvSpPr>
          <p:spPr>
            <a:xfrm rot="10800000" flipV="1">
              <a:off x="2743200" y="1788866"/>
              <a:ext cx="1600200" cy="846803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" name="Curved Up Arrow 24"/>
            <p:cNvSpPr/>
            <p:nvPr/>
          </p:nvSpPr>
          <p:spPr>
            <a:xfrm>
              <a:off x="2895600" y="2635669"/>
              <a:ext cx="1513952" cy="809547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6" name="Flowchart: Multidocument 25"/>
            <p:cNvSpPr/>
            <p:nvPr/>
          </p:nvSpPr>
          <p:spPr>
            <a:xfrm>
              <a:off x="5962859" y="2149816"/>
              <a:ext cx="1060704" cy="758952"/>
            </a:xfrm>
            <a:prstGeom prst="flowChartMultidocumen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058048" y="2302216"/>
              <a:ext cx="2743200" cy="330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latin typeface="Comic Sans MS" panose="030F0702030302020204" pitchFamily="66" charset="0"/>
                </a:rPr>
                <a:t>Scrum</a:t>
              </a:r>
              <a:endParaRPr lang="en-US" sz="2400" b="1" dirty="0">
                <a:latin typeface="Comic Sans MS" panose="030F0702030302020204" pitchFamily="66" charset="0"/>
              </a:endParaRPr>
            </a:p>
          </p:txBody>
        </p:sp>
        <p:sp>
          <p:nvSpPr>
            <p:cNvPr id="30" name="Explosion 2 29"/>
            <p:cNvSpPr/>
            <p:nvPr/>
          </p:nvSpPr>
          <p:spPr>
            <a:xfrm>
              <a:off x="2564506" y="1047750"/>
              <a:ext cx="2292642" cy="908072"/>
            </a:xfrm>
            <a:prstGeom prst="irregularSeal2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70000"/>
                </a:lnSpc>
              </a:pPr>
              <a:r>
                <a:rPr lang="en-IN" sz="1600" b="1" dirty="0">
                  <a:solidFill>
                    <a:srgbClr val="FFFF00"/>
                  </a:solidFill>
                  <a:latin typeface="Comic Sans MS" panose="030F0702030302020204" pitchFamily="66" charset="0"/>
                </a:rPr>
                <a:t>Daily Scrum</a:t>
              </a:r>
              <a:endParaRPr lang="en-US" sz="1600" b="1" dirty="0">
                <a:solidFill>
                  <a:srgbClr val="FFFF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00519" y="1745453"/>
              <a:ext cx="2743200" cy="462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Comic Sans MS" panose="030F0702030302020204" pitchFamily="66" charset="0"/>
                </a:rPr>
                <a:t>Sprint </a:t>
              </a:r>
            </a:p>
            <a:p>
              <a:r>
                <a:rPr lang="en-IN" b="1" dirty="0">
                  <a:latin typeface="Comic Sans MS" panose="030F0702030302020204" pitchFamily="66" charset="0"/>
                </a:rPr>
                <a:t>planning</a:t>
              </a:r>
              <a:endParaRPr lang="en-US" b="1" dirty="0">
                <a:latin typeface="Comic Sans MS" panose="030F0702030302020204" pitchFamily="66" charset="0"/>
              </a:endParaRPr>
            </a:p>
          </p:txBody>
        </p:sp>
        <p:sp>
          <p:nvSpPr>
            <p:cNvPr id="32" name="Right Arrow 31"/>
            <p:cNvSpPr/>
            <p:nvPr/>
          </p:nvSpPr>
          <p:spPr>
            <a:xfrm>
              <a:off x="4409552" y="2535614"/>
              <a:ext cx="1524000" cy="1524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omic Sans MS" panose="030F0702030302020204" pitchFamily="66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676671" y="1826451"/>
              <a:ext cx="2743200" cy="462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>
                  <a:latin typeface="Comic Sans MS" panose="030F0702030302020204" pitchFamily="66" charset="0"/>
                </a:rPr>
                <a:t>Sprint </a:t>
              </a:r>
            </a:p>
            <a:p>
              <a:r>
                <a:rPr lang="en-IN" b="1" dirty="0">
                  <a:latin typeface="Comic Sans MS" panose="030F0702030302020204" pitchFamily="66" charset="0"/>
                </a:rPr>
                <a:t>review</a:t>
              </a:r>
              <a:endParaRPr lang="en-US" b="1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4102489" y="3504706"/>
            <a:ext cx="2647668" cy="11244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 smtClean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Daily </a:t>
            </a:r>
            <a:r>
              <a:rPr lang="en-US" b="1" dirty="0">
                <a:solidFill>
                  <a:schemeClr val="tx1"/>
                </a:solidFill>
                <a:latin typeface="Comic Sans MS" panose="030F0702030302020204" pitchFamily="66" charset="0"/>
              </a:rPr>
              <a:t>Scrum Meeting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Design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Code</a:t>
            </a:r>
            <a:endParaRPr lang="en-US" b="1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Comic Sans MS" panose="030F0702030302020204" pitchFamily="66" charset="0"/>
              </a:rPr>
              <a:t>Test</a:t>
            </a:r>
          </a:p>
          <a:p>
            <a:endParaRPr lang="en-US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7054" y="309778"/>
            <a:ext cx="738664" cy="4700371"/>
          </a:xfrm>
          <a:prstGeom prst="rect">
            <a:avLst/>
          </a:prstGeom>
        </p:spPr>
        <p:txBody>
          <a:bodyPr vert="vert270" anchor="ctr">
            <a:normAutofit/>
          </a:bodyPr>
          <a:lstStyle>
            <a:lvl1pPr algn="ctr">
              <a:spcBef>
                <a:spcPct val="0"/>
              </a:spcBef>
              <a:buNone/>
              <a:defRPr kumimoji="0" sz="36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dirty="0"/>
              <a:t>Scrum Life Cycle</a:t>
            </a:r>
          </a:p>
        </p:txBody>
      </p:sp>
    </p:spTree>
    <p:extLst>
      <p:ext uri="{BB962C8B-B14F-4D97-AF65-F5344CB8AC3E}">
        <p14:creationId xmlns:p14="http://schemas.microsoft.com/office/powerpoint/2010/main" val="2870767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0015" y="13286"/>
            <a:ext cx="7801300" cy="725837"/>
          </a:xfrm>
        </p:spPr>
        <p:txBody>
          <a:bodyPr anchor="ctr">
            <a:normAutofit/>
          </a:bodyPr>
          <a:lstStyle/>
          <a:p>
            <a:pPr algn="ctr"/>
            <a:r>
              <a:rPr lang="en-US" altLang="en-US" sz="3600" dirty="0"/>
              <a:t>Sprint</a:t>
            </a:r>
          </a:p>
        </p:txBody>
      </p:sp>
      <p:sp>
        <p:nvSpPr>
          <p:cNvPr id="336899" name="Rectangle 3"/>
          <p:cNvSpPr>
            <a:spLocks noGrp="1" noChangeArrowheads="1"/>
          </p:cNvSpPr>
          <p:nvPr>
            <p:ph idx="1"/>
          </p:nvPr>
        </p:nvSpPr>
        <p:spPr>
          <a:xfrm>
            <a:off x="914401" y="742950"/>
            <a:ext cx="8229600" cy="3787957"/>
          </a:xfrm>
        </p:spPr>
        <p:txBody>
          <a:bodyPr>
            <a:noAutofit/>
          </a:bodyPr>
          <a:lstStyle/>
          <a:p>
            <a:pPr algn="just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Scrum projects </a:t>
            </a:r>
            <a:r>
              <a:rPr lang="en-US" altLang="en-US" sz="2800" dirty="0" smtClean="0"/>
              <a:t>progress </a:t>
            </a:r>
            <a:r>
              <a:rPr lang="en-US" altLang="en-US" sz="2800" dirty="0"/>
              <a:t>in a series of “sprints”</a:t>
            </a:r>
          </a:p>
          <a:p>
            <a:pPr lvl="1" algn="just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/>
              <a:t>Analogous to XP </a:t>
            </a:r>
            <a:r>
              <a:rPr lang="en-US" altLang="en-US" sz="2400" dirty="0" smtClean="0"/>
              <a:t>iterations or time boxes</a:t>
            </a:r>
            <a:endParaRPr lang="en-US" altLang="en-US" sz="2400" dirty="0"/>
          </a:p>
          <a:p>
            <a:pPr lvl="1" algn="just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/>
              <a:t>Target duration is one month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 smtClean="0">
                <a:solidFill>
                  <a:srgbClr val="6600FF"/>
                </a:solidFill>
              </a:rPr>
              <a:t>Software increment </a:t>
            </a:r>
            <a:r>
              <a:rPr lang="en-US" altLang="en-US" sz="2800" dirty="0">
                <a:solidFill>
                  <a:srgbClr val="6600FF"/>
                </a:solidFill>
              </a:rPr>
              <a:t>is designed, coded, and tested during the </a:t>
            </a:r>
            <a:r>
              <a:rPr lang="en-US" altLang="en-US" sz="2800" dirty="0" smtClean="0">
                <a:solidFill>
                  <a:srgbClr val="6600FF"/>
                </a:solidFill>
              </a:rPr>
              <a:t>sprint</a:t>
            </a:r>
          </a:p>
          <a:p>
            <a:pPr algn="just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altLang="en-US" sz="2800" dirty="0" smtClean="0">
                <a:solidFill>
                  <a:srgbClr val="6600FF"/>
                </a:solidFill>
              </a:rPr>
              <a:t>No changes are entertained during a sprint</a:t>
            </a:r>
            <a:endParaRPr lang="en-US" altLang="en-US" sz="2800" dirty="0">
              <a:solidFill>
                <a:srgbClr val="6600FF"/>
              </a:solidFill>
            </a:endParaRPr>
          </a:p>
          <a:p>
            <a:pPr algn="just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0849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71350" y="-95250"/>
            <a:ext cx="7801300" cy="933219"/>
          </a:xfrm>
        </p:spPr>
        <p:txBody>
          <a:bodyPr anchor="ctr">
            <a:normAutofit/>
          </a:bodyPr>
          <a:lstStyle/>
          <a:p>
            <a:pPr algn="ctr"/>
            <a:r>
              <a:rPr lang="en-US" altLang="en-US" sz="3600" dirty="0"/>
              <a:t>Scrum Framework</a:t>
            </a:r>
          </a:p>
        </p:txBody>
      </p:sp>
      <p:sp>
        <p:nvSpPr>
          <p:cNvPr id="33894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895350"/>
            <a:ext cx="8229600" cy="3787957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816"/>
              </a:spcBef>
              <a:spcAft>
                <a:spcPts val="816"/>
              </a:spcAft>
            </a:pPr>
            <a:r>
              <a:rPr lang="en-US" altLang="en-US" sz="2800" dirty="0" smtClean="0">
                <a:solidFill>
                  <a:srgbClr val="0000FF"/>
                </a:solidFill>
              </a:rPr>
              <a:t>Roles: </a:t>
            </a:r>
            <a:r>
              <a:rPr lang="en-US" altLang="en-US" sz="2800" dirty="0"/>
              <a:t>Product Owner, </a:t>
            </a:r>
            <a:r>
              <a:rPr lang="en-US" altLang="en-US" sz="2800" dirty="0" smtClean="0"/>
              <a:t>Scrum Master</a:t>
            </a:r>
            <a:r>
              <a:rPr lang="en-US" altLang="en-US" sz="2800" dirty="0"/>
              <a:t>, </a:t>
            </a:r>
            <a:r>
              <a:rPr lang="en-US" altLang="en-US" sz="2800" dirty="0" smtClean="0"/>
              <a:t> Scrum Team, Customer, End User, Management  </a:t>
            </a:r>
            <a:endParaRPr lang="en-US" altLang="en-US" sz="2800" dirty="0"/>
          </a:p>
          <a:p>
            <a:pPr algn="just">
              <a:lnSpc>
                <a:spcPct val="120000"/>
              </a:lnSpc>
              <a:spcBef>
                <a:spcPts val="816"/>
              </a:spcBef>
              <a:spcAft>
                <a:spcPts val="816"/>
              </a:spcAft>
            </a:pPr>
            <a:r>
              <a:rPr lang="en-US" altLang="en-US" sz="2800" dirty="0" smtClean="0">
                <a:solidFill>
                  <a:srgbClr val="0000FF"/>
                </a:solidFill>
              </a:rPr>
              <a:t>Ceremonies: </a:t>
            </a:r>
            <a:r>
              <a:rPr lang="en-US" altLang="en-US" sz="2800" dirty="0"/>
              <a:t>Sprint Planning, Sprint Review, Sprint Retrospective, and Daily Scrum Meeting </a:t>
            </a:r>
          </a:p>
          <a:p>
            <a:pPr algn="just">
              <a:lnSpc>
                <a:spcPct val="120000"/>
              </a:lnSpc>
              <a:spcBef>
                <a:spcPts val="816"/>
              </a:spcBef>
              <a:spcAft>
                <a:spcPts val="816"/>
              </a:spcAft>
            </a:pPr>
            <a:r>
              <a:rPr lang="en-US" altLang="en-US" sz="2800" dirty="0" smtClean="0">
                <a:solidFill>
                  <a:srgbClr val="0000FF"/>
                </a:solidFill>
              </a:rPr>
              <a:t>Artifacts: </a:t>
            </a:r>
            <a:r>
              <a:rPr lang="en-US" altLang="en-US" sz="2800" dirty="0"/>
              <a:t>Product Backlog, Sprint Backlog, and Burndown Chart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157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AutoShape 4"/>
          <p:cNvSpPr>
            <a:spLocks noGrp="1" noChangeArrowheads="1"/>
          </p:cNvSpPr>
          <p:nvPr>
            <p:ph type="title"/>
          </p:nvPr>
        </p:nvSpPr>
        <p:spPr>
          <a:xfrm>
            <a:off x="685800" y="209550"/>
            <a:ext cx="8467060" cy="438150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Key Roles and Responsibilities  in a Scrum Team</a:t>
            </a:r>
          </a:p>
        </p:txBody>
      </p:sp>
      <p:sp>
        <p:nvSpPr>
          <p:cNvPr id="339971" name="Rectangle 5"/>
          <p:cNvSpPr>
            <a:spLocks noGrp="1" noChangeArrowheads="1"/>
          </p:cNvSpPr>
          <p:nvPr>
            <p:ph idx="1"/>
          </p:nvPr>
        </p:nvSpPr>
        <p:spPr>
          <a:xfrm>
            <a:off x="950360" y="971550"/>
            <a:ext cx="8229600" cy="4096870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</a:pPr>
            <a:r>
              <a:rPr lang="en-US" altLang="en-US" sz="2800" dirty="0">
                <a:solidFill>
                  <a:srgbClr val="0000FF"/>
                </a:solidFill>
              </a:rPr>
              <a:t>Product Owner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</a:pPr>
            <a:r>
              <a:rPr lang="en-US" altLang="en-US" sz="2400" dirty="0" smtClean="0"/>
              <a:t>Represents customers’  views and interests</a:t>
            </a:r>
            <a:r>
              <a:rPr lang="en-US" altLang="en-US" sz="2400" dirty="0"/>
              <a:t>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</a:pPr>
            <a:r>
              <a:rPr lang="en-US" altLang="en-US" sz="2800" dirty="0">
                <a:solidFill>
                  <a:srgbClr val="0000FF"/>
                </a:solidFill>
              </a:rPr>
              <a:t>Development Team 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</a:pPr>
            <a:r>
              <a:rPr lang="en-US" altLang="en-US" sz="2400" dirty="0"/>
              <a:t>Team of </a:t>
            </a:r>
            <a:r>
              <a:rPr lang="en-US" altLang="en-US" sz="2400" dirty="0" smtClean="0"/>
              <a:t>5 - 10 </a:t>
            </a:r>
            <a:r>
              <a:rPr lang="en-US" altLang="en-US" sz="2400" dirty="0"/>
              <a:t>people with cross-functional skill sets.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</a:pPr>
            <a:r>
              <a:rPr lang="en-US" altLang="en-US" sz="2800" dirty="0">
                <a:solidFill>
                  <a:srgbClr val="0000FF"/>
                </a:solidFill>
              </a:rPr>
              <a:t>Scrum Master (aka Project Manager)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</a:pPr>
            <a:r>
              <a:rPr lang="en-US" altLang="en-US" sz="2400" dirty="0"/>
              <a:t>Facilitates scrum process and resolves impediments at the team and organization level by acting as a buffer between the team and outside interference.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61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1" y="133350"/>
            <a:ext cx="7801300" cy="569220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Product Owner</a:t>
            </a:r>
          </a:p>
        </p:txBody>
      </p:sp>
      <p:sp>
        <p:nvSpPr>
          <p:cNvPr id="342019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819150"/>
            <a:ext cx="8153400" cy="3943494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Defines the features of the product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Decides on release date and content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Prioritizes features according to </a:t>
            </a:r>
            <a:r>
              <a:rPr lang="en-US" altLang="en-US" sz="2800" dirty="0" err="1"/>
              <a:t>usefullness</a:t>
            </a:r>
            <a:r>
              <a:rPr lang="en-US" altLang="en-US" sz="2800" dirty="0"/>
              <a:t> 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Adjusts features and priority every iteration, as needed  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800" dirty="0"/>
              <a:t>Accepts or reject work results. 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859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1" y="73175"/>
            <a:ext cx="7801300" cy="517375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The Scrum Master</a:t>
            </a:r>
          </a:p>
        </p:txBody>
      </p:sp>
      <p:sp>
        <p:nvSpPr>
          <p:cNvPr id="34304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742950"/>
            <a:ext cx="8153400" cy="440055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800" dirty="0"/>
              <a:t>Represents management in the project</a:t>
            </a:r>
          </a:p>
          <a:p>
            <a:pPr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800" dirty="0"/>
              <a:t>Removes impediments </a:t>
            </a:r>
          </a:p>
          <a:p>
            <a:pPr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800" dirty="0"/>
              <a:t>Ensures that the team is fully functional and productive</a:t>
            </a:r>
          </a:p>
          <a:p>
            <a:pPr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800" dirty="0"/>
              <a:t>Enables close cooperation across all roles and functions</a:t>
            </a:r>
          </a:p>
          <a:p>
            <a:pPr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800" dirty="0"/>
              <a:t>Shields the team from external interferences</a:t>
            </a:r>
          </a:p>
          <a:p>
            <a:pPr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600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1" y="124124"/>
            <a:ext cx="7801300" cy="618827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Scrum Team</a:t>
            </a:r>
          </a:p>
        </p:txBody>
      </p:sp>
      <p:sp>
        <p:nvSpPr>
          <p:cNvPr id="344067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971550"/>
            <a:ext cx="8153400" cy="4047185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800" b="0" dirty="0" smtClean="0"/>
              <a:t>Typically 5-10 people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800" b="0" dirty="0" smtClean="0"/>
              <a:t>Cross-functional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0" dirty="0" smtClean="0"/>
              <a:t>Quality Assurance Engineers, Programmers, UI Designers, etc.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800" b="0" dirty="0" smtClean="0"/>
              <a:t>Teams are self-organizing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800" b="0" dirty="0" smtClean="0"/>
              <a:t>Membership can change only between sprints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en-US" sz="2800" b="0" dirty="0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62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7150"/>
            <a:ext cx="7801300" cy="465529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Sprint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742950"/>
            <a:ext cx="8153400" cy="4191000"/>
          </a:xfrm>
        </p:spPr>
        <p:txBody>
          <a:bodyPr>
            <a:noAutofit/>
          </a:bodyPr>
          <a:lstStyle/>
          <a:p>
            <a:pPr marL="573787" indent="-457200" algn="just">
              <a:lnSpc>
                <a:spcPct val="110000"/>
              </a:lnSpc>
              <a:spcAft>
                <a:spcPts val="600"/>
              </a:spcAft>
              <a:buSzPct val="167000"/>
              <a:buFont typeface="Arial" pitchFamily="34" charset="0"/>
              <a:buChar char="•"/>
              <a:defRPr/>
            </a:pPr>
            <a:r>
              <a:rPr lang="en-US" sz="2800" dirty="0">
                <a:cs typeface="Arial" pitchFamily="34" charset="0"/>
              </a:rPr>
              <a:t>Fundamental process flow of Scrum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dirty="0" smtClean="0"/>
              <a:t>It is usually a </a:t>
            </a:r>
            <a:r>
              <a:rPr lang="ru-RU" sz="2800" dirty="0">
                <a:solidFill>
                  <a:srgbClr val="FF0000"/>
                </a:solidFill>
              </a:rPr>
              <a:t>month-long iteration</a:t>
            </a:r>
            <a:r>
              <a:rPr lang="en-US" sz="2800" dirty="0"/>
              <a:t>: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400" dirty="0" smtClean="0"/>
              <a:t>during this time an </a:t>
            </a:r>
            <a:r>
              <a:rPr lang="en-US" sz="2400" dirty="0"/>
              <a:t>incremental product functionality </a:t>
            </a:r>
            <a:r>
              <a:rPr lang="en-US" sz="2400" dirty="0" smtClean="0"/>
              <a:t>is completed</a:t>
            </a:r>
            <a:endParaRPr lang="en-US" sz="2400" dirty="0"/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dirty="0" smtClean="0"/>
              <a:t>No </a:t>
            </a:r>
            <a:r>
              <a:rPr lang="en-US" sz="2800" dirty="0"/>
              <a:t>outside influence </a:t>
            </a:r>
            <a:r>
              <a:rPr lang="en-US" sz="2800" dirty="0" smtClean="0"/>
              <a:t>is allowed to </a:t>
            </a:r>
            <a:r>
              <a:rPr lang="en-US" sz="2800" dirty="0"/>
              <a:t>interfere with the Scrum team during the Sprint</a:t>
            </a: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sz="2800" dirty="0"/>
              <a:t>Each day begins with the Daily Scrum Meeting</a:t>
            </a:r>
            <a:endParaRPr lang="ru-RU" sz="2800" dirty="0"/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725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001000" cy="857250"/>
          </a:xfrm>
        </p:spPr>
        <p:txBody>
          <a:bodyPr anchor="ctr">
            <a:normAutofit/>
          </a:bodyPr>
          <a:lstStyle/>
          <a:p>
            <a:pPr algn="ctr"/>
            <a:r>
              <a:rPr lang="en-US" altLang="en-US" sz="3600" dirty="0"/>
              <a:t>Ceremonies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idx="1"/>
          </p:nvPr>
        </p:nvSpPr>
        <p:spPr>
          <a:xfrm>
            <a:off x="990601" y="1047750"/>
            <a:ext cx="8153400" cy="3580576"/>
          </a:xfrm>
        </p:spPr>
        <p:txBody>
          <a:bodyPr>
            <a:normAutofit/>
          </a:bodyPr>
          <a:lstStyle/>
          <a:p>
            <a:pPr>
              <a:lnSpc>
                <a:spcPct val="135000"/>
              </a:lnSpc>
              <a:spcBef>
                <a:spcPts val="816"/>
              </a:spcBef>
              <a:spcAft>
                <a:spcPts val="816"/>
              </a:spcAft>
            </a:pPr>
            <a:r>
              <a:rPr lang="en-US" altLang="en-US" sz="2800" dirty="0"/>
              <a:t>Sprint Planning Meeting</a:t>
            </a:r>
          </a:p>
          <a:p>
            <a:pPr>
              <a:lnSpc>
                <a:spcPct val="135000"/>
              </a:lnSpc>
              <a:spcBef>
                <a:spcPts val="816"/>
              </a:spcBef>
              <a:spcAft>
                <a:spcPts val="816"/>
              </a:spcAft>
            </a:pPr>
            <a:r>
              <a:rPr lang="en-US" altLang="en-US" sz="2800" dirty="0" smtClean="0"/>
              <a:t>Daily </a:t>
            </a:r>
            <a:r>
              <a:rPr lang="en-US" altLang="en-US" sz="2800" dirty="0"/>
              <a:t>Scrum</a:t>
            </a:r>
          </a:p>
          <a:p>
            <a:pPr>
              <a:lnSpc>
                <a:spcPct val="135000"/>
              </a:lnSpc>
              <a:spcBef>
                <a:spcPts val="816"/>
              </a:spcBef>
              <a:spcAft>
                <a:spcPts val="816"/>
              </a:spcAft>
            </a:pPr>
            <a:r>
              <a:rPr lang="en-US" altLang="en-US" sz="2800" dirty="0"/>
              <a:t>Sprint Review Meeting</a:t>
            </a:r>
          </a:p>
          <a:p>
            <a:pPr>
              <a:lnSpc>
                <a:spcPct val="135000"/>
              </a:lnSpc>
              <a:spcBef>
                <a:spcPts val="816"/>
              </a:spcBef>
              <a:spcAft>
                <a:spcPts val="816"/>
              </a:spcAft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819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Title 1"/>
          <p:cNvSpPr>
            <a:spLocks noGrp="1"/>
          </p:cNvSpPr>
          <p:nvPr>
            <p:ph type="title"/>
          </p:nvPr>
        </p:nvSpPr>
        <p:spPr>
          <a:xfrm>
            <a:off x="914400" y="209550"/>
            <a:ext cx="7801300" cy="517375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Sprint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71550"/>
            <a:ext cx="8153400" cy="3995339"/>
          </a:xfrm>
        </p:spPr>
        <p:txBody>
          <a:bodyPr>
            <a:normAutofit/>
          </a:bodyPr>
          <a:lstStyle/>
          <a:p>
            <a:pPr marL="342903" indent="-285752" algn="just">
              <a:lnSpc>
                <a:spcPct val="125000"/>
              </a:lnSpc>
              <a:spcBef>
                <a:spcPts val="816"/>
              </a:spcBef>
              <a:spcAft>
                <a:spcPts val="816"/>
              </a:spcAft>
              <a:buSzPct val="167000"/>
              <a:buFontTx/>
              <a:buChar char="•"/>
              <a:defRPr/>
            </a:pPr>
            <a:r>
              <a:rPr lang="en-US" sz="2800" dirty="0">
                <a:cs typeface="Arial" pitchFamily="34" charset="0"/>
              </a:rPr>
              <a:t>Goal is to produce Sprint Backlog </a:t>
            </a:r>
          </a:p>
          <a:p>
            <a:pPr marL="342903" indent="-285752" algn="just">
              <a:lnSpc>
                <a:spcPct val="125000"/>
              </a:lnSpc>
              <a:spcBef>
                <a:spcPts val="816"/>
              </a:spcBef>
              <a:spcAft>
                <a:spcPts val="816"/>
              </a:spcAft>
              <a:buSzPct val="167000"/>
              <a:buFontTx/>
              <a:buChar char="•"/>
              <a:defRPr/>
            </a:pPr>
            <a:r>
              <a:rPr lang="en-US" sz="2800" dirty="0">
                <a:cs typeface="Arial" pitchFamily="34" charset="0"/>
              </a:rPr>
              <a:t>Product owner works with the Team to negotiate what Backlog Items </a:t>
            </a:r>
          </a:p>
          <a:p>
            <a:pPr marL="342903" indent="-285752" algn="just">
              <a:lnSpc>
                <a:spcPct val="125000"/>
              </a:lnSpc>
              <a:spcBef>
                <a:spcPts val="816"/>
              </a:spcBef>
              <a:spcAft>
                <a:spcPts val="816"/>
              </a:spcAft>
              <a:buSzPct val="167000"/>
              <a:buFontTx/>
              <a:buChar char="•"/>
              <a:defRPr/>
            </a:pPr>
            <a:r>
              <a:rPr lang="en-US" sz="2800" dirty="0">
                <a:cs typeface="Arial" pitchFamily="34" charset="0"/>
              </a:rPr>
              <a:t>Scrum Master ensures </a:t>
            </a:r>
            <a:r>
              <a:rPr lang="en-US" sz="2800" dirty="0" smtClean="0">
                <a:cs typeface="Arial" pitchFamily="34" charset="0"/>
              </a:rPr>
              <a:t>that the Team </a:t>
            </a:r>
            <a:r>
              <a:rPr lang="en-US" sz="2800" dirty="0">
                <a:cs typeface="Arial" pitchFamily="34" charset="0"/>
              </a:rPr>
              <a:t>agrees to </a:t>
            </a:r>
            <a:r>
              <a:rPr lang="en-US" sz="2800" dirty="0" smtClean="0">
                <a:cs typeface="Arial" pitchFamily="34" charset="0"/>
              </a:rPr>
              <a:t>the realistic </a:t>
            </a:r>
            <a:r>
              <a:rPr lang="en-US" sz="2800" dirty="0">
                <a:cs typeface="Arial" pitchFamily="34" charset="0"/>
              </a:rPr>
              <a:t>goals</a:t>
            </a:r>
          </a:p>
          <a:p>
            <a:pPr algn="just">
              <a:lnSpc>
                <a:spcPct val="125000"/>
              </a:lnSpc>
              <a:spcBef>
                <a:spcPts val="816"/>
              </a:spcBef>
              <a:spcAft>
                <a:spcPts val="816"/>
              </a:spcAft>
              <a:defRPr/>
            </a:pPr>
            <a:endParaRPr 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95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3800" y="133350"/>
            <a:ext cx="4550100" cy="857019"/>
          </a:xfrm>
          <a:solidFill>
            <a:srgbClr val="FFFF00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/>
              <a:t>Daily Scrum</a:t>
            </a:r>
          </a:p>
        </p:txBody>
      </p:sp>
      <p:sp>
        <p:nvSpPr>
          <p:cNvPr id="349187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590550"/>
            <a:ext cx="8077200" cy="4419600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800" dirty="0"/>
              <a:t>Daily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800" dirty="0"/>
              <a:t>15-minutes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800" dirty="0"/>
              <a:t>Stand-up meeting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800" dirty="0"/>
              <a:t>Not for problem solving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2800" b="0" dirty="0" smtClean="0"/>
              <a:t>Three questions: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AutoNum type="arabicPeriod"/>
            </a:pPr>
            <a:r>
              <a:rPr lang="en-US" altLang="en-US" sz="2400" dirty="0"/>
              <a:t>What did you do </a:t>
            </a:r>
            <a:r>
              <a:rPr lang="en-US" altLang="en-US" sz="2400" dirty="0" smtClean="0"/>
              <a:t>yesterday?</a:t>
            </a:r>
            <a:endParaRPr lang="en-US" altLang="en-US" sz="2400" dirty="0"/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AutoNum type="arabicPeriod"/>
            </a:pPr>
            <a:r>
              <a:rPr lang="en-US" altLang="en-US" sz="2400" dirty="0"/>
              <a:t>What will you do today?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AutoNum type="arabicPeriod"/>
            </a:pPr>
            <a:r>
              <a:rPr lang="en-US" altLang="en-US" sz="2400" dirty="0"/>
              <a:t>What obstacles are in your way?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alt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6331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6321100" y="0"/>
            <a:ext cx="2822900" cy="933219"/>
          </a:xfrm>
          <a:solidFill>
            <a:srgbClr val="FFFF00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/>
              <a:t>Daily Scrum</a:t>
            </a:r>
          </a:p>
        </p:txBody>
      </p:sp>
      <p:sp>
        <p:nvSpPr>
          <p:cNvPr id="350211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590550"/>
            <a:ext cx="8153400" cy="4303172"/>
          </a:xfrm>
        </p:spPr>
        <p:txBody>
          <a:bodyPr>
            <a:noAutofit/>
          </a:bodyPr>
          <a:lstStyle/>
          <a:p>
            <a:pPr algn="just">
              <a:spcBef>
                <a:spcPts val="816"/>
              </a:spcBef>
              <a:spcAft>
                <a:spcPts val="1225"/>
              </a:spcAft>
            </a:pPr>
            <a:r>
              <a:rPr lang="en-US" altLang="en-US" sz="2800" dirty="0"/>
              <a:t>Is NOT a problem solving session</a:t>
            </a:r>
          </a:p>
          <a:p>
            <a:pPr algn="just">
              <a:spcBef>
                <a:spcPts val="816"/>
              </a:spcBef>
              <a:spcAft>
                <a:spcPts val="1225"/>
              </a:spcAft>
            </a:pPr>
            <a:r>
              <a:rPr lang="en-US" altLang="en-US" sz="2800" dirty="0"/>
              <a:t>Is NOT a way to collect information about WHO is behind the schedule</a:t>
            </a:r>
          </a:p>
          <a:p>
            <a:pPr algn="just">
              <a:spcBef>
                <a:spcPts val="816"/>
              </a:spcBef>
              <a:spcAft>
                <a:spcPts val="1225"/>
              </a:spcAft>
            </a:pPr>
            <a:r>
              <a:rPr lang="en-US" altLang="en-US" sz="2800" dirty="0"/>
              <a:t>Is a meeting in which team members review what is done and make informal commitments to each other and to the Scrum Master</a:t>
            </a:r>
          </a:p>
          <a:p>
            <a:pPr algn="just">
              <a:spcBef>
                <a:spcPts val="816"/>
              </a:spcBef>
              <a:spcAft>
                <a:spcPts val="1225"/>
              </a:spcAft>
            </a:pPr>
            <a:r>
              <a:rPr lang="en-US" altLang="en-US" sz="2800" dirty="0"/>
              <a:t>Is a good way for a Scrum Master to track the progress of the Team</a:t>
            </a:r>
            <a:endParaRPr lang="ru-RU" altLang="en-US" sz="2800" dirty="0"/>
          </a:p>
          <a:p>
            <a:pPr algn="just">
              <a:spcBef>
                <a:spcPts val="816"/>
              </a:spcBef>
              <a:spcAft>
                <a:spcPts val="1225"/>
              </a:spcAft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588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>
          <a:xfrm>
            <a:off x="5283200" y="1962150"/>
            <a:ext cx="3534099" cy="1066800"/>
          </a:xfrm>
          <a:solidFill>
            <a:srgbClr val="FFFF00"/>
          </a:solidFill>
        </p:spPr>
        <p:txBody>
          <a:bodyPr>
            <a:normAutofit/>
          </a:bodyPr>
          <a:lstStyle/>
          <a:p>
            <a:pPr eaLnBrk="1" hangingPunct="1"/>
            <a:r>
              <a:rPr lang="en-US" altLang="en-US" sz="2994" b="1" dirty="0"/>
              <a:t>Sprint Review Meeting</a:t>
            </a:r>
          </a:p>
        </p:txBody>
      </p:sp>
      <p:sp>
        <p:nvSpPr>
          <p:cNvPr id="352259" name="Rectangle 4"/>
          <p:cNvSpPr>
            <a:spLocks noGrp="1" noChangeArrowheads="1"/>
          </p:cNvSpPr>
          <p:nvPr>
            <p:ph idx="1"/>
          </p:nvPr>
        </p:nvSpPr>
        <p:spPr>
          <a:xfrm>
            <a:off x="990600" y="57150"/>
            <a:ext cx="8153400" cy="5086350"/>
          </a:xfrm>
          <a:noFill/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</a:pPr>
            <a:r>
              <a:rPr lang="en-US" altLang="en-US" sz="2800" dirty="0"/>
              <a:t>Team presents what it accomplished during the sprint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</a:pPr>
            <a:r>
              <a:rPr lang="en-US" altLang="en-US" sz="2800" dirty="0"/>
              <a:t>Typically takes the form of a demo of new features 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</a:pPr>
            <a:r>
              <a:rPr lang="en-US" altLang="en-US" sz="2800" dirty="0"/>
              <a:t>Informal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</a:pPr>
            <a:r>
              <a:rPr lang="en-US" altLang="en-US" sz="2400" dirty="0"/>
              <a:t>2-hour prep time rule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</a:pPr>
            <a:r>
              <a:rPr lang="en-US" altLang="en-US" sz="2800" dirty="0"/>
              <a:t>Participants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</a:pPr>
            <a:r>
              <a:rPr lang="en-US" altLang="en-US" sz="2400" dirty="0"/>
              <a:t>Customers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</a:pPr>
            <a:r>
              <a:rPr lang="en-US" altLang="en-US" sz="2400" dirty="0"/>
              <a:t>Management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</a:pPr>
            <a:r>
              <a:rPr lang="en-US" altLang="en-US" sz="2400" dirty="0"/>
              <a:t>Product Owner</a:t>
            </a:r>
          </a:p>
          <a:p>
            <a:pPr lvl="1" algn="just">
              <a:lnSpc>
                <a:spcPct val="110000"/>
              </a:lnSpc>
              <a:spcBef>
                <a:spcPts val="0"/>
              </a:spcBef>
              <a:spcAft>
                <a:spcPts val="408"/>
              </a:spcAft>
            </a:pPr>
            <a:r>
              <a:rPr lang="en-US" altLang="en-US" sz="2400" dirty="0"/>
              <a:t>Other team members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5553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1" y="0"/>
            <a:ext cx="7801300" cy="725837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Product Backlog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666750"/>
            <a:ext cx="8153400" cy="4476750"/>
          </a:xfrm>
        </p:spPr>
        <p:txBody>
          <a:bodyPr>
            <a:noAutofit/>
          </a:bodyPr>
          <a:lstStyle/>
          <a:p>
            <a:pPr algn="just">
              <a:spcBef>
                <a:spcPts val="816"/>
              </a:spcBef>
              <a:spcAft>
                <a:spcPts val="816"/>
              </a:spcAft>
            </a:pPr>
            <a:r>
              <a:rPr lang="en-US" altLang="en-US" sz="2800" dirty="0"/>
              <a:t>A list of all desired work on the project</a:t>
            </a:r>
          </a:p>
          <a:p>
            <a:pPr lvl="1" algn="just">
              <a:spcBef>
                <a:spcPts val="816"/>
              </a:spcBef>
              <a:spcAft>
                <a:spcPts val="816"/>
              </a:spcAft>
            </a:pPr>
            <a:r>
              <a:rPr lang="en-US" altLang="en-US" dirty="0"/>
              <a:t>Usually a combination of </a:t>
            </a:r>
          </a:p>
          <a:p>
            <a:pPr lvl="2" algn="just">
              <a:spcBef>
                <a:spcPts val="816"/>
              </a:spcBef>
              <a:spcAft>
                <a:spcPts val="816"/>
              </a:spcAft>
            </a:pPr>
            <a:r>
              <a:rPr lang="en-US" altLang="en-US" dirty="0"/>
              <a:t>story-based work (“let user search and replace”)</a:t>
            </a:r>
          </a:p>
          <a:p>
            <a:pPr lvl="2" algn="just">
              <a:spcBef>
                <a:spcPts val="816"/>
              </a:spcBef>
              <a:spcAft>
                <a:spcPts val="816"/>
              </a:spcAft>
            </a:pPr>
            <a:r>
              <a:rPr lang="en-US" altLang="en-US" dirty="0"/>
              <a:t>task-based work (“improve exception handling”)</a:t>
            </a:r>
          </a:p>
          <a:p>
            <a:pPr algn="just">
              <a:spcBef>
                <a:spcPts val="816"/>
              </a:spcBef>
              <a:spcAft>
                <a:spcPts val="816"/>
              </a:spcAft>
            </a:pPr>
            <a:r>
              <a:rPr lang="en-US" altLang="en-US" sz="2800" dirty="0"/>
              <a:t>List is prioritized by the Product Owner</a:t>
            </a:r>
          </a:p>
          <a:p>
            <a:pPr lvl="1" algn="just">
              <a:spcBef>
                <a:spcPts val="816"/>
              </a:spcBef>
              <a:spcAft>
                <a:spcPts val="816"/>
              </a:spcAft>
            </a:pPr>
            <a:r>
              <a:rPr lang="en-US" altLang="en-US" dirty="0"/>
              <a:t>Typically a Product Manager, Marketing, Internal Customer, etc.</a:t>
            </a:r>
          </a:p>
          <a:p>
            <a:pPr algn="just">
              <a:spcBef>
                <a:spcPts val="816"/>
              </a:spcBef>
              <a:spcAft>
                <a:spcPts val="816"/>
              </a:spcAft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089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620551" y="2"/>
            <a:ext cx="7801300" cy="933219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Product Backlog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819150"/>
            <a:ext cx="8153400" cy="3787958"/>
          </a:xfrm>
        </p:spPr>
        <p:txBody>
          <a:bodyPr>
            <a:normAutofit/>
          </a:bodyPr>
          <a:lstStyle/>
          <a:p>
            <a:pPr algn="just">
              <a:lnSpc>
                <a:spcPct val="135000"/>
              </a:lnSpc>
              <a:spcBef>
                <a:spcPts val="1225"/>
              </a:spcBef>
              <a:spcAft>
                <a:spcPts val="1225"/>
              </a:spcAft>
            </a:pPr>
            <a:r>
              <a:rPr lang="en-US" altLang="en-US" sz="2800" dirty="0"/>
              <a:t>Requirements for a </a:t>
            </a:r>
            <a:r>
              <a:rPr lang="en-US" altLang="en-US" sz="2800" dirty="0" smtClean="0"/>
              <a:t>system, expressed </a:t>
            </a:r>
            <a:r>
              <a:rPr lang="en-US" altLang="en-US" sz="2800" dirty="0"/>
              <a:t>as a prioritized list of Backlog Items</a:t>
            </a:r>
          </a:p>
          <a:p>
            <a:pPr lvl="1" algn="just">
              <a:lnSpc>
                <a:spcPct val="135000"/>
              </a:lnSpc>
              <a:spcBef>
                <a:spcPts val="1225"/>
              </a:spcBef>
              <a:spcAft>
                <a:spcPts val="1225"/>
              </a:spcAft>
            </a:pPr>
            <a:r>
              <a:rPr lang="en-US" altLang="en-US" sz="2400" dirty="0">
                <a:solidFill>
                  <a:srgbClr val="0000FF"/>
                </a:solidFill>
              </a:rPr>
              <a:t>Managed and owned by Product Owner</a:t>
            </a:r>
          </a:p>
          <a:p>
            <a:pPr lvl="1" algn="just">
              <a:lnSpc>
                <a:spcPct val="135000"/>
              </a:lnSpc>
              <a:spcBef>
                <a:spcPts val="1225"/>
              </a:spcBef>
              <a:spcAft>
                <a:spcPts val="1225"/>
              </a:spcAft>
            </a:pPr>
            <a:r>
              <a:rPr lang="en-US" altLang="en-US" sz="2400" dirty="0">
                <a:solidFill>
                  <a:srgbClr val="0000FF"/>
                </a:solidFill>
              </a:rPr>
              <a:t>Spreadsheet (typically)</a:t>
            </a:r>
          </a:p>
          <a:p>
            <a:pPr algn="just">
              <a:lnSpc>
                <a:spcPct val="135000"/>
              </a:lnSpc>
              <a:spcBef>
                <a:spcPts val="1225"/>
              </a:spcBef>
              <a:spcAft>
                <a:spcPts val="1225"/>
              </a:spcAft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357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7600" y="-95250"/>
            <a:ext cx="7721600" cy="666750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Sample Product Backlog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35533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90550"/>
            <a:ext cx="7696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17112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801299" cy="933218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Sprint Backlog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895350"/>
            <a:ext cx="8229600" cy="3528730"/>
          </a:xfrm>
        </p:spPr>
        <p:txBody>
          <a:bodyPr>
            <a:noAutofit/>
          </a:bodyPr>
          <a:lstStyle/>
          <a:p>
            <a:pPr algn="just">
              <a:lnSpc>
                <a:spcPct val="135000"/>
              </a:lnSpc>
              <a:spcBef>
                <a:spcPts val="1225"/>
              </a:spcBef>
              <a:spcAft>
                <a:spcPts val="816"/>
              </a:spcAft>
            </a:pPr>
            <a:r>
              <a:rPr lang="en-US" altLang="en-US" sz="2800" dirty="0"/>
              <a:t>A subset of Product Backlog Items, which </a:t>
            </a:r>
            <a:r>
              <a:rPr lang="en-US" altLang="en-US" sz="2800" dirty="0" smtClean="0"/>
              <a:t>defines </a:t>
            </a:r>
            <a:r>
              <a:rPr lang="en-US" altLang="en-US" sz="2800" dirty="0"/>
              <a:t>the work for a Sprint</a:t>
            </a:r>
          </a:p>
          <a:p>
            <a:pPr lvl="1" algn="just">
              <a:lnSpc>
                <a:spcPct val="135000"/>
              </a:lnSpc>
              <a:spcBef>
                <a:spcPts val="1225"/>
              </a:spcBef>
              <a:spcAft>
                <a:spcPts val="816"/>
              </a:spcAft>
            </a:pPr>
            <a:r>
              <a:rPr lang="en-US" altLang="en-US" sz="2400" dirty="0">
                <a:solidFill>
                  <a:srgbClr val="0000FF"/>
                </a:solidFill>
              </a:rPr>
              <a:t>Created  by Team members</a:t>
            </a:r>
          </a:p>
          <a:p>
            <a:pPr lvl="1" algn="just">
              <a:lnSpc>
                <a:spcPct val="135000"/>
              </a:lnSpc>
              <a:spcBef>
                <a:spcPts val="1225"/>
              </a:spcBef>
              <a:spcAft>
                <a:spcPts val="816"/>
              </a:spcAft>
            </a:pPr>
            <a:r>
              <a:rPr lang="en-US" altLang="en-US" sz="2400" dirty="0">
                <a:solidFill>
                  <a:srgbClr val="0000FF"/>
                </a:solidFill>
              </a:rPr>
              <a:t>Each Item has it’s own status</a:t>
            </a:r>
          </a:p>
          <a:p>
            <a:pPr lvl="1" algn="just">
              <a:lnSpc>
                <a:spcPct val="135000"/>
              </a:lnSpc>
              <a:spcBef>
                <a:spcPts val="1225"/>
              </a:spcBef>
              <a:spcAft>
                <a:spcPts val="816"/>
              </a:spcAft>
            </a:pPr>
            <a:r>
              <a:rPr lang="en-US" altLang="en-US" sz="2400" dirty="0">
                <a:solidFill>
                  <a:srgbClr val="0000FF"/>
                </a:solidFill>
              </a:rPr>
              <a:t>Updated  daily</a:t>
            </a:r>
          </a:p>
          <a:p>
            <a:pPr algn="just">
              <a:lnSpc>
                <a:spcPct val="135000"/>
              </a:lnSpc>
              <a:spcBef>
                <a:spcPts val="1225"/>
              </a:spcBef>
              <a:spcAft>
                <a:spcPts val="816"/>
              </a:spcAft>
              <a:buNone/>
            </a:pPr>
            <a:endParaRPr lang="en-US" altLang="en-US" sz="2800" dirty="0"/>
          </a:p>
          <a:p>
            <a:pPr algn="just">
              <a:lnSpc>
                <a:spcPct val="135000"/>
              </a:lnSpc>
              <a:spcBef>
                <a:spcPts val="1225"/>
              </a:spcBef>
              <a:spcAft>
                <a:spcPts val="816"/>
              </a:spcAft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637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95250"/>
            <a:ext cx="7801299" cy="933219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Sprint Backlog during the Sprint</a:t>
            </a:r>
          </a:p>
        </p:txBody>
      </p:sp>
      <p:sp>
        <p:nvSpPr>
          <p:cNvPr id="357379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742950"/>
            <a:ext cx="8153400" cy="3943494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800" dirty="0"/>
              <a:t>Changes occur:</a:t>
            </a:r>
          </a:p>
          <a:p>
            <a:pPr lvl="1" algn="just"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400" dirty="0"/>
              <a:t>Team adds new tasks whenever they need </a:t>
            </a:r>
            <a:r>
              <a:rPr lang="en-US" altLang="en-US" sz="2400" dirty="0" smtClean="0"/>
              <a:t>in </a:t>
            </a:r>
            <a:r>
              <a:rPr lang="en-US" altLang="en-US" sz="2400" dirty="0"/>
              <a:t>order to meet the Sprint Goal</a:t>
            </a:r>
          </a:p>
          <a:p>
            <a:pPr lvl="1" algn="just"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400" dirty="0"/>
              <a:t>Team can remove unnecessary tasks</a:t>
            </a:r>
          </a:p>
          <a:p>
            <a:pPr lvl="1" algn="just"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400" dirty="0" smtClean="0"/>
              <a:t>But, </a:t>
            </a:r>
            <a:r>
              <a:rPr lang="en-US" altLang="en-US" sz="2400" dirty="0"/>
              <a:t>Sprint Backlog can only be updated by the team</a:t>
            </a:r>
          </a:p>
          <a:p>
            <a:pPr algn="just"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800" dirty="0"/>
              <a:t>Estimates are updated whenever there’s new information</a:t>
            </a:r>
          </a:p>
          <a:p>
            <a:pPr algn="just"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5651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247650"/>
            <a:ext cx="7801299" cy="933219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Burn down Charts</a:t>
            </a:r>
            <a:endParaRPr lang="ru-RU" altLang="en-US" sz="3600" dirty="0"/>
          </a:p>
        </p:txBody>
      </p:sp>
      <p:sp>
        <p:nvSpPr>
          <p:cNvPr id="359428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742950"/>
            <a:ext cx="8153400" cy="4400550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800" dirty="0"/>
              <a:t>Are used to represent “work done”.</a:t>
            </a:r>
          </a:p>
          <a:p>
            <a:pPr algn="just"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800" dirty="0"/>
              <a:t>Are remarkably simple but effective Information disseminators</a:t>
            </a:r>
          </a:p>
          <a:p>
            <a:pPr algn="just"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800" dirty="0"/>
              <a:t>3 Types:</a:t>
            </a:r>
          </a:p>
          <a:p>
            <a:pPr lvl="1" algn="just"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400" dirty="0">
                <a:solidFill>
                  <a:srgbClr val="0000CC"/>
                </a:solidFill>
              </a:rPr>
              <a:t>Sprint Burn down Chart (progress of the Sprint)</a:t>
            </a:r>
          </a:p>
          <a:p>
            <a:pPr lvl="1" algn="just"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400" dirty="0">
                <a:solidFill>
                  <a:srgbClr val="0000CC"/>
                </a:solidFill>
              </a:rPr>
              <a:t>Release Burn down Chart (progress of release)</a:t>
            </a:r>
          </a:p>
          <a:p>
            <a:pPr lvl="1" algn="just">
              <a:lnSpc>
                <a:spcPct val="12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400" dirty="0">
                <a:solidFill>
                  <a:srgbClr val="0000CC"/>
                </a:solidFill>
              </a:rPr>
              <a:t>Product Burn down chart (progress of the Product)</a:t>
            </a:r>
            <a:endParaRPr lang="ru-RU" altLang="en-US" sz="2400" dirty="0">
              <a:solidFill>
                <a:srgbClr val="0000CC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9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0"/>
            <a:ext cx="7801299" cy="724756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Sprint Burn down Chart</a:t>
            </a:r>
          </a:p>
        </p:txBody>
      </p:sp>
      <p:sp>
        <p:nvSpPr>
          <p:cNvPr id="361475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895442"/>
            <a:ext cx="8153400" cy="4248058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800" dirty="0"/>
              <a:t>Depicts the total Sprint Backlog hours remaining per day</a:t>
            </a:r>
          </a:p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800" dirty="0"/>
              <a:t>Shows the estimated amount of time to complete</a:t>
            </a:r>
            <a:r>
              <a:rPr lang="ru-RU" altLang="en-US" sz="2800" dirty="0"/>
              <a:t> </a:t>
            </a:r>
            <a:endParaRPr lang="en-US" altLang="en-US" sz="2800" dirty="0"/>
          </a:p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800" dirty="0"/>
              <a:t>Ideally should burn down to zero to the end of the Sprint</a:t>
            </a:r>
          </a:p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en-US" sz="2800" dirty="0"/>
              <a:t>Actually is not a straight line</a:t>
            </a:r>
          </a:p>
          <a:p>
            <a:pPr algn="just">
              <a:lnSpc>
                <a:spcPct val="130000"/>
              </a:lnSpc>
              <a:spcBef>
                <a:spcPts val="408"/>
              </a:spcBef>
              <a:spcAft>
                <a:spcPts val="816"/>
              </a:spcAft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905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09550"/>
            <a:ext cx="7801300" cy="309993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Sprint Burndown Chart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Rectangle 68"/>
          <p:cNvSpPr>
            <a:spLocks noChangeArrowheads="1"/>
          </p:cNvSpPr>
          <p:nvPr/>
        </p:nvSpPr>
        <p:spPr bwMode="auto">
          <a:xfrm>
            <a:off x="406401" y="657343"/>
            <a:ext cx="209473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16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966434"/>
            <a:ext cx="7848600" cy="373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520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1" y="0"/>
            <a:ext cx="7801300" cy="621066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Release Burndown Chart</a:t>
            </a:r>
          </a:p>
        </p:txBody>
      </p:sp>
      <p:sp>
        <p:nvSpPr>
          <p:cNvPr id="363523" name="Rectangle 3"/>
          <p:cNvSpPr>
            <a:spLocks noGrp="1" noChangeArrowheads="1"/>
          </p:cNvSpPr>
          <p:nvPr>
            <p:ph idx="1"/>
          </p:nvPr>
        </p:nvSpPr>
        <p:spPr>
          <a:xfrm>
            <a:off x="990601" y="666750"/>
            <a:ext cx="4572000" cy="4224809"/>
          </a:xfrm>
        </p:spPr>
        <p:txBody>
          <a:bodyPr>
            <a:normAutofit lnSpcReduction="10000"/>
          </a:bodyPr>
          <a:lstStyle/>
          <a:p>
            <a:pPr>
              <a:lnSpc>
                <a:spcPct val="135000"/>
              </a:lnSpc>
              <a:spcBef>
                <a:spcPts val="1225"/>
              </a:spcBef>
              <a:spcAft>
                <a:spcPts val="816"/>
              </a:spcAft>
            </a:pPr>
            <a:r>
              <a:rPr lang="en-US" altLang="en-US" sz="2722" dirty="0"/>
              <a:t>Will the  release be done on right time?</a:t>
            </a:r>
          </a:p>
          <a:p>
            <a:pPr>
              <a:lnSpc>
                <a:spcPct val="135000"/>
              </a:lnSpc>
              <a:spcBef>
                <a:spcPts val="1225"/>
              </a:spcBef>
              <a:spcAft>
                <a:spcPts val="816"/>
              </a:spcAft>
            </a:pPr>
            <a:r>
              <a:rPr lang="en-IN" altLang="en-US" sz="2722" dirty="0"/>
              <a:t>How many </a:t>
            </a:r>
            <a:r>
              <a:rPr lang="en-IN" altLang="en-US" sz="2800" dirty="0"/>
              <a:t>more</a:t>
            </a:r>
            <a:r>
              <a:rPr lang="en-IN" altLang="en-US" sz="2722" dirty="0"/>
              <a:t> sprints?</a:t>
            </a:r>
            <a:endParaRPr lang="en-US" altLang="en-US" sz="2722" dirty="0"/>
          </a:p>
          <a:p>
            <a:pPr>
              <a:lnSpc>
                <a:spcPct val="135000"/>
              </a:lnSpc>
              <a:spcBef>
                <a:spcPts val="1225"/>
              </a:spcBef>
              <a:spcAft>
                <a:spcPts val="816"/>
              </a:spcAft>
            </a:pPr>
            <a:r>
              <a:rPr lang="en-US" altLang="en-US" sz="2722" dirty="0"/>
              <a:t>X-axis: sprints</a:t>
            </a:r>
          </a:p>
          <a:p>
            <a:pPr>
              <a:lnSpc>
                <a:spcPct val="135000"/>
              </a:lnSpc>
              <a:spcBef>
                <a:spcPts val="1225"/>
              </a:spcBef>
              <a:spcAft>
                <a:spcPts val="816"/>
              </a:spcAft>
            </a:pPr>
            <a:r>
              <a:rPr lang="en-US" altLang="en-US" sz="2722" dirty="0"/>
              <a:t>Y-axis: amount of story                                                               points remaining</a:t>
            </a:r>
          </a:p>
          <a:p>
            <a:pPr>
              <a:lnSpc>
                <a:spcPct val="135000"/>
              </a:lnSpc>
              <a:spcBef>
                <a:spcPts val="1225"/>
              </a:spcBef>
              <a:spcAft>
                <a:spcPts val="816"/>
              </a:spcAft>
              <a:buNone/>
            </a:pPr>
            <a:endParaRPr lang="en-US" altLang="en-US" sz="2722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123950"/>
            <a:ext cx="35814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483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0"/>
            <a:ext cx="8229600" cy="857250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Product Burndown Chart</a:t>
            </a:r>
          </a:p>
        </p:txBody>
      </p:sp>
      <p:sp>
        <p:nvSpPr>
          <p:cNvPr id="36454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819151"/>
            <a:ext cx="8229600" cy="3725967"/>
          </a:xfrm>
        </p:spPr>
        <p:txBody>
          <a:bodyPr/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en-US" sz="2722" dirty="0" smtClean="0"/>
              <a:t>It is a </a:t>
            </a:r>
            <a:r>
              <a:rPr lang="en-US" altLang="en-US" sz="2722" dirty="0"/>
              <a:t>“big picture” view of project’s progress (all the releases)</a:t>
            </a:r>
            <a:endParaRPr lang="ru-RU" altLang="en-US" sz="2722" dirty="0"/>
          </a:p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1200"/>
              </a:spcAft>
              <a:buNone/>
            </a:pPr>
            <a:endParaRPr lang="en-US" altLang="en-US" sz="2722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29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828800" y="2419350"/>
            <a:ext cx="6096000" cy="2209800"/>
            <a:chOff x="667657" y="972344"/>
            <a:chExt cx="5733143" cy="3547350"/>
          </a:xfrm>
        </p:grpSpPr>
        <p:grpSp>
          <p:nvGrpSpPr>
            <p:cNvPr id="8" name="Group 16"/>
            <p:cNvGrpSpPr/>
            <p:nvPr/>
          </p:nvGrpSpPr>
          <p:grpSpPr>
            <a:xfrm>
              <a:off x="667657" y="972344"/>
              <a:ext cx="5733143" cy="3547350"/>
              <a:chOff x="667657" y="972344"/>
              <a:chExt cx="5733143" cy="3547350"/>
            </a:xfrm>
          </p:grpSpPr>
          <p:cxnSp>
            <p:nvCxnSpPr>
              <p:cNvPr id="13" name="Straight Connector 12"/>
              <p:cNvCxnSpPr/>
              <p:nvPr/>
            </p:nvCxnSpPr>
            <p:spPr>
              <a:xfrm rot="5400000">
                <a:off x="-190500" y="2457450"/>
                <a:ext cx="2971800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1295400" y="3943350"/>
                <a:ext cx="5105400" cy="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Freeform 14"/>
              <p:cNvSpPr/>
              <p:nvPr/>
            </p:nvSpPr>
            <p:spPr>
              <a:xfrm>
                <a:off x="1741251" y="1215957"/>
                <a:ext cx="3881336" cy="2393005"/>
              </a:xfrm>
              <a:custGeom>
                <a:avLst/>
                <a:gdLst>
                  <a:gd name="connsiteX0" fmla="*/ 0 w 3881336"/>
                  <a:gd name="connsiteY0" fmla="*/ 0 h 2393005"/>
                  <a:gd name="connsiteX1" fmla="*/ 29183 w 3881336"/>
                  <a:gd name="connsiteY1" fmla="*/ 19456 h 2393005"/>
                  <a:gd name="connsiteX2" fmla="*/ 38911 w 3881336"/>
                  <a:gd name="connsiteY2" fmla="*/ 48639 h 2393005"/>
                  <a:gd name="connsiteX3" fmla="*/ 87549 w 3881336"/>
                  <a:gd name="connsiteY3" fmla="*/ 116732 h 2393005"/>
                  <a:gd name="connsiteX4" fmla="*/ 126460 w 3881336"/>
                  <a:gd name="connsiteY4" fmla="*/ 155643 h 2393005"/>
                  <a:gd name="connsiteX5" fmla="*/ 145915 w 3881336"/>
                  <a:gd name="connsiteY5" fmla="*/ 184826 h 2393005"/>
                  <a:gd name="connsiteX6" fmla="*/ 175098 w 3881336"/>
                  <a:gd name="connsiteY6" fmla="*/ 204281 h 2393005"/>
                  <a:gd name="connsiteX7" fmla="*/ 223736 w 3881336"/>
                  <a:gd name="connsiteY7" fmla="*/ 252920 h 2393005"/>
                  <a:gd name="connsiteX8" fmla="*/ 243192 w 3881336"/>
                  <a:gd name="connsiteY8" fmla="*/ 272375 h 2393005"/>
                  <a:gd name="connsiteX9" fmla="*/ 272375 w 3881336"/>
                  <a:gd name="connsiteY9" fmla="*/ 291830 h 2393005"/>
                  <a:gd name="connsiteX10" fmla="*/ 311285 w 3881336"/>
                  <a:gd name="connsiteY10" fmla="*/ 340469 h 2393005"/>
                  <a:gd name="connsiteX11" fmla="*/ 369651 w 3881336"/>
                  <a:gd name="connsiteY11" fmla="*/ 389107 h 2393005"/>
                  <a:gd name="connsiteX12" fmla="*/ 398834 w 3881336"/>
                  <a:gd name="connsiteY12" fmla="*/ 398834 h 2393005"/>
                  <a:gd name="connsiteX13" fmla="*/ 428017 w 3881336"/>
                  <a:gd name="connsiteY13" fmla="*/ 418290 h 2393005"/>
                  <a:gd name="connsiteX14" fmla="*/ 486383 w 3881336"/>
                  <a:gd name="connsiteY14" fmla="*/ 476656 h 2393005"/>
                  <a:gd name="connsiteX15" fmla="*/ 544749 w 3881336"/>
                  <a:gd name="connsiteY15" fmla="*/ 525294 h 2393005"/>
                  <a:gd name="connsiteX16" fmla="*/ 573932 w 3881336"/>
                  <a:gd name="connsiteY16" fmla="*/ 544749 h 2393005"/>
                  <a:gd name="connsiteX17" fmla="*/ 603115 w 3881336"/>
                  <a:gd name="connsiteY17" fmla="*/ 573932 h 2393005"/>
                  <a:gd name="connsiteX18" fmla="*/ 661481 w 3881336"/>
                  <a:gd name="connsiteY18" fmla="*/ 612843 h 2393005"/>
                  <a:gd name="connsiteX19" fmla="*/ 690664 w 3881336"/>
                  <a:gd name="connsiteY19" fmla="*/ 632298 h 2393005"/>
                  <a:gd name="connsiteX20" fmla="*/ 729575 w 3881336"/>
                  <a:gd name="connsiteY20" fmla="*/ 651754 h 2393005"/>
                  <a:gd name="connsiteX21" fmla="*/ 778213 w 3881336"/>
                  <a:gd name="connsiteY21" fmla="*/ 690664 h 2393005"/>
                  <a:gd name="connsiteX22" fmla="*/ 826851 w 3881336"/>
                  <a:gd name="connsiteY22" fmla="*/ 710120 h 2393005"/>
                  <a:gd name="connsiteX23" fmla="*/ 924128 w 3881336"/>
                  <a:gd name="connsiteY23" fmla="*/ 758758 h 2393005"/>
                  <a:gd name="connsiteX24" fmla="*/ 972766 w 3881336"/>
                  <a:gd name="connsiteY24" fmla="*/ 778213 h 2393005"/>
                  <a:gd name="connsiteX25" fmla="*/ 1070043 w 3881336"/>
                  <a:gd name="connsiteY25" fmla="*/ 826852 h 2393005"/>
                  <a:gd name="connsiteX26" fmla="*/ 1099226 w 3881336"/>
                  <a:gd name="connsiteY26" fmla="*/ 846307 h 2393005"/>
                  <a:gd name="connsiteX27" fmla="*/ 1147864 w 3881336"/>
                  <a:gd name="connsiteY27" fmla="*/ 865762 h 2393005"/>
                  <a:gd name="connsiteX28" fmla="*/ 1177047 w 3881336"/>
                  <a:gd name="connsiteY28" fmla="*/ 885217 h 2393005"/>
                  <a:gd name="connsiteX29" fmla="*/ 1245140 w 3881336"/>
                  <a:gd name="connsiteY29" fmla="*/ 904673 h 2393005"/>
                  <a:gd name="connsiteX30" fmla="*/ 1274323 w 3881336"/>
                  <a:gd name="connsiteY30" fmla="*/ 914400 h 2393005"/>
                  <a:gd name="connsiteX31" fmla="*/ 1293779 w 3881336"/>
                  <a:gd name="connsiteY31" fmla="*/ 933856 h 2393005"/>
                  <a:gd name="connsiteX32" fmla="*/ 1352145 w 3881336"/>
                  <a:gd name="connsiteY32" fmla="*/ 972766 h 2393005"/>
                  <a:gd name="connsiteX33" fmla="*/ 1410511 w 3881336"/>
                  <a:gd name="connsiteY33" fmla="*/ 1031132 h 2393005"/>
                  <a:gd name="connsiteX34" fmla="*/ 1439694 w 3881336"/>
                  <a:gd name="connsiteY34" fmla="*/ 1070043 h 2393005"/>
                  <a:gd name="connsiteX35" fmla="*/ 1498060 w 3881336"/>
                  <a:gd name="connsiteY35" fmla="*/ 1128409 h 2393005"/>
                  <a:gd name="connsiteX36" fmla="*/ 1527243 w 3881336"/>
                  <a:gd name="connsiteY36" fmla="*/ 1157592 h 2393005"/>
                  <a:gd name="connsiteX37" fmla="*/ 1575881 w 3881336"/>
                  <a:gd name="connsiteY37" fmla="*/ 1206230 h 2393005"/>
                  <a:gd name="connsiteX38" fmla="*/ 1653702 w 3881336"/>
                  <a:gd name="connsiteY38" fmla="*/ 1293779 h 2393005"/>
                  <a:gd name="connsiteX39" fmla="*/ 1673158 w 3881336"/>
                  <a:gd name="connsiteY39" fmla="*/ 1313234 h 2393005"/>
                  <a:gd name="connsiteX40" fmla="*/ 1692613 w 3881336"/>
                  <a:gd name="connsiteY40" fmla="*/ 1332690 h 2393005"/>
                  <a:gd name="connsiteX41" fmla="*/ 1721796 w 3881336"/>
                  <a:gd name="connsiteY41" fmla="*/ 1352145 h 2393005"/>
                  <a:gd name="connsiteX42" fmla="*/ 1780162 w 3881336"/>
                  <a:gd name="connsiteY42" fmla="*/ 1410511 h 2393005"/>
                  <a:gd name="connsiteX43" fmla="*/ 1799617 w 3881336"/>
                  <a:gd name="connsiteY43" fmla="*/ 1449422 h 2393005"/>
                  <a:gd name="connsiteX44" fmla="*/ 1857983 w 3881336"/>
                  <a:gd name="connsiteY44" fmla="*/ 1507788 h 2393005"/>
                  <a:gd name="connsiteX45" fmla="*/ 1896894 w 3881336"/>
                  <a:gd name="connsiteY45" fmla="*/ 1566154 h 2393005"/>
                  <a:gd name="connsiteX46" fmla="*/ 1916349 w 3881336"/>
                  <a:gd name="connsiteY46" fmla="*/ 1595337 h 2393005"/>
                  <a:gd name="connsiteX47" fmla="*/ 1945532 w 3881336"/>
                  <a:gd name="connsiteY47" fmla="*/ 1634247 h 2393005"/>
                  <a:gd name="connsiteX48" fmla="*/ 1984443 w 3881336"/>
                  <a:gd name="connsiteY48" fmla="*/ 1731524 h 2393005"/>
                  <a:gd name="connsiteX49" fmla="*/ 2013626 w 3881336"/>
                  <a:gd name="connsiteY49" fmla="*/ 1789890 h 2393005"/>
                  <a:gd name="connsiteX50" fmla="*/ 2052536 w 3881336"/>
                  <a:gd name="connsiteY50" fmla="*/ 1877439 h 2393005"/>
                  <a:gd name="connsiteX51" fmla="*/ 2071992 w 3881336"/>
                  <a:gd name="connsiteY51" fmla="*/ 1896894 h 2393005"/>
                  <a:gd name="connsiteX52" fmla="*/ 2120630 w 3881336"/>
                  <a:gd name="connsiteY52" fmla="*/ 1955260 h 2393005"/>
                  <a:gd name="connsiteX53" fmla="*/ 2178996 w 3881336"/>
                  <a:gd name="connsiteY53" fmla="*/ 1994171 h 2393005"/>
                  <a:gd name="connsiteX54" fmla="*/ 2850204 w 3881336"/>
                  <a:gd name="connsiteY54" fmla="*/ 2013626 h 2393005"/>
                  <a:gd name="connsiteX55" fmla="*/ 2947481 w 3881336"/>
                  <a:gd name="connsiteY55" fmla="*/ 2052537 h 2393005"/>
                  <a:gd name="connsiteX56" fmla="*/ 3005847 w 3881336"/>
                  <a:gd name="connsiteY56" fmla="*/ 2081720 h 2393005"/>
                  <a:gd name="connsiteX57" fmla="*/ 3132306 w 3881336"/>
                  <a:gd name="connsiteY57" fmla="*/ 2101175 h 2393005"/>
                  <a:gd name="connsiteX58" fmla="*/ 3180945 w 3881336"/>
                  <a:gd name="connsiteY58" fmla="*/ 2130358 h 2393005"/>
                  <a:gd name="connsiteX59" fmla="*/ 3219855 w 3881336"/>
                  <a:gd name="connsiteY59" fmla="*/ 2159541 h 2393005"/>
                  <a:gd name="connsiteX60" fmla="*/ 3278221 w 3881336"/>
                  <a:gd name="connsiteY60" fmla="*/ 2178996 h 2393005"/>
                  <a:gd name="connsiteX61" fmla="*/ 3336587 w 3881336"/>
                  <a:gd name="connsiteY61" fmla="*/ 2198452 h 2393005"/>
                  <a:gd name="connsiteX62" fmla="*/ 3365770 w 3881336"/>
                  <a:gd name="connsiteY62" fmla="*/ 2208179 h 2393005"/>
                  <a:gd name="connsiteX63" fmla="*/ 3443592 w 3881336"/>
                  <a:gd name="connsiteY63" fmla="*/ 2227634 h 2393005"/>
                  <a:gd name="connsiteX64" fmla="*/ 3482502 w 3881336"/>
                  <a:gd name="connsiteY64" fmla="*/ 2237362 h 2393005"/>
                  <a:gd name="connsiteX65" fmla="*/ 3570051 w 3881336"/>
                  <a:gd name="connsiteY65" fmla="*/ 2286000 h 2393005"/>
                  <a:gd name="connsiteX66" fmla="*/ 3608962 w 3881336"/>
                  <a:gd name="connsiteY66" fmla="*/ 2295728 h 2393005"/>
                  <a:gd name="connsiteX67" fmla="*/ 3647872 w 3881336"/>
                  <a:gd name="connsiteY67" fmla="*/ 2315183 h 2393005"/>
                  <a:gd name="connsiteX68" fmla="*/ 3677055 w 3881336"/>
                  <a:gd name="connsiteY68" fmla="*/ 2334639 h 2393005"/>
                  <a:gd name="connsiteX69" fmla="*/ 3745149 w 3881336"/>
                  <a:gd name="connsiteY69" fmla="*/ 2344366 h 2393005"/>
                  <a:gd name="connsiteX70" fmla="*/ 3852153 w 3881336"/>
                  <a:gd name="connsiteY70" fmla="*/ 2383277 h 2393005"/>
                  <a:gd name="connsiteX71" fmla="*/ 3881336 w 3881336"/>
                  <a:gd name="connsiteY71" fmla="*/ 2393005 h 2393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</a:cxnLst>
                <a:rect l="l" t="t" r="r" b="b"/>
                <a:pathLst>
                  <a:path w="3881336" h="2393005">
                    <a:moveTo>
                      <a:pt x="0" y="0"/>
                    </a:moveTo>
                    <a:cubicBezTo>
                      <a:pt x="9728" y="6485"/>
                      <a:pt x="21880" y="10327"/>
                      <a:pt x="29183" y="19456"/>
                    </a:cubicBezTo>
                    <a:cubicBezTo>
                      <a:pt x="35589" y="27463"/>
                      <a:pt x="34325" y="39468"/>
                      <a:pt x="38911" y="48639"/>
                    </a:cubicBezTo>
                    <a:cubicBezTo>
                      <a:pt x="44965" y="60747"/>
                      <a:pt x="82406" y="110854"/>
                      <a:pt x="87549" y="116732"/>
                    </a:cubicBezTo>
                    <a:cubicBezTo>
                      <a:pt x="99628" y="130536"/>
                      <a:pt x="116285" y="140381"/>
                      <a:pt x="126460" y="155643"/>
                    </a:cubicBezTo>
                    <a:cubicBezTo>
                      <a:pt x="132945" y="165371"/>
                      <a:pt x="137648" y="176559"/>
                      <a:pt x="145915" y="184826"/>
                    </a:cubicBezTo>
                    <a:cubicBezTo>
                      <a:pt x="154182" y="193093"/>
                      <a:pt x="166300" y="196582"/>
                      <a:pt x="175098" y="204281"/>
                    </a:cubicBezTo>
                    <a:cubicBezTo>
                      <a:pt x="192353" y="219380"/>
                      <a:pt x="207523" y="236707"/>
                      <a:pt x="223736" y="252920"/>
                    </a:cubicBezTo>
                    <a:cubicBezTo>
                      <a:pt x="230221" y="259405"/>
                      <a:pt x="235561" y="267288"/>
                      <a:pt x="243192" y="272375"/>
                    </a:cubicBezTo>
                    <a:cubicBezTo>
                      <a:pt x="252920" y="278860"/>
                      <a:pt x="263246" y="284527"/>
                      <a:pt x="272375" y="291830"/>
                    </a:cubicBezTo>
                    <a:cubicBezTo>
                      <a:pt x="300674" y="314469"/>
                      <a:pt x="286007" y="310135"/>
                      <a:pt x="311285" y="340469"/>
                    </a:cubicBezTo>
                    <a:cubicBezTo>
                      <a:pt x="326652" y="358909"/>
                      <a:pt x="347788" y="378176"/>
                      <a:pt x="369651" y="389107"/>
                    </a:cubicBezTo>
                    <a:cubicBezTo>
                      <a:pt x="378822" y="393693"/>
                      <a:pt x="389106" y="395592"/>
                      <a:pt x="398834" y="398834"/>
                    </a:cubicBezTo>
                    <a:cubicBezTo>
                      <a:pt x="408562" y="405319"/>
                      <a:pt x="419279" y="410523"/>
                      <a:pt x="428017" y="418290"/>
                    </a:cubicBezTo>
                    <a:cubicBezTo>
                      <a:pt x="448581" y="436569"/>
                      <a:pt x="463490" y="461394"/>
                      <a:pt x="486383" y="476656"/>
                    </a:cubicBezTo>
                    <a:cubicBezTo>
                      <a:pt x="558839" y="524959"/>
                      <a:pt x="469849" y="462878"/>
                      <a:pt x="544749" y="525294"/>
                    </a:cubicBezTo>
                    <a:cubicBezTo>
                      <a:pt x="553730" y="532778"/>
                      <a:pt x="564951" y="537265"/>
                      <a:pt x="573932" y="544749"/>
                    </a:cubicBezTo>
                    <a:cubicBezTo>
                      <a:pt x="584500" y="553556"/>
                      <a:pt x="592256" y="565486"/>
                      <a:pt x="603115" y="573932"/>
                    </a:cubicBezTo>
                    <a:cubicBezTo>
                      <a:pt x="621572" y="588287"/>
                      <a:pt x="642026" y="599873"/>
                      <a:pt x="661481" y="612843"/>
                    </a:cubicBezTo>
                    <a:cubicBezTo>
                      <a:pt x="671209" y="619328"/>
                      <a:pt x="680207" y="627069"/>
                      <a:pt x="690664" y="632298"/>
                    </a:cubicBezTo>
                    <a:cubicBezTo>
                      <a:pt x="703634" y="638783"/>
                      <a:pt x="717509" y="643710"/>
                      <a:pt x="729575" y="651754"/>
                    </a:cubicBezTo>
                    <a:cubicBezTo>
                      <a:pt x="746850" y="663271"/>
                      <a:pt x="760410" y="679982"/>
                      <a:pt x="778213" y="690664"/>
                    </a:cubicBezTo>
                    <a:cubicBezTo>
                      <a:pt x="793186" y="699648"/>
                      <a:pt x="811028" y="702736"/>
                      <a:pt x="826851" y="710120"/>
                    </a:cubicBezTo>
                    <a:cubicBezTo>
                      <a:pt x="859703" y="725451"/>
                      <a:pt x="890468" y="745294"/>
                      <a:pt x="924128" y="758758"/>
                    </a:cubicBezTo>
                    <a:cubicBezTo>
                      <a:pt x="940341" y="765243"/>
                      <a:pt x="956943" y="770829"/>
                      <a:pt x="972766" y="778213"/>
                    </a:cubicBezTo>
                    <a:cubicBezTo>
                      <a:pt x="1005618" y="793544"/>
                      <a:pt x="1039878" y="806743"/>
                      <a:pt x="1070043" y="826852"/>
                    </a:cubicBezTo>
                    <a:cubicBezTo>
                      <a:pt x="1079771" y="833337"/>
                      <a:pt x="1088769" y="841079"/>
                      <a:pt x="1099226" y="846307"/>
                    </a:cubicBezTo>
                    <a:cubicBezTo>
                      <a:pt x="1114844" y="854116"/>
                      <a:pt x="1132246" y="857953"/>
                      <a:pt x="1147864" y="865762"/>
                    </a:cubicBezTo>
                    <a:cubicBezTo>
                      <a:pt x="1158321" y="870990"/>
                      <a:pt x="1166192" y="880875"/>
                      <a:pt x="1177047" y="885217"/>
                    </a:cubicBezTo>
                    <a:cubicBezTo>
                      <a:pt x="1198965" y="893984"/>
                      <a:pt x="1222530" y="897890"/>
                      <a:pt x="1245140" y="904673"/>
                    </a:cubicBezTo>
                    <a:cubicBezTo>
                      <a:pt x="1254961" y="907619"/>
                      <a:pt x="1264595" y="911158"/>
                      <a:pt x="1274323" y="914400"/>
                    </a:cubicBezTo>
                    <a:cubicBezTo>
                      <a:pt x="1280808" y="920885"/>
                      <a:pt x="1286442" y="928353"/>
                      <a:pt x="1293779" y="933856"/>
                    </a:cubicBezTo>
                    <a:cubicBezTo>
                      <a:pt x="1312485" y="947885"/>
                      <a:pt x="1352145" y="972766"/>
                      <a:pt x="1352145" y="972766"/>
                    </a:cubicBezTo>
                    <a:cubicBezTo>
                      <a:pt x="1397994" y="1041541"/>
                      <a:pt x="1338116" y="958737"/>
                      <a:pt x="1410511" y="1031132"/>
                    </a:cubicBezTo>
                    <a:cubicBezTo>
                      <a:pt x="1421975" y="1042596"/>
                      <a:pt x="1428848" y="1057992"/>
                      <a:pt x="1439694" y="1070043"/>
                    </a:cubicBezTo>
                    <a:cubicBezTo>
                      <a:pt x="1458100" y="1090494"/>
                      <a:pt x="1478605" y="1108954"/>
                      <a:pt x="1498060" y="1128409"/>
                    </a:cubicBezTo>
                    <a:cubicBezTo>
                      <a:pt x="1507788" y="1138137"/>
                      <a:pt x="1519612" y="1146145"/>
                      <a:pt x="1527243" y="1157592"/>
                    </a:cubicBezTo>
                    <a:cubicBezTo>
                      <a:pt x="1553183" y="1196503"/>
                      <a:pt x="1536970" y="1180290"/>
                      <a:pt x="1575881" y="1206230"/>
                    </a:cubicBezTo>
                    <a:cubicBezTo>
                      <a:pt x="1610597" y="1258305"/>
                      <a:pt x="1587071" y="1227149"/>
                      <a:pt x="1653702" y="1293779"/>
                    </a:cubicBezTo>
                    <a:lnTo>
                      <a:pt x="1673158" y="1313234"/>
                    </a:lnTo>
                    <a:cubicBezTo>
                      <a:pt x="1679643" y="1319719"/>
                      <a:pt x="1684982" y="1327603"/>
                      <a:pt x="1692613" y="1332690"/>
                    </a:cubicBezTo>
                    <a:lnTo>
                      <a:pt x="1721796" y="1352145"/>
                    </a:lnTo>
                    <a:cubicBezTo>
                      <a:pt x="1793747" y="1460073"/>
                      <a:pt x="1671570" y="1283820"/>
                      <a:pt x="1780162" y="1410511"/>
                    </a:cubicBezTo>
                    <a:cubicBezTo>
                      <a:pt x="1789599" y="1421521"/>
                      <a:pt x="1790558" y="1438098"/>
                      <a:pt x="1799617" y="1449422"/>
                    </a:cubicBezTo>
                    <a:cubicBezTo>
                      <a:pt x="1816805" y="1470907"/>
                      <a:pt x="1842721" y="1484895"/>
                      <a:pt x="1857983" y="1507788"/>
                    </a:cubicBezTo>
                    <a:lnTo>
                      <a:pt x="1896894" y="1566154"/>
                    </a:lnTo>
                    <a:cubicBezTo>
                      <a:pt x="1903379" y="1575882"/>
                      <a:pt x="1909334" y="1585984"/>
                      <a:pt x="1916349" y="1595337"/>
                    </a:cubicBezTo>
                    <a:lnTo>
                      <a:pt x="1945532" y="1634247"/>
                    </a:lnTo>
                    <a:cubicBezTo>
                      <a:pt x="1989818" y="1767106"/>
                      <a:pt x="1941500" y="1631323"/>
                      <a:pt x="1984443" y="1731524"/>
                    </a:cubicBezTo>
                    <a:cubicBezTo>
                      <a:pt x="2008608" y="1787910"/>
                      <a:pt x="1976235" y="1733805"/>
                      <a:pt x="2013626" y="1789890"/>
                    </a:cubicBezTo>
                    <a:cubicBezTo>
                      <a:pt x="2029051" y="1836166"/>
                      <a:pt x="2026110" y="1844408"/>
                      <a:pt x="2052536" y="1877439"/>
                    </a:cubicBezTo>
                    <a:cubicBezTo>
                      <a:pt x="2058265" y="1884601"/>
                      <a:pt x="2066263" y="1889732"/>
                      <a:pt x="2071992" y="1896894"/>
                    </a:cubicBezTo>
                    <a:cubicBezTo>
                      <a:pt x="2098443" y="1929958"/>
                      <a:pt x="2083927" y="1926713"/>
                      <a:pt x="2120630" y="1955260"/>
                    </a:cubicBezTo>
                    <a:cubicBezTo>
                      <a:pt x="2139087" y="1969615"/>
                      <a:pt x="2155932" y="1990327"/>
                      <a:pt x="2178996" y="1994171"/>
                    </a:cubicBezTo>
                    <a:cubicBezTo>
                      <a:pt x="2438889" y="2037484"/>
                      <a:pt x="2217641" y="2003585"/>
                      <a:pt x="2850204" y="2013626"/>
                    </a:cubicBezTo>
                    <a:cubicBezTo>
                      <a:pt x="2958464" y="2067755"/>
                      <a:pt x="2803224" y="1992429"/>
                      <a:pt x="2947481" y="2052537"/>
                    </a:cubicBezTo>
                    <a:cubicBezTo>
                      <a:pt x="2967559" y="2060903"/>
                      <a:pt x="2985651" y="2073642"/>
                      <a:pt x="3005847" y="2081720"/>
                    </a:cubicBezTo>
                    <a:cubicBezTo>
                      <a:pt x="3038245" y="2094679"/>
                      <a:pt x="3108335" y="2098511"/>
                      <a:pt x="3132306" y="2101175"/>
                    </a:cubicBezTo>
                    <a:cubicBezTo>
                      <a:pt x="3177840" y="2146707"/>
                      <a:pt x="3122012" y="2096681"/>
                      <a:pt x="3180945" y="2130358"/>
                    </a:cubicBezTo>
                    <a:cubicBezTo>
                      <a:pt x="3195021" y="2138402"/>
                      <a:pt x="3205354" y="2152291"/>
                      <a:pt x="3219855" y="2159541"/>
                    </a:cubicBezTo>
                    <a:cubicBezTo>
                      <a:pt x="3238198" y="2168712"/>
                      <a:pt x="3258766" y="2172511"/>
                      <a:pt x="3278221" y="2178996"/>
                    </a:cubicBezTo>
                    <a:lnTo>
                      <a:pt x="3336587" y="2198452"/>
                    </a:lnTo>
                    <a:cubicBezTo>
                      <a:pt x="3346315" y="2201694"/>
                      <a:pt x="3355822" y="2205692"/>
                      <a:pt x="3365770" y="2208179"/>
                    </a:cubicBezTo>
                    <a:lnTo>
                      <a:pt x="3443592" y="2227634"/>
                    </a:lnTo>
                    <a:lnTo>
                      <a:pt x="3482502" y="2237362"/>
                    </a:lnTo>
                    <a:cubicBezTo>
                      <a:pt x="3534764" y="2272203"/>
                      <a:pt x="3525104" y="2273158"/>
                      <a:pt x="3570051" y="2286000"/>
                    </a:cubicBezTo>
                    <a:cubicBezTo>
                      <a:pt x="3582906" y="2289673"/>
                      <a:pt x="3596444" y="2291034"/>
                      <a:pt x="3608962" y="2295728"/>
                    </a:cubicBezTo>
                    <a:cubicBezTo>
                      <a:pt x="3622540" y="2300820"/>
                      <a:pt x="3635282" y="2307988"/>
                      <a:pt x="3647872" y="2315183"/>
                    </a:cubicBezTo>
                    <a:cubicBezTo>
                      <a:pt x="3658023" y="2320984"/>
                      <a:pt x="3665857" y="2331280"/>
                      <a:pt x="3677055" y="2334639"/>
                    </a:cubicBezTo>
                    <a:cubicBezTo>
                      <a:pt x="3699016" y="2341227"/>
                      <a:pt x="3722451" y="2341124"/>
                      <a:pt x="3745149" y="2344366"/>
                    </a:cubicBezTo>
                    <a:cubicBezTo>
                      <a:pt x="3812833" y="2371441"/>
                      <a:pt x="3777215" y="2358298"/>
                      <a:pt x="3852153" y="2383277"/>
                    </a:cubicBezTo>
                    <a:lnTo>
                      <a:pt x="3881336" y="2393005"/>
                    </a:lnTo>
                  </a:path>
                </a:pathLst>
              </a:cu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16" name="Freeform 15"/>
              <p:cNvSpPr/>
              <p:nvPr/>
            </p:nvSpPr>
            <p:spPr>
              <a:xfrm>
                <a:off x="1753858" y="1235413"/>
                <a:ext cx="4102193" cy="2108219"/>
              </a:xfrm>
              <a:custGeom>
                <a:avLst/>
                <a:gdLst>
                  <a:gd name="connsiteX0" fmla="*/ 16576 w 4102193"/>
                  <a:gd name="connsiteY0" fmla="*/ 0 h 2108219"/>
                  <a:gd name="connsiteX1" fmla="*/ 26304 w 4102193"/>
                  <a:gd name="connsiteY1" fmla="*/ 58366 h 2108219"/>
                  <a:gd name="connsiteX2" fmla="*/ 45759 w 4102193"/>
                  <a:gd name="connsiteY2" fmla="*/ 116732 h 2108219"/>
                  <a:gd name="connsiteX3" fmla="*/ 55487 w 4102193"/>
                  <a:gd name="connsiteY3" fmla="*/ 145915 h 2108219"/>
                  <a:gd name="connsiteX4" fmla="*/ 65214 w 4102193"/>
                  <a:gd name="connsiteY4" fmla="*/ 175098 h 2108219"/>
                  <a:gd name="connsiteX5" fmla="*/ 84670 w 4102193"/>
                  <a:gd name="connsiteY5" fmla="*/ 204281 h 2108219"/>
                  <a:gd name="connsiteX6" fmla="*/ 133308 w 4102193"/>
                  <a:gd name="connsiteY6" fmla="*/ 291830 h 2108219"/>
                  <a:gd name="connsiteX7" fmla="*/ 172219 w 4102193"/>
                  <a:gd name="connsiteY7" fmla="*/ 350196 h 2108219"/>
                  <a:gd name="connsiteX8" fmla="*/ 201402 w 4102193"/>
                  <a:gd name="connsiteY8" fmla="*/ 369651 h 2108219"/>
                  <a:gd name="connsiteX9" fmla="*/ 250040 w 4102193"/>
                  <a:gd name="connsiteY9" fmla="*/ 428017 h 2108219"/>
                  <a:gd name="connsiteX10" fmla="*/ 269495 w 4102193"/>
                  <a:gd name="connsiteY10" fmla="*/ 457200 h 2108219"/>
                  <a:gd name="connsiteX11" fmla="*/ 288951 w 4102193"/>
                  <a:gd name="connsiteY11" fmla="*/ 476655 h 2108219"/>
                  <a:gd name="connsiteX12" fmla="*/ 327861 w 4102193"/>
                  <a:gd name="connsiteY12" fmla="*/ 535021 h 2108219"/>
                  <a:gd name="connsiteX13" fmla="*/ 395955 w 4102193"/>
                  <a:gd name="connsiteY13" fmla="*/ 593387 h 2108219"/>
                  <a:gd name="connsiteX14" fmla="*/ 415410 w 4102193"/>
                  <a:gd name="connsiteY14" fmla="*/ 622570 h 2108219"/>
                  <a:gd name="connsiteX15" fmla="*/ 444593 w 4102193"/>
                  <a:gd name="connsiteY15" fmla="*/ 642025 h 2108219"/>
                  <a:gd name="connsiteX16" fmla="*/ 464048 w 4102193"/>
                  <a:gd name="connsiteY16" fmla="*/ 661481 h 2108219"/>
                  <a:gd name="connsiteX17" fmla="*/ 493231 w 4102193"/>
                  <a:gd name="connsiteY17" fmla="*/ 680936 h 2108219"/>
                  <a:gd name="connsiteX18" fmla="*/ 512687 w 4102193"/>
                  <a:gd name="connsiteY18" fmla="*/ 700391 h 2108219"/>
                  <a:gd name="connsiteX19" fmla="*/ 551597 w 4102193"/>
                  <a:gd name="connsiteY19" fmla="*/ 719847 h 2108219"/>
                  <a:gd name="connsiteX20" fmla="*/ 571053 w 4102193"/>
                  <a:gd name="connsiteY20" fmla="*/ 739302 h 2108219"/>
                  <a:gd name="connsiteX21" fmla="*/ 600236 w 4102193"/>
                  <a:gd name="connsiteY21" fmla="*/ 749030 h 2108219"/>
                  <a:gd name="connsiteX22" fmla="*/ 658602 w 4102193"/>
                  <a:gd name="connsiteY22" fmla="*/ 797668 h 2108219"/>
                  <a:gd name="connsiteX23" fmla="*/ 726695 w 4102193"/>
                  <a:gd name="connsiteY23" fmla="*/ 817123 h 2108219"/>
                  <a:gd name="connsiteX24" fmla="*/ 775333 w 4102193"/>
                  <a:gd name="connsiteY24" fmla="*/ 856034 h 2108219"/>
                  <a:gd name="connsiteX25" fmla="*/ 814244 w 4102193"/>
                  <a:gd name="connsiteY25" fmla="*/ 885217 h 2108219"/>
                  <a:gd name="connsiteX26" fmla="*/ 862882 w 4102193"/>
                  <a:gd name="connsiteY26" fmla="*/ 904672 h 2108219"/>
                  <a:gd name="connsiteX27" fmla="*/ 930976 w 4102193"/>
                  <a:gd name="connsiteY27" fmla="*/ 933855 h 2108219"/>
                  <a:gd name="connsiteX28" fmla="*/ 1018525 w 4102193"/>
                  <a:gd name="connsiteY28" fmla="*/ 972766 h 2108219"/>
                  <a:gd name="connsiteX29" fmla="*/ 1047708 w 4102193"/>
                  <a:gd name="connsiteY29" fmla="*/ 982493 h 2108219"/>
                  <a:gd name="connsiteX30" fmla="*/ 1076891 w 4102193"/>
                  <a:gd name="connsiteY30" fmla="*/ 1001949 h 2108219"/>
                  <a:gd name="connsiteX31" fmla="*/ 1144985 w 4102193"/>
                  <a:gd name="connsiteY31" fmla="*/ 1021404 h 2108219"/>
                  <a:gd name="connsiteX32" fmla="*/ 1164440 w 4102193"/>
                  <a:gd name="connsiteY32" fmla="*/ 1050587 h 2108219"/>
                  <a:gd name="connsiteX33" fmla="*/ 1193623 w 4102193"/>
                  <a:gd name="connsiteY33" fmla="*/ 1060315 h 2108219"/>
                  <a:gd name="connsiteX34" fmla="*/ 1271444 w 4102193"/>
                  <a:gd name="connsiteY34" fmla="*/ 1099225 h 2108219"/>
                  <a:gd name="connsiteX35" fmla="*/ 1300627 w 4102193"/>
                  <a:gd name="connsiteY35" fmla="*/ 1108953 h 2108219"/>
                  <a:gd name="connsiteX36" fmla="*/ 1368721 w 4102193"/>
                  <a:gd name="connsiteY36" fmla="*/ 1138136 h 2108219"/>
                  <a:gd name="connsiteX37" fmla="*/ 1456270 w 4102193"/>
                  <a:gd name="connsiteY37" fmla="*/ 1186774 h 2108219"/>
                  <a:gd name="connsiteX38" fmla="*/ 1485453 w 4102193"/>
                  <a:gd name="connsiteY38" fmla="*/ 1206230 h 2108219"/>
                  <a:gd name="connsiteX39" fmla="*/ 1582729 w 4102193"/>
                  <a:gd name="connsiteY39" fmla="*/ 1235413 h 2108219"/>
                  <a:gd name="connsiteX40" fmla="*/ 1611912 w 4102193"/>
                  <a:gd name="connsiteY40" fmla="*/ 1254868 h 2108219"/>
                  <a:gd name="connsiteX41" fmla="*/ 1650823 w 4102193"/>
                  <a:gd name="connsiteY41" fmla="*/ 1264596 h 2108219"/>
                  <a:gd name="connsiteX42" fmla="*/ 1680006 w 4102193"/>
                  <a:gd name="connsiteY42" fmla="*/ 1274323 h 2108219"/>
                  <a:gd name="connsiteX43" fmla="*/ 1718916 w 4102193"/>
                  <a:gd name="connsiteY43" fmla="*/ 1293778 h 2108219"/>
                  <a:gd name="connsiteX44" fmla="*/ 1757827 w 4102193"/>
                  <a:gd name="connsiteY44" fmla="*/ 1303506 h 2108219"/>
                  <a:gd name="connsiteX45" fmla="*/ 1816193 w 4102193"/>
                  <a:gd name="connsiteY45" fmla="*/ 1322961 h 2108219"/>
                  <a:gd name="connsiteX46" fmla="*/ 1864831 w 4102193"/>
                  <a:gd name="connsiteY46" fmla="*/ 1332689 h 2108219"/>
                  <a:gd name="connsiteX47" fmla="*/ 1923197 w 4102193"/>
                  <a:gd name="connsiteY47" fmla="*/ 1361872 h 2108219"/>
                  <a:gd name="connsiteX48" fmla="*/ 1962108 w 4102193"/>
                  <a:gd name="connsiteY48" fmla="*/ 1371600 h 2108219"/>
                  <a:gd name="connsiteX49" fmla="*/ 2010746 w 4102193"/>
                  <a:gd name="connsiteY49" fmla="*/ 1400783 h 2108219"/>
                  <a:gd name="connsiteX50" fmla="*/ 2069112 w 4102193"/>
                  <a:gd name="connsiteY50" fmla="*/ 1420238 h 2108219"/>
                  <a:gd name="connsiteX51" fmla="*/ 2098295 w 4102193"/>
                  <a:gd name="connsiteY51" fmla="*/ 1439693 h 2108219"/>
                  <a:gd name="connsiteX52" fmla="*/ 2146933 w 4102193"/>
                  <a:gd name="connsiteY52" fmla="*/ 1449421 h 2108219"/>
                  <a:gd name="connsiteX53" fmla="*/ 2176116 w 4102193"/>
                  <a:gd name="connsiteY53" fmla="*/ 1459149 h 2108219"/>
                  <a:gd name="connsiteX54" fmla="*/ 2224755 w 4102193"/>
                  <a:gd name="connsiteY54" fmla="*/ 1498059 h 2108219"/>
                  <a:gd name="connsiteX55" fmla="*/ 2244210 w 4102193"/>
                  <a:gd name="connsiteY55" fmla="*/ 1517515 h 2108219"/>
                  <a:gd name="connsiteX56" fmla="*/ 2322031 w 4102193"/>
                  <a:gd name="connsiteY56" fmla="*/ 1566153 h 2108219"/>
                  <a:gd name="connsiteX57" fmla="*/ 2390125 w 4102193"/>
                  <a:gd name="connsiteY57" fmla="*/ 1614791 h 2108219"/>
                  <a:gd name="connsiteX58" fmla="*/ 2429036 w 4102193"/>
                  <a:gd name="connsiteY58" fmla="*/ 1643974 h 2108219"/>
                  <a:gd name="connsiteX59" fmla="*/ 2477674 w 4102193"/>
                  <a:gd name="connsiteY59" fmla="*/ 1653702 h 2108219"/>
                  <a:gd name="connsiteX60" fmla="*/ 2584678 w 4102193"/>
                  <a:gd name="connsiteY60" fmla="*/ 1712068 h 2108219"/>
                  <a:gd name="connsiteX61" fmla="*/ 2623589 w 4102193"/>
                  <a:gd name="connsiteY61" fmla="*/ 1731523 h 2108219"/>
                  <a:gd name="connsiteX62" fmla="*/ 2652772 w 4102193"/>
                  <a:gd name="connsiteY62" fmla="*/ 1750978 h 2108219"/>
                  <a:gd name="connsiteX63" fmla="*/ 2720865 w 4102193"/>
                  <a:gd name="connsiteY63" fmla="*/ 1780161 h 2108219"/>
                  <a:gd name="connsiteX64" fmla="*/ 2788959 w 4102193"/>
                  <a:gd name="connsiteY64" fmla="*/ 1819072 h 2108219"/>
                  <a:gd name="connsiteX65" fmla="*/ 2876508 w 4102193"/>
                  <a:gd name="connsiteY65" fmla="*/ 1857983 h 2108219"/>
                  <a:gd name="connsiteX66" fmla="*/ 2973785 w 4102193"/>
                  <a:gd name="connsiteY66" fmla="*/ 1887166 h 2108219"/>
                  <a:gd name="connsiteX67" fmla="*/ 3012695 w 4102193"/>
                  <a:gd name="connsiteY67" fmla="*/ 1896893 h 2108219"/>
                  <a:gd name="connsiteX68" fmla="*/ 3090516 w 4102193"/>
                  <a:gd name="connsiteY68" fmla="*/ 1906621 h 2108219"/>
                  <a:gd name="connsiteX69" fmla="*/ 3187793 w 4102193"/>
                  <a:gd name="connsiteY69" fmla="*/ 1926076 h 2108219"/>
                  <a:gd name="connsiteX70" fmla="*/ 3265614 w 4102193"/>
                  <a:gd name="connsiteY70" fmla="*/ 1945532 h 2108219"/>
                  <a:gd name="connsiteX71" fmla="*/ 3372619 w 4102193"/>
                  <a:gd name="connsiteY71" fmla="*/ 1974715 h 2108219"/>
                  <a:gd name="connsiteX72" fmla="*/ 3421257 w 4102193"/>
                  <a:gd name="connsiteY72" fmla="*/ 1984442 h 2108219"/>
                  <a:gd name="connsiteX73" fmla="*/ 3450440 w 4102193"/>
                  <a:gd name="connsiteY73" fmla="*/ 1994170 h 2108219"/>
                  <a:gd name="connsiteX74" fmla="*/ 3508806 w 4102193"/>
                  <a:gd name="connsiteY74" fmla="*/ 2003898 h 2108219"/>
                  <a:gd name="connsiteX75" fmla="*/ 3557444 w 4102193"/>
                  <a:gd name="connsiteY75" fmla="*/ 2013625 h 2108219"/>
                  <a:gd name="connsiteX76" fmla="*/ 3596355 w 4102193"/>
                  <a:gd name="connsiteY76" fmla="*/ 2023353 h 2108219"/>
                  <a:gd name="connsiteX77" fmla="*/ 3732542 w 4102193"/>
                  <a:gd name="connsiteY77" fmla="*/ 2033081 h 2108219"/>
                  <a:gd name="connsiteX78" fmla="*/ 4102193 w 4102193"/>
                  <a:gd name="connsiteY78" fmla="*/ 2013625 h 2108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4102193" h="2108219">
                    <a:moveTo>
                      <a:pt x="16576" y="0"/>
                    </a:moveTo>
                    <a:cubicBezTo>
                      <a:pt x="0" y="49726"/>
                      <a:pt x="4752" y="9875"/>
                      <a:pt x="26304" y="58366"/>
                    </a:cubicBezTo>
                    <a:cubicBezTo>
                      <a:pt x="34633" y="77106"/>
                      <a:pt x="39274" y="97277"/>
                      <a:pt x="45759" y="116732"/>
                    </a:cubicBezTo>
                    <a:lnTo>
                      <a:pt x="55487" y="145915"/>
                    </a:lnTo>
                    <a:cubicBezTo>
                      <a:pt x="58729" y="155643"/>
                      <a:pt x="59526" y="166566"/>
                      <a:pt x="65214" y="175098"/>
                    </a:cubicBezTo>
                    <a:lnTo>
                      <a:pt x="84670" y="204281"/>
                    </a:lnTo>
                    <a:cubicBezTo>
                      <a:pt x="101791" y="255647"/>
                      <a:pt x="88709" y="224931"/>
                      <a:pt x="133308" y="291830"/>
                    </a:cubicBezTo>
                    <a:lnTo>
                      <a:pt x="172219" y="350196"/>
                    </a:lnTo>
                    <a:lnTo>
                      <a:pt x="201402" y="369651"/>
                    </a:lnTo>
                    <a:cubicBezTo>
                      <a:pt x="249705" y="442107"/>
                      <a:pt x="187624" y="353117"/>
                      <a:pt x="250040" y="428017"/>
                    </a:cubicBezTo>
                    <a:cubicBezTo>
                      <a:pt x="257524" y="436998"/>
                      <a:pt x="262192" y="448071"/>
                      <a:pt x="269495" y="457200"/>
                    </a:cubicBezTo>
                    <a:cubicBezTo>
                      <a:pt x="275224" y="464362"/>
                      <a:pt x="283448" y="469318"/>
                      <a:pt x="288951" y="476655"/>
                    </a:cubicBezTo>
                    <a:cubicBezTo>
                      <a:pt x="302980" y="495361"/>
                      <a:pt x="308406" y="522051"/>
                      <a:pt x="327861" y="535021"/>
                    </a:cubicBezTo>
                    <a:cubicBezTo>
                      <a:pt x="354264" y="552623"/>
                      <a:pt x="377084" y="565080"/>
                      <a:pt x="395955" y="593387"/>
                    </a:cubicBezTo>
                    <a:cubicBezTo>
                      <a:pt x="402440" y="603115"/>
                      <a:pt x="407143" y="614303"/>
                      <a:pt x="415410" y="622570"/>
                    </a:cubicBezTo>
                    <a:cubicBezTo>
                      <a:pt x="423677" y="630837"/>
                      <a:pt x="435464" y="634722"/>
                      <a:pt x="444593" y="642025"/>
                    </a:cubicBezTo>
                    <a:cubicBezTo>
                      <a:pt x="451755" y="647754"/>
                      <a:pt x="456886" y="655752"/>
                      <a:pt x="464048" y="661481"/>
                    </a:cubicBezTo>
                    <a:cubicBezTo>
                      <a:pt x="473177" y="668784"/>
                      <a:pt x="484102" y="673633"/>
                      <a:pt x="493231" y="680936"/>
                    </a:cubicBezTo>
                    <a:cubicBezTo>
                      <a:pt x="500393" y="686665"/>
                      <a:pt x="505056" y="695304"/>
                      <a:pt x="512687" y="700391"/>
                    </a:cubicBezTo>
                    <a:cubicBezTo>
                      <a:pt x="524753" y="708435"/>
                      <a:pt x="539531" y="711803"/>
                      <a:pt x="551597" y="719847"/>
                    </a:cubicBezTo>
                    <a:cubicBezTo>
                      <a:pt x="559228" y="724934"/>
                      <a:pt x="563189" y="734583"/>
                      <a:pt x="571053" y="739302"/>
                    </a:cubicBezTo>
                    <a:cubicBezTo>
                      <a:pt x="579846" y="744578"/>
                      <a:pt x="591065" y="744444"/>
                      <a:pt x="600236" y="749030"/>
                    </a:cubicBezTo>
                    <a:cubicBezTo>
                      <a:pt x="663889" y="780857"/>
                      <a:pt x="594060" y="754640"/>
                      <a:pt x="658602" y="797668"/>
                    </a:cubicBezTo>
                    <a:cubicBezTo>
                      <a:pt x="666977" y="803252"/>
                      <a:pt x="721503" y="815825"/>
                      <a:pt x="726695" y="817123"/>
                    </a:cubicBezTo>
                    <a:cubicBezTo>
                      <a:pt x="759229" y="849656"/>
                      <a:pt x="732387" y="825357"/>
                      <a:pt x="775333" y="856034"/>
                    </a:cubicBezTo>
                    <a:cubicBezTo>
                      <a:pt x="788526" y="865458"/>
                      <a:pt x="800071" y="877343"/>
                      <a:pt x="814244" y="885217"/>
                    </a:cubicBezTo>
                    <a:cubicBezTo>
                      <a:pt x="829508" y="893697"/>
                      <a:pt x="847264" y="896863"/>
                      <a:pt x="862882" y="904672"/>
                    </a:cubicBezTo>
                    <a:cubicBezTo>
                      <a:pt x="930061" y="938261"/>
                      <a:pt x="849993" y="913609"/>
                      <a:pt x="930976" y="933855"/>
                    </a:cubicBezTo>
                    <a:cubicBezTo>
                      <a:pt x="977221" y="964685"/>
                      <a:pt x="949070" y="949614"/>
                      <a:pt x="1018525" y="972766"/>
                    </a:cubicBezTo>
                    <a:lnTo>
                      <a:pt x="1047708" y="982493"/>
                    </a:lnTo>
                    <a:cubicBezTo>
                      <a:pt x="1057436" y="988978"/>
                      <a:pt x="1066434" y="996720"/>
                      <a:pt x="1076891" y="1001949"/>
                    </a:cubicBezTo>
                    <a:cubicBezTo>
                      <a:pt x="1090842" y="1008924"/>
                      <a:pt x="1132524" y="1018289"/>
                      <a:pt x="1144985" y="1021404"/>
                    </a:cubicBezTo>
                    <a:cubicBezTo>
                      <a:pt x="1151470" y="1031132"/>
                      <a:pt x="1155311" y="1043284"/>
                      <a:pt x="1164440" y="1050587"/>
                    </a:cubicBezTo>
                    <a:cubicBezTo>
                      <a:pt x="1172447" y="1056993"/>
                      <a:pt x="1184288" y="1056072"/>
                      <a:pt x="1193623" y="1060315"/>
                    </a:cubicBezTo>
                    <a:cubicBezTo>
                      <a:pt x="1220026" y="1072316"/>
                      <a:pt x="1243930" y="1090053"/>
                      <a:pt x="1271444" y="1099225"/>
                    </a:cubicBezTo>
                    <a:cubicBezTo>
                      <a:pt x="1281172" y="1102468"/>
                      <a:pt x="1291456" y="1104367"/>
                      <a:pt x="1300627" y="1108953"/>
                    </a:cubicBezTo>
                    <a:cubicBezTo>
                      <a:pt x="1367804" y="1142542"/>
                      <a:pt x="1287740" y="1117890"/>
                      <a:pt x="1368721" y="1138136"/>
                    </a:cubicBezTo>
                    <a:cubicBezTo>
                      <a:pt x="1435619" y="1182735"/>
                      <a:pt x="1404904" y="1169653"/>
                      <a:pt x="1456270" y="1186774"/>
                    </a:cubicBezTo>
                    <a:cubicBezTo>
                      <a:pt x="1465998" y="1193259"/>
                      <a:pt x="1474996" y="1201001"/>
                      <a:pt x="1485453" y="1206230"/>
                    </a:cubicBezTo>
                    <a:cubicBezTo>
                      <a:pt x="1528110" y="1227559"/>
                      <a:pt x="1537167" y="1226300"/>
                      <a:pt x="1582729" y="1235413"/>
                    </a:cubicBezTo>
                    <a:cubicBezTo>
                      <a:pt x="1592457" y="1241898"/>
                      <a:pt x="1601166" y="1250263"/>
                      <a:pt x="1611912" y="1254868"/>
                    </a:cubicBezTo>
                    <a:cubicBezTo>
                      <a:pt x="1624201" y="1260134"/>
                      <a:pt x="1637968" y="1260923"/>
                      <a:pt x="1650823" y="1264596"/>
                    </a:cubicBezTo>
                    <a:cubicBezTo>
                      <a:pt x="1660682" y="1267413"/>
                      <a:pt x="1670581" y="1270284"/>
                      <a:pt x="1680006" y="1274323"/>
                    </a:cubicBezTo>
                    <a:cubicBezTo>
                      <a:pt x="1693334" y="1280035"/>
                      <a:pt x="1705338" y="1288686"/>
                      <a:pt x="1718916" y="1293778"/>
                    </a:cubicBezTo>
                    <a:cubicBezTo>
                      <a:pt x="1731434" y="1298472"/>
                      <a:pt x="1745021" y="1299664"/>
                      <a:pt x="1757827" y="1303506"/>
                    </a:cubicBezTo>
                    <a:cubicBezTo>
                      <a:pt x="1777470" y="1309399"/>
                      <a:pt x="1796084" y="1318939"/>
                      <a:pt x="1816193" y="1322961"/>
                    </a:cubicBezTo>
                    <a:cubicBezTo>
                      <a:pt x="1832406" y="1326204"/>
                      <a:pt x="1848791" y="1328679"/>
                      <a:pt x="1864831" y="1332689"/>
                    </a:cubicBezTo>
                    <a:cubicBezTo>
                      <a:pt x="1930415" y="1349086"/>
                      <a:pt x="1856625" y="1333341"/>
                      <a:pt x="1923197" y="1361872"/>
                    </a:cubicBezTo>
                    <a:cubicBezTo>
                      <a:pt x="1935486" y="1367138"/>
                      <a:pt x="1949138" y="1368357"/>
                      <a:pt x="1962108" y="1371600"/>
                    </a:cubicBezTo>
                    <a:cubicBezTo>
                      <a:pt x="1978321" y="1381328"/>
                      <a:pt x="1993534" y="1392959"/>
                      <a:pt x="2010746" y="1400783"/>
                    </a:cubicBezTo>
                    <a:cubicBezTo>
                      <a:pt x="2029416" y="1409269"/>
                      <a:pt x="2052048" y="1408863"/>
                      <a:pt x="2069112" y="1420238"/>
                    </a:cubicBezTo>
                    <a:cubicBezTo>
                      <a:pt x="2078840" y="1426723"/>
                      <a:pt x="2087348" y="1435588"/>
                      <a:pt x="2098295" y="1439693"/>
                    </a:cubicBezTo>
                    <a:cubicBezTo>
                      <a:pt x="2113776" y="1445498"/>
                      <a:pt x="2130893" y="1445411"/>
                      <a:pt x="2146933" y="1449421"/>
                    </a:cubicBezTo>
                    <a:cubicBezTo>
                      <a:pt x="2156881" y="1451908"/>
                      <a:pt x="2166388" y="1455906"/>
                      <a:pt x="2176116" y="1459149"/>
                    </a:cubicBezTo>
                    <a:cubicBezTo>
                      <a:pt x="2223102" y="1506132"/>
                      <a:pt x="2163386" y="1448963"/>
                      <a:pt x="2224755" y="1498059"/>
                    </a:cubicBezTo>
                    <a:cubicBezTo>
                      <a:pt x="2231917" y="1503788"/>
                      <a:pt x="2236697" y="1512255"/>
                      <a:pt x="2244210" y="1517515"/>
                    </a:cubicBezTo>
                    <a:cubicBezTo>
                      <a:pt x="2269270" y="1535057"/>
                      <a:pt x="2300400" y="1544523"/>
                      <a:pt x="2322031" y="1566153"/>
                    </a:cubicBezTo>
                    <a:cubicBezTo>
                      <a:pt x="2360339" y="1604459"/>
                      <a:pt x="2322321" y="1569588"/>
                      <a:pt x="2390125" y="1614791"/>
                    </a:cubicBezTo>
                    <a:cubicBezTo>
                      <a:pt x="2403615" y="1623784"/>
                      <a:pt x="2414221" y="1637389"/>
                      <a:pt x="2429036" y="1643974"/>
                    </a:cubicBezTo>
                    <a:cubicBezTo>
                      <a:pt x="2444145" y="1650689"/>
                      <a:pt x="2461461" y="1650459"/>
                      <a:pt x="2477674" y="1653702"/>
                    </a:cubicBezTo>
                    <a:cubicBezTo>
                      <a:pt x="2614897" y="1722314"/>
                      <a:pt x="2463543" y="1644771"/>
                      <a:pt x="2584678" y="1712068"/>
                    </a:cubicBezTo>
                    <a:cubicBezTo>
                      <a:pt x="2597354" y="1719110"/>
                      <a:pt x="2610998" y="1724329"/>
                      <a:pt x="2623589" y="1731523"/>
                    </a:cubicBezTo>
                    <a:cubicBezTo>
                      <a:pt x="2633740" y="1737323"/>
                      <a:pt x="2642621" y="1745177"/>
                      <a:pt x="2652772" y="1750978"/>
                    </a:cubicBezTo>
                    <a:cubicBezTo>
                      <a:pt x="2686434" y="1770214"/>
                      <a:pt x="2688121" y="1769247"/>
                      <a:pt x="2720865" y="1780161"/>
                    </a:cubicBezTo>
                    <a:cubicBezTo>
                      <a:pt x="2758672" y="1817968"/>
                      <a:pt x="2720374" y="1784780"/>
                      <a:pt x="2788959" y="1819072"/>
                    </a:cubicBezTo>
                    <a:cubicBezTo>
                      <a:pt x="2873104" y="1861144"/>
                      <a:pt x="2802254" y="1839419"/>
                      <a:pt x="2876508" y="1857983"/>
                    </a:cubicBezTo>
                    <a:cubicBezTo>
                      <a:pt x="2928033" y="1892332"/>
                      <a:pt x="2887716" y="1871517"/>
                      <a:pt x="2973785" y="1887166"/>
                    </a:cubicBezTo>
                    <a:cubicBezTo>
                      <a:pt x="2986938" y="1889558"/>
                      <a:pt x="2999508" y="1894695"/>
                      <a:pt x="3012695" y="1896893"/>
                    </a:cubicBezTo>
                    <a:cubicBezTo>
                      <a:pt x="3038482" y="1901191"/>
                      <a:pt x="3064576" y="1903378"/>
                      <a:pt x="3090516" y="1906621"/>
                    </a:cubicBezTo>
                    <a:cubicBezTo>
                      <a:pt x="3156449" y="1928599"/>
                      <a:pt x="3076011" y="1903720"/>
                      <a:pt x="3187793" y="1926076"/>
                    </a:cubicBezTo>
                    <a:cubicBezTo>
                      <a:pt x="3214012" y="1931320"/>
                      <a:pt x="3240247" y="1937077"/>
                      <a:pt x="3265614" y="1945532"/>
                    </a:cubicBezTo>
                    <a:cubicBezTo>
                      <a:pt x="3307537" y="1959505"/>
                      <a:pt x="3317778" y="1963747"/>
                      <a:pt x="3372619" y="1974715"/>
                    </a:cubicBezTo>
                    <a:cubicBezTo>
                      <a:pt x="3388832" y="1977957"/>
                      <a:pt x="3405217" y="1980432"/>
                      <a:pt x="3421257" y="1984442"/>
                    </a:cubicBezTo>
                    <a:cubicBezTo>
                      <a:pt x="3431205" y="1986929"/>
                      <a:pt x="3440430" y="1991946"/>
                      <a:pt x="3450440" y="1994170"/>
                    </a:cubicBezTo>
                    <a:cubicBezTo>
                      <a:pt x="3469694" y="1998449"/>
                      <a:pt x="3489400" y="2000370"/>
                      <a:pt x="3508806" y="2003898"/>
                    </a:cubicBezTo>
                    <a:cubicBezTo>
                      <a:pt x="3525073" y="2006856"/>
                      <a:pt x="3541304" y="2010038"/>
                      <a:pt x="3557444" y="2013625"/>
                    </a:cubicBezTo>
                    <a:cubicBezTo>
                      <a:pt x="3570495" y="2016525"/>
                      <a:pt x="3583067" y="2021877"/>
                      <a:pt x="3596355" y="2023353"/>
                    </a:cubicBezTo>
                    <a:cubicBezTo>
                      <a:pt x="3641588" y="2028379"/>
                      <a:pt x="3687146" y="2029838"/>
                      <a:pt x="3732542" y="2033081"/>
                    </a:cubicBezTo>
                    <a:cubicBezTo>
                      <a:pt x="4097049" y="2023229"/>
                      <a:pt x="4007599" y="2108219"/>
                      <a:pt x="4102193" y="2013625"/>
                    </a:cubicBezTo>
                  </a:path>
                </a:pathLst>
              </a:cu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10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2286000" y="4000441"/>
                <a:ext cx="534168" cy="5192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/>
                  <a:t>Sprint</a:t>
                </a:r>
                <a:endParaRPr lang="en-US" sz="1200" b="1" dirty="0"/>
              </a:p>
            </p:txBody>
          </p:sp>
          <p:cxnSp>
            <p:nvCxnSpPr>
              <p:cNvPr id="18" name="Straight Arrow Connector 17"/>
              <p:cNvCxnSpPr/>
              <p:nvPr/>
            </p:nvCxnSpPr>
            <p:spPr>
              <a:xfrm>
                <a:off x="3200400" y="4171950"/>
                <a:ext cx="838200" cy="1588"/>
              </a:xfrm>
              <a:prstGeom prst="straightConnector1">
                <a:avLst/>
              </a:prstGeom>
              <a:ln w="38100">
                <a:solidFill>
                  <a:srgbClr val="0000CC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667657" y="1972238"/>
                <a:ext cx="550752" cy="8654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 smtClean="0"/>
                  <a:t>Story</a:t>
                </a:r>
              </a:p>
              <a:p>
                <a:r>
                  <a:rPr lang="en-US" sz="1200" b="1" dirty="0" smtClean="0"/>
                  <a:t>points</a:t>
                </a:r>
                <a:endParaRPr lang="en-US" sz="1200" b="1" dirty="0"/>
              </a:p>
            </p:txBody>
          </p:sp>
          <p:cxnSp>
            <p:nvCxnSpPr>
              <p:cNvPr id="20" name="Straight Arrow Connector 19"/>
              <p:cNvCxnSpPr/>
              <p:nvPr/>
            </p:nvCxnSpPr>
            <p:spPr>
              <a:xfrm rot="5400000" flipH="1" flipV="1">
                <a:off x="724694" y="3142456"/>
                <a:ext cx="685800" cy="1588"/>
              </a:xfrm>
              <a:prstGeom prst="straightConnector1">
                <a:avLst/>
              </a:prstGeom>
              <a:ln w="38100">
                <a:solidFill>
                  <a:srgbClr val="0000CC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Arrow Connector 8"/>
            <p:cNvCxnSpPr/>
            <p:nvPr/>
          </p:nvCxnSpPr>
          <p:spPr>
            <a:xfrm rot="5400000" flipH="1" flipV="1">
              <a:off x="2210594" y="2342356"/>
              <a:ext cx="762000" cy="611188"/>
            </a:xfrm>
            <a:prstGeom prst="straightConnector1">
              <a:avLst/>
            </a:prstGeom>
            <a:ln w="38100">
              <a:solidFill>
                <a:srgbClr val="0000CC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1828800" y="2876551"/>
              <a:ext cx="803544" cy="8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 smtClean="0"/>
                <a:t>Expected</a:t>
              </a:r>
            </a:p>
            <a:p>
              <a:r>
                <a:rPr lang="en-US" sz="1200" b="1" dirty="0" err="1" smtClean="0"/>
                <a:t>burndown</a:t>
              </a:r>
              <a:endParaRPr lang="en-US" sz="1200" b="1" dirty="0"/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rot="10800000" flipV="1">
              <a:off x="3200400" y="1733550"/>
              <a:ext cx="684212" cy="533400"/>
            </a:xfrm>
            <a:prstGeom prst="straightConnector1">
              <a:avLst/>
            </a:prstGeom>
            <a:ln w="38100">
              <a:solidFill>
                <a:srgbClr val="0000CC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3886200" y="1352549"/>
              <a:ext cx="1293431" cy="865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smtClean="0"/>
                <a:t>Actual</a:t>
              </a:r>
            </a:p>
            <a:p>
              <a:r>
                <a:rPr lang="en-US" sz="1200" b="1" dirty="0" err="1" smtClean="0"/>
                <a:t>burndown</a:t>
              </a:r>
              <a:endParaRPr 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9812330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19050"/>
            <a:ext cx="7801300" cy="934298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sz="3600" dirty="0"/>
              <a:t>Scalability of Scrum</a:t>
            </a:r>
          </a:p>
        </p:txBody>
      </p:sp>
      <p:sp>
        <p:nvSpPr>
          <p:cNvPr id="365571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123950"/>
            <a:ext cx="8077200" cy="3787957"/>
          </a:xfrm>
        </p:spPr>
        <p:txBody>
          <a:bodyPr>
            <a:normAutofit/>
          </a:bodyPr>
          <a:lstStyle/>
          <a:p>
            <a:pPr algn="just">
              <a:lnSpc>
                <a:spcPct val="135000"/>
              </a:lnSpc>
              <a:spcBef>
                <a:spcPts val="1225"/>
              </a:spcBef>
              <a:spcAft>
                <a:spcPts val="816"/>
              </a:spcAft>
            </a:pPr>
            <a:r>
              <a:rPr lang="en-US" altLang="en-US" sz="2800" dirty="0"/>
              <a:t>A typical Scrum team is 6-10 people</a:t>
            </a:r>
          </a:p>
          <a:p>
            <a:pPr algn="just">
              <a:lnSpc>
                <a:spcPct val="135000"/>
              </a:lnSpc>
              <a:spcBef>
                <a:spcPts val="1225"/>
              </a:spcBef>
              <a:spcAft>
                <a:spcPts val="816"/>
              </a:spcAft>
            </a:pPr>
            <a:r>
              <a:rPr lang="en-US" altLang="en-US" sz="2800" dirty="0"/>
              <a:t>Jeff Sutherland - up to over 800 people</a:t>
            </a:r>
          </a:p>
          <a:p>
            <a:pPr lvl="1" algn="just">
              <a:lnSpc>
                <a:spcPct val="135000"/>
              </a:lnSpc>
              <a:spcBef>
                <a:spcPts val="1225"/>
              </a:spcBef>
              <a:spcAft>
                <a:spcPts val="816"/>
              </a:spcAft>
            </a:pPr>
            <a:r>
              <a:rPr lang="en-US" altLang="en-US" sz="2400" dirty="0" smtClean="0">
                <a:solidFill>
                  <a:srgbClr val="FF0000"/>
                </a:solidFill>
              </a:rPr>
              <a:t>“Scrum </a:t>
            </a:r>
            <a:r>
              <a:rPr lang="en-US" altLang="en-US" sz="2400" dirty="0">
                <a:solidFill>
                  <a:srgbClr val="FF0000"/>
                </a:solidFill>
              </a:rPr>
              <a:t>of </a:t>
            </a:r>
            <a:r>
              <a:rPr lang="en-US" altLang="en-US" sz="2400" dirty="0" smtClean="0">
                <a:solidFill>
                  <a:srgbClr val="FF0000"/>
                </a:solidFill>
              </a:rPr>
              <a:t>Scrums” or “Meta-Scrum”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algn="just">
              <a:lnSpc>
                <a:spcPct val="135000"/>
              </a:lnSpc>
              <a:spcBef>
                <a:spcPts val="1225"/>
              </a:spcBef>
              <a:spcAft>
                <a:spcPts val="816"/>
              </a:spcAft>
              <a:buNone/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55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43001" y="1504950"/>
            <a:ext cx="7924800" cy="1866436"/>
          </a:xfrm>
          <a:solidFill>
            <a:srgbClr val="FFFF99"/>
          </a:solidFill>
          <a:ln>
            <a:solidFill>
              <a:srgbClr val="FF0000"/>
            </a:solidFill>
            <a:round/>
            <a:headEnd/>
            <a:tailEnd/>
          </a:ln>
        </p:spPr>
        <p:txBody>
          <a:bodyPr vert="horz" lIns="68569" tIns="34284" rIns="68569" bIns="34284" rtlCol="0" anchor="ctr">
            <a:normAutofit/>
          </a:bodyPr>
          <a:lstStyle/>
          <a:p>
            <a:pPr defTabSz="684806">
              <a:tabLst>
                <a:tab pos="0" algn="l"/>
                <a:tab pos="311079" algn="l"/>
                <a:tab pos="621078" algn="l"/>
                <a:tab pos="933237" algn="l"/>
                <a:tab pos="1244316" algn="l"/>
                <a:tab pos="1555394" algn="l"/>
                <a:tab pos="1864313" algn="l"/>
                <a:tab pos="2177552" algn="l"/>
                <a:tab pos="2488631" algn="l"/>
                <a:tab pos="2799710" algn="l"/>
                <a:tab pos="3107549" algn="l"/>
                <a:tab pos="3421868" algn="l"/>
                <a:tab pos="3732947" algn="l"/>
                <a:tab pos="4041865" algn="l"/>
                <a:tab pos="4351864" algn="l"/>
                <a:tab pos="4666183" algn="l"/>
                <a:tab pos="4977262" algn="l"/>
                <a:tab pos="5285101" algn="l"/>
                <a:tab pos="5596180" algn="l"/>
                <a:tab pos="5910499" algn="l"/>
                <a:tab pos="6221578" algn="l"/>
              </a:tabLst>
            </a:pPr>
            <a:r>
              <a:rPr lang="en-GB" altLang="en-US" sz="4491" b="1">
                <a:solidFill>
                  <a:srgbClr val="0000FF"/>
                </a:solidFill>
              </a:rPr>
              <a:t>Extreme Programming (XP)</a:t>
            </a:r>
            <a:r>
              <a:rPr lang="en-GB" altLang="en-US" sz="3266" b="1">
                <a:solidFill>
                  <a:srgbClr val="0000FF"/>
                </a:solidFill>
              </a:rPr>
              <a:t/>
            </a:r>
            <a:br>
              <a:rPr lang="en-GB" altLang="en-US" sz="3266" b="1">
                <a:solidFill>
                  <a:srgbClr val="0000FF"/>
                </a:solidFill>
              </a:rPr>
            </a:br>
            <a:endParaRPr lang="en-GB" altLang="en-US" sz="953" b="1">
              <a:solidFill>
                <a:srgbClr val="0000FF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259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57150"/>
            <a:ext cx="8533897" cy="935379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304598" algn="l"/>
                <a:tab pos="610277" algn="l"/>
                <a:tab pos="915954" algn="l"/>
                <a:tab pos="1221633" algn="l"/>
                <a:tab pos="1527311" algn="l"/>
                <a:tab pos="1832989" algn="l"/>
                <a:tab pos="2138667" algn="l"/>
                <a:tab pos="2444346" algn="l"/>
                <a:tab pos="2750024" algn="l"/>
                <a:tab pos="3055702" algn="l"/>
                <a:tab pos="3361380" algn="l"/>
                <a:tab pos="3667059" algn="l"/>
                <a:tab pos="3972737" algn="l"/>
                <a:tab pos="4278415" algn="l"/>
                <a:tab pos="4584093" algn="l"/>
                <a:tab pos="4889771" algn="l"/>
                <a:tab pos="5195449" algn="l"/>
                <a:tab pos="5501128" algn="l"/>
                <a:tab pos="5806806" algn="l"/>
                <a:tab pos="6112484" algn="l"/>
              </a:tabLst>
            </a:pPr>
            <a:r>
              <a:rPr lang="en-GB" altLang="en-US" sz="3600" b="1" dirty="0"/>
              <a:t>Extreme Programming Model</a:t>
            </a:r>
          </a:p>
        </p:txBody>
      </p:sp>
      <p:sp>
        <p:nvSpPr>
          <p:cNvPr id="310275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43000" y="819150"/>
            <a:ext cx="7848600" cy="3393053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r>
              <a:rPr lang="en-GB" altLang="en-US" dirty="0"/>
              <a:t>Extreme programming (XP) was proposed by Kent Beck in 1999.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r>
              <a:rPr lang="en-GB" altLang="en-US" dirty="0"/>
              <a:t>The methodology got its name from the fact that:</a:t>
            </a: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r>
              <a:rPr lang="en-GB" altLang="en-US" b="1" dirty="0">
                <a:solidFill>
                  <a:srgbClr val="6600FF"/>
                </a:solidFill>
              </a:rPr>
              <a:t>Recommends taking the  best practices to extreme levels.</a:t>
            </a:r>
          </a:p>
          <a:p>
            <a:pPr lvl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r>
              <a:rPr lang="en-GB" altLang="en-US" dirty="0">
                <a:solidFill>
                  <a:srgbClr val="0000CC"/>
                </a:solidFill>
              </a:rPr>
              <a:t>If something is good, why not do it all the time.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479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16000" y="64592"/>
            <a:ext cx="7670800" cy="725837"/>
          </a:xfrm>
          <a:noFill/>
        </p:spPr>
        <p:txBody>
          <a:bodyPr>
            <a:noAutofit/>
          </a:bodyPr>
          <a:lstStyle/>
          <a:p>
            <a:r>
              <a:rPr lang="en-US" altLang="en-US" sz="2800" b="1" dirty="0"/>
              <a:t>Taking Good Practices to Extreme</a:t>
            </a:r>
          </a:p>
        </p:txBody>
      </p:sp>
      <p:sp>
        <p:nvSpPr>
          <p:cNvPr id="3143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43000" y="819150"/>
            <a:ext cx="7848600" cy="4097950"/>
          </a:xfrm>
        </p:spPr>
        <p:txBody>
          <a:bodyPr>
            <a:normAutofit lnSpcReduction="10000"/>
          </a:bodyPr>
          <a:lstStyle/>
          <a:p>
            <a:pPr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2722" b="1" dirty="0">
                <a:solidFill>
                  <a:srgbClr val="0000FF"/>
                </a:solidFill>
              </a:rPr>
              <a:t>If code review is good:</a:t>
            </a:r>
          </a:p>
          <a:p>
            <a:pPr lvl="1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2449" dirty="0"/>
              <a:t>Always review --- </a:t>
            </a:r>
            <a:r>
              <a:rPr lang="en-US" altLang="en-US" sz="2449" b="1" dirty="0">
                <a:solidFill>
                  <a:srgbClr val="FF0000"/>
                </a:solidFill>
              </a:rPr>
              <a:t>pair programming</a:t>
            </a:r>
          </a:p>
          <a:p>
            <a:pPr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2722" b="1" dirty="0">
                <a:solidFill>
                  <a:srgbClr val="0000FF"/>
                </a:solidFill>
              </a:rPr>
              <a:t>If testing is good:</a:t>
            </a:r>
          </a:p>
          <a:p>
            <a:pPr lvl="1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2449" dirty="0"/>
              <a:t>Continually write and execute test cases --- </a:t>
            </a:r>
            <a:r>
              <a:rPr lang="en-US" altLang="en-US" sz="2449" b="1" dirty="0">
                <a:solidFill>
                  <a:srgbClr val="FF0000"/>
                </a:solidFill>
              </a:rPr>
              <a:t>test-driven development</a:t>
            </a:r>
          </a:p>
          <a:p>
            <a:pPr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2722" b="1" dirty="0">
                <a:solidFill>
                  <a:srgbClr val="0000FF"/>
                </a:solidFill>
              </a:rPr>
              <a:t>If incremental development is good:</a:t>
            </a:r>
          </a:p>
          <a:p>
            <a:pPr lvl="1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2449" dirty="0"/>
              <a:t>Come up with new increments every few days</a:t>
            </a:r>
          </a:p>
          <a:p>
            <a:pPr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2722" b="1" dirty="0">
                <a:solidFill>
                  <a:srgbClr val="0000FF"/>
                </a:solidFill>
              </a:rPr>
              <a:t>If simplicity is good:</a:t>
            </a:r>
          </a:p>
          <a:p>
            <a:pPr lvl="1">
              <a:lnSpc>
                <a:spcPct val="105000"/>
              </a:lnSpc>
              <a:spcBef>
                <a:spcPct val="5000"/>
              </a:spcBef>
              <a:spcAft>
                <a:spcPct val="5000"/>
              </a:spcAft>
            </a:pPr>
            <a:r>
              <a:rPr lang="en-US" altLang="en-US" sz="2449" dirty="0"/>
              <a:t>Create the simplest design that will support only the currently required functionality.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90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Title 1"/>
          <p:cNvSpPr>
            <a:spLocks noGrp="1"/>
          </p:cNvSpPr>
          <p:nvPr>
            <p:ph type="title" idx="4294967295"/>
          </p:nvPr>
        </p:nvSpPr>
        <p:spPr>
          <a:xfrm>
            <a:off x="1219200" y="133350"/>
            <a:ext cx="7801299" cy="934298"/>
          </a:xfrm>
        </p:spPr>
        <p:txBody>
          <a:bodyPr/>
          <a:lstStyle/>
          <a:p>
            <a:r>
              <a:rPr lang="en-US" altLang="en-US" sz="3266" b="1" dirty="0"/>
              <a:t>Taking to Extreme</a:t>
            </a:r>
          </a:p>
        </p:txBody>
      </p:sp>
      <p:sp>
        <p:nvSpPr>
          <p:cNvPr id="315395" name="Content Placeholder 2"/>
          <p:cNvSpPr>
            <a:spLocks noGrp="1"/>
          </p:cNvSpPr>
          <p:nvPr>
            <p:ph idx="4294967295"/>
          </p:nvPr>
        </p:nvSpPr>
        <p:spPr>
          <a:xfrm>
            <a:off x="1143000" y="819150"/>
            <a:ext cx="7848600" cy="414979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680"/>
              </a:spcBef>
              <a:spcAft>
                <a:spcPts val="408"/>
              </a:spcAft>
            </a:pPr>
            <a:r>
              <a:rPr lang="en-US" altLang="en-US" sz="2722" b="1" dirty="0">
                <a:solidFill>
                  <a:srgbClr val="0000FF"/>
                </a:solidFill>
              </a:rPr>
              <a:t>If design is good, </a:t>
            </a:r>
          </a:p>
          <a:p>
            <a:pPr lvl="1">
              <a:lnSpc>
                <a:spcPct val="120000"/>
              </a:lnSpc>
              <a:spcBef>
                <a:spcPts val="680"/>
              </a:spcBef>
              <a:spcAft>
                <a:spcPts val="408"/>
              </a:spcAft>
            </a:pPr>
            <a:r>
              <a:rPr lang="en-US" altLang="en-US" sz="2449" dirty="0"/>
              <a:t>everybody will design daily (refactoring)</a:t>
            </a:r>
          </a:p>
          <a:p>
            <a:pPr>
              <a:lnSpc>
                <a:spcPct val="120000"/>
              </a:lnSpc>
              <a:spcBef>
                <a:spcPts val="680"/>
              </a:spcBef>
              <a:spcAft>
                <a:spcPts val="408"/>
              </a:spcAft>
            </a:pPr>
            <a:r>
              <a:rPr lang="en-US" altLang="en-US" sz="2722" b="1" dirty="0">
                <a:solidFill>
                  <a:srgbClr val="0000FF"/>
                </a:solidFill>
              </a:rPr>
              <a:t>If architecture is important, </a:t>
            </a:r>
          </a:p>
          <a:p>
            <a:pPr lvl="1">
              <a:lnSpc>
                <a:spcPct val="120000"/>
              </a:lnSpc>
              <a:spcBef>
                <a:spcPts val="680"/>
              </a:spcBef>
              <a:spcAft>
                <a:spcPts val="408"/>
              </a:spcAft>
            </a:pPr>
            <a:r>
              <a:rPr lang="en-US" altLang="en-US" sz="2449" dirty="0"/>
              <a:t>everybody will work at defining and refining the architecture (metaphor)</a:t>
            </a:r>
          </a:p>
          <a:p>
            <a:pPr>
              <a:lnSpc>
                <a:spcPct val="120000"/>
              </a:lnSpc>
              <a:spcBef>
                <a:spcPts val="680"/>
              </a:spcBef>
              <a:spcAft>
                <a:spcPts val="408"/>
              </a:spcAft>
            </a:pPr>
            <a:r>
              <a:rPr lang="en-US" altLang="en-US" sz="2722" b="1" dirty="0">
                <a:solidFill>
                  <a:srgbClr val="0000FF"/>
                </a:solidFill>
              </a:rPr>
              <a:t>If integration testing is important, </a:t>
            </a:r>
          </a:p>
          <a:p>
            <a:pPr lvl="1">
              <a:lnSpc>
                <a:spcPct val="120000"/>
              </a:lnSpc>
              <a:spcBef>
                <a:spcPts val="680"/>
              </a:spcBef>
              <a:spcAft>
                <a:spcPts val="408"/>
              </a:spcAft>
            </a:pPr>
            <a:r>
              <a:rPr lang="en-US" altLang="en-US" sz="2449" dirty="0"/>
              <a:t>build and integrate test several times a day (continuous integration)</a:t>
            </a:r>
          </a:p>
          <a:p>
            <a:pPr lvl="1">
              <a:lnSpc>
                <a:spcPct val="120000"/>
              </a:lnSpc>
              <a:spcBef>
                <a:spcPts val="680"/>
              </a:spcBef>
              <a:spcAft>
                <a:spcPts val="408"/>
              </a:spcAft>
            </a:pPr>
            <a:endParaRPr lang="en-US" altLang="en-US" sz="2449" dirty="0"/>
          </a:p>
          <a:p>
            <a:pPr>
              <a:lnSpc>
                <a:spcPct val="120000"/>
              </a:lnSpc>
              <a:spcBef>
                <a:spcPts val="680"/>
              </a:spcBef>
              <a:spcAft>
                <a:spcPts val="408"/>
              </a:spcAft>
            </a:pPr>
            <a:endParaRPr lang="en-US" altLang="en-US" sz="2722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6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Title 1"/>
          <p:cNvSpPr>
            <a:spLocks noGrp="1"/>
          </p:cNvSpPr>
          <p:nvPr>
            <p:ph type="title" idx="4294967295"/>
          </p:nvPr>
        </p:nvSpPr>
        <p:spPr>
          <a:xfrm>
            <a:off x="5243351" y="-6080"/>
            <a:ext cx="2619699" cy="532453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pPr eaLnBrk="1"/>
            <a:r>
              <a:rPr lang="en-US" altLang="en-US" sz="3600" b="1" dirty="0"/>
              <a:t>4 Values</a:t>
            </a:r>
          </a:p>
        </p:txBody>
      </p:sp>
      <p:sp>
        <p:nvSpPr>
          <p:cNvPr id="313347" name="Content Placeholder 2"/>
          <p:cNvSpPr>
            <a:spLocks noGrp="1"/>
          </p:cNvSpPr>
          <p:nvPr>
            <p:ph idx="4294967295"/>
          </p:nvPr>
        </p:nvSpPr>
        <p:spPr>
          <a:xfrm>
            <a:off x="1143000" y="133351"/>
            <a:ext cx="7772400" cy="4046105"/>
          </a:xfrm>
        </p:spPr>
        <p:txBody>
          <a:bodyPr>
            <a:noAutofit/>
          </a:bodyPr>
          <a:lstStyle/>
          <a:p>
            <a:pPr eaLnBrk="1">
              <a:lnSpc>
                <a:spcPct val="105000"/>
              </a:lnSpc>
              <a:spcBef>
                <a:spcPts val="0"/>
              </a:spcBef>
            </a:pPr>
            <a:r>
              <a:rPr lang="en-US" altLang="en-US" sz="2400" b="1" dirty="0">
                <a:solidFill>
                  <a:srgbClr val="0000CC"/>
                </a:solidFill>
              </a:rPr>
              <a:t>Communication</a:t>
            </a:r>
            <a:r>
              <a:rPr lang="en-US" altLang="en-US" sz="2400" dirty="0">
                <a:solidFill>
                  <a:srgbClr val="0000CC"/>
                </a:solidFill>
              </a:rPr>
              <a:t>: </a:t>
            </a:r>
          </a:p>
          <a:p>
            <a:pPr lvl="1" eaLnBrk="1">
              <a:lnSpc>
                <a:spcPct val="105000"/>
              </a:lnSpc>
              <a:spcBef>
                <a:spcPts val="0"/>
              </a:spcBef>
            </a:pPr>
            <a:r>
              <a:rPr lang="en-US" altLang="en-US" sz="2400" dirty="0"/>
              <a:t>Enhance communication among team members and with the customers.</a:t>
            </a:r>
          </a:p>
          <a:p>
            <a:pPr eaLnBrk="1">
              <a:lnSpc>
                <a:spcPct val="105000"/>
              </a:lnSpc>
              <a:spcBef>
                <a:spcPts val="0"/>
              </a:spcBef>
            </a:pPr>
            <a:r>
              <a:rPr lang="en-US" altLang="en-US" sz="2400" b="1" dirty="0">
                <a:solidFill>
                  <a:srgbClr val="0000CC"/>
                </a:solidFill>
              </a:rPr>
              <a:t>Simplicity</a:t>
            </a:r>
            <a:r>
              <a:rPr lang="en-US" altLang="en-US" sz="2400" dirty="0">
                <a:solidFill>
                  <a:srgbClr val="0000CC"/>
                </a:solidFill>
              </a:rPr>
              <a:t>:</a:t>
            </a:r>
          </a:p>
          <a:p>
            <a:pPr lvl="1" eaLnBrk="1">
              <a:lnSpc>
                <a:spcPct val="105000"/>
              </a:lnSpc>
              <a:spcBef>
                <a:spcPts val="0"/>
              </a:spcBef>
            </a:pPr>
            <a:r>
              <a:rPr lang="en-US" altLang="en-US" sz="2400" dirty="0"/>
              <a:t>Build something simple that will work today rather than something that takes time and yet never used</a:t>
            </a:r>
          </a:p>
          <a:p>
            <a:pPr lvl="1" eaLnBrk="1">
              <a:lnSpc>
                <a:spcPct val="105000"/>
              </a:lnSpc>
              <a:spcBef>
                <a:spcPts val="0"/>
              </a:spcBef>
            </a:pPr>
            <a:r>
              <a:rPr lang="en-US" altLang="en-US" sz="2400" dirty="0"/>
              <a:t>May not pay attention for tomorrow</a:t>
            </a:r>
          </a:p>
          <a:p>
            <a:pPr eaLnBrk="1">
              <a:lnSpc>
                <a:spcPct val="105000"/>
              </a:lnSpc>
              <a:spcBef>
                <a:spcPts val="0"/>
              </a:spcBef>
            </a:pPr>
            <a:r>
              <a:rPr lang="en-US" altLang="en-US" sz="2400" b="1" dirty="0">
                <a:solidFill>
                  <a:srgbClr val="0000CC"/>
                </a:solidFill>
              </a:rPr>
              <a:t>Feedback</a:t>
            </a:r>
            <a:r>
              <a:rPr lang="en-US" altLang="en-US" sz="2400" dirty="0">
                <a:solidFill>
                  <a:srgbClr val="0000CC"/>
                </a:solidFill>
              </a:rPr>
              <a:t>:</a:t>
            </a:r>
          </a:p>
          <a:p>
            <a:pPr lvl="1" eaLnBrk="1">
              <a:lnSpc>
                <a:spcPct val="105000"/>
              </a:lnSpc>
              <a:spcBef>
                <a:spcPts val="0"/>
              </a:spcBef>
            </a:pPr>
            <a:r>
              <a:rPr lang="en-US" altLang="en-US" sz="2400" dirty="0"/>
              <a:t>System staying out of users is trouble waiting to happen</a:t>
            </a:r>
          </a:p>
          <a:p>
            <a:pPr eaLnBrk="1">
              <a:lnSpc>
                <a:spcPct val="105000"/>
              </a:lnSpc>
              <a:spcBef>
                <a:spcPts val="0"/>
              </a:spcBef>
            </a:pPr>
            <a:r>
              <a:rPr lang="en-US" altLang="en-US" sz="2400" b="1" dirty="0">
                <a:solidFill>
                  <a:srgbClr val="0000CC"/>
                </a:solidFill>
              </a:rPr>
              <a:t>Courage</a:t>
            </a:r>
            <a:r>
              <a:rPr lang="en-US" altLang="en-US" sz="2400" dirty="0">
                <a:solidFill>
                  <a:srgbClr val="0000CC"/>
                </a:solidFill>
              </a:rPr>
              <a:t>:</a:t>
            </a:r>
          </a:p>
          <a:p>
            <a:pPr lvl="1" eaLnBrk="1">
              <a:lnSpc>
                <a:spcPct val="105000"/>
              </a:lnSpc>
              <a:spcBef>
                <a:spcPts val="0"/>
              </a:spcBef>
            </a:pPr>
            <a:r>
              <a:rPr lang="en-US" altLang="en-US" sz="2400" dirty="0"/>
              <a:t>Don’t hesitate to discard code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4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219200" y="57150"/>
            <a:ext cx="7802739" cy="873812"/>
          </a:xfrm>
        </p:spPr>
        <p:txBody>
          <a:bodyPr>
            <a:normAutofit/>
          </a:bodyPr>
          <a:lstStyle/>
          <a:p>
            <a:pPr>
              <a:tabLst>
                <a:tab pos="0" algn="l"/>
                <a:tab pos="304598" algn="l"/>
                <a:tab pos="610277" algn="l"/>
                <a:tab pos="915954" algn="l"/>
                <a:tab pos="1221633" algn="l"/>
                <a:tab pos="1527311" algn="l"/>
                <a:tab pos="1832989" algn="l"/>
                <a:tab pos="2138667" algn="l"/>
                <a:tab pos="2444346" algn="l"/>
                <a:tab pos="2750024" algn="l"/>
                <a:tab pos="3055702" algn="l"/>
                <a:tab pos="3361380" algn="l"/>
                <a:tab pos="3667059" algn="l"/>
                <a:tab pos="3972737" algn="l"/>
                <a:tab pos="4278415" algn="l"/>
                <a:tab pos="4584093" algn="l"/>
                <a:tab pos="4889771" algn="l"/>
                <a:tab pos="5195449" algn="l"/>
                <a:tab pos="5501128" algn="l"/>
                <a:tab pos="5806806" algn="l"/>
                <a:tab pos="6112484" algn="l"/>
              </a:tabLst>
            </a:pPr>
            <a:r>
              <a:rPr lang="en-GB" altLang="en-US" sz="3600" b="1" dirty="0"/>
              <a:t>Best Practices</a:t>
            </a:r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742950"/>
            <a:ext cx="7696200" cy="434340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408"/>
              </a:spcBef>
              <a:spcAft>
                <a:spcPts val="408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r>
              <a:rPr lang="en-GB" altLang="en-US" sz="2449" b="1" dirty="0">
                <a:solidFill>
                  <a:srgbClr val="0000CC"/>
                </a:solidFill>
              </a:rPr>
              <a:t>Coding</a:t>
            </a:r>
            <a:r>
              <a:rPr lang="en-GB" altLang="en-US" sz="2449" dirty="0">
                <a:solidFill>
                  <a:srgbClr val="0000CC"/>
                </a:solidFill>
              </a:rPr>
              <a:t>:</a:t>
            </a:r>
          </a:p>
          <a:p>
            <a:pPr lvl="1">
              <a:lnSpc>
                <a:spcPct val="110000"/>
              </a:lnSpc>
              <a:spcBef>
                <a:spcPts val="408"/>
              </a:spcBef>
              <a:spcAft>
                <a:spcPts val="408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r>
              <a:rPr lang="en-GB" altLang="en-US" sz="2177" dirty="0"/>
              <a:t>without code it is not possible to have a working system. </a:t>
            </a:r>
          </a:p>
          <a:p>
            <a:pPr lvl="1">
              <a:lnSpc>
                <a:spcPct val="110000"/>
              </a:lnSpc>
              <a:spcBef>
                <a:spcPts val="408"/>
              </a:spcBef>
              <a:spcAft>
                <a:spcPts val="408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r>
              <a:rPr lang="en-GB" altLang="en-US" sz="2177" dirty="0"/>
              <a:t>Utmost attention needs to be placed on coding.</a:t>
            </a:r>
          </a:p>
          <a:p>
            <a:pPr>
              <a:lnSpc>
                <a:spcPct val="110000"/>
              </a:lnSpc>
              <a:spcBef>
                <a:spcPts val="408"/>
              </a:spcBef>
              <a:spcAft>
                <a:spcPts val="408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r>
              <a:rPr lang="en-GB" altLang="en-US" sz="2449" b="1" dirty="0">
                <a:solidFill>
                  <a:srgbClr val="0000CC"/>
                </a:solidFill>
              </a:rPr>
              <a:t>Testing</a:t>
            </a:r>
            <a:r>
              <a:rPr lang="en-GB" altLang="en-US" sz="2449" dirty="0">
                <a:solidFill>
                  <a:srgbClr val="0000CC"/>
                </a:solidFill>
              </a:rPr>
              <a:t>:</a:t>
            </a:r>
          </a:p>
          <a:p>
            <a:pPr lvl="1">
              <a:lnSpc>
                <a:spcPct val="110000"/>
              </a:lnSpc>
              <a:spcBef>
                <a:spcPts val="408"/>
              </a:spcBef>
              <a:spcAft>
                <a:spcPts val="408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r>
              <a:rPr lang="en-GB" altLang="en-US" sz="2177" dirty="0"/>
              <a:t>Testing is the primary means for developing a fault-free product.</a:t>
            </a:r>
          </a:p>
          <a:p>
            <a:pPr>
              <a:lnSpc>
                <a:spcPct val="110000"/>
              </a:lnSpc>
              <a:spcBef>
                <a:spcPts val="408"/>
              </a:spcBef>
              <a:spcAft>
                <a:spcPts val="408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r>
              <a:rPr lang="en-GB" altLang="en-US" sz="2449" dirty="0">
                <a:solidFill>
                  <a:srgbClr val="0000CC"/>
                </a:solidFill>
              </a:rPr>
              <a:t> </a:t>
            </a:r>
            <a:r>
              <a:rPr lang="en-GB" altLang="en-US" sz="2449" b="1" dirty="0">
                <a:solidFill>
                  <a:srgbClr val="0000CC"/>
                </a:solidFill>
              </a:rPr>
              <a:t>Listening</a:t>
            </a:r>
            <a:r>
              <a:rPr lang="en-GB" altLang="en-US" sz="2449" dirty="0">
                <a:solidFill>
                  <a:srgbClr val="0000CC"/>
                </a:solidFill>
              </a:rPr>
              <a:t>:</a:t>
            </a:r>
          </a:p>
          <a:p>
            <a:pPr lvl="1">
              <a:lnSpc>
                <a:spcPct val="110000"/>
              </a:lnSpc>
              <a:spcBef>
                <a:spcPts val="408"/>
              </a:spcBef>
              <a:spcAft>
                <a:spcPts val="408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r>
              <a:rPr lang="en-GB" altLang="en-US" sz="2177" dirty="0"/>
              <a:t>Careful listening to the customers is essential to develop a good quality product.</a:t>
            </a:r>
          </a:p>
          <a:p>
            <a:pPr lvl="1">
              <a:lnSpc>
                <a:spcPct val="110000"/>
              </a:lnSpc>
              <a:spcBef>
                <a:spcPts val="408"/>
              </a:spcBef>
              <a:spcAft>
                <a:spcPts val="408"/>
              </a:spcAft>
              <a:buNone/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endParaRPr lang="en-GB" altLang="en-US" sz="2177" dirty="0"/>
          </a:p>
          <a:p>
            <a:pPr lvl="1">
              <a:lnSpc>
                <a:spcPct val="110000"/>
              </a:lnSpc>
              <a:spcBef>
                <a:spcPts val="408"/>
              </a:spcBef>
              <a:spcAft>
                <a:spcPts val="408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endParaRPr lang="en-GB" altLang="en-US" sz="2177" dirty="0"/>
          </a:p>
          <a:p>
            <a:pPr lvl="1">
              <a:lnSpc>
                <a:spcPct val="110000"/>
              </a:lnSpc>
              <a:spcBef>
                <a:spcPts val="408"/>
              </a:spcBef>
              <a:spcAft>
                <a:spcPts val="408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endParaRPr lang="en-GB" altLang="en-US" sz="2177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511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6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68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768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768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768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768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768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-40256"/>
            <a:ext cx="7801299" cy="934298"/>
          </a:xfrm>
        </p:spPr>
        <p:txBody>
          <a:bodyPr>
            <a:normAutofit/>
          </a:bodyPr>
          <a:lstStyle/>
          <a:p>
            <a:pPr eaLnBrk="1"/>
            <a:r>
              <a:rPr lang="en-US" altLang="en-US" sz="3600" b="1" dirty="0"/>
              <a:t>Best  Practices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742951"/>
            <a:ext cx="9144000" cy="383872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5000"/>
              </a:lnSpc>
              <a:spcBef>
                <a:spcPct val="15000"/>
              </a:spcBef>
              <a:spcAft>
                <a:spcPts val="680"/>
              </a:spcAft>
            </a:pPr>
            <a:r>
              <a:rPr lang="en-GB" altLang="en-US" sz="2994" b="1" dirty="0">
                <a:solidFill>
                  <a:srgbClr val="0000CC"/>
                </a:solidFill>
              </a:rPr>
              <a:t>Designing</a:t>
            </a:r>
            <a:r>
              <a:rPr lang="en-GB" altLang="en-US" sz="2994" dirty="0">
                <a:solidFill>
                  <a:srgbClr val="0000CC"/>
                </a:solidFill>
              </a:rPr>
              <a:t>:</a:t>
            </a:r>
          </a:p>
          <a:p>
            <a:pPr lvl="1">
              <a:lnSpc>
                <a:spcPct val="115000"/>
              </a:lnSpc>
              <a:spcBef>
                <a:spcPct val="15000"/>
              </a:spcBef>
              <a:spcAft>
                <a:spcPts val="680"/>
              </a:spcAft>
            </a:pPr>
            <a:r>
              <a:rPr lang="en-GB" altLang="en-US" sz="2722" dirty="0"/>
              <a:t>Without proper design, a system implementation becomes too complex</a:t>
            </a:r>
          </a:p>
          <a:p>
            <a:pPr lvl="1">
              <a:lnSpc>
                <a:spcPct val="115000"/>
              </a:lnSpc>
              <a:spcBef>
                <a:spcPct val="15000"/>
              </a:spcBef>
              <a:spcAft>
                <a:spcPts val="680"/>
              </a:spcAft>
            </a:pPr>
            <a:r>
              <a:rPr lang="en-GB" altLang="en-US" sz="2722" dirty="0"/>
              <a:t>The dependencies within the system become too numerous to comprehend.</a:t>
            </a:r>
          </a:p>
          <a:p>
            <a:pPr>
              <a:lnSpc>
                <a:spcPct val="115000"/>
              </a:lnSpc>
              <a:spcBef>
                <a:spcPct val="15000"/>
              </a:spcBef>
              <a:spcAft>
                <a:spcPts val="680"/>
              </a:spcAft>
            </a:pPr>
            <a:r>
              <a:rPr lang="en-GB" altLang="en-US" sz="2994" dirty="0"/>
              <a:t> </a:t>
            </a:r>
            <a:r>
              <a:rPr lang="en-GB" altLang="en-US" sz="2994" b="1" dirty="0">
                <a:solidFill>
                  <a:srgbClr val="0000CC"/>
                </a:solidFill>
              </a:rPr>
              <a:t>Feedback</a:t>
            </a:r>
            <a:r>
              <a:rPr lang="en-GB" altLang="en-US" sz="2994" dirty="0">
                <a:solidFill>
                  <a:srgbClr val="0000CC"/>
                </a:solidFill>
              </a:rPr>
              <a:t>:</a:t>
            </a:r>
          </a:p>
          <a:p>
            <a:pPr lvl="1">
              <a:lnSpc>
                <a:spcPct val="115000"/>
              </a:lnSpc>
              <a:spcBef>
                <a:spcPct val="15000"/>
              </a:spcBef>
              <a:spcAft>
                <a:spcPts val="680"/>
              </a:spcAft>
            </a:pPr>
            <a:r>
              <a:rPr lang="en-GB" altLang="en-US" sz="2722" dirty="0"/>
              <a:t>Feedback is important in  learning customer requirements.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7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782633" y="4686613"/>
            <a:ext cx="1905320" cy="342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68579" tIns="34289" rIns="68579" bIns="34289" rtlCol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505503" indent="-194424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 marL="777697" indent="-155539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 marL="1088776" indent="-155539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 marL="1399855" indent="-155539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1710934" indent="-155539" defTabSz="31107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022013" indent="-155539" defTabSz="31107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2333092" indent="-155539" defTabSz="31107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2644170" indent="-155539" defTabSz="31107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fld id="{93201155-5CD3-484C-BB33-E662D706AC89}" type="slidenum">
              <a:rPr lang="en-US" altLang="ko-KR">
                <a:ea typeface="굴림" pitchFamily="50" charset="-127"/>
              </a:rPr>
              <a:pPr/>
              <a:t>38</a:t>
            </a:fld>
            <a:endParaRPr lang="en-US" altLang="ko-KR">
              <a:ea typeface="굴림" pitchFamily="50" charset="-127"/>
            </a:endParaRPr>
          </a:p>
        </p:txBody>
      </p:sp>
      <p:sp>
        <p:nvSpPr>
          <p:cNvPr id="31949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33350"/>
            <a:ext cx="8432800" cy="457200"/>
          </a:xfrm>
          <a:noFill/>
        </p:spPr>
        <p:txBody>
          <a:bodyPr>
            <a:noAutofit/>
          </a:bodyPr>
          <a:lstStyle/>
          <a:p>
            <a:r>
              <a:rPr lang="en-US" altLang="ko-KR" sz="3200" b="1" dirty="0">
                <a:ea typeface="굴림" pitchFamily="50" charset="-127"/>
              </a:rPr>
              <a:t>Extreme Programming Activities</a:t>
            </a:r>
            <a:endParaRPr lang="en-US" altLang="ko-KR" sz="2800" b="1" dirty="0">
              <a:ea typeface="굴림" pitchFamily="50" charset="-127"/>
            </a:endParaRPr>
          </a:p>
        </p:txBody>
      </p:sp>
      <p:sp>
        <p:nvSpPr>
          <p:cNvPr id="319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666750"/>
            <a:ext cx="7848600" cy="4363256"/>
          </a:xfrm>
        </p:spPr>
        <p:txBody>
          <a:bodyPr>
            <a:noAutofit/>
          </a:bodyPr>
          <a:lstStyle/>
          <a:p>
            <a:pPr marL="456897" indent="-456897">
              <a:lnSpc>
                <a:spcPct val="110000"/>
              </a:lnSpc>
              <a:spcBef>
                <a:spcPts val="0"/>
              </a:spcBef>
            </a:pPr>
            <a:r>
              <a:rPr lang="en-US" altLang="ko-KR" sz="2400" b="1" dirty="0">
                <a:solidFill>
                  <a:srgbClr val="0000FF"/>
                </a:solidFill>
                <a:ea typeface="굴림" pitchFamily="50" charset="-127"/>
              </a:rPr>
              <a:t>XP Planning</a:t>
            </a:r>
          </a:p>
          <a:p>
            <a:pPr marL="761496" lvl="1" indent="-419092">
              <a:lnSpc>
                <a:spcPct val="110000"/>
              </a:lnSpc>
              <a:spcBef>
                <a:spcPts val="0"/>
              </a:spcBef>
              <a:buFontTx/>
              <a:buChar char="•"/>
            </a:pPr>
            <a:r>
              <a:rPr lang="en-US" altLang="ko-KR" sz="2000" dirty="0">
                <a:ea typeface="굴림" pitchFamily="50" charset="-127"/>
              </a:rPr>
              <a:t>Begins with the creation of “user stories”</a:t>
            </a:r>
          </a:p>
          <a:p>
            <a:pPr marL="761496" lvl="1" indent="-419092">
              <a:lnSpc>
                <a:spcPct val="110000"/>
              </a:lnSpc>
              <a:spcBef>
                <a:spcPts val="0"/>
              </a:spcBef>
              <a:buFontTx/>
              <a:buChar char="•"/>
            </a:pPr>
            <a:r>
              <a:rPr lang="en-US" altLang="ko-KR" sz="2000" dirty="0">
                <a:ea typeface="굴림" pitchFamily="50" charset="-127"/>
              </a:rPr>
              <a:t>Agile team assesses each story and assigns a cost</a:t>
            </a:r>
          </a:p>
          <a:p>
            <a:pPr marL="761496" lvl="1" indent="-419092">
              <a:lnSpc>
                <a:spcPct val="110000"/>
              </a:lnSpc>
              <a:spcBef>
                <a:spcPts val="0"/>
              </a:spcBef>
              <a:buFontTx/>
              <a:buChar char="•"/>
            </a:pPr>
            <a:r>
              <a:rPr lang="en-US" altLang="ko-KR" sz="2000" dirty="0">
                <a:ea typeface="굴림" pitchFamily="50" charset="-127"/>
              </a:rPr>
              <a:t>Stories are grouped to for a deliverable increment</a:t>
            </a:r>
          </a:p>
          <a:p>
            <a:pPr marL="761496" lvl="1" indent="-419092">
              <a:lnSpc>
                <a:spcPct val="110000"/>
              </a:lnSpc>
              <a:spcBef>
                <a:spcPts val="0"/>
              </a:spcBef>
              <a:buFontTx/>
              <a:buChar char="•"/>
            </a:pPr>
            <a:r>
              <a:rPr lang="en-US" altLang="ko-KR" sz="2000" dirty="0">
                <a:ea typeface="굴림" pitchFamily="50" charset="-127"/>
              </a:rPr>
              <a:t>A commitment is made on delivery date</a:t>
            </a:r>
          </a:p>
          <a:p>
            <a:pPr marL="456897" indent="-456897">
              <a:lnSpc>
                <a:spcPct val="110000"/>
              </a:lnSpc>
              <a:spcBef>
                <a:spcPts val="0"/>
              </a:spcBef>
            </a:pPr>
            <a:r>
              <a:rPr lang="en-US" altLang="ko-KR" sz="2400" b="1" dirty="0">
                <a:solidFill>
                  <a:srgbClr val="0000FF"/>
                </a:solidFill>
                <a:ea typeface="굴림" pitchFamily="50" charset="-127"/>
              </a:rPr>
              <a:t>XP Design</a:t>
            </a:r>
          </a:p>
          <a:p>
            <a:pPr marL="761496" lvl="1" indent="-419092">
              <a:lnSpc>
                <a:spcPct val="110000"/>
              </a:lnSpc>
              <a:spcBef>
                <a:spcPts val="0"/>
              </a:spcBef>
              <a:buFontTx/>
              <a:buChar char="•"/>
            </a:pPr>
            <a:r>
              <a:rPr lang="en-US" altLang="ko-KR" sz="2000" dirty="0">
                <a:ea typeface="굴림" pitchFamily="50" charset="-127"/>
              </a:rPr>
              <a:t>Follows the KIS principle</a:t>
            </a:r>
          </a:p>
          <a:p>
            <a:pPr marL="761496" lvl="1" indent="-419092">
              <a:lnSpc>
                <a:spcPct val="110000"/>
              </a:lnSpc>
              <a:spcBef>
                <a:spcPts val="0"/>
              </a:spcBef>
              <a:buFontTx/>
              <a:buChar char="•"/>
            </a:pPr>
            <a:r>
              <a:rPr lang="en-US" altLang="ko-KR" sz="2000" dirty="0">
                <a:ea typeface="굴림" pitchFamily="50" charset="-127"/>
              </a:rPr>
              <a:t>Encourage the use of CRC cards</a:t>
            </a:r>
          </a:p>
          <a:p>
            <a:pPr marL="761496" lvl="1" indent="-419092">
              <a:lnSpc>
                <a:spcPct val="110000"/>
              </a:lnSpc>
              <a:spcBef>
                <a:spcPts val="0"/>
              </a:spcBef>
              <a:buFontTx/>
              <a:buChar char="•"/>
            </a:pPr>
            <a:r>
              <a:rPr lang="en-US" altLang="ko-KR" sz="2000" dirty="0">
                <a:ea typeface="굴림" pitchFamily="50" charset="-127"/>
              </a:rPr>
              <a:t>For difficult design problems, suggests the creation of “spike solutions”—a design prototype</a:t>
            </a:r>
          </a:p>
          <a:p>
            <a:pPr marL="761496" lvl="1" indent="-419092">
              <a:lnSpc>
                <a:spcPct val="110000"/>
              </a:lnSpc>
              <a:spcBef>
                <a:spcPts val="0"/>
              </a:spcBef>
              <a:buFontTx/>
              <a:buChar char="•"/>
            </a:pPr>
            <a:r>
              <a:rPr lang="en-US" altLang="ko-KR" sz="2000" dirty="0">
                <a:ea typeface="굴림" pitchFamily="50" charset="-127"/>
              </a:rPr>
              <a:t>Encourages “refactoring”—an iterative refinement of the internal program design</a:t>
            </a:r>
          </a:p>
        </p:txBody>
      </p:sp>
    </p:spTree>
    <p:extLst>
      <p:ext uri="{BB962C8B-B14F-4D97-AF65-F5344CB8AC3E}">
        <p14:creationId xmlns:p14="http://schemas.microsoft.com/office/powerpoint/2010/main" val="482747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782633" y="4686613"/>
            <a:ext cx="1905320" cy="342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68579" tIns="34289" rIns="68579" bIns="34289" rtlCol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505503" indent="-194424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 marL="777697" indent="-155539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 marL="1088776" indent="-155539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 marL="1399855" indent="-155539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1710934" indent="-155539" defTabSz="31107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022013" indent="-155539" defTabSz="31107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2333092" indent="-155539" defTabSz="31107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2644170" indent="-155539" defTabSz="311079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177" b="1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fld id="{78204CCB-F6C6-4905-BC2A-BCBD5829AC90}" type="slidenum">
              <a:rPr lang="en-US" altLang="ko-KR">
                <a:ea typeface="굴림" pitchFamily="50" charset="-127"/>
              </a:rPr>
              <a:pPr/>
              <a:t>39</a:t>
            </a:fld>
            <a:endParaRPr lang="en-US" altLang="ko-KR">
              <a:ea typeface="굴림" pitchFamily="50" charset="-127"/>
            </a:endParaRPr>
          </a:p>
        </p:txBody>
      </p:sp>
      <p:sp>
        <p:nvSpPr>
          <p:cNvPr id="321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799" y="819150"/>
            <a:ext cx="7772401" cy="4038600"/>
          </a:xfrm>
        </p:spPr>
        <p:txBody>
          <a:bodyPr>
            <a:normAutofit lnSpcReduction="10000"/>
          </a:bodyPr>
          <a:lstStyle/>
          <a:p>
            <a:pPr>
              <a:lnSpc>
                <a:spcPct val="114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ko-KR" b="1" dirty="0" smtClean="0">
                <a:solidFill>
                  <a:srgbClr val="0000FF"/>
                </a:solidFill>
                <a:ea typeface="굴림" pitchFamily="50" charset="-127"/>
              </a:rPr>
              <a:t>XP Coding</a:t>
            </a:r>
          </a:p>
          <a:p>
            <a:pPr lvl="1">
              <a:lnSpc>
                <a:spcPct val="114000"/>
              </a:lnSpc>
              <a:spcBef>
                <a:spcPts val="408"/>
              </a:spcBef>
              <a:spcAft>
                <a:spcPts val="816"/>
              </a:spcAft>
              <a:buFontTx/>
              <a:buChar char="•"/>
            </a:pPr>
            <a:r>
              <a:rPr lang="en-US" altLang="ko-KR" sz="2177" dirty="0">
                <a:ea typeface="굴림" pitchFamily="50" charset="-127"/>
              </a:rPr>
              <a:t>Recommends the construction of unit test cases </a:t>
            </a:r>
            <a:r>
              <a:rPr lang="en-US" altLang="ko-KR" sz="2177" i="1" dirty="0">
                <a:ea typeface="굴림" pitchFamily="50" charset="-127"/>
              </a:rPr>
              <a:t>before</a:t>
            </a:r>
            <a:r>
              <a:rPr lang="en-US" altLang="ko-KR" sz="2177" dirty="0">
                <a:ea typeface="굴림" pitchFamily="50" charset="-127"/>
              </a:rPr>
              <a:t> coding commences (test-driven development)</a:t>
            </a:r>
          </a:p>
          <a:p>
            <a:pPr lvl="1">
              <a:lnSpc>
                <a:spcPct val="114000"/>
              </a:lnSpc>
              <a:spcBef>
                <a:spcPts val="408"/>
              </a:spcBef>
              <a:spcAft>
                <a:spcPts val="816"/>
              </a:spcAft>
              <a:buFontTx/>
              <a:buChar char="•"/>
            </a:pPr>
            <a:r>
              <a:rPr lang="en-US" altLang="ko-KR" sz="2177" dirty="0">
                <a:ea typeface="굴림" pitchFamily="50" charset="-127"/>
              </a:rPr>
              <a:t>Encourages “pair programming”</a:t>
            </a:r>
          </a:p>
          <a:p>
            <a:pPr>
              <a:lnSpc>
                <a:spcPct val="114000"/>
              </a:lnSpc>
              <a:spcBef>
                <a:spcPts val="408"/>
              </a:spcBef>
              <a:spcAft>
                <a:spcPts val="816"/>
              </a:spcAft>
            </a:pPr>
            <a:r>
              <a:rPr lang="en-US" altLang="ko-KR" b="1" dirty="0" smtClean="0">
                <a:solidFill>
                  <a:srgbClr val="0000FF"/>
                </a:solidFill>
                <a:ea typeface="굴림" pitchFamily="50" charset="-127"/>
              </a:rPr>
              <a:t>XP Testing</a:t>
            </a:r>
          </a:p>
          <a:p>
            <a:pPr lvl="1">
              <a:lnSpc>
                <a:spcPct val="114000"/>
              </a:lnSpc>
              <a:spcBef>
                <a:spcPts val="408"/>
              </a:spcBef>
              <a:spcAft>
                <a:spcPts val="816"/>
              </a:spcAft>
              <a:buFontTx/>
              <a:buChar char="•"/>
            </a:pPr>
            <a:r>
              <a:rPr lang="en-US" altLang="ko-KR" sz="2177" dirty="0">
                <a:ea typeface="굴림" pitchFamily="50" charset="-127"/>
              </a:rPr>
              <a:t>All unit tests are executed daily</a:t>
            </a:r>
          </a:p>
          <a:p>
            <a:pPr lvl="1">
              <a:lnSpc>
                <a:spcPct val="114000"/>
              </a:lnSpc>
              <a:spcBef>
                <a:spcPts val="408"/>
              </a:spcBef>
              <a:spcAft>
                <a:spcPts val="816"/>
              </a:spcAft>
              <a:buFontTx/>
              <a:buChar char="•"/>
            </a:pPr>
            <a:r>
              <a:rPr lang="en-US" altLang="ko-KR" sz="2177" dirty="0">
                <a:ea typeface="굴림" pitchFamily="50" charset="-127"/>
              </a:rPr>
              <a:t>“Acceptance tests” are defined by the customer and executed to assess customer visible functionalities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58281" y="57150"/>
            <a:ext cx="8534400" cy="66675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>
                <a:ea typeface="굴림" pitchFamily="50" charset="-127"/>
              </a:rPr>
              <a:t>Extreme Programming Activities</a:t>
            </a:r>
            <a:endParaRPr lang="en-US" altLang="ko-KR" sz="2400" b="1" dirty="0"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2907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876800" y="819151"/>
            <a:ext cx="4267200" cy="400455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en-US" altLang="en-US" sz="2800" b="1" dirty="0"/>
              <a:t>Full List of XP Practices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799" y="285750"/>
            <a:ext cx="7811311" cy="3622004"/>
          </a:xfrm>
        </p:spPr>
        <p:txBody>
          <a:bodyPr>
            <a:noAutofit/>
          </a:bodyPr>
          <a:lstStyle/>
          <a:p>
            <a:pPr marL="414772" indent="-414772">
              <a:spcBef>
                <a:spcPts val="0"/>
              </a:spcBef>
              <a:spcAft>
                <a:spcPts val="600"/>
              </a:spcAft>
              <a:buSzPct val="90000"/>
              <a:buFontTx/>
              <a:buAutoNum type="arabicPeriod"/>
            </a:pPr>
            <a:r>
              <a:rPr lang="en-US" altLang="en-US" sz="2000" b="1" dirty="0">
                <a:solidFill>
                  <a:srgbClr val="0000CC"/>
                </a:solidFill>
              </a:rPr>
              <a:t>Planning</a:t>
            </a:r>
            <a:r>
              <a:rPr lang="en-US" altLang="en-US" sz="2000" dirty="0">
                <a:solidFill>
                  <a:srgbClr val="0000CC"/>
                </a:solidFill>
              </a:rPr>
              <a:t> </a:t>
            </a:r>
            <a:r>
              <a:rPr lang="en-US" altLang="en-US" sz="2000" dirty="0"/>
              <a:t> – determine scope of the next release by combining </a:t>
            </a:r>
            <a:r>
              <a:rPr lang="en-US" altLang="en-US" sz="2400" dirty="0"/>
              <a:t>business</a:t>
            </a:r>
            <a:r>
              <a:rPr lang="en-US" altLang="en-US" sz="2000" dirty="0"/>
              <a:t> priorities and technical </a:t>
            </a:r>
            <a:r>
              <a:rPr lang="en-US" altLang="en-US" sz="2000" dirty="0" smtClean="0"/>
              <a:t>estimates</a:t>
            </a:r>
            <a:endParaRPr lang="en-US" altLang="en-US" sz="2000" dirty="0"/>
          </a:p>
          <a:p>
            <a:pPr marL="414772" indent="-414772">
              <a:spcBef>
                <a:spcPts val="0"/>
              </a:spcBef>
              <a:spcAft>
                <a:spcPts val="600"/>
              </a:spcAft>
              <a:buSzPct val="90000"/>
              <a:buFontTx/>
              <a:buAutoNum type="arabicPeriod"/>
            </a:pPr>
            <a:endParaRPr lang="en-US" altLang="en-US" sz="2000" dirty="0"/>
          </a:p>
          <a:p>
            <a:pPr marL="414772" indent="-414772">
              <a:spcBef>
                <a:spcPts val="0"/>
              </a:spcBef>
              <a:spcAft>
                <a:spcPts val="600"/>
              </a:spcAft>
              <a:buSzPct val="90000"/>
              <a:buFontTx/>
              <a:buAutoNum type="arabicPeriod"/>
            </a:pPr>
            <a:r>
              <a:rPr lang="en-US" altLang="en-US" sz="2000" b="1" dirty="0">
                <a:solidFill>
                  <a:srgbClr val="0000CC"/>
                </a:solidFill>
              </a:rPr>
              <a:t>Small releases</a:t>
            </a:r>
            <a:r>
              <a:rPr lang="en-US" altLang="en-US" sz="2000" b="1" dirty="0"/>
              <a:t> </a:t>
            </a:r>
            <a:r>
              <a:rPr lang="en-US" altLang="en-US" sz="2000" dirty="0"/>
              <a:t>– put a simple system into production, then release new versions in very short cycles</a:t>
            </a:r>
          </a:p>
          <a:p>
            <a:pPr marL="414772" indent="-414772">
              <a:spcBef>
                <a:spcPts val="0"/>
              </a:spcBef>
              <a:spcAft>
                <a:spcPts val="600"/>
              </a:spcAft>
              <a:buSzPct val="90000"/>
              <a:buFontTx/>
              <a:buAutoNum type="arabicPeriod"/>
            </a:pPr>
            <a:endParaRPr lang="en-US" altLang="en-US" sz="2000" dirty="0"/>
          </a:p>
          <a:p>
            <a:pPr marL="414772" indent="-414772">
              <a:spcBef>
                <a:spcPts val="0"/>
              </a:spcBef>
              <a:spcAft>
                <a:spcPts val="600"/>
              </a:spcAft>
              <a:buSzPct val="90000"/>
              <a:buFontTx/>
              <a:buAutoNum type="arabicPeriod"/>
            </a:pPr>
            <a:r>
              <a:rPr lang="en-US" altLang="en-US" sz="2000" b="1" dirty="0">
                <a:solidFill>
                  <a:srgbClr val="0000CC"/>
                </a:solidFill>
              </a:rPr>
              <a:t>Metaphor</a:t>
            </a:r>
            <a:r>
              <a:rPr lang="en-US" altLang="en-US" sz="2000" dirty="0"/>
              <a:t> – all development is guided by a simple shared story of how the whole system works</a:t>
            </a:r>
          </a:p>
          <a:p>
            <a:pPr marL="414772" indent="-414772">
              <a:spcBef>
                <a:spcPts val="0"/>
              </a:spcBef>
              <a:spcAft>
                <a:spcPts val="600"/>
              </a:spcAft>
              <a:buSzPct val="90000"/>
              <a:buFontTx/>
              <a:buAutoNum type="arabicPeriod"/>
            </a:pPr>
            <a:endParaRPr lang="en-US" altLang="en-US" sz="2000" dirty="0"/>
          </a:p>
          <a:p>
            <a:pPr marL="414772" indent="-414772">
              <a:spcBef>
                <a:spcPts val="0"/>
              </a:spcBef>
              <a:spcAft>
                <a:spcPts val="600"/>
              </a:spcAft>
              <a:buSzPct val="90000"/>
              <a:buFontTx/>
              <a:buAutoNum type="arabicPeriod"/>
            </a:pPr>
            <a:r>
              <a:rPr lang="en-US" altLang="en-US" sz="2000" b="1" dirty="0">
                <a:solidFill>
                  <a:srgbClr val="0000CC"/>
                </a:solidFill>
              </a:rPr>
              <a:t>Simple design</a:t>
            </a:r>
            <a:r>
              <a:rPr lang="en-US" altLang="en-US" sz="2000" b="1" dirty="0"/>
              <a:t> </a:t>
            </a:r>
            <a:r>
              <a:rPr lang="en-US" altLang="en-US" sz="2000" dirty="0"/>
              <a:t>– system is to be designed as simple as possible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SzPct val="90000"/>
              <a:buNone/>
            </a:pPr>
            <a:endParaRPr lang="en-US" altLang="en-US" sz="2000" dirty="0"/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SzPct val="90000"/>
              <a:buFont typeface="+mj-lt"/>
              <a:buAutoNum type="arabicPeriod" startAt="5"/>
            </a:pPr>
            <a:r>
              <a:rPr lang="en-US" altLang="en-US" sz="2000" b="1" dirty="0">
                <a:solidFill>
                  <a:srgbClr val="0000CC"/>
                </a:solidFill>
              </a:rPr>
              <a:t>Testing</a:t>
            </a:r>
            <a:r>
              <a:rPr lang="en-US" altLang="en-US" sz="2000" dirty="0">
                <a:solidFill>
                  <a:srgbClr val="0000CC"/>
                </a:solidFill>
              </a:rPr>
              <a:t> </a:t>
            </a:r>
            <a:r>
              <a:rPr lang="en-US" altLang="en-US" sz="2000" dirty="0"/>
              <a:t>– programmers continuously write and execute unit tests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7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87321" y="-184280"/>
            <a:ext cx="8231904" cy="857611"/>
          </a:xfrm>
        </p:spPr>
        <p:txBody>
          <a:bodyPr>
            <a:normAutofit/>
          </a:bodyPr>
          <a:lstStyle/>
          <a:p>
            <a:r>
              <a:rPr lang="en-US" altLang="en-US" sz="2800" b="1" dirty="0"/>
              <a:t>Full List of XP </a:t>
            </a:r>
            <a:r>
              <a:rPr lang="en-US" altLang="en-US" sz="2800" b="1" dirty="0" smtClean="0"/>
              <a:t>Practices  </a:t>
            </a:r>
            <a:r>
              <a:rPr lang="en-US" altLang="en-US" sz="2800" b="1" dirty="0" err="1" smtClean="0"/>
              <a:t>cont</a:t>
            </a:r>
            <a:r>
              <a:rPr lang="en-US" altLang="en-US" sz="2800" b="1" dirty="0" smtClean="0"/>
              <a:t> …</a:t>
            </a:r>
            <a:endParaRPr lang="en-US" altLang="en-US" sz="2800" b="1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514350"/>
            <a:ext cx="8001000" cy="3537268"/>
          </a:xfrm>
        </p:spPr>
        <p:txBody>
          <a:bodyPr>
            <a:noAutofit/>
          </a:bodyPr>
          <a:lstStyle/>
          <a:p>
            <a:pPr marL="456897" indent="-456897">
              <a:lnSpc>
                <a:spcPct val="115000"/>
              </a:lnSpc>
              <a:spcBef>
                <a:spcPts val="680"/>
              </a:spcBef>
              <a:spcAft>
                <a:spcPts val="680"/>
              </a:spcAft>
              <a:buSzPct val="90000"/>
              <a:buFontTx/>
              <a:buAutoNum type="arabicPeriod" startAt="7"/>
            </a:pPr>
            <a:r>
              <a:rPr lang="en-US" altLang="en-US" sz="2400" b="1" dirty="0" smtClean="0">
                <a:solidFill>
                  <a:srgbClr val="0000CC"/>
                </a:solidFill>
              </a:rPr>
              <a:t>Refactoring</a:t>
            </a:r>
            <a:r>
              <a:rPr lang="en-US" altLang="en-US" sz="2400" b="0" dirty="0" smtClean="0">
                <a:solidFill>
                  <a:schemeClr val="tx1"/>
                </a:solidFill>
              </a:rPr>
              <a:t> – programmers continuously restructure the system without changing its behavior to remove duplication and simplify</a:t>
            </a:r>
          </a:p>
          <a:p>
            <a:pPr marL="456897" indent="-456897">
              <a:lnSpc>
                <a:spcPct val="115000"/>
              </a:lnSpc>
              <a:spcBef>
                <a:spcPts val="680"/>
              </a:spcBef>
              <a:spcAft>
                <a:spcPts val="680"/>
              </a:spcAft>
              <a:buSzPct val="90000"/>
              <a:buFontTx/>
              <a:buAutoNum type="arabicPeriod" startAt="7"/>
            </a:pPr>
            <a:r>
              <a:rPr lang="en-US" altLang="en-US" sz="2400" b="1" dirty="0" smtClean="0">
                <a:solidFill>
                  <a:srgbClr val="0000CC"/>
                </a:solidFill>
              </a:rPr>
              <a:t>Pair-programming</a:t>
            </a:r>
            <a:r>
              <a:rPr lang="en-US" altLang="en-US" sz="2400" b="0" dirty="0" smtClean="0">
                <a:solidFill>
                  <a:schemeClr val="tx1"/>
                </a:solidFill>
              </a:rPr>
              <a:t> --  all production code is written with two programmers at one machine</a:t>
            </a:r>
          </a:p>
          <a:p>
            <a:pPr marL="456897" indent="-456897">
              <a:lnSpc>
                <a:spcPct val="115000"/>
              </a:lnSpc>
              <a:spcBef>
                <a:spcPts val="680"/>
              </a:spcBef>
              <a:spcAft>
                <a:spcPts val="680"/>
              </a:spcAft>
              <a:buSzPct val="90000"/>
              <a:buFontTx/>
              <a:buAutoNum type="arabicPeriod" startAt="7"/>
            </a:pPr>
            <a:r>
              <a:rPr lang="en-US" altLang="en-US" sz="2400" b="1" dirty="0" smtClean="0">
                <a:solidFill>
                  <a:srgbClr val="0000CC"/>
                </a:solidFill>
              </a:rPr>
              <a:t>Collective ownership</a:t>
            </a:r>
            <a:r>
              <a:rPr lang="en-US" altLang="en-US" sz="2400" b="1" dirty="0" smtClean="0">
                <a:solidFill>
                  <a:schemeClr val="tx1"/>
                </a:solidFill>
              </a:rPr>
              <a:t> </a:t>
            </a:r>
            <a:r>
              <a:rPr lang="en-US" altLang="en-US" sz="2400" b="0" dirty="0" smtClean="0">
                <a:solidFill>
                  <a:schemeClr val="tx1"/>
                </a:solidFill>
              </a:rPr>
              <a:t>– anyone can change any code anywhere in the system at any time.</a:t>
            </a:r>
          </a:p>
          <a:p>
            <a:pPr marL="456897" indent="-456897">
              <a:lnSpc>
                <a:spcPct val="115000"/>
              </a:lnSpc>
              <a:spcBef>
                <a:spcPts val="680"/>
              </a:spcBef>
              <a:spcAft>
                <a:spcPts val="680"/>
              </a:spcAft>
              <a:buSzPct val="90000"/>
              <a:buFontTx/>
              <a:buAutoNum type="arabicPeriod" startAt="7"/>
            </a:pPr>
            <a:r>
              <a:rPr lang="en-US" altLang="en-US" sz="2400" b="1" dirty="0" smtClean="0">
                <a:solidFill>
                  <a:srgbClr val="0000CC"/>
                </a:solidFill>
              </a:rPr>
              <a:t>Continuous integration</a:t>
            </a:r>
            <a:r>
              <a:rPr lang="en-US" altLang="en-US" sz="2400" b="1" dirty="0" smtClean="0">
                <a:solidFill>
                  <a:schemeClr val="tx1"/>
                </a:solidFill>
              </a:rPr>
              <a:t> </a:t>
            </a:r>
            <a:r>
              <a:rPr lang="en-US" altLang="en-US" sz="2400" b="0" dirty="0" smtClean="0">
                <a:solidFill>
                  <a:schemeClr val="tx1"/>
                </a:solidFill>
              </a:rPr>
              <a:t>– integrate and build the system many times a day – every time a task is completed.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8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Title 1"/>
          <p:cNvSpPr>
            <a:spLocks noGrp="1"/>
          </p:cNvSpPr>
          <p:nvPr>
            <p:ph type="title" idx="4294967295"/>
          </p:nvPr>
        </p:nvSpPr>
        <p:spPr>
          <a:xfrm>
            <a:off x="617308" y="26841"/>
            <a:ext cx="7801299" cy="934298"/>
          </a:xfrm>
        </p:spPr>
        <p:txBody>
          <a:bodyPr/>
          <a:lstStyle/>
          <a:p>
            <a:r>
              <a:rPr lang="en-US" altLang="en-US" sz="3062" b="1" dirty="0"/>
              <a:t>Full List of XP Practices </a:t>
            </a:r>
          </a:p>
        </p:txBody>
      </p:sp>
      <p:sp>
        <p:nvSpPr>
          <p:cNvPr id="325635" name="Content Placeholder 2"/>
          <p:cNvSpPr>
            <a:spLocks noGrp="1"/>
          </p:cNvSpPr>
          <p:nvPr>
            <p:ph idx="4294967295"/>
          </p:nvPr>
        </p:nvSpPr>
        <p:spPr>
          <a:xfrm>
            <a:off x="1142999" y="1123951"/>
            <a:ext cx="7696201" cy="3429000"/>
          </a:xfrm>
        </p:spPr>
        <p:txBody>
          <a:bodyPr>
            <a:normAutofit lnSpcReduction="10000"/>
          </a:bodyPr>
          <a:lstStyle/>
          <a:p>
            <a:pPr marL="456897" indent="-456897">
              <a:lnSpc>
                <a:spcPct val="115000"/>
              </a:lnSpc>
              <a:spcBef>
                <a:spcPts val="680"/>
              </a:spcBef>
              <a:spcAft>
                <a:spcPts val="1021"/>
              </a:spcAft>
              <a:buSzPct val="90000"/>
              <a:buFontTx/>
              <a:buAutoNum type="arabicPeriod" startAt="11"/>
            </a:pPr>
            <a:r>
              <a:rPr lang="en-US" altLang="en-US" sz="2449" b="1" dirty="0">
                <a:solidFill>
                  <a:srgbClr val="0000CC"/>
                </a:solidFill>
              </a:rPr>
              <a:t>40-hour week</a:t>
            </a:r>
            <a:r>
              <a:rPr lang="en-US" altLang="en-US" sz="2449" b="1" dirty="0"/>
              <a:t> </a:t>
            </a:r>
            <a:r>
              <a:rPr lang="en-US" altLang="en-US" sz="2449" dirty="0"/>
              <a:t>– work no more than 40 hours a week as a rule</a:t>
            </a:r>
          </a:p>
          <a:p>
            <a:pPr marL="456897" indent="-456897">
              <a:lnSpc>
                <a:spcPct val="115000"/>
              </a:lnSpc>
              <a:spcBef>
                <a:spcPts val="680"/>
              </a:spcBef>
              <a:spcAft>
                <a:spcPts val="1021"/>
              </a:spcAft>
              <a:buSzPct val="90000"/>
              <a:buFontTx/>
              <a:buAutoNum type="arabicPeriod" startAt="11"/>
            </a:pPr>
            <a:r>
              <a:rPr lang="en-US" altLang="en-US" sz="2449" b="1" dirty="0">
                <a:solidFill>
                  <a:srgbClr val="0000CC"/>
                </a:solidFill>
              </a:rPr>
              <a:t>On-site customer</a:t>
            </a:r>
            <a:r>
              <a:rPr lang="en-US" altLang="en-US" sz="2449" b="1" dirty="0"/>
              <a:t> </a:t>
            </a:r>
            <a:r>
              <a:rPr lang="en-US" altLang="en-US" sz="2449" dirty="0"/>
              <a:t>– a user is a part of the team and available full-time to answer questions</a:t>
            </a:r>
          </a:p>
          <a:p>
            <a:pPr marL="456897" indent="-456897">
              <a:lnSpc>
                <a:spcPct val="115000"/>
              </a:lnSpc>
              <a:spcBef>
                <a:spcPts val="680"/>
              </a:spcBef>
              <a:spcAft>
                <a:spcPts val="1021"/>
              </a:spcAft>
              <a:buSzPct val="90000"/>
              <a:buFontTx/>
              <a:buAutoNum type="arabicPeriod" startAt="11"/>
            </a:pPr>
            <a:r>
              <a:rPr lang="en-US" altLang="en-US" sz="2449" b="1" dirty="0">
                <a:solidFill>
                  <a:srgbClr val="0000CC"/>
                </a:solidFill>
              </a:rPr>
              <a:t>Coding standards</a:t>
            </a:r>
            <a:r>
              <a:rPr lang="en-US" altLang="en-US" sz="2449" b="1" dirty="0"/>
              <a:t> </a:t>
            </a:r>
            <a:r>
              <a:rPr lang="en-US" altLang="en-US" sz="2449" dirty="0"/>
              <a:t>– programmers write all code in accordance with rules emphasizing communication through the code</a:t>
            </a:r>
          </a:p>
          <a:p>
            <a:pPr marL="456897" indent="-456897">
              <a:lnSpc>
                <a:spcPct val="115000"/>
              </a:lnSpc>
              <a:spcBef>
                <a:spcPts val="680"/>
              </a:spcBef>
              <a:spcAft>
                <a:spcPts val="1021"/>
              </a:spcAft>
            </a:pPr>
            <a:endParaRPr lang="en-US" altLang="en-US" sz="2449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89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960" y="-38948"/>
            <a:ext cx="9144960" cy="934298"/>
          </a:xfrm>
        </p:spPr>
        <p:txBody>
          <a:bodyPr/>
          <a:lstStyle/>
          <a:p>
            <a:r>
              <a:rPr lang="en-US" altLang="en-US" sz="2790" b="1" dirty="0"/>
              <a:t> Emphasizes Test-Driven Development (TDD)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895350"/>
            <a:ext cx="7772400" cy="3429000"/>
          </a:xfrm>
        </p:spPr>
        <p:txBody>
          <a:bodyPr>
            <a:noAutofit/>
          </a:bodyPr>
          <a:lstStyle/>
          <a:p>
            <a:pPr>
              <a:lnSpc>
                <a:spcPct val="115000"/>
              </a:lnSpc>
              <a:spcBef>
                <a:spcPts val="680"/>
              </a:spcBef>
              <a:spcAft>
                <a:spcPts val="680"/>
              </a:spcAft>
            </a:pPr>
            <a:r>
              <a:rPr lang="en-US" altLang="en-US" sz="2800" dirty="0"/>
              <a:t>Based on user story develop test cases</a:t>
            </a:r>
          </a:p>
          <a:p>
            <a:pPr>
              <a:lnSpc>
                <a:spcPct val="115000"/>
              </a:lnSpc>
              <a:spcBef>
                <a:spcPts val="680"/>
              </a:spcBef>
              <a:spcAft>
                <a:spcPts val="680"/>
              </a:spcAft>
            </a:pPr>
            <a:r>
              <a:rPr lang="en-US" altLang="en-US" sz="2800" dirty="0"/>
              <a:t>Implement a quick and dirty feature every couple of days:</a:t>
            </a:r>
          </a:p>
          <a:p>
            <a:pPr lvl="1">
              <a:lnSpc>
                <a:spcPct val="115000"/>
              </a:lnSpc>
              <a:spcBef>
                <a:spcPts val="680"/>
              </a:spcBef>
              <a:spcAft>
                <a:spcPts val="680"/>
              </a:spcAft>
            </a:pPr>
            <a:r>
              <a:rPr lang="en-US" altLang="en-US" sz="2400" b="1" dirty="0">
                <a:solidFill>
                  <a:srgbClr val="0000FF"/>
                </a:solidFill>
              </a:rPr>
              <a:t>Get customer feedback</a:t>
            </a:r>
          </a:p>
          <a:p>
            <a:pPr lvl="1">
              <a:lnSpc>
                <a:spcPct val="115000"/>
              </a:lnSpc>
              <a:spcBef>
                <a:spcPts val="680"/>
              </a:spcBef>
              <a:spcAft>
                <a:spcPts val="680"/>
              </a:spcAft>
            </a:pPr>
            <a:r>
              <a:rPr lang="en-US" altLang="en-US" sz="2400" b="1" dirty="0">
                <a:solidFill>
                  <a:srgbClr val="0000FF"/>
                </a:solidFill>
              </a:rPr>
              <a:t>Alter if necessary</a:t>
            </a:r>
          </a:p>
          <a:p>
            <a:pPr lvl="1">
              <a:lnSpc>
                <a:spcPct val="115000"/>
              </a:lnSpc>
              <a:spcBef>
                <a:spcPts val="680"/>
              </a:spcBef>
              <a:spcAft>
                <a:spcPts val="680"/>
              </a:spcAft>
            </a:pPr>
            <a:r>
              <a:rPr lang="en-US" altLang="en-US" sz="2400" b="1" dirty="0">
                <a:solidFill>
                  <a:srgbClr val="0000FF"/>
                </a:solidFill>
              </a:rPr>
              <a:t>Refactor</a:t>
            </a:r>
          </a:p>
          <a:p>
            <a:pPr>
              <a:lnSpc>
                <a:spcPct val="115000"/>
              </a:lnSpc>
              <a:spcBef>
                <a:spcPts val="680"/>
              </a:spcBef>
              <a:spcAft>
                <a:spcPts val="680"/>
              </a:spcAft>
            </a:pPr>
            <a:r>
              <a:rPr lang="en-US" altLang="en-US" sz="2800" dirty="0"/>
              <a:t>Take up next feature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43000" y="29588"/>
            <a:ext cx="7696200" cy="967782"/>
          </a:xfrm>
        </p:spPr>
        <p:txBody>
          <a:bodyPr/>
          <a:lstStyle/>
          <a:p>
            <a:pPr marL="289476" indent="-218187">
              <a:lnSpc>
                <a:spcPct val="98000"/>
              </a:lnSpc>
              <a:spcAft>
                <a:spcPts val="68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r>
              <a:rPr lang="en-GB" altLang="en-US" sz="2517" b="1" dirty="0"/>
              <a:t>Project Characteristics that Suggest Suitability of Extreme Programming</a:t>
            </a:r>
          </a:p>
        </p:txBody>
      </p:sp>
      <p:sp>
        <p:nvSpPr>
          <p:cNvPr id="3276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371600" y="895350"/>
            <a:ext cx="7239000" cy="4038600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Aft>
                <a:spcPct val="25000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r>
              <a:rPr lang="en-GB" altLang="en-US" sz="2722" dirty="0">
                <a:solidFill>
                  <a:srgbClr val="0000CC"/>
                </a:solidFill>
              </a:rPr>
              <a:t>Projects involving new technology or research projects.</a:t>
            </a:r>
          </a:p>
          <a:p>
            <a:pPr lvl="1">
              <a:lnSpc>
                <a:spcPct val="110000"/>
              </a:lnSpc>
              <a:spcAft>
                <a:spcPct val="25000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r>
              <a:rPr lang="en-GB" altLang="en-US" sz="2449" dirty="0"/>
              <a:t>In this case, the requirements change rapidly and unforeseen technical problems need to be resolved.</a:t>
            </a:r>
          </a:p>
          <a:p>
            <a:pPr>
              <a:lnSpc>
                <a:spcPct val="110000"/>
              </a:lnSpc>
              <a:spcAft>
                <a:spcPct val="25000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r>
              <a:rPr lang="en-GB" altLang="en-US" sz="2722" dirty="0">
                <a:solidFill>
                  <a:srgbClr val="0000CC"/>
                </a:solidFill>
              </a:rPr>
              <a:t>Small projects:</a:t>
            </a:r>
          </a:p>
          <a:p>
            <a:pPr lvl="1">
              <a:lnSpc>
                <a:spcPct val="110000"/>
              </a:lnSpc>
              <a:spcAft>
                <a:spcPct val="25000"/>
              </a:spcAft>
              <a:tabLst>
                <a:tab pos="303518" algn="l"/>
                <a:tab pos="609196" algn="l"/>
                <a:tab pos="914875" algn="l"/>
                <a:tab pos="1220553" algn="l"/>
                <a:tab pos="1526231" algn="l"/>
                <a:tab pos="1831909" algn="l"/>
                <a:tab pos="2137588" algn="l"/>
                <a:tab pos="2443265" algn="l"/>
                <a:tab pos="2748944" algn="l"/>
                <a:tab pos="3054622" algn="l"/>
                <a:tab pos="3360300" algn="l"/>
                <a:tab pos="3665978" algn="l"/>
                <a:tab pos="3971657" algn="l"/>
                <a:tab pos="4277335" algn="l"/>
                <a:tab pos="4583013" algn="l"/>
                <a:tab pos="4889771" algn="l"/>
                <a:tab pos="5194370" algn="l"/>
                <a:tab pos="5500047" algn="l"/>
                <a:tab pos="5805726" algn="l"/>
                <a:tab pos="6111404" algn="l"/>
              </a:tabLst>
            </a:pPr>
            <a:r>
              <a:rPr lang="en-GB" altLang="en-US" sz="2449" dirty="0"/>
              <a:t>These are easily developed using extreme programming</a:t>
            </a:r>
            <a:r>
              <a:rPr lang="en-GB" altLang="en-US" sz="2449" dirty="0" smtClean="0"/>
              <a:t>.</a:t>
            </a:r>
            <a:endParaRPr lang="en-GB" altLang="en-US" sz="2722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507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3"/>
          <p:cNvSpPr txBox="1">
            <a:spLocks noGrp="1" noChangeArrowheads="1"/>
          </p:cNvSpPr>
          <p:nvPr/>
        </p:nvSpPr>
        <p:spPr bwMode="auto">
          <a:xfrm>
            <a:off x="457489" y="4684457"/>
            <a:ext cx="2129984" cy="354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68569" tIns="34284" rIns="68569" bIns="34284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fld id="{1EA65BBF-BA79-4B55-93A8-31CC530D2782}" type="datetime1">
              <a:rPr lang="en-US" altLang="en-US" sz="1021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lnSpc>
                  <a:spcPct val="100000"/>
                </a:lnSpc>
                <a:buFont typeface="Arial" panose="020B0604020202020204" pitchFamily="34" charset="0"/>
                <a:buNone/>
              </a:pPr>
              <a:t>4/8/2024</a:t>
            </a:fld>
            <a:endParaRPr lang="en-US" altLang="en-US" sz="102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98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19200" y="1504950"/>
            <a:ext cx="7811380" cy="1066800"/>
          </a:xfrm>
          <a:solidFill>
            <a:srgbClr val="FFFF99"/>
          </a:solidFill>
          <a:ln>
            <a:solidFill>
              <a:srgbClr val="FF0000"/>
            </a:solidFill>
            <a:round/>
            <a:headEnd/>
            <a:tailEnd/>
          </a:ln>
        </p:spPr>
        <p:txBody>
          <a:bodyPr vert="horz" lIns="68569" tIns="34284" rIns="68569" bIns="34284" rtlCol="0" anchor="ctr">
            <a:normAutofit fontScale="90000"/>
          </a:bodyPr>
          <a:lstStyle/>
          <a:p>
            <a:pPr defTabSz="684806">
              <a:lnSpc>
                <a:spcPct val="150000"/>
              </a:lnSpc>
              <a:spcBef>
                <a:spcPts val="408"/>
              </a:spcBef>
              <a:spcAft>
                <a:spcPts val="408"/>
              </a:spcAft>
              <a:tabLst>
                <a:tab pos="0" algn="l"/>
                <a:tab pos="311079" algn="l"/>
                <a:tab pos="621078" algn="l"/>
                <a:tab pos="933237" algn="l"/>
                <a:tab pos="1244316" algn="l"/>
                <a:tab pos="1555394" algn="l"/>
                <a:tab pos="1864313" algn="l"/>
                <a:tab pos="2177552" algn="l"/>
                <a:tab pos="2488631" algn="l"/>
                <a:tab pos="2799710" algn="l"/>
                <a:tab pos="3107549" algn="l"/>
                <a:tab pos="3421868" algn="l"/>
                <a:tab pos="3732947" algn="l"/>
                <a:tab pos="4041865" algn="l"/>
                <a:tab pos="4351864" algn="l"/>
                <a:tab pos="4666183" algn="l"/>
                <a:tab pos="4977262" algn="l"/>
                <a:tab pos="5285101" algn="l"/>
                <a:tab pos="5596180" algn="l"/>
                <a:tab pos="5910499" algn="l"/>
                <a:tab pos="6221578" algn="l"/>
              </a:tabLst>
            </a:pPr>
            <a:r>
              <a:rPr lang="en-GB" altLang="en-US" sz="6124" b="1" dirty="0">
                <a:solidFill>
                  <a:srgbClr val="0000FF"/>
                </a:solidFill>
              </a:rPr>
              <a:t>Unified Process</a:t>
            </a:r>
            <a:br>
              <a:rPr lang="en-GB" altLang="en-US" sz="6124" b="1" dirty="0">
                <a:solidFill>
                  <a:srgbClr val="0000FF"/>
                </a:solidFill>
              </a:rPr>
            </a:br>
            <a:endParaRPr lang="en-GB" altLang="en-US" sz="1973" b="1" dirty="0">
              <a:solidFill>
                <a:srgbClr val="0000FF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369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19200" y="209550"/>
            <a:ext cx="7798419" cy="601624"/>
          </a:xfrm>
        </p:spPr>
        <p:txBody>
          <a:bodyPr>
            <a:noAutofit/>
          </a:bodyPr>
          <a:lstStyle/>
          <a:p>
            <a:r>
              <a:rPr lang="en-US" altLang="en-US" sz="3200" b="1" dirty="0"/>
              <a:t>Unified Process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43001" y="971550"/>
            <a:ext cx="7696200" cy="3581400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The Unified Process is an extensible framework which needs to be customized for specific type of projects.</a:t>
            </a:r>
          </a:p>
          <a:p>
            <a:r>
              <a:rPr lang="en-US" altLang="en-US" dirty="0"/>
              <a:t>There are two characteristics of Unified Process</a:t>
            </a:r>
          </a:p>
          <a:p>
            <a:pPr lvl="1"/>
            <a:r>
              <a:rPr lang="en-US" altLang="en-US" dirty="0"/>
              <a:t>Use Case Driven</a:t>
            </a:r>
          </a:p>
          <a:p>
            <a:pPr lvl="1"/>
            <a:r>
              <a:rPr lang="en-US" altLang="en-US" dirty="0"/>
              <a:t>Iterative</a:t>
            </a:r>
          </a:p>
          <a:p>
            <a:pPr marL="486061" indent="-414772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6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19200" y="209550"/>
            <a:ext cx="7798419" cy="601624"/>
          </a:xfrm>
        </p:spPr>
        <p:txBody>
          <a:bodyPr>
            <a:noAutofit/>
          </a:bodyPr>
          <a:lstStyle/>
          <a:p>
            <a:r>
              <a:rPr lang="en-US" altLang="en-US" sz="3200" b="1" dirty="0"/>
              <a:t>Unified Process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801" y="971550"/>
            <a:ext cx="8001000" cy="3581400"/>
          </a:xfrm>
        </p:spPr>
        <p:txBody>
          <a:bodyPr>
            <a:normAutofit lnSpcReduction="10000"/>
          </a:bodyPr>
          <a:lstStyle/>
          <a:p>
            <a:pPr marL="486061" indent="-414772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IN" altLang="en-US" sz="2800" dirty="0"/>
              <a:t>Developed  Ivar Jacobson, Grady </a:t>
            </a:r>
            <a:r>
              <a:rPr lang="en-IN" altLang="en-US" sz="2800" dirty="0" err="1"/>
              <a:t>Booch</a:t>
            </a:r>
            <a:r>
              <a:rPr lang="en-IN" altLang="en-US" sz="2800" dirty="0"/>
              <a:t> and James Rumbaugh</a:t>
            </a:r>
          </a:p>
          <a:p>
            <a:pPr marL="886111" lvl="1" indent="-414772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IN" altLang="en-US" sz="2400" dirty="0"/>
              <a:t>Incremental and </a:t>
            </a:r>
            <a:r>
              <a:rPr lang="en-IN" altLang="en-US" sz="2400" dirty="0" smtClean="0"/>
              <a:t>iterative</a:t>
            </a:r>
            <a:endParaRPr lang="en-IN" altLang="en-US" sz="2400" dirty="0"/>
          </a:p>
          <a:p>
            <a:pPr marL="486061" indent="-414772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en-US" sz="2800" dirty="0" smtClean="0"/>
              <a:t>Rational </a:t>
            </a:r>
            <a:r>
              <a:rPr lang="en-US" altLang="en-US" sz="2800" dirty="0"/>
              <a:t>Unified Process (RUP) is version tailored by Rational Software:</a:t>
            </a:r>
          </a:p>
          <a:p>
            <a:pPr marL="750694" lvl="1" indent="-362925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US" altLang="en-US" sz="2400" dirty="0"/>
              <a:t>Acquired by IBM in February 2003. </a:t>
            </a:r>
          </a:p>
          <a:p>
            <a:pPr marL="486061" indent="-414772">
              <a:lnSpc>
                <a:spcPct val="114000"/>
              </a:lnSpc>
              <a:spcBef>
                <a:spcPts val="600"/>
              </a:spcBef>
              <a:spcAft>
                <a:spcPts val="1200"/>
              </a:spcAft>
            </a:pPr>
            <a:endParaRPr lang="en-US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36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66801" y="209550"/>
            <a:ext cx="8001000" cy="854369"/>
          </a:xfrm>
        </p:spPr>
        <p:txBody>
          <a:bodyPr>
            <a:noAutofit/>
          </a:bodyPr>
          <a:lstStyle/>
          <a:p>
            <a:r>
              <a:rPr lang="en-US" altLang="en-US" sz="2800" b="1" dirty="0"/>
              <a:t>Four Phases --- and iterative Development at Every phase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19200" y="1200150"/>
            <a:ext cx="9569709" cy="3429000"/>
          </a:xfrm>
        </p:spPr>
        <p:txBody>
          <a:bodyPr/>
          <a:lstStyle/>
          <a:p>
            <a:pPr marL="287316" indent="-216027">
              <a:lnSpc>
                <a:spcPct val="130000"/>
              </a:lnSpc>
              <a:spcBef>
                <a:spcPts val="1225"/>
              </a:spcBef>
              <a:spcAft>
                <a:spcPts val="953"/>
              </a:spcAft>
            </a:pPr>
            <a:r>
              <a:rPr lang="en-US" altLang="en-US" sz="2994" dirty="0"/>
              <a:t>Inception Phase</a:t>
            </a:r>
          </a:p>
          <a:p>
            <a:pPr marL="287316" indent="-216027">
              <a:lnSpc>
                <a:spcPct val="130000"/>
              </a:lnSpc>
              <a:spcBef>
                <a:spcPts val="1225"/>
              </a:spcBef>
              <a:spcAft>
                <a:spcPts val="953"/>
              </a:spcAft>
            </a:pPr>
            <a:r>
              <a:rPr lang="en-US" altLang="en-US" sz="2994" dirty="0"/>
              <a:t>Elaboration Phase</a:t>
            </a:r>
          </a:p>
          <a:p>
            <a:pPr marL="287316" indent="-216027">
              <a:lnSpc>
                <a:spcPct val="130000"/>
              </a:lnSpc>
              <a:spcBef>
                <a:spcPts val="1225"/>
              </a:spcBef>
              <a:spcAft>
                <a:spcPts val="953"/>
              </a:spcAft>
            </a:pPr>
            <a:r>
              <a:rPr lang="en-US" altLang="en-US" sz="2994" dirty="0"/>
              <a:t>Construction Phase</a:t>
            </a:r>
          </a:p>
          <a:p>
            <a:pPr marL="287316" indent="-216027">
              <a:lnSpc>
                <a:spcPct val="130000"/>
              </a:lnSpc>
              <a:spcBef>
                <a:spcPts val="1225"/>
              </a:spcBef>
              <a:spcAft>
                <a:spcPts val="953"/>
              </a:spcAft>
            </a:pPr>
            <a:r>
              <a:rPr lang="en-US" altLang="en-US" sz="2994" dirty="0"/>
              <a:t>Transition Phase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3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mtClean="0"/>
              <a:t>Four Phases of Unified Process</a:t>
            </a:r>
            <a:endParaRPr lang="en-IN" altLang="en-US" smtClean="0"/>
          </a:p>
        </p:txBody>
      </p:sp>
      <p:sp>
        <p:nvSpPr>
          <p:cNvPr id="8806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mtClean="0"/>
              <a:t> Inception</a:t>
            </a:r>
          </a:p>
          <a:p>
            <a:pPr lvl="1"/>
            <a:r>
              <a:rPr lang="en-US" altLang="en-US" smtClean="0"/>
              <a:t>In this phase, Scope of project is defined &amp; prototypes may be developed about the project.</a:t>
            </a:r>
            <a:endParaRPr lang="en-IN" altLang="en-US" smtClean="0"/>
          </a:p>
          <a:p>
            <a:r>
              <a:rPr lang="en-US" altLang="en-US" smtClean="0"/>
              <a:t>Elaboration	</a:t>
            </a:r>
          </a:p>
          <a:p>
            <a:pPr lvl="1"/>
            <a:r>
              <a:rPr lang="en-US" altLang="en-US" smtClean="0"/>
              <a:t>In this phase, Functional &amp; Non-Functional requirements are captured.</a:t>
            </a:r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 Black" pitchFamily="34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Arial Black" pitchFamily="34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Arial Black" pitchFamily="34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Arial Black" pitchFamily="34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Arial Black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 Black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 Black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 Black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fld id="{68526927-22BC-4080-AF58-0816289F95D8}" type="slidenum">
              <a:rPr lang="en-US" altLang="en-US" sz="1100">
                <a:solidFill>
                  <a:schemeClr val="bg2"/>
                </a:solidFill>
                <a:latin typeface="Arial" charset="0"/>
              </a:rPr>
              <a:pPr/>
              <a:t>49</a:t>
            </a:fld>
            <a:endParaRPr lang="en-US" altLang="en-US" sz="1100">
              <a:solidFill>
                <a:schemeClr val="bg2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046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Content Placeholder 2"/>
          <p:cNvSpPr>
            <a:spLocks noGrp="1"/>
          </p:cNvSpPr>
          <p:nvPr>
            <p:ph idx="1"/>
          </p:nvPr>
        </p:nvSpPr>
        <p:spPr>
          <a:xfrm>
            <a:off x="1143000" y="438150"/>
            <a:ext cx="7848600" cy="40386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 smtClean="0"/>
              <a:t>Construction</a:t>
            </a:r>
          </a:p>
          <a:p>
            <a:pPr lvl="1"/>
            <a:r>
              <a:rPr lang="en-US" altLang="en-US" dirty="0" smtClean="0"/>
              <a:t>During this phase, Analysis, Design &amp; Implementation activities are carried out.</a:t>
            </a:r>
          </a:p>
          <a:p>
            <a:pPr lvl="1"/>
            <a:r>
              <a:rPr lang="en-US" altLang="en-US" dirty="0" smtClean="0"/>
              <a:t>System features are implemented in iterations.</a:t>
            </a:r>
          </a:p>
          <a:p>
            <a:pPr lvl="1"/>
            <a:r>
              <a:rPr lang="en-US" altLang="en-US" dirty="0" smtClean="0"/>
              <a:t>Each iteration results in executable release of the software.</a:t>
            </a:r>
          </a:p>
          <a:p>
            <a:r>
              <a:rPr lang="en-US" altLang="en-US" dirty="0" smtClean="0"/>
              <a:t>Transition</a:t>
            </a:r>
          </a:p>
          <a:p>
            <a:pPr lvl="1"/>
            <a:r>
              <a:rPr lang="en-US" altLang="en-US" dirty="0" smtClean="0"/>
              <a:t>In this phase, product is installed in the user’s environment and maintained.</a:t>
            </a:r>
          </a:p>
          <a:p>
            <a:endParaRPr lang="en-IN" altLang="en-US" dirty="0" smtClean="0"/>
          </a:p>
        </p:txBody>
      </p:sp>
      <p:sp>
        <p:nvSpPr>
          <p:cNvPr id="8909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 Black" pitchFamily="34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Arial Black" pitchFamily="34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Arial Black" pitchFamily="34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Arial Black" pitchFamily="34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Arial Black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 Black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 Black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 Black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fld id="{90CC9261-3635-4A44-A191-D9661880EB6B}" type="slidenum">
              <a:rPr lang="en-US" altLang="en-US" sz="1100">
                <a:solidFill>
                  <a:schemeClr val="bg2"/>
                </a:solidFill>
                <a:latin typeface="Arial" charset="0"/>
              </a:rPr>
              <a:pPr/>
              <a:t>50</a:t>
            </a:fld>
            <a:endParaRPr lang="en-US" altLang="en-US" sz="1100">
              <a:solidFill>
                <a:schemeClr val="bg2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62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ChangeArrowheads="1"/>
          </p:cNvSpPr>
          <p:nvPr/>
        </p:nvSpPr>
        <p:spPr bwMode="auto">
          <a:xfrm>
            <a:off x="1066801" y="852081"/>
            <a:ext cx="8077200" cy="666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9" tIns="34289" rIns="68579" bIns="34289">
            <a:spAutoFit/>
          </a:bodyPr>
          <a:lstStyle>
            <a:lvl1pPr indent="-252413" defTabSz="100806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301750" algn="l"/>
              </a:tabLst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742950" indent="-285750" defTabSz="100806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301750" algn="l"/>
              </a:tabLst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 marL="1143000" indent="-228600" defTabSz="100806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301750" algn="l"/>
              </a:tabLst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 marL="1600200" indent="-228600" defTabSz="100806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301750" algn="l"/>
              </a:tabLst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 marL="2057400" indent="-228600" defTabSz="1008063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301750" algn="l"/>
              </a:tabLst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10080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301750" algn="l"/>
              </a:tabLst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10080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301750" algn="l"/>
              </a:tabLst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10080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301750" algn="l"/>
              </a:tabLst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10080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1301750" algn="l"/>
              </a:tabLst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2109" b="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The duration of and iteration may vary from two weeks or less</a:t>
            </a:r>
            <a:r>
              <a:rPr lang="en-US" altLang="en-US" sz="1769" b="0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.</a:t>
            </a:r>
            <a:r>
              <a:rPr lang="en-US" altLang="en-US" sz="885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885" dirty="0">
                <a:solidFill>
                  <a:schemeClr val="tx1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	</a:t>
            </a:r>
          </a:p>
        </p:txBody>
      </p:sp>
      <p:grpSp>
        <p:nvGrpSpPr>
          <p:cNvPr id="254979" name="Group 3"/>
          <p:cNvGrpSpPr>
            <a:grpSpLocks/>
          </p:cNvGrpSpPr>
          <p:nvPr/>
        </p:nvGrpSpPr>
        <p:grpSpPr bwMode="auto">
          <a:xfrm>
            <a:off x="216988" y="1897760"/>
            <a:ext cx="8779161" cy="2327644"/>
            <a:chOff x="2520" y="4549"/>
            <a:chExt cx="9000" cy="2272"/>
          </a:xfrm>
        </p:grpSpPr>
        <p:sp>
          <p:nvSpPr>
            <p:cNvPr id="254981" name="AutoShape 4"/>
            <p:cNvSpPr>
              <a:spLocks noChangeArrowheads="1"/>
            </p:cNvSpPr>
            <p:nvPr/>
          </p:nvSpPr>
          <p:spPr bwMode="auto">
            <a:xfrm>
              <a:off x="2520" y="4680"/>
              <a:ext cx="1440" cy="14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5 w 21600"/>
                <a:gd name="T25" fmla="*/ 3165 h 21600"/>
                <a:gd name="T26" fmla="*/ 18435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99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25"/>
            </a:p>
          </p:txBody>
        </p:sp>
        <p:sp>
          <p:nvSpPr>
            <p:cNvPr id="254982" name="AutoShape 5"/>
            <p:cNvSpPr>
              <a:spLocks noChangeArrowheads="1"/>
            </p:cNvSpPr>
            <p:nvPr/>
          </p:nvSpPr>
          <p:spPr bwMode="auto">
            <a:xfrm>
              <a:off x="4860" y="4680"/>
              <a:ext cx="1440" cy="14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5 w 21600"/>
                <a:gd name="T25" fmla="*/ 3165 h 21600"/>
                <a:gd name="T26" fmla="*/ 18435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99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25"/>
            </a:p>
          </p:txBody>
        </p:sp>
        <p:sp>
          <p:nvSpPr>
            <p:cNvPr id="254983" name="AutoShape 6"/>
            <p:cNvSpPr>
              <a:spLocks noChangeArrowheads="1"/>
            </p:cNvSpPr>
            <p:nvPr/>
          </p:nvSpPr>
          <p:spPr bwMode="auto">
            <a:xfrm>
              <a:off x="7380" y="4680"/>
              <a:ext cx="1440" cy="14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5 w 21600"/>
                <a:gd name="T25" fmla="*/ 3165 h 21600"/>
                <a:gd name="T26" fmla="*/ 18435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99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25"/>
            </a:p>
          </p:txBody>
        </p:sp>
        <p:sp>
          <p:nvSpPr>
            <p:cNvPr id="254984" name="AutoShape 7"/>
            <p:cNvSpPr>
              <a:spLocks noChangeArrowheads="1"/>
            </p:cNvSpPr>
            <p:nvPr/>
          </p:nvSpPr>
          <p:spPr bwMode="auto">
            <a:xfrm>
              <a:off x="9720" y="4680"/>
              <a:ext cx="1440" cy="14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5 w 21600"/>
                <a:gd name="T25" fmla="*/ 3165 h 21600"/>
                <a:gd name="T26" fmla="*/ 18435 w 21600"/>
                <a:gd name="T27" fmla="*/ 1843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99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225"/>
            </a:p>
          </p:txBody>
        </p:sp>
        <p:sp>
          <p:nvSpPr>
            <p:cNvPr id="254985" name="AutoShape 8"/>
            <p:cNvSpPr>
              <a:spLocks noChangeArrowheads="1"/>
            </p:cNvSpPr>
            <p:nvPr/>
          </p:nvSpPr>
          <p:spPr bwMode="auto">
            <a:xfrm>
              <a:off x="3960" y="5040"/>
              <a:ext cx="900" cy="765"/>
            </a:xfrm>
            <a:prstGeom prst="notchedRightArrow">
              <a:avLst>
                <a:gd name="adj1" fmla="val 50000"/>
                <a:gd name="adj2" fmla="val 29412"/>
              </a:avLst>
            </a:prstGeom>
            <a:solidFill>
              <a:srgbClr val="9933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0000"/>
                </a:lnSpc>
              </a:pPr>
              <a:endParaRPr lang="en-US" altLang="en-US" sz="2449"/>
            </a:p>
          </p:txBody>
        </p:sp>
        <p:sp>
          <p:nvSpPr>
            <p:cNvPr id="254986" name="AutoShape 9"/>
            <p:cNvSpPr>
              <a:spLocks noChangeArrowheads="1"/>
            </p:cNvSpPr>
            <p:nvPr/>
          </p:nvSpPr>
          <p:spPr bwMode="auto">
            <a:xfrm>
              <a:off x="6300" y="5040"/>
              <a:ext cx="1080" cy="765"/>
            </a:xfrm>
            <a:prstGeom prst="notchedRightArrow">
              <a:avLst>
                <a:gd name="adj1" fmla="val 50000"/>
                <a:gd name="adj2" fmla="val 35294"/>
              </a:avLst>
            </a:prstGeom>
            <a:solidFill>
              <a:srgbClr val="9933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0000"/>
                </a:lnSpc>
              </a:pPr>
              <a:endParaRPr lang="en-US" altLang="en-US" sz="2449"/>
            </a:p>
          </p:txBody>
        </p:sp>
        <p:sp>
          <p:nvSpPr>
            <p:cNvPr id="254987" name="AutoShape 10"/>
            <p:cNvSpPr>
              <a:spLocks noChangeArrowheads="1"/>
            </p:cNvSpPr>
            <p:nvPr/>
          </p:nvSpPr>
          <p:spPr bwMode="auto">
            <a:xfrm>
              <a:off x="8820" y="5040"/>
              <a:ext cx="900" cy="765"/>
            </a:xfrm>
            <a:prstGeom prst="notchedRightArrow">
              <a:avLst>
                <a:gd name="adj1" fmla="val 50000"/>
                <a:gd name="adj2" fmla="val 29412"/>
              </a:avLst>
            </a:prstGeom>
            <a:solidFill>
              <a:srgbClr val="9933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80000"/>
                </a:lnSpc>
              </a:pPr>
              <a:endParaRPr lang="en-US" altLang="en-US" sz="2449"/>
            </a:p>
          </p:txBody>
        </p:sp>
        <p:sp>
          <p:nvSpPr>
            <p:cNvPr id="254988" name="Text Box 11"/>
            <p:cNvSpPr txBox="1">
              <a:spLocks noChangeArrowheads="1"/>
            </p:cNvSpPr>
            <p:nvPr/>
          </p:nvSpPr>
          <p:spPr bwMode="auto">
            <a:xfrm>
              <a:off x="2520" y="6281"/>
              <a:ext cx="1559" cy="54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68579" tIns="34289" rIns="68579" bIns="34289"/>
            <a:lstStyle>
              <a:lvl1pPr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633">
                  <a:solidFill>
                    <a:srgbClr val="0033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Inception</a:t>
              </a:r>
            </a:p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endParaRPr lang="en-US" altLang="en-US" sz="2449">
                <a:solidFill>
                  <a:srgbClr val="0033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4989" name="Text Box 12"/>
            <p:cNvSpPr txBox="1">
              <a:spLocks noChangeArrowheads="1"/>
            </p:cNvSpPr>
            <p:nvPr/>
          </p:nvSpPr>
          <p:spPr bwMode="auto">
            <a:xfrm>
              <a:off x="4646" y="6281"/>
              <a:ext cx="1772" cy="54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68579" tIns="34289" rIns="68579" bIns="34289"/>
            <a:lstStyle>
              <a:lvl1pPr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633">
                  <a:solidFill>
                    <a:srgbClr val="0033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Elaboration</a:t>
              </a:r>
            </a:p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endParaRPr lang="en-US" altLang="en-US" sz="2449">
                <a:solidFill>
                  <a:srgbClr val="0033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4990" name="Text Box 13"/>
            <p:cNvSpPr txBox="1">
              <a:spLocks noChangeArrowheads="1"/>
            </p:cNvSpPr>
            <p:nvPr/>
          </p:nvSpPr>
          <p:spPr bwMode="auto">
            <a:xfrm>
              <a:off x="7197" y="6281"/>
              <a:ext cx="1983" cy="54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68579" tIns="34289" rIns="68579" bIns="34289"/>
            <a:lstStyle>
              <a:lvl1pPr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633">
                  <a:solidFill>
                    <a:srgbClr val="0033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Construction</a:t>
              </a:r>
            </a:p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endParaRPr lang="en-US" altLang="en-US" sz="2449">
                <a:solidFill>
                  <a:srgbClr val="0033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4991" name="Text Box 14"/>
            <p:cNvSpPr txBox="1">
              <a:spLocks noChangeArrowheads="1"/>
            </p:cNvSpPr>
            <p:nvPr/>
          </p:nvSpPr>
          <p:spPr bwMode="auto">
            <a:xfrm>
              <a:off x="9720" y="6281"/>
              <a:ext cx="1620" cy="540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68579" tIns="34289" rIns="68579" bIns="34289"/>
            <a:lstStyle>
              <a:lvl1pPr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633">
                  <a:solidFill>
                    <a:srgbClr val="003300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Transition</a:t>
              </a:r>
            </a:p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endParaRPr lang="en-US" altLang="en-US" sz="2449">
                <a:solidFill>
                  <a:srgbClr val="0033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4992" name="Text Box 15"/>
            <p:cNvSpPr txBox="1">
              <a:spLocks noChangeArrowheads="1"/>
            </p:cNvSpPr>
            <p:nvPr/>
          </p:nvSpPr>
          <p:spPr bwMode="auto">
            <a:xfrm>
              <a:off x="5580" y="4549"/>
              <a:ext cx="1080" cy="360"/>
            </a:xfrm>
            <a:prstGeom prst="rect">
              <a:avLst/>
            </a:prstGeom>
            <a:solidFill>
              <a:srgbClr val="00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9" tIns="34289" rIns="68579" bIns="34289"/>
            <a:lstStyle>
              <a:lvl1pPr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953">
                  <a:solidFill>
                    <a:srgbClr val="FFFF66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Iterations</a:t>
              </a:r>
              <a:endParaRPr lang="en-US" altLang="en-US" sz="1089">
                <a:solidFill>
                  <a:srgbClr val="FFFF66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endParaRPr lang="en-US" altLang="en-US" sz="2177">
                <a:solidFill>
                  <a:srgbClr val="FFFF66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4993" name="Text Box 16"/>
            <p:cNvSpPr txBox="1">
              <a:spLocks noChangeArrowheads="1"/>
            </p:cNvSpPr>
            <p:nvPr/>
          </p:nvSpPr>
          <p:spPr bwMode="auto">
            <a:xfrm>
              <a:off x="8100" y="4549"/>
              <a:ext cx="1080" cy="360"/>
            </a:xfrm>
            <a:prstGeom prst="rect">
              <a:avLst/>
            </a:prstGeom>
            <a:solidFill>
              <a:srgbClr val="00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9" tIns="34289" rIns="68579" bIns="34289"/>
            <a:lstStyle>
              <a:lvl1pPr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953">
                  <a:solidFill>
                    <a:srgbClr val="FFFF66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Iterations</a:t>
              </a:r>
              <a:endParaRPr lang="en-US" altLang="en-US" sz="1089">
                <a:solidFill>
                  <a:srgbClr val="FFFF66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endParaRPr lang="en-US" altLang="en-US" sz="2177">
                <a:solidFill>
                  <a:srgbClr val="FFFF66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4994" name="Text Box 17"/>
            <p:cNvSpPr txBox="1">
              <a:spLocks noChangeArrowheads="1"/>
            </p:cNvSpPr>
            <p:nvPr/>
          </p:nvSpPr>
          <p:spPr bwMode="auto">
            <a:xfrm>
              <a:off x="10440" y="4549"/>
              <a:ext cx="1080" cy="360"/>
            </a:xfrm>
            <a:prstGeom prst="rect">
              <a:avLst/>
            </a:prstGeom>
            <a:solidFill>
              <a:srgbClr val="00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9" tIns="34289" rIns="68579" bIns="34289"/>
            <a:lstStyle>
              <a:lvl1pPr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953">
                  <a:solidFill>
                    <a:srgbClr val="FFFF66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Iterations</a:t>
              </a:r>
              <a:endParaRPr lang="en-US" altLang="en-US" sz="1089">
                <a:solidFill>
                  <a:srgbClr val="FFFF66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endParaRPr lang="en-US" altLang="en-US" sz="2177">
                <a:solidFill>
                  <a:srgbClr val="FFFF66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54995" name="Text Box 18"/>
            <p:cNvSpPr txBox="1">
              <a:spLocks noChangeArrowheads="1"/>
            </p:cNvSpPr>
            <p:nvPr/>
          </p:nvSpPr>
          <p:spPr bwMode="auto">
            <a:xfrm>
              <a:off x="3240" y="4549"/>
              <a:ext cx="1080" cy="360"/>
            </a:xfrm>
            <a:prstGeom prst="rect">
              <a:avLst/>
            </a:prstGeom>
            <a:solidFill>
              <a:srgbClr val="00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9" tIns="34289" rIns="68579" bIns="34289"/>
            <a:lstStyle>
              <a:lvl1pPr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953">
                  <a:solidFill>
                    <a:srgbClr val="FFFF66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Iterations</a:t>
              </a:r>
              <a:endParaRPr lang="en-US" altLang="en-US" sz="1089">
                <a:solidFill>
                  <a:srgbClr val="FFFF66"/>
                </a:solidFill>
                <a:latin typeface="Comic Sans MS" panose="030F0702030302020204" pitchFamily="66" charset="0"/>
                <a:cs typeface="Times New Roman" panose="02020603050405020304" pitchFamily="18" charset="0"/>
              </a:endParaRPr>
            </a:p>
            <a:p>
              <a:pPr>
                <a:lnSpc>
                  <a:spcPct val="100000"/>
                </a:lnSpc>
                <a:buClrTx/>
                <a:buSzTx/>
                <a:buFontTx/>
                <a:buNone/>
              </a:pPr>
              <a:endParaRPr lang="en-US" altLang="en-US" sz="2177">
                <a:solidFill>
                  <a:srgbClr val="FFFF66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254980" name="Rectangle 20"/>
          <p:cNvSpPr>
            <a:spLocks noChangeArrowheads="1"/>
          </p:cNvSpPr>
          <p:nvPr/>
        </p:nvSpPr>
        <p:spPr bwMode="auto">
          <a:xfrm>
            <a:off x="1143000" y="176876"/>
            <a:ext cx="7924800" cy="448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9" tIns="34289" rIns="68579" bIns="34289" anchor="b"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3200" b="1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88000"/>
              </a:lnSpc>
              <a:buSzPct val="45000"/>
              <a:buFont typeface="Wingdings" panose="05000000000000000000" pitchFamily="2" charset="2"/>
              <a:buNone/>
            </a:pPr>
            <a:r>
              <a:rPr lang="en-US" altLang="en-US" sz="2800" dirty="0">
                <a:solidFill>
                  <a:srgbClr val="00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Unified Process Iterations in Phases</a:t>
            </a:r>
            <a:endParaRPr lang="en-US" altLang="en-US" sz="2800" dirty="0">
              <a:solidFill>
                <a:schemeClr val="tx1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65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43000" y="133350"/>
            <a:ext cx="10972800" cy="857250"/>
          </a:xfrm>
        </p:spPr>
        <p:txBody>
          <a:bodyPr/>
          <a:lstStyle/>
          <a:p>
            <a:r>
              <a:rPr lang="en-US" altLang="en-US" sz="3062" b="1" dirty="0"/>
              <a:t>Unified process work products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03200" y="1428753"/>
            <a:ext cx="8752344" cy="1735199"/>
            <a:chOff x="1731495" y="1482997"/>
            <a:chExt cx="5481248" cy="1427596"/>
          </a:xfrm>
        </p:grpSpPr>
        <p:sp>
          <p:nvSpPr>
            <p:cNvPr id="257027" name="Text Box 3"/>
            <p:cNvSpPr txBox="1">
              <a:spLocks noChangeArrowheads="1"/>
            </p:cNvSpPr>
            <p:nvPr/>
          </p:nvSpPr>
          <p:spPr bwMode="auto">
            <a:xfrm>
              <a:off x="1731495" y="1487820"/>
              <a:ext cx="1511071" cy="1272410"/>
            </a:xfrm>
            <a:prstGeom prst="rect">
              <a:avLst/>
            </a:prstGeom>
            <a:solidFill>
              <a:srgbClr val="CC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68579" tIns="34289" rIns="68579" bIns="34289">
              <a:spAutoFit/>
            </a:bodyPr>
            <a:lstStyle>
              <a:lvl1pPr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u="sng">
                  <a:solidFill>
                    <a:schemeClr val="tx1"/>
                  </a:solidFill>
                  <a:latin typeface="Comic Sans MS" panose="030F0702030302020204" pitchFamily="66" charset="0"/>
                </a:rPr>
                <a:t>Inception phase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Comic Sans MS" panose="030F0702030302020204" pitchFamily="66" charset="0"/>
                </a:rPr>
                <a:t>vision document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Comic Sans MS" panose="030F0702030302020204" pitchFamily="66" charset="0"/>
                </a:rPr>
                <a:t>initial use-case model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Comic Sans MS" panose="030F0702030302020204" pitchFamily="66" charset="0"/>
                </a:rPr>
                <a:t>initial business case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Comic Sans MS" panose="030F0702030302020204" pitchFamily="66" charset="0"/>
                </a:rPr>
                <a:t>initial risk list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Comic Sans MS" panose="030F0702030302020204" pitchFamily="66" charset="0"/>
                </a:rPr>
                <a:t>project plan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Comic Sans MS" panose="030F0702030302020204" pitchFamily="66" charset="0"/>
                </a:rPr>
                <a:t>prototype(s)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Comic Sans MS" panose="030F0702030302020204" pitchFamily="66" charset="0"/>
                </a:rPr>
                <a:t>...</a:t>
              </a:r>
            </a:p>
          </p:txBody>
        </p:sp>
        <p:sp>
          <p:nvSpPr>
            <p:cNvPr id="257028" name="Text Box 4"/>
            <p:cNvSpPr txBox="1">
              <a:spLocks noChangeArrowheads="1"/>
            </p:cNvSpPr>
            <p:nvPr/>
          </p:nvSpPr>
          <p:spPr bwMode="auto">
            <a:xfrm>
              <a:off x="3220738" y="1482997"/>
              <a:ext cx="1374021" cy="1272410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68579" tIns="34289" rIns="68579" bIns="34289">
              <a:spAutoFit/>
            </a:bodyPr>
            <a:lstStyle>
              <a:lvl1pPr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u="sng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Elaboration phase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use-case model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requirements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analysis model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preliminary model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revised risk list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preliminary manual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...</a:t>
              </a:r>
            </a:p>
          </p:txBody>
        </p:sp>
        <p:sp>
          <p:nvSpPr>
            <p:cNvPr id="257029" name="Text Box 5"/>
            <p:cNvSpPr txBox="1">
              <a:spLocks noChangeArrowheads="1"/>
            </p:cNvSpPr>
            <p:nvPr/>
          </p:nvSpPr>
          <p:spPr bwMode="auto">
            <a:xfrm>
              <a:off x="4594758" y="1486253"/>
              <a:ext cx="1336190" cy="1424340"/>
            </a:xfrm>
            <a:prstGeom prst="rect">
              <a:avLst/>
            </a:prstGeom>
            <a:solidFill>
              <a:srgbClr val="FFCC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68579" tIns="34289" rIns="68579" bIns="34289">
              <a:spAutoFit/>
            </a:bodyPr>
            <a:lstStyle>
              <a:lvl1pPr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u="sng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Construction phase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design model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SW components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test plan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test procedure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test cases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user manual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installation manual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...</a:t>
              </a:r>
            </a:p>
          </p:txBody>
        </p:sp>
        <p:sp>
          <p:nvSpPr>
            <p:cNvPr id="257030" name="Text Box 6"/>
            <p:cNvSpPr txBox="1">
              <a:spLocks noChangeArrowheads="1"/>
            </p:cNvSpPr>
            <p:nvPr/>
          </p:nvSpPr>
          <p:spPr bwMode="auto">
            <a:xfrm>
              <a:off x="5924179" y="1482997"/>
              <a:ext cx="1288564" cy="816621"/>
            </a:xfrm>
            <a:prstGeom prst="rect">
              <a:avLst/>
            </a:prstGeom>
            <a:solidFill>
              <a:srgbClr val="66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68579" tIns="34289" rIns="68579" bIns="34289">
              <a:spAutoFit/>
            </a:bodyPr>
            <a:lstStyle>
              <a:lvl1pPr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 marL="742950" indent="-28575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 marL="11430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 marL="16002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 marL="2057400" indent="-228600" defTabSz="503238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503238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defRPr sz="3200" b="1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u="sng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Transition phase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SW increment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beta test reports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user feedback</a:t>
              </a:r>
            </a:p>
            <a:p>
              <a:pPr eaLnBrk="1" hangingPunct="1">
                <a:lnSpc>
                  <a:spcPct val="100000"/>
                </a:lnSpc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Comic Sans MS" panose="030F0702030302020204" pitchFamily="66" charset="0"/>
                </a:rPr>
                <a:t>...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37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20801" y="57150"/>
            <a:ext cx="7798419" cy="854370"/>
          </a:xfrm>
        </p:spPr>
        <p:txBody>
          <a:bodyPr vert="horz" lIns="68579" tIns="34289" rIns="68579" bIns="34289" rtlCol="0" anchor="ctr">
            <a:normAutofit/>
          </a:bodyPr>
          <a:lstStyle/>
          <a:p>
            <a:pPr eaLnBrk="1" hangingPunct="1"/>
            <a:r>
              <a:rPr lang="en-IE" altLang="en-US" sz="3600" b="1" dirty="0"/>
              <a:t>Structure of RUP Process</a:t>
            </a:r>
          </a:p>
        </p:txBody>
      </p:sp>
      <p:sp>
        <p:nvSpPr>
          <p:cNvPr id="2580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801" y="971550"/>
            <a:ext cx="7924800" cy="3801999"/>
          </a:xfrm>
        </p:spPr>
        <p:txBody>
          <a:bodyPr vert="horz" lIns="68579" tIns="34289" rIns="68579" bIns="34289" rtlCol="0">
            <a:normAutofit lnSpcReduction="10000"/>
          </a:bodyPr>
          <a:lstStyle/>
          <a:p>
            <a:pPr marL="287316" indent="-216027">
              <a:lnSpc>
                <a:spcPct val="115000"/>
              </a:lnSpc>
              <a:spcBef>
                <a:spcPct val="15000"/>
              </a:spcBef>
              <a:spcAft>
                <a:spcPts val="1021"/>
              </a:spcAft>
            </a:pPr>
            <a:r>
              <a:rPr lang="en-IE" altLang="en-US" sz="2994" dirty="0">
                <a:solidFill>
                  <a:srgbClr val="0000CC"/>
                </a:solidFill>
              </a:rPr>
              <a:t>Two dimensions.</a:t>
            </a:r>
          </a:p>
          <a:p>
            <a:pPr marL="287316" indent="-216027">
              <a:lnSpc>
                <a:spcPct val="115000"/>
              </a:lnSpc>
              <a:spcBef>
                <a:spcPct val="15000"/>
              </a:spcBef>
              <a:spcAft>
                <a:spcPts val="1021"/>
              </a:spcAft>
            </a:pPr>
            <a:r>
              <a:rPr lang="en-IE" altLang="en-US" sz="2994" dirty="0">
                <a:solidFill>
                  <a:srgbClr val="0000CC"/>
                </a:solidFill>
              </a:rPr>
              <a:t>Horizontal axis:</a:t>
            </a:r>
          </a:p>
          <a:p>
            <a:pPr marL="581113" lvl="1" indent="-193345">
              <a:lnSpc>
                <a:spcPct val="115000"/>
              </a:lnSpc>
              <a:spcBef>
                <a:spcPct val="15000"/>
              </a:spcBef>
              <a:spcAft>
                <a:spcPts val="1021"/>
              </a:spcAft>
            </a:pPr>
            <a:r>
              <a:rPr lang="en-IE" altLang="en-US" sz="2722" dirty="0"/>
              <a:t> Represents time and shows the lifecycle aspects of the process.</a:t>
            </a:r>
          </a:p>
          <a:p>
            <a:pPr marL="287316" indent="-216027">
              <a:lnSpc>
                <a:spcPct val="115000"/>
              </a:lnSpc>
              <a:spcBef>
                <a:spcPct val="15000"/>
              </a:spcBef>
              <a:spcAft>
                <a:spcPts val="1021"/>
              </a:spcAft>
            </a:pPr>
            <a:r>
              <a:rPr lang="en-IE" altLang="en-US" sz="2994" dirty="0">
                <a:solidFill>
                  <a:srgbClr val="0000CC"/>
                </a:solidFill>
              </a:rPr>
              <a:t>Vertical axis:</a:t>
            </a:r>
          </a:p>
          <a:p>
            <a:pPr marL="581113" lvl="1" indent="-193345">
              <a:lnSpc>
                <a:spcPct val="115000"/>
              </a:lnSpc>
              <a:spcBef>
                <a:spcPct val="15000"/>
              </a:spcBef>
              <a:spcAft>
                <a:spcPts val="1021"/>
              </a:spcAft>
            </a:pPr>
            <a:r>
              <a:rPr lang="en-IE" altLang="en-US" sz="2722" dirty="0"/>
              <a:t> Represents core process workflows.</a:t>
            </a:r>
            <a:endParaRPr lang="en-GB" altLang="en-US" sz="2722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1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Phases of Unified Process</a:t>
            </a:r>
            <a:endParaRPr lang="en-IN" altLang="en-US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 Black" pitchFamily="34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Arial Black" pitchFamily="34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Arial Black" pitchFamily="34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Arial Black" pitchFamily="34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Arial Black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 Black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 Black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 Black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fld id="{619F0488-2783-46EC-83E0-84C51E0BB5F4}" type="slidenum">
              <a:rPr lang="en-US" altLang="en-US" sz="1100">
                <a:solidFill>
                  <a:schemeClr val="bg2"/>
                </a:solidFill>
                <a:latin typeface="Arial" charset="0"/>
              </a:rPr>
              <a:pPr/>
              <a:t>54</a:t>
            </a:fld>
            <a:endParaRPr lang="en-US" altLang="en-US" sz="1100">
              <a:solidFill>
                <a:schemeClr val="bg2"/>
              </a:solidFill>
              <a:latin typeface="Arial" charset="0"/>
            </a:endParaRPr>
          </a:p>
        </p:txBody>
      </p:sp>
      <p:pic>
        <p:nvPicPr>
          <p:cNvPr id="901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00150"/>
            <a:ext cx="73914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7678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5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57979"/>
            <a:ext cx="8432800" cy="341316"/>
          </a:xfrm>
        </p:spPr>
        <p:txBody>
          <a:bodyPr vert="horz" lIns="68579" tIns="34289" rIns="68579" bIns="34289" rtlCol="0" anchor="ctr">
            <a:noAutofit/>
          </a:bodyPr>
          <a:lstStyle/>
          <a:p>
            <a:pPr eaLnBrk="1" hangingPunct="1"/>
            <a:r>
              <a:rPr lang="en-IE" altLang="en-US" sz="3200" b="1" dirty="0"/>
              <a:t>Two dimensions of Unified Process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68"/>
          <a:stretch/>
        </p:blipFill>
        <p:spPr>
          <a:xfrm>
            <a:off x="508002" y="1504950"/>
            <a:ext cx="763945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9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00">
                <a:solidFill>
                  <a:schemeClr val="tx1"/>
                </a:solidFill>
                <a:latin typeface="Arial Black" pitchFamily="34" charset="0"/>
              </a:defRPr>
            </a:lvl1pPr>
            <a:lvl2pPr marL="557213" indent="-214313">
              <a:defRPr sz="1800">
                <a:solidFill>
                  <a:schemeClr val="tx1"/>
                </a:solidFill>
                <a:latin typeface="Arial Black" pitchFamily="34" charset="0"/>
              </a:defRPr>
            </a:lvl2pPr>
            <a:lvl3pPr marL="857250" indent="-171450">
              <a:defRPr sz="1800">
                <a:solidFill>
                  <a:schemeClr val="tx1"/>
                </a:solidFill>
                <a:latin typeface="Arial Black" pitchFamily="34" charset="0"/>
              </a:defRPr>
            </a:lvl3pPr>
            <a:lvl4pPr marL="1200150" indent="-171450">
              <a:defRPr sz="1800">
                <a:solidFill>
                  <a:schemeClr val="tx1"/>
                </a:solidFill>
                <a:latin typeface="Arial Black" pitchFamily="34" charset="0"/>
              </a:defRPr>
            </a:lvl4pPr>
            <a:lvl5pPr marL="1543050" indent="-171450">
              <a:defRPr sz="1800">
                <a:solidFill>
                  <a:schemeClr val="tx1"/>
                </a:solidFill>
                <a:latin typeface="Arial Black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 Black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 Black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 Black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fld id="{62022ED0-9ED9-492A-91EA-6453A8D57C6C}" type="slidenum">
              <a:rPr lang="en-US" altLang="en-US" sz="1100">
                <a:solidFill>
                  <a:schemeClr val="bg2"/>
                </a:solidFill>
                <a:latin typeface="Arial" charset="0"/>
              </a:rPr>
              <a:pPr/>
              <a:t>56</a:t>
            </a:fld>
            <a:endParaRPr lang="en-US" altLang="en-US" sz="1100">
              <a:solidFill>
                <a:schemeClr val="bg2"/>
              </a:solidFill>
              <a:latin typeface="Arial" charset="0"/>
            </a:endParaRPr>
          </a:p>
        </p:txBody>
      </p:sp>
      <p:pic>
        <p:nvPicPr>
          <p:cNvPr id="9113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2" y="114303"/>
            <a:ext cx="4243388" cy="4663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747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133350"/>
            <a:ext cx="7798419" cy="854370"/>
          </a:xfrm>
        </p:spPr>
        <p:txBody>
          <a:bodyPr vert="horz" lIns="68579" tIns="34289" rIns="68579" bIns="34289" rtlCol="0" anchor="ctr">
            <a:normAutofit/>
          </a:bodyPr>
          <a:lstStyle/>
          <a:p>
            <a:pPr eaLnBrk="1" hangingPunct="1"/>
            <a:r>
              <a:rPr lang="en-IE" altLang="en-US" sz="3674" b="1" dirty="0"/>
              <a:t>Inception activities</a:t>
            </a:r>
            <a:endParaRPr lang="en-GB" altLang="en-US" sz="3674" b="1" dirty="0"/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1352550"/>
            <a:ext cx="7239000" cy="3200400"/>
          </a:xfrm>
        </p:spPr>
        <p:txBody>
          <a:bodyPr vert="horz" lIns="68579" tIns="34289" rIns="68579" bIns="34289" rtlCol="0">
            <a:normAutofit/>
          </a:bodyPr>
          <a:lstStyle/>
          <a:p>
            <a:pPr marL="287316" indent="-216027">
              <a:lnSpc>
                <a:spcPct val="135000"/>
              </a:lnSpc>
              <a:spcBef>
                <a:spcPts val="816"/>
              </a:spcBef>
              <a:spcAft>
                <a:spcPts val="953"/>
              </a:spcAft>
            </a:pPr>
            <a:r>
              <a:rPr lang="en-IE" altLang="en-US" sz="2994" dirty="0"/>
              <a:t>Formulate scope of project</a:t>
            </a:r>
          </a:p>
          <a:p>
            <a:pPr marL="287316" indent="-216027">
              <a:lnSpc>
                <a:spcPct val="135000"/>
              </a:lnSpc>
              <a:spcBef>
                <a:spcPts val="816"/>
              </a:spcBef>
              <a:spcAft>
                <a:spcPts val="953"/>
              </a:spcAft>
            </a:pPr>
            <a:r>
              <a:rPr lang="en-IE" altLang="en-US" sz="2994" dirty="0"/>
              <a:t>Risk management, staffing, project plan</a:t>
            </a:r>
          </a:p>
          <a:p>
            <a:pPr marL="287316" indent="-216027">
              <a:lnSpc>
                <a:spcPct val="135000"/>
              </a:lnSpc>
              <a:spcBef>
                <a:spcPts val="816"/>
              </a:spcBef>
              <a:spcAft>
                <a:spcPts val="953"/>
              </a:spcAft>
            </a:pPr>
            <a:r>
              <a:rPr lang="en-IE" altLang="en-US" sz="2994" dirty="0">
                <a:solidFill>
                  <a:srgbClr val="0000CC"/>
                </a:solidFill>
              </a:rPr>
              <a:t>Synthesize a candidate architecture.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2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1" y="1276350"/>
            <a:ext cx="4344019" cy="854370"/>
          </a:xfrm>
          <a:solidFill>
            <a:srgbClr val="FFFF00"/>
          </a:solidFill>
        </p:spPr>
        <p:txBody>
          <a:bodyPr>
            <a:normAutofit fontScale="90000"/>
          </a:bodyPr>
          <a:lstStyle/>
          <a:p>
            <a:r>
              <a:rPr lang="en-US" altLang="en-US" sz="2800" b="1" dirty="0"/>
              <a:t>Outcome of Inception Phase</a:t>
            </a:r>
          </a:p>
        </p:txBody>
      </p:sp>
      <p:sp>
        <p:nvSpPr>
          <p:cNvPr id="261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46828" y="133350"/>
            <a:ext cx="8077202" cy="3315740"/>
          </a:xfrm>
        </p:spPr>
        <p:txBody>
          <a:bodyPr>
            <a:noAutofit/>
          </a:bodyPr>
          <a:lstStyle/>
          <a:p>
            <a:pPr marL="287316" indent="-216027">
              <a:lnSpc>
                <a:spcPct val="120000"/>
              </a:lnSpc>
              <a:spcBef>
                <a:spcPct val="15000"/>
              </a:spcBef>
              <a:spcAft>
                <a:spcPts val="953"/>
              </a:spcAft>
            </a:pPr>
            <a:r>
              <a:rPr lang="en-US" altLang="en-US" sz="2400" dirty="0"/>
              <a:t>Initial requirements capture</a:t>
            </a:r>
          </a:p>
          <a:p>
            <a:pPr marL="287316" indent="-216027">
              <a:lnSpc>
                <a:spcPct val="120000"/>
              </a:lnSpc>
              <a:spcBef>
                <a:spcPct val="15000"/>
              </a:spcBef>
              <a:spcAft>
                <a:spcPts val="953"/>
              </a:spcAft>
            </a:pPr>
            <a:r>
              <a:rPr lang="en-US" altLang="en-US" sz="2400" dirty="0"/>
              <a:t>Cost Benefit Analysis</a:t>
            </a:r>
          </a:p>
          <a:p>
            <a:pPr marL="287316" indent="-216027">
              <a:lnSpc>
                <a:spcPct val="120000"/>
              </a:lnSpc>
              <a:spcBef>
                <a:spcPct val="15000"/>
              </a:spcBef>
              <a:spcAft>
                <a:spcPts val="953"/>
              </a:spcAft>
            </a:pPr>
            <a:r>
              <a:rPr lang="en-US" altLang="en-US" sz="2400" dirty="0"/>
              <a:t>Initial Risk Analysis</a:t>
            </a:r>
          </a:p>
          <a:p>
            <a:pPr marL="287316" indent="-216027">
              <a:lnSpc>
                <a:spcPct val="120000"/>
              </a:lnSpc>
              <a:spcBef>
                <a:spcPct val="15000"/>
              </a:spcBef>
              <a:spcAft>
                <a:spcPts val="953"/>
              </a:spcAft>
            </a:pPr>
            <a:r>
              <a:rPr lang="en-US" altLang="en-US" sz="2400" dirty="0"/>
              <a:t>Project scope definition</a:t>
            </a:r>
          </a:p>
          <a:p>
            <a:pPr marL="287316" indent="-216027">
              <a:lnSpc>
                <a:spcPct val="120000"/>
              </a:lnSpc>
              <a:spcBef>
                <a:spcPct val="15000"/>
              </a:spcBef>
              <a:spcAft>
                <a:spcPts val="953"/>
              </a:spcAft>
            </a:pPr>
            <a:r>
              <a:rPr lang="en-US" altLang="en-US" sz="2400" dirty="0"/>
              <a:t>Defining a candidate architecture</a:t>
            </a:r>
          </a:p>
          <a:p>
            <a:pPr marL="287316" indent="-216027">
              <a:lnSpc>
                <a:spcPct val="120000"/>
              </a:lnSpc>
              <a:spcBef>
                <a:spcPct val="15000"/>
              </a:spcBef>
              <a:spcAft>
                <a:spcPts val="953"/>
              </a:spcAft>
            </a:pPr>
            <a:r>
              <a:rPr lang="en-US" altLang="en-US" sz="2400" dirty="0"/>
              <a:t>Development of a disposable prototype</a:t>
            </a:r>
          </a:p>
          <a:p>
            <a:pPr marL="287316" indent="-216027">
              <a:lnSpc>
                <a:spcPct val="120000"/>
              </a:lnSpc>
              <a:spcBef>
                <a:spcPct val="15000"/>
              </a:spcBef>
              <a:spcAft>
                <a:spcPts val="953"/>
              </a:spcAft>
            </a:pPr>
            <a:r>
              <a:rPr lang="en-US" altLang="en-US" sz="2400" dirty="0"/>
              <a:t>Initial Use Case Model (10% - 20% complete)</a:t>
            </a:r>
          </a:p>
          <a:p>
            <a:pPr marL="287316" indent="-216027">
              <a:lnSpc>
                <a:spcPct val="120000"/>
              </a:lnSpc>
              <a:spcBef>
                <a:spcPct val="15000"/>
              </a:spcBef>
              <a:spcAft>
                <a:spcPts val="953"/>
              </a:spcAft>
            </a:pPr>
            <a:r>
              <a:rPr lang="en-US" altLang="en-US" sz="2400" dirty="0"/>
              <a:t>First pass  Domain Model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8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0364"/>
            <a:ext cx="7498080" cy="857250"/>
          </a:xfrm>
        </p:spPr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42950"/>
            <a:ext cx="7920880" cy="417646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3674" dirty="0"/>
              <a:t>Discussed the </a:t>
            </a:r>
            <a:r>
              <a:rPr lang="en-US" sz="3674" dirty="0" smtClean="0"/>
              <a:t>basic concepts </a:t>
            </a:r>
            <a:r>
              <a:rPr lang="en-US" sz="3674" dirty="0"/>
              <a:t>of </a:t>
            </a:r>
            <a:r>
              <a:rPr lang="en-US" sz="3674" dirty="0" smtClean="0"/>
              <a:t>Scrum.</a:t>
            </a:r>
            <a:endParaRPr lang="en-US" sz="3674" dirty="0"/>
          </a:p>
          <a:p>
            <a:pPr algn="just"/>
            <a:r>
              <a:rPr lang="en-US" sz="3700" dirty="0"/>
              <a:t>Presented the c</a:t>
            </a:r>
            <a:r>
              <a:rPr lang="en-US" altLang="en-US" sz="3700" dirty="0"/>
              <a:t>haracteristics of Scrum.</a:t>
            </a:r>
            <a:endParaRPr lang="en-US" sz="3700" dirty="0"/>
          </a:p>
          <a:p>
            <a:pPr algn="just"/>
            <a:r>
              <a:rPr lang="en-US" sz="3700" dirty="0"/>
              <a:t>Explained the Scrum Life Cycle.</a:t>
            </a:r>
          </a:p>
          <a:p>
            <a:pPr algn="just"/>
            <a:r>
              <a:rPr lang="en-US" sz="3700" dirty="0"/>
              <a:t>Discussed the </a:t>
            </a:r>
            <a:r>
              <a:rPr lang="en-US" altLang="en-US" sz="3700" dirty="0"/>
              <a:t>Scrum Framework</a:t>
            </a:r>
            <a:r>
              <a:rPr lang="en-US" sz="3700" dirty="0"/>
              <a:t>.</a:t>
            </a:r>
          </a:p>
          <a:p>
            <a:pPr lvl="1" algn="just"/>
            <a:r>
              <a:rPr lang="en-US" sz="3274" dirty="0" smtClean="0"/>
              <a:t>Roles</a:t>
            </a:r>
          </a:p>
          <a:p>
            <a:pPr lvl="1" algn="just"/>
            <a:r>
              <a:rPr lang="en-US" sz="3274" dirty="0" smtClean="0"/>
              <a:t>Ceremonies</a:t>
            </a:r>
          </a:p>
          <a:p>
            <a:pPr lvl="1" algn="just"/>
            <a:r>
              <a:rPr lang="en-US" sz="3274" dirty="0" smtClean="0"/>
              <a:t>Artifacts</a:t>
            </a:r>
            <a:endParaRPr lang="en-US" sz="3274" dirty="0"/>
          </a:p>
          <a:p>
            <a:pPr algn="just"/>
            <a:r>
              <a:rPr lang="en-US" sz="3674" dirty="0"/>
              <a:t>Explained the </a:t>
            </a:r>
            <a:r>
              <a:rPr lang="en-US" altLang="en-US" sz="3700" dirty="0"/>
              <a:t>Burn down Charts</a:t>
            </a:r>
            <a:r>
              <a:rPr lang="en-US" sz="3700" dirty="0"/>
              <a:t>.</a:t>
            </a:r>
          </a:p>
          <a:p>
            <a:r>
              <a:rPr lang="en-US" sz="3600" dirty="0" smtClean="0"/>
              <a:t>Explained </a:t>
            </a:r>
            <a:r>
              <a:rPr lang="en-US" sz="3600" dirty="0"/>
              <a:t>the basic concepts of </a:t>
            </a:r>
            <a:r>
              <a:rPr lang="en-US" sz="3600" dirty="0" smtClean="0"/>
              <a:t>XP.</a:t>
            </a:r>
          </a:p>
          <a:p>
            <a:r>
              <a:rPr lang="en-US" sz="3600" dirty="0" smtClean="0"/>
              <a:t>Discussed the basic concepts of RUP.</a:t>
            </a:r>
            <a:endParaRPr lang="en-US" sz="3600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550351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96646" indent="-514350" algn="just">
              <a:buFont typeface="+mj-lt"/>
              <a:buAutoNum type="arabicPeriod"/>
            </a:pPr>
            <a:r>
              <a:rPr lang="en-US" dirty="0" err="1" smtClean="0"/>
              <a:t>Rajib</a:t>
            </a:r>
            <a:r>
              <a:rPr lang="en-US" dirty="0" smtClean="0"/>
              <a:t> Mall, Fundamentals of Software Engineering, Fifth Edition, PHI, 2018. </a:t>
            </a:r>
          </a:p>
          <a:p>
            <a:pPr marL="596646" indent="-514350" algn="just">
              <a:buFont typeface="+mj-lt"/>
              <a:buAutoNum type="arabicPeriod"/>
            </a:pPr>
            <a:r>
              <a:rPr lang="en-US" dirty="0" smtClean="0"/>
              <a:t>Naresh Chauhan, Software Testing: Principles and Practices, (Chapter </a:t>
            </a:r>
            <a:r>
              <a:rPr lang="en-US" smtClean="0"/>
              <a:t>– 16), </a:t>
            </a:r>
            <a:r>
              <a:rPr lang="en-US" dirty="0" smtClean="0"/>
              <a:t>Second Edition, Oxford University Press, 2018.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0458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1720" y="1995686"/>
            <a:ext cx="7498080" cy="360045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4400" dirty="0" smtClean="0"/>
              <a:t>           Thank You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639309642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4188</TotalTime>
  <Words>2142</Words>
  <Application>Microsoft Office PowerPoint</Application>
  <PresentationFormat>On-screen Show (16:9)</PresentationFormat>
  <Paragraphs>429</Paragraphs>
  <Slides>61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63" baseType="lpstr">
      <vt:lpstr>Custom Design</vt:lpstr>
      <vt:lpstr>Solstice</vt:lpstr>
      <vt:lpstr>Agile Based Software Development Models</vt:lpstr>
      <vt:lpstr>Scrum</vt:lpstr>
      <vt:lpstr>Introduction</vt:lpstr>
      <vt:lpstr>Introduction          cont …</vt:lpstr>
      <vt:lpstr>Introduction          cont …</vt:lpstr>
      <vt:lpstr>Scrum: Characteristics</vt:lpstr>
      <vt:lpstr>PowerPoint Presentation</vt:lpstr>
      <vt:lpstr>Sprint</vt:lpstr>
      <vt:lpstr>Scrum Framework</vt:lpstr>
      <vt:lpstr>Key Roles and Responsibilities  in a Scrum Team</vt:lpstr>
      <vt:lpstr>Product Owner</vt:lpstr>
      <vt:lpstr>The Scrum Master</vt:lpstr>
      <vt:lpstr>Scrum Team</vt:lpstr>
      <vt:lpstr>Sprint</vt:lpstr>
      <vt:lpstr>Ceremonies</vt:lpstr>
      <vt:lpstr>Sprint Planning</vt:lpstr>
      <vt:lpstr>Daily Scrum</vt:lpstr>
      <vt:lpstr>Daily Scrum</vt:lpstr>
      <vt:lpstr>Sprint Review Meeting</vt:lpstr>
      <vt:lpstr>Product Backlog</vt:lpstr>
      <vt:lpstr>Product Backlog</vt:lpstr>
      <vt:lpstr>Sample Product Backlog</vt:lpstr>
      <vt:lpstr>Sprint Backlog</vt:lpstr>
      <vt:lpstr>Sprint Backlog during the Sprint</vt:lpstr>
      <vt:lpstr>Burn down Charts</vt:lpstr>
      <vt:lpstr>Sprint Burn down Chart</vt:lpstr>
      <vt:lpstr>Sprint Burndown Chart</vt:lpstr>
      <vt:lpstr>Release Burndown Chart</vt:lpstr>
      <vt:lpstr>Product Burndown Chart</vt:lpstr>
      <vt:lpstr>Scalability of Scrum</vt:lpstr>
      <vt:lpstr>Extreme Programming (XP) </vt:lpstr>
      <vt:lpstr>Extreme Programming Model</vt:lpstr>
      <vt:lpstr>Taking Good Practices to Extreme</vt:lpstr>
      <vt:lpstr>Taking to Extreme</vt:lpstr>
      <vt:lpstr>4 Values</vt:lpstr>
      <vt:lpstr>Best Practices</vt:lpstr>
      <vt:lpstr>Best  Practices</vt:lpstr>
      <vt:lpstr>Extreme Programming Activities</vt:lpstr>
      <vt:lpstr>PowerPoint Presentation</vt:lpstr>
      <vt:lpstr>Full List of XP Practices</vt:lpstr>
      <vt:lpstr>Full List of XP Practices  cont …</vt:lpstr>
      <vt:lpstr>Full List of XP Practices </vt:lpstr>
      <vt:lpstr> Emphasizes Test-Driven Development (TDD)</vt:lpstr>
      <vt:lpstr>Project Characteristics that Suggest Suitability of Extreme Programming</vt:lpstr>
      <vt:lpstr>Unified Process </vt:lpstr>
      <vt:lpstr>Unified Process</vt:lpstr>
      <vt:lpstr>Unified Process</vt:lpstr>
      <vt:lpstr>Four Phases --- and iterative Development at Every phase</vt:lpstr>
      <vt:lpstr>Four Phases of Unified Process</vt:lpstr>
      <vt:lpstr>PowerPoint Presentation</vt:lpstr>
      <vt:lpstr>PowerPoint Presentation</vt:lpstr>
      <vt:lpstr>Unified process work products</vt:lpstr>
      <vt:lpstr>Structure of RUP Process</vt:lpstr>
      <vt:lpstr>Phases of Unified Process</vt:lpstr>
      <vt:lpstr>Two dimensions of Unified Process</vt:lpstr>
      <vt:lpstr>PowerPoint Presentation</vt:lpstr>
      <vt:lpstr>Inception activities</vt:lpstr>
      <vt:lpstr>Outcome of Inception Phase</vt:lpstr>
      <vt:lpstr>Summary</vt:lpstr>
      <vt:lpstr>References</vt:lpstr>
      <vt:lpstr>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i4344 sushanta</dc:creator>
  <cp:lastModifiedBy>Admin</cp:lastModifiedBy>
  <cp:revision>176</cp:revision>
  <dcterms:created xsi:type="dcterms:W3CDTF">2016-12-13T07:50:37Z</dcterms:created>
  <dcterms:modified xsi:type="dcterms:W3CDTF">2024-04-08T12:07:00Z</dcterms:modified>
</cp:coreProperties>
</file>