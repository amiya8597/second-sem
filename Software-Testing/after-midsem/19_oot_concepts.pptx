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</p:sldIdLst>
  <p:sldSz cy="6858000" cx="9144000"/>
  <p:notesSz cx="7556500" cy="10691800"/>
  <p:embeddedFontLst>
    <p:embeddedFont>
      <p:font typeface="Garamond"/>
      <p:regular r:id="rId114"/>
      <p:bold r:id="rId115"/>
      <p:italic r:id="rId116"/>
      <p:boldItalic r:id="rId1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07" Type="http://schemas.openxmlformats.org/officeDocument/2006/relationships/slide" Target="slides/slide102.xml"/><Relationship Id="rId106" Type="http://schemas.openxmlformats.org/officeDocument/2006/relationships/slide" Target="slides/slide101.xml"/><Relationship Id="rId105" Type="http://schemas.openxmlformats.org/officeDocument/2006/relationships/slide" Target="slides/slide100.xml"/><Relationship Id="rId104" Type="http://schemas.openxmlformats.org/officeDocument/2006/relationships/slide" Target="slides/slide99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103" Type="http://schemas.openxmlformats.org/officeDocument/2006/relationships/slide" Target="slides/slide98.xml"/><Relationship Id="rId102" Type="http://schemas.openxmlformats.org/officeDocument/2006/relationships/slide" Target="slides/slide97.xml"/><Relationship Id="rId101" Type="http://schemas.openxmlformats.org/officeDocument/2006/relationships/slide" Target="slides/slide96.xml"/><Relationship Id="rId100" Type="http://schemas.openxmlformats.org/officeDocument/2006/relationships/slide" Target="slides/slide95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11" Type="http://schemas.openxmlformats.org/officeDocument/2006/relationships/slide" Target="slides/slide6.xml"/><Relationship Id="rId99" Type="http://schemas.openxmlformats.org/officeDocument/2006/relationships/slide" Target="slides/slide94.xml"/><Relationship Id="rId10" Type="http://schemas.openxmlformats.org/officeDocument/2006/relationships/slide" Target="slides/slide5.xml"/><Relationship Id="rId98" Type="http://schemas.openxmlformats.org/officeDocument/2006/relationships/slide" Target="slides/slide93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7" Type="http://schemas.openxmlformats.org/officeDocument/2006/relationships/font" Target="fonts/Garamond-boldItalic.fntdata"/><Relationship Id="rId116" Type="http://schemas.openxmlformats.org/officeDocument/2006/relationships/font" Target="fonts/Garamond-italic.fntdata"/><Relationship Id="rId115" Type="http://schemas.openxmlformats.org/officeDocument/2006/relationships/font" Target="fonts/Garamond-bold.fntdata"/><Relationship Id="rId15" Type="http://schemas.openxmlformats.org/officeDocument/2006/relationships/slide" Target="slides/slide10.xml"/><Relationship Id="rId110" Type="http://schemas.openxmlformats.org/officeDocument/2006/relationships/slide" Target="slides/slide105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14" Type="http://schemas.openxmlformats.org/officeDocument/2006/relationships/font" Target="fonts/Garamond-regular.fntdata"/><Relationship Id="rId18" Type="http://schemas.openxmlformats.org/officeDocument/2006/relationships/slide" Target="slides/slide13.xml"/><Relationship Id="rId113" Type="http://schemas.openxmlformats.org/officeDocument/2006/relationships/slide" Target="slides/slide108.xml"/><Relationship Id="rId112" Type="http://schemas.openxmlformats.org/officeDocument/2006/relationships/slide" Target="slides/slide107.xml"/><Relationship Id="rId111" Type="http://schemas.openxmlformats.org/officeDocument/2006/relationships/slide" Target="slides/slide106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65" Type="http://schemas.openxmlformats.org/officeDocument/2006/relationships/slide" Target="slides/slide60.xml"/><Relationship Id="rId68" Type="http://schemas.openxmlformats.org/officeDocument/2006/relationships/slide" Target="slides/slide63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69" Type="http://schemas.openxmlformats.org/officeDocument/2006/relationships/slide" Target="slides/slide6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54" Type="http://schemas.openxmlformats.org/officeDocument/2006/relationships/slide" Target="slides/slide49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59" Type="http://schemas.openxmlformats.org/officeDocument/2006/relationships/slide" Target="slides/slide54.xml"/><Relationship Id="rId58" Type="http://schemas.openxmlformats.org/officeDocument/2006/relationships/slide" Target="slides/slide5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7556500" cy="10691812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7315200" cy="9601200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" name="Google Shape;7;n"/>
          <p:cNvSpPr/>
          <p:nvPr/>
        </p:nvSpPr>
        <p:spPr>
          <a:xfrm>
            <a:off x="0" y="0"/>
            <a:ext cx="7315200" cy="9601200"/>
          </a:xfrm>
          <a:prstGeom prst="roundRect">
            <a:avLst>
              <a:gd fmla="val 4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Google Shape;8;n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" name="Google Shape;9;n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0" name="Google Shape;10;n"/>
          <p:cNvSpPr txBox="1"/>
          <p:nvPr/>
        </p:nvSpPr>
        <p:spPr>
          <a:xfrm>
            <a:off x="4114800" y="91440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r>
              <a:rPr b="0" i="0" lang="en-US" sz="12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5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79" name="Google Shape;79;p5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85" name="Google Shape;85;p6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97" name="Google Shape;97;p8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03" name="Google Shape;103;p9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1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2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3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27" name="Google Shape;127;p13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3" name="Google Shape;133;p14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39" name="Google Shape;139;p15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45" name="Google Shape;145;p16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7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1" name="Google Shape;151;p17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57" name="Google Shape;157;p18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3" name="Google Shape;163;p19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69" name="Google Shape;169;p20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75" name="Google Shape;175;p21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1" name="Google Shape;181;p22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7" name="Google Shape;187;p23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4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3" name="Google Shape;193;p24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99" name="Google Shape;199;p25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6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7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9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2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3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29" name="Google Shape;229;p30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1" name="Google Shape;241;p32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47" name="Google Shape;247;p33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4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58" name="Google Shape;258;p35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4" name="Google Shape;264;p36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0" name="Google Shape;270;p37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76" name="Google Shape;276;p38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2" name="Google Shape;282;p39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88" name="Google Shape;288;p40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1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94" name="Google Shape;294;p41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0" name="Google Shape;300;p42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06" name="Google Shape;306;p43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44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2" name="Google Shape;312;p44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18" name="Google Shape;318;p45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24" name="Google Shape;324;p46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4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0" name="Google Shape;330;p47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4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36" name="Google Shape;336;p48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4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2" name="Google Shape;342;p49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5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48" name="Google Shape;348;p50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54" name="Google Shape;354;p51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5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0" name="Google Shape;360;p52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66" name="Google Shape;366;p53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4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2" name="Google Shape;372;p54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5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78" name="Google Shape;378;p55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5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84" name="Google Shape;384;p56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0" name="Google Shape;390;p57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5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396" name="Google Shape;396;p58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5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2" name="Google Shape;402;p59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6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08" name="Google Shape;408;p60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14" name="Google Shape;414;p61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6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0" name="Google Shape;420;p62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3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26" name="Google Shape;426;p63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6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2" name="Google Shape;432;p64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6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38" name="Google Shape;438;p65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6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44" name="Google Shape;444;p66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6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0" name="Google Shape;450;p67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56" name="Google Shape;456;p68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6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62" name="Google Shape;462;p69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70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7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7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3" name="Google Shape;473;p71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79" name="Google Shape;479;p72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7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85" name="Google Shape;485;p73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7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91" name="Google Shape;491;p74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497" name="Google Shape;497;p75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03" name="Google Shape;503;p76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7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09" name="Google Shape;509;p77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7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15" name="Google Shape;515;p78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7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1" name="Google Shape;521;p79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8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27" name="Google Shape;527;p80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8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33" name="Google Shape;533;p81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8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39" name="Google Shape;539;p82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8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45" name="Google Shape;545;p83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8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51" name="Google Shape;551;p84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8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58" name="Google Shape;558;p85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8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64" name="Google Shape;564;p86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1" name="Google Shape;571;p87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8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77" name="Google Shape;577;p88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p8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83" name="Google Shape;583;p89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89" name="Google Shape;589;p90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9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596" name="Google Shape;596;p91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9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2" name="Google Shape;602;p92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9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08" name="Google Shape;608;p93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9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14" name="Google Shape;614;p94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9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20" name="Google Shape;620;p95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9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26" name="Google Shape;626;p96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97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32" name="Google Shape;632;p97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9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38" name="Google Shape;638;p98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99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44" name="Google Shape;644;p99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100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50" name="Google Shape;650;p100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01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56" name="Google Shape;656;p101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02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62" name="Google Shape;662;p102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103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68" name="Google Shape;668;p103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04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74" name="Google Shape;674;p104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105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0" name="Google Shape;680;p105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06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86" name="Google Shape;686;p106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107:notes"/>
          <p:cNvSpPr txBox="1"/>
          <p:nvPr/>
        </p:nvSpPr>
        <p:spPr>
          <a:xfrm>
            <a:off x="4279900" y="10155237"/>
            <a:ext cx="3275012" cy="534987"/>
          </a:xfrm>
          <a:prstGeom prst="rect">
            <a:avLst/>
          </a:prstGeom>
          <a:noFill/>
          <a:ln>
            <a:noFill/>
          </a:ln>
        </p:spPr>
        <p:txBody>
          <a:bodyPr anchorCtr="0" anchor="t" bIns="52125" lIns="104250" spcFirstLastPara="1" rIns="104250" wrap="square" tIns="521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fld id="{00000000-1234-1234-1234-123412341234}" type="slidenum">
              <a:rPr b="0" i="0" lang="en-US" sz="24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692" name="Google Shape;692;p107:notes"/>
          <p:cNvSpPr/>
          <p:nvPr>
            <p:ph idx="2" type="sldImg"/>
          </p:nvPr>
        </p:nvSpPr>
        <p:spPr>
          <a:xfrm>
            <a:off x="1104900" y="801687"/>
            <a:ext cx="5346700" cy="40100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693" name="Google Shape;693;p107:notes"/>
          <p:cNvSpPr txBox="1"/>
          <p:nvPr>
            <p:ph idx="1" type="body"/>
          </p:nvPr>
        </p:nvSpPr>
        <p:spPr>
          <a:xfrm>
            <a:off x="755650" y="5078412"/>
            <a:ext cx="6045200" cy="48117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08:notes"/>
          <p:cNvSpPr txBox="1"/>
          <p:nvPr>
            <p:ph idx="1" type="body"/>
          </p:nvPr>
        </p:nvSpPr>
        <p:spPr>
          <a:xfrm>
            <a:off x="990600" y="4572000"/>
            <a:ext cx="5334000" cy="4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108:notes"/>
          <p:cNvSpPr/>
          <p:nvPr>
            <p:ph idx="2" type="sldImg"/>
          </p:nvPr>
        </p:nvSpPr>
        <p:spPr>
          <a:xfrm>
            <a:off x="1219200" y="685800"/>
            <a:ext cx="48768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">
  <p:cSld name="Custom Layou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title"/>
          </p:nvPr>
        </p:nvSpPr>
        <p:spPr>
          <a:xfrm>
            <a:off x="609600" y="304800"/>
            <a:ext cx="7764463" cy="90646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18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 rot="5400000">
            <a:off x="4579144" y="2216944"/>
            <a:ext cx="5783263" cy="1958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 rot="5400000">
            <a:off x="582613" y="331787"/>
            <a:ext cx="5783263" cy="5729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18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 rot="5400000">
            <a:off x="2324100" y="-38100"/>
            <a:ext cx="4487862" cy="7764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180"/>
              </a:spcAft>
              <a:buSzPts val="18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8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sz="3200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  <a:defRPr b="0" i="0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  <a:def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lvl="8" marR="0" rtl="0" algn="l">
              <a:spcBef>
                <a:spcPts val="400"/>
              </a:spcBef>
              <a:spcAft>
                <a:spcPts val="200"/>
              </a:spcAft>
              <a:buClr>
                <a:srgbClr val="000000"/>
              </a:buClr>
              <a:buSzPts val="2000"/>
              <a:buFont typeface="Times New Roman"/>
              <a:buNone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32" name="Google Shape;32;p8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9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SzPts val="2000"/>
              <a:buChar char="»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200"/>
              </a:spcAft>
              <a:buSzPts val="2000"/>
              <a:buChar char="»"/>
              <a:defRPr sz="20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90"/>
              </a:spcAft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16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0" name="Google Shape;40;p1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160"/>
              </a:spcAft>
              <a:buSzPts val="1600"/>
              <a:buChar char="»"/>
              <a:defRPr sz="1600"/>
            </a:lvl9pPr>
          </a:lstStyle>
          <a:p/>
        </p:txBody>
      </p:sp>
      <p:sp>
        <p:nvSpPr>
          <p:cNvPr id="41" name="Google Shape;41;p1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16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42" name="Google Shape;42;p1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SzPts val="1600"/>
              <a:buChar char="»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160"/>
              </a:spcAft>
              <a:buSzPts val="1600"/>
              <a:buChar char="»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" type="body"/>
          </p:nvPr>
        </p:nvSpPr>
        <p:spPr>
          <a:xfrm>
            <a:off x="685800" y="1600200"/>
            <a:ext cx="3805238" cy="4487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180"/>
              </a:spcAft>
              <a:buSzPts val="1800"/>
              <a:buChar char="»"/>
              <a:defRPr sz="1800"/>
            </a:lvl9pPr>
          </a:lstStyle>
          <a:p/>
        </p:txBody>
      </p:sp>
      <p:sp>
        <p:nvSpPr>
          <p:cNvPr id="46" name="Google Shape;46;p11"/>
          <p:cNvSpPr txBox="1"/>
          <p:nvPr>
            <p:ph idx="2" type="body"/>
          </p:nvPr>
        </p:nvSpPr>
        <p:spPr>
          <a:xfrm>
            <a:off x="4643438" y="1600200"/>
            <a:ext cx="3806825" cy="4487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»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180"/>
              </a:spcAft>
              <a:buSzPts val="1800"/>
              <a:buChar char="»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0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2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800"/>
              <a:buNone/>
              <a:defRPr sz="1800"/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600"/>
              <a:buNone/>
              <a:defRPr sz="1600"/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8pPr>
            <a:lvl9pPr indent="-228600" lvl="8" marL="4114800" algn="l">
              <a:spcBef>
                <a:spcPts val="280"/>
              </a:spcBef>
              <a:spcAft>
                <a:spcPts val="140"/>
              </a:spcAft>
              <a:buSzPts val="1400"/>
              <a:buNone/>
              <a:defRPr sz="14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200"/>
              </a:spcAft>
              <a:buSzPts val="2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  <a:defRPr b="0" i="0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  <a:defRPr b="0" i="0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  <a:defRPr b="0" i="0" sz="24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–"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200"/>
              </a:spcAft>
              <a:buClr>
                <a:srgbClr val="000000"/>
              </a:buClr>
              <a:buSzPts val="2000"/>
              <a:buFont typeface="Times New Roman"/>
              <a:buChar char="»"/>
              <a:defRPr b="0" i="0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defRPr>
            </a:lvl9pPr>
          </a:lstStyle>
          <a:p/>
        </p:txBody>
      </p:sp>
      <p:sp>
        <p:nvSpPr>
          <p:cNvPr id="14" name="Google Shape;14;p1"/>
          <p:cNvSpPr txBox="1"/>
          <p:nvPr/>
        </p:nvSpPr>
        <p:spPr>
          <a:xfrm>
            <a:off x="6477000" y="6172200"/>
            <a:ext cx="23526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fld id="{00000000-1234-1234-1234-123412341234}" type="slidenum">
              <a:rPr b="0" i="0" lang="en-US" sz="1400" u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3.jp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.jp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.jp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685800" y="685800"/>
            <a:ext cx="7772400" cy="20240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i="0" lang="en-US" sz="4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Object-Oriented Programs</a:t>
            </a:r>
            <a:endParaRPr/>
          </a:p>
        </p:txBody>
      </p:sp>
      <p:sp>
        <p:nvSpPr>
          <p:cNvPr id="58" name="Google Shape;58;p14"/>
          <p:cNvSpPr txBox="1"/>
          <p:nvPr>
            <p:ph idx="4294967295" type="subTitle"/>
          </p:nvPr>
        </p:nvSpPr>
        <p:spPr>
          <a:xfrm>
            <a:off x="685800" y="3048000"/>
            <a:ext cx="7696200" cy="24733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marR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Dr. Durga Prasad Mohapatra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Professor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Department of Computer Science and Engineering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Times New Roman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National Institute of Technology, Rourkela, India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i="0" lang="en-US" sz="4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Plan of the Talk</a:t>
            </a:r>
            <a:endParaRPr/>
          </a:p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85800" y="1600200"/>
            <a:ext cx="7924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Introduction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Challenges in testing OO programs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suite design using UML models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design patterns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Conclusion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85800" y="228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i="0" lang="en-US" sz="5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Introduction</a:t>
            </a:r>
            <a:endParaRPr/>
          </a:p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304800" y="1219200"/>
            <a:ext cx="8610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More than 50% of development effort is being spent on testing. 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Quality and effective reuse of software depend to a large extent: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on thorough testing.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was expected during initial years that OO would help substantially reduce testing effort</a:t>
            </a: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object-orientation incorporates several good programming features: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But, as we find it out today --- it only complicates testing.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Complicacy in testing</a:t>
            </a:r>
            <a:endParaRPr/>
          </a:p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381000" y="1219200"/>
            <a:ext cx="8305800" cy="53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Soon it was realized that satisfactory testing object oriented programs is much more difficult.</a:t>
            </a:r>
            <a:endParaRPr/>
          </a:p>
          <a:p>
            <a:pPr indent="-334962" lvl="0" marL="334962" marR="0" rtl="0" algn="just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Requires much more cost and effort in comparison to procedural programs.</a:t>
            </a:r>
            <a:endParaRPr/>
          </a:p>
          <a:p>
            <a:pPr indent="-277812" lvl="1" marL="735012" marR="0" rtl="0" algn="just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the various object-oriented features introduce additional complications and scope of new type of bugs.</a:t>
            </a:r>
            <a:endParaRPr/>
          </a:p>
          <a:p>
            <a:pPr indent="-334962" lvl="0" marL="334962" marR="0" rtl="0" algn="just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Additional test cases are needed to be designed to detect the bugs.</a:t>
            </a:r>
            <a:endParaRPr/>
          </a:p>
          <a:p>
            <a:pPr indent="-157161" lvl="0" marL="334962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57163" lvl="0" marL="334963" marR="0" rtl="0" algn="l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i="0" lang="en-US" sz="4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Today’s Focus</a:t>
            </a:r>
            <a:endParaRPr/>
          </a:p>
        </p:txBody>
      </p:sp>
      <p:sp>
        <p:nvSpPr>
          <p:cNvPr id="82" name="Google Shape;82;p18"/>
          <p:cNvSpPr txBox="1"/>
          <p:nvPr>
            <p:ph idx="1" type="body"/>
          </p:nvPr>
        </p:nvSpPr>
        <p:spPr>
          <a:xfrm>
            <a:off x="685800" y="1371600"/>
            <a:ext cx="7764462" cy="4716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Most reported research on OO paradigms focus on: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Analysis and design. 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discuss some important issues in testing object-oriented systems.</a:t>
            </a: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i="0" lang="en-US" sz="4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Fault Model </a:t>
            </a:r>
            <a:endParaRPr/>
          </a:p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0" y="1371600"/>
            <a:ext cx="8305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Different types of faults in a program: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Infinite for practical purposes 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fault model: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 map of</a:t>
            </a: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possible types of faults.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Necessary to guide any rational testing strategy.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fault model  may be constructed from analysis of failure data.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Places To Look For Faults</a:t>
            </a:r>
            <a:endParaRPr/>
          </a:p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81000" y="1295400"/>
            <a:ext cx="8229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 places (error types) can trivially  be omitted from  a fault model: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 Cannot make English grammar mistakes when I am writing a C program.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Cannot commit errors due to side  effects (change global variables) while writing a Java program.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</a:t>
            </a:r>
            <a:r>
              <a:rPr b="1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strategy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Yields a test suite when applied to a unit under test.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type="title"/>
          </p:nvPr>
        </p:nvSpPr>
        <p:spPr>
          <a:xfrm>
            <a:off x="6858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Challenges in OO Testing</a:t>
            </a:r>
            <a:endParaRPr/>
          </a:p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457200" y="1371600"/>
            <a:ext cx="83058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an appropriate unit for testing?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Implications of OO features: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Encapsulation 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Inheritance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Polymorphism &amp; Dynamic Binding, etc.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State-based testing 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coverage analysis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strategies 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process strategy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09600" y="228600"/>
            <a:ext cx="7772400" cy="1300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a Suitable Unit for Testing?</a:t>
            </a:r>
            <a:endParaRPr/>
          </a:p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685800" y="1524000"/>
            <a:ext cx="80010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the fundamental unit of testing conventional programs?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function.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However, as far as OO programs are concerned: 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Methods are not the basic unit of testing.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FF00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57163" lvl="0" marL="334963" rtl="0" algn="l"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FF00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/>
          <p:nvPr>
            <p:ph type="title"/>
          </p:nvPr>
        </p:nvSpPr>
        <p:spPr>
          <a:xfrm>
            <a:off x="609600" y="0"/>
            <a:ext cx="7764462" cy="16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Weyukar's Anticomposition axiom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  <p:sp>
        <p:nvSpPr>
          <p:cNvPr id="112" name="Google Shape;112;p23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00012" lvl="1" marL="73501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FF00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77812" lvl="1" marL="735012" marR="0" rtl="0" algn="just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Any amount of testing of individual methods can not ensure that a class has been satisfactorily  tested.</a:t>
            </a:r>
            <a:endParaRPr/>
          </a:p>
          <a:p>
            <a:pPr indent="-277812" lvl="1" marL="735012" marR="0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FF00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157163" lvl="0" marL="334963" marR="0" rtl="0" algn="l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 cap="none" strike="noStrike">
              <a:solidFill>
                <a:srgbClr val="FF0066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609600" y="304800"/>
            <a:ext cx="7764462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Weyukar's Anticomposition axiom</a:t>
            </a:r>
            <a:endParaRPr/>
          </a:p>
        </p:txBody>
      </p:sp>
      <p:sp>
        <p:nvSpPr>
          <p:cNvPr id="118" name="Google Shape;118;p24"/>
          <p:cNvSpPr txBox="1"/>
          <p:nvPr>
            <p:ph idx="1" type="body"/>
          </p:nvPr>
        </p:nvSpPr>
        <p:spPr>
          <a:xfrm>
            <a:off x="685800" y="1524000"/>
            <a:ext cx="7764462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main justification for anticomposition axiom is that</a:t>
            </a:r>
            <a:endParaRPr/>
          </a:p>
          <a:p>
            <a:pPr indent="-277812" lvl="1" marL="735012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 cap="none" strike="noStrik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method operates in the scope of the data and other methods of its object.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So, it is necessary to test a method in the  context of these.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As objects can have significant states, the behavior of a method can be different based on the </a:t>
            </a: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of corresponding object.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5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Basic unit of testing</a:t>
            </a:r>
            <a:endParaRPr/>
          </a:p>
        </p:txBody>
      </p:sp>
      <p:sp>
        <p:nvSpPr>
          <p:cNvPr id="124" name="Google Shape;124;p25"/>
          <p:cNvSpPr txBox="1"/>
          <p:nvPr>
            <p:ph idx="1" type="body"/>
          </p:nvPr>
        </p:nvSpPr>
        <p:spPr>
          <a:xfrm>
            <a:off x="685800" y="1371600"/>
            <a:ext cx="7764462" cy="4716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Therefore a method has to be tested with all other methods and data of the corr. object.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Moreover, a method needs to be tested at all states that the object can assume.</a:t>
            </a:r>
            <a:endParaRPr/>
          </a:p>
          <a:p>
            <a:pPr indent="-334962" lvl="0" marL="334962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So, it is improper to consider a method as the basic unit of testing an OOP.</a:t>
            </a:r>
            <a:endParaRPr/>
          </a:p>
          <a:p>
            <a:pPr indent="-334962" lvl="1" marL="334962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 cap="none" strike="noStrike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object is the basic unit of testing of object-oriented programs.</a:t>
            </a:r>
            <a:endParaRPr b="0" i="0" sz="2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 object oriented testing, unit testing is conducted by testing each object in isolation.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6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Suitable Unit for Testing OO Programs</a:t>
            </a:r>
            <a:endParaRPr/>
          </a:p>
        </p:txBody>
      </p:sp>
      <p:sp>
        <p:nvSpPr>
          <p:cNvPr id="130" name="Google Shape;130;p26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rgbClr val="0047FF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 level: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interactions between attributes and methods must be addressed.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of the object must be considered.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762000" y="381000"/>
            <a:ext cx="7769225" cy="912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Suitable Unit of Testing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1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                                           cont…</a:t>
            </a:r>
            <a:endParaRPr/>
          </a:p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685800" y="1600200"/>
            <a:ext cx="7769225" cy="4494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Cluster level: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Tests the interactions among a group of 	cooperating classes.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sequence of interactions is typically required to implement a visible behavior (i.e. a use case).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System level: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Tests an entire operational system.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i="0" lang="en-US" sz="5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Encapsulation</a:t>
            </a:r>
            <a:endParaRPr/>
          </a:p>
        </p:txBody>
      </p:sp>
      <p:sp>
        <p:nvSpPr>
          <p:cNvPr id="142" name="Google Shape;142;p28"/>
          <p:cNvSpPr txBox="1"/>
          <p:nvPr>
            <p:ph idx="1" type="body"/>
          </p:nvPr>
        </p:nvSpPr>
        <p:spPr>
          <a:xfrm>
            <a:off x="685800" y="1600200"/>
            <a:ext cx="7772400" cy="44973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Encapsulation is not a source of errors: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However, an obstacle to testing.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prevents accessing attribute values by a debugger.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While testing: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Precise current state information is necessary.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9"/>
          <p:cNvSpPr txBox="1"/>
          <p:nvPr>
            <p:ph type="title"/>
          </p:nvPr>
        </p:nvSpPr>
        <p:spPr>
          <a:xfrm>
            <a:off x="609600" y="228600"/>
            <a:ext cx="7772400" cy="126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Solving Encapsulation-Related Problems</a:t>
            </a:r>
            <a:endParaRPr/>
          </a:p>
        </p:txBody>
      </p:sp>
      <p:sp>
        <p:nvSpPr>
          <p:cNvPr id="148" name="Google Shape;148;p29"/>
          <p:cNvSpPr txBox="1"/>
          <p:nvPr>
            <p:ph idx="1" type="body"/>
          </p:nvPr>
        </p:nvSpPr>
        <p:spPr>
          <a:xfrm>
            <a:off x="609600" y="1676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Several solutions are possible: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Built-in or inherited state reporting methods.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Low level probes to manually inspect object attributes.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Proof-of-correctness technique (formal).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Solving Encapsulation-Related Problems</a:t>
            </a:r>
            <a:endParaRPr/>
          </a:p>
        </p:txBody>
      </p:sp>
      <p:sp>
        <p:nvSpPr>
          <p:cNvPr id="154" name="Google Shape;154;p30"/>
          <p:cNvSpPr txBox="1"/>
          <p:nvPr>
            <p:ph idx="1" type="body"/>
          </p:nvPr>
        </p:nvSpPr>
        <p:spPr>
          <a:xfrm>
            <a:off x="685800" y="17526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Most feasible way: State reporting methods.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Reliable verification of state reporting methods is a problem.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type="title"/>
          </p:nvPr>
        </p:nvSpPr>
        <p:spPr>
          <a:xfrm>
            <a:off x="7620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i="0" lang="en-US" sz="5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Inheritance</a:t>
            </a:r>
            <a:endParaRPr/>
          </a:p>
        </p:txBody>
      </p:sp>
      <p:sp>
        <p:nvSpPr>
          <p:cNvPr id="160" name="Google Shape;160;p31"/>
          <p:cNvSpPr txBox="1"/>
          <p:nvPr>
            <p:ph idx="1" type="body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Should inherited methods be retested?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2300DC"/>
                </a:solidFill>
                <a:latin typeface="Comic Sans MS"/>
                <a:ea typeface="Comic Sans MS"/>
                <a:cs typeface="Comic Sans MS"/>
                <a:sym typeface="Comic Sans MS"/>
              </a:rPr>
              <a:t>Retesting of inherited methods is the rule, rather than an exception.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Retesting required: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Because a new context of usage results when a subclass is derived.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Correct behavior at an upper level: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not guarantee correct behavior at a lower level.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type="title"/>
          </p:nvPr>
        </p:nvSpPr>
        <p:spPr>
          <a:xfrm>
            <a:off x="685800" y="457200"/>
            <a:ext cx="7924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Inheritance  --- Overriding</a:t>
            </a:r>
            <a:endParaRPr/>
          </a:p>
        </p:txBody>
      </p:sp>
      <p:sp>
        <p:nvSpPr>
          <p:cNvPr id="166" name="Google Shape;166;p32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case of method  overriding: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Need to retest the classes in the context of overriding.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overridden method must be retested even when only minor syntactic changes are made.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3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Deep  Inheritance Hierarchy</a:t>
            </a:r>
            <a:endParaRPr/>
          </a:p>
        </p:txBody>
      </p:sp>
      <p:sp>
        <p:nvSpPr>
          <p:cNvPr id="172" name="Google Shape;172;p33"/>
          <p:cNvSpPr txBox="1"/>
          <p:nvPr>
            <p:ph idx="1" type="body"/>
          </p:nvPr>
        </p:nvSpPr>
        <p:spPr>
          <a:xfrm>
            <a:off x="533400" y="1371600"/>
            <a:ext cx="81534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subclass at the bottom of a deep hierarchy: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 have only one or two lines of code,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but may inherit hundreds of features. 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situation creates fault hazards: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similar to unrestricted access to global data in procedural programs. 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FF0066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rgbClr val="2323DC"/>
                </a:solidFill>
                <a:latin typeface="Comic Sans MS"/>
                <a:ea typeface="Comic Sans MS"/>
                <a:cs typeface="Comic Sans MS"/>
                <a:sym typeface="Comic Sans MS"/>
              </a:rPr>
              <a:t>Inheritance weakens encapsulation.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4"/>
          <p:cNvSpPr txBox="1"/>
          <p:nvPr>
            <p:ph type="title"/>
          </p:nvPr>
        </p:nvSpPr>
        <p:spPr>
          <a:xfrm>
            <a:off x="6858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Deep Inheritance 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Hierarchy </a:t>
            </a:r>
            <a:r>
              <a:rPr b="1" i="0" lang="en-US" sz="3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cont</a:t>
            </a: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...</a:t>
            </a:r>
            <a:endParaRPr/>
          </a:p>
        </p:txBody>
      </p:sp>
      <p:sp>
        <p:nvSpPr>
          <p:cNvPr id="178" name="Google Shape;178;p34"/>
          <p:cNvSpPr txBox="1"/>
          <p:nvPr>
            <p:ph idx="1" type="body"/>
          </p:nvPr>
        </p:nvSpPr>
        <p:spPr>
          <a:xfrm>
            <a:off x="381000" y="1600200"/>
            <a:ext cx="8382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deep and wide inheritance hierarchy can defy comprehension: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Lead to bugs and reduce testability.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Incorrect initialization and forgotten methods can result.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 flattening may increase</a:t>
            </a: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 u</a:t>
            </a: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nderstandibility.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Multiple Inheritance: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increases number of contexts to test.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5"/>
          <p:cNvSpPr txBox="1"/>
          <p:nvPr>
            <p:ph type="title"/>
          </p:nvPr>
        </p:nvSpPr>
        <p:spPr>
          <a:xfrm>
            <a:off x="762000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Abstract and Generic Classes</a:t>
            </a:r>
            <a:endParaRPr/>
          </a:p>
        </p:txBody>
      </p:sp>
      <p:sp>
        <p:nvSpPr>
          <p:cNvPr id="184" name="Google Shape;184;p35"/>
          <p:cNvSpPr txBox="1"/>
          <p:nvPr>
            <p:ph idx="1" type="body"/>
          </p:nvPr>
        </p:nvSpPr>
        <p:spPr>
          <a:xfrm>
            <a:off x="685800" y="16764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Unique to OO programming: 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Provide important support for reuse.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Must be extended and instantiated to be tested. 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 never be considered fully tested</a:t>
            </a: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: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Since need retesting when new subclasses are created.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6"/>
          <p:cNvSpPr txBox="1"/>
          <p:nvPr>
            <p:ph type="title"/>
          </p:nvPr>
        </p:nvSpPr>
        <p:spPr>
          <a:xfrm>
            <a:off x="685800" y="228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i="0" lang="en-US" sz="4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Polymorphism</a:t>
            </a:r>
            <a:endParaRPr/>
          </a:p>
        </p:txBody>
      </p:sp>
      <p:sp>
        <p:nvSpPr>
          <p:cNvPr id="190" name="Google Shape;190;p36"/>
          <p:cNvSpPr txBox="1"/>
          <p:nvPr>
            <p:ph idx="1" type="body"/>
          </p:nvPr>
        </p:nvSpPr>
        <p:spPr>
          <a:xfrm>
            <a:off x="381000" y="1371600"/>
            <a:ext cx="8305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possible binding of a polymorphic component requires separate testing: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Often difficult to find all bindings that may occur.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Increases the chances of bugs 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obstacle to reaching coverage goals.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7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Polymorphism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                    cont…</a:t>
            </a:r>
            <a:endParaRPr/>
          </a:p>
        </p:txBody>
      </p:sp>
      <p:sp>
        <p:nvSpPr>
          <p:cNvPr id="196" name="Google Shape;196;p37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Polymorphism complicates integration planning: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many server classes may need to be integrated before a client class can be tested.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38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Binding</a:t>
            </a:r>
            <a:endParaRPr/>
          </a:p>
        </p:txBody>
      </p:sp>
      <p:sp>
        <p:nvSpPr>
          <p:cNvPr id="202" name="Google Shape;202;p38"/>
          <p:cNvSpPr txBox="1"/>
          <p:nvPr>
            <p:ph idx="1" type="body"/>
          </p:nvPr>
        </p:nvSpPr>
        <p:spPr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binding implies: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code that implements a given function is unknown until run time.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Static analysis cannot be used to identify the precise  dependencies in a program.</a:t>
            </a: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becomes difficult to identify all possible bindings and test them.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9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Object states</a:t>
            </a:r>
            <a:endParaRPr/>
          </a:p>
        </p:txBody>
      </p:sp>
      <p:sp>
        <p:nvSpPr>
          <p:cNvPr id="208" name="Google Shape;208;p39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marR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Objects store data parmently and also they have significant states.</a:t>
            </a:r>
            <a:endParaRPr/>
          </a:p>
          <a:p>
            <a:pPr indent="-334962" lvl="0" marL="334962" marR="0" rtl="0" algn="l">
              <a:lnSpc>
                <a:spcPct val="94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behavior of a object is usually different in different states.</a:t>
            </a:r>
            <a:endParaRPr/>
          </a:p>
          <a:p>
            <a:pPr indent="-334962" lvl="0" marL="334962" marR="0" rtl="0" algn="l">
              <a:lnSpc>
                <a:spcPct val="94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Hence the object has to be tested at all its possible states.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C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Object states</a:t>
            </a:r>
            <a:endParaRPr/>
          </a:p>
        </p:txBody>
      </p:sp>
      <p:sp>
        <p:nvSpPr>
          <p:cNvPr id="214" name="Google Shape;214;p40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state transition functions also needs to be tested thoroughly.</a:t>
            </a:r>
            <a:endParaRPr/>
          </a:p>
          <a:p>
            <a:pPr indent="-131761" lvl="0" marL="334962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4962" lvl="0" marL="334962" marR="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 should be no extra transitions or extra states other than those defined in the state model.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1"/>
          <p:cNvSpPr txBox="1"/>
          <p:nvPr>
            <p:ph type="title"/>
          </p:nvPr>
        </p:nvSpPr>
        <p:spPr>
          <a:xfrm>
            <a:off x="609600" y="0"/>
            <a:ext cx="7764462" cy="1447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Why are traditional testing techniques considered unsatisfactory for testing OOPs? </a:t>
            </a:r>
            <a:endParaRPr/>
          </a:p>
        </p:txBody>
      </p:sp>
      <p:sp>
        <p:nvSpPr>
          <p:cNvPr id="220" name="Google Shape;220;p41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procedural programs, procedures are the basic units where in OOPs objects are the basic units of testing.</a:t>
            </a:r>
            <a:endParaRPr/>
          </a:p>
          <a:p>
            <a:pPr indent="-334962" lvl="0" marL="334962" marR="0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Statement coverage based testing is not meaningful for testing OOPs as the inherited methods have to be retested in the derived class.</a:t>
            </a:r>
            <a:endParaRPr/>
          </a:p>
          <a:p>
            <a:pPr indent="-334962" lvl="0" marL="334962" marR="0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fact, the different O-O features require different test cases to be designed compared to traditional testing.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2"/>
          <p:cNvSpPr txBox="1"/>
          <p:nvPr>
            <p:ph type="title"/>
          </p:nvPr>
        </p:nvSpPr>
        <p:spPr>
          <a:xfrm>
            <a:off x="609600" y="0"/>
            <a:ext cx="7764462" cy="1211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b="1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Why are traditional testing techniques considered unsatisfactory for testing OOPs? </a:t>
            </a:r>
            <a:endParaRPr/>
          </a:p>
        </p:txBody>
      </p:sp>
      <p:sp>
        <p:nvSpPr>
          <p:cNvPr id="226" name="Google Shape;226;p42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These O-O features are explicit in design models, and it is usually difficult to extract from an analysis of the source code.</a:t>
            </a:r>
            <a:endParaRPr b="0" i="0" sz="2800" u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4962" lvl="0" marL="334962" marR="0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Hence test cases are designed based on the design model.</a:t>
            </a:r>
            <a:endParaRPr/>
          </a:p>
          <a:p>
            <a:pPr indent="-334962" lvl="0" marL="334962" marR="0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So, this approach is considered to be intermediate between white box and black box approach &amp; is called </a:t>
            </a: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grey box 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approach, which is important for testing OOPs.</a:t>
            </a:r>
            <a:endParaRPr/>
          </a:p>
          <a:p>
            <a:pPr indent="-157163" lvl="0" marL="334963" marR="0" rtl="0" algn="l"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3"/>
          <p:cNvSpPr txBox="1"/>
          <p:nvPr>
            <p:ph type="title"/>
          </p:nvPr>
        </p:nvSpPr>
        <p:spPr>
          <a:xfrm>
            <a:off x="7620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Process Strategy</a:t>
            </a:r>
            <a:endParaRPr/>
          </a:p>
        </p:txBody>
      </p:sp>
      <p:sp>
        <p:nvSpPr>
          <p:cNvPr id="232" name="Google Shape;232;p43"/>
          <p:cNvSpPr txBox="1"/>
          <p:nvPr>
            <p:ph idx="1" type="body"/>
          </p:nvPr>
        </p:nvSpPr>
        <p:spPr>
          <a:xfrm>
            <a:off x="228600" y="1371600"/>
            <a:ext cx="86868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Object-oriented development tends toward: 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shorter incremental cycles.</a:t>
            </a:r>
            <a:endParaRPr/>
          </a:p>
          <a:p>
            <a:pPr indent="-334962" lvl="0" marL="33496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Development characterized as: 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47FF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a little, code a little, test a little.</a:t>
            </a:r>
            <a:endParaRPr/>
          </a:p>
          <a:p>
            <a:pPr indent="-334962" lvl="0" marL="33496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distance between OO specification and implementation, therefore: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typically small compared to conventional systems.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4"/>
          <p:cNvSpPr txBox="1"/>
          <p:nvPr>
            <p:ph type="title"/>
          </p:nvPr>
        </p:nvSpPr>
        <p:spPr>
          <a:xfrm>
            <a:off x="685800" y="609600"/>
            <a:ext cx="7769225" cy="9128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Process Strategy           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</a:t>
            </a:r>
            <a:r>
              <a:rPr b="1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</a:t>
            </a: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...</a:t>
            </a:r>
            <a:endParaRPr/>
          </a:p>
        </p:txBody>
      </p:sp>
      <p:sp>
        <p:nvSpPr>
          <p:cNvPr id="238" name="Google Shape;238;p44"/>
          <p:cNvSpPr txBox="1"/>
          <p:nvPr>
            <p:ph idx="1" type="body"/>
          </p:nvPr>
        </p:nvSpPr>
        <p:spPr>
          <a:xfrm>
            <a:off x="685800" y="1708150"/>
            <a:ext cx="7769225" cy="4494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gap between white-box/black-box test is diminished. 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Therefore lower importance of code-based testing.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FF0066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Model-based testing has assumed importance (also called grey box testing).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Conventional white-box testing can be used for testing </a:t>
            </a:r>
            <a:r>
              <a:rPr b="0" i="0" lang="en-US" sz="3200" u="none">
                <a:solidFill>
                  <a:srgbClr val="0070C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individual methods</a:t>
            </a: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5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Based on UML Models</a:t>
            </a:r>
            <a:endParaRPr/>
          </a:p>
        </p:txBody>
      </p:sp>
      <p:sp>
        <p:nvSpPr>
          <p:cNvPr id="244" name="Google Shape;244;p45"/>
          <p:cNvSpPr txBox="1"/>
          <p:nvPr>
            <p:ph idx="1" type="body"/>
          </p:nvPr>
        </p:nvSpPr>
        <p:spPr>
          <a:xfrm>
            <a:off x="457200" y="1447800"/>
            <a:ext cx="83058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UML has become the </a:t>
            </a:r>
            <a:r>
              <a:rPr b="0" i="1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 facto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standard for OO modeling and design: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Though UML is intended to produce rigorous models: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incorporate many flexibilities.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incomplete, inconsistent, and ambiguous models often result.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Never the less: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UML models are an important source of information for test design.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/>
          <p:nvPr>
            <p:ph type="title"/>
          </p:nvPr>
        </p:nvSpPr>
        <p:spPr>
          <a:xfrm>
            <a:off x="685800" y="434975"/>
            <a:ext cx="7772400" cy="126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Test Approaches for UML-Based Designs</a:t>
            </a:r>
            <a:endParaRPr/>
          </a:p>
        </p:txBody>
      </p:sp>
      <p:sp>
        <p:nvSpPr>
          <p:cNvPr id="250" name="Google Shape;250;p46"/>
          <p:cNvSpPr txBox="1"/>
          <p:nvPr>
            <p:ph idx="1" type="body"/>
          </p:nvPr>
        </p:nvSpPr>
        <p:spPr>
          <a:xfrm>
            <a:off x="730250" y="2090737"/>
            <a:ext cx="7772400" cy="44545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525462" lvl="0" marL="5254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Two Approaches:</a:t>
            </a:r>
            <a:endParaRPr/>
          </a:p>
          <a:p>
            <a:pPr indent="-525462" lvl="1" marL="9826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AutoNum type="arabicPlain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Interpret the generic test strategy to develop the test suite.</a:t>
            </a:r>
            <a:endParaRPr/>
          </a:p>
          <a:p>
            <a:pPr indent="-525462" lvl="1" marL="9826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AutoNum type="arabicPlain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Apply the related test design pattern.</a:t>
            </a:r>
            <a:endParaRPr/>
          </a:p>
          <a:p>
            <a:pPr indent="-157163" lvl="0" marL="334963" rtl="0" algn="l"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47"/>
          <p:cNvSpPr txBox="1"/>
          <p:nvPr>
            <p:ph type="title"/>
          </p:nvPr>
        </p:nvSpPr>
        <p:spPr>
          <a:xfrm>
            <a:off x="838200" y="1600200"/>
            <a:ext cx="7764462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70C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Development of test suite by interpreting the generic test strategy 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48"/>
          <p:cNvSpPr txBox="1"/>
          <p:nvPr>
            <p:ph type="title"/>
          </p:nvPr>
        </p:nvSpPr>
        <p:spPr>
          <a:xfrm>
            <a:off x="762000" y="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Case-based Testing  </a:t>
            </a:r>
            <a:endParaRPr/>
          </a:p>
        </p:txBody>
      </p:sp>
      <p:sp>
        <p:nvSpPr>
          <p:cNvPr id="261" name="Google Shape;261;p48"/>
          <p:cNvSpPr txBox="1"/>
          <p:nvPr>
            <p:ph idx="1" type="body"/>
          </p:nvPr>
        </p:nvSpPr>
        <p:spPr>
          <a:xfrm>
            <a:off x="685800" y="914400"/>
            <a:ext cx="8229600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cases roughly capture  system level requirements.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collection of use cases defines complete functionality of the system.</a:t>
            </a:r>
            <a:endParaRPr/>
          </a:p>
          <a:p>
            <a:pPr indent="-334962" lvl="1" marL="334962" rtl="0" algn="just">
              <a:lnSpc>
                <a:spcPct val="94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use case (UC) consists of a mainline scenario (sequence) and several alternate scenarios (sequences). </a:t>
            </a:r>
            <a:endParaRPr/>
          </a:p>
          <a:p>
            <a:pPr indent="-334962" lvl="1" marL="334962" rtl="0" algn="just">
              <a:lnSpc>
                <a:spcPct val="94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each UC,  the mainline &amp; all alternate scenarios (sequences) are tested to check, if any errors show up.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9"/>
          <p:cNvSpPr txBox="1"/>
          <p:nvPr>
            <p:ph type="title"/>
          </p:nvPr>
        </p:nvSpPr>
        <p:spPr>
          <a:xfrm>
            <a:off x="6858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Case-based Testing 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</a:t>
            </a:r>
            <a:r>
              <a:rPr b="1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cont...</a:t>
            </a:r>
            <a:endParaRPr/>
          </a:p>
        </p:txBody>
      </p:sp>
      <p:sp>
        <p:nvSpPr>
          <p:cNvPr id="267" name="Google Shape;267;p49"/>
          <p:cNvSpPr txBox="1"/>
          <p:nvPr>
            <p:ph idx="1" type="body"/>
          </p:nvPr>
        </p:nvSpPr>
        <p:spPr>
          <a:xfrm>
            <a:off x="304800" y="1600200"/>
            <a:ext cx="8610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Several general kinds of tests can be derived from use cases:</a:t>
            </a:r>
            <a:endParaRPr/>
          </a:p>
          <a:p>
            <a:pPr indent="-334962" lvl="0" marL="334962" rtl="0" algn="just">
              <a:lnSpc>
                <a:spcPct val="94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Scenario Coverage: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1. Test cases for basic courses-- “the expected 	flow of events” </a:t>
            </a: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mainline sequence.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2. Test cases of other courses-- “all other flows of 	events” </a:t>
            </a: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alternate sequences.</a:t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4962" lvl="0" marL="334962" rtl="0" algn="just">
              <a:lnSpc>
                <a:spcPct val="94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Also, test cases for the features described in user 	documentation, traceable to each use case, can be generated from use cases.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0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Case Diagram	      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 </a:t>
            </a:r>
            <a:r>
              <a:rPr b="1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cont...</a:t>
            </a:r>
            <a:endParaRPr/>
          </a:p>
        </p:txBody>
      </p:sp>
      <p:sp>
        <p:nvSpPr>
          <p:cNvPr id="273" name="Google Shape;273;p50"/>
          <p:cNvSpPr txBox="1"/>
          <p:nvPr>
            <p:ph idx="1" type="body"/>
          </p:nvPr>
        </p:nvSpPr>
        <p:spPr>
          <a:xfrm>
            <a:off x="304800" y="1744662"/>
            <a:ext cx="84582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Generic test requirements include: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At least one test case  should exercise: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Every Use Case when actor communicates with Use Case.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Every  </a:t>
            </a:r>
            <a:r>
              <a:rPr b="1" i="0" lang="en-US" sz="2800" u="none">
                <a:solidFill>
                  <a:srgbClr val="0047FF"/>
                </a:solidFill>
                <a:latin typeface="Comic Sans MS"/>
                <a:ea typeface="Comic Sans MS"/>
                <a:cs typeface="Comic Sans MS"/>
                <a:sym typeface="Comic Sans MS"/>
              </a:rPr>
              <a:t>extension 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combination such as Use Case 1 </a:t>
            </a: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extends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Use Case 2.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Every  </a:t>
            </a:r>
            <a:r>
              <a:rPr b="1" i="0" lang="en-US" sz="2800" u="none">
                <a:solidFill>
                  <a:srgbClr val="0047FF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uses 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combination such as Use Case 1 </a:t>
            </a: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uses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Use Case 2.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51"/>
          <p:cNvSpPr txBox="1"/>
          <p:nvPr>
            <p:ph type="title"/>
          </p:nvPr>
        </p:nvSpPr>
        <p:spPr>
          <a:xfrm>
            <a:off x="533400" y="228600"/>
            <a:ext cx="8382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 Diagram-based Testing </a:t>
            </a:r>
            <a:endParaRPr/>
          </a:p>
        </p:txBody>
      </p:sp>
      <p:sp>
        <p:nvSpPr>
          <p:cNvPr id="279" name="Google Shape;279;p51"/>
          <p:cNvSpPr txBox="1"/>
          <p:nvPr>
            <p:ph idx="1" type="body"/>
          </p:nvPr>
        </p:nvSpPr>
        <p:spPr>
          <a:xfrm>
            <a:off x="381000" y="1295400"/>
            <a:ext cx="85344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 diagram documents the structure of a system. It represents the entities and their inter-relationships.</a:t>
            </a:r>
            <a:endParaRPr/>
          </a:p>
          <a:p>
            <a:pPr indent="-334962" lvl="1" marL="334962" rtl="0" algn="just">
              <a:lnSpc>
                <a:spcPct val="94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derived classes: 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derived classes have to be instantiated &amp; tested. In addition to the new methods defined in the derived class, the </a:t>
            </a: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inherited methods 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must be retested.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test cases should also exercise:</a:t>
            </a:r>
            <a:endParaRPr/>
          </a:p>
          <a:p>
            <a:pPr indent="-334962" lvl="1" marL="334962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association relation </a:t>
            </a: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(association testing)</a:t>
            </a:r>
            <a:endParaRPr/>
          </a:p>
          <a:p>
            <a:pPr indent="-334962" lvl="1" marL="334962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Independent creation &amp; destruction of the objects (container &amp; components) in an aggregation relation </a:t>
            </a: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(aggregation testing)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52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b="1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Relations Among Classes</a:t>
            </a:r>
            <a:endParaRPr/>
          </a:p>
        </p:txBody>
      </p:sp>
      <p:sp>
        <p:nvSpPr>
          <p:cNvPr id="285" name="Google Shape;285;p52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Relations among classes are: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Inheritance, Association, Composition, and Dependency.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relationship has corresponding generic test requirements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example, a generalization relation is: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not Reflexive(R) and not Symmetric(S) but is Transitive(T)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3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Testing Relations	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</a:t>
            </a:r>
            <a:r>
              <a:rPr b="1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</a:t>
            </a: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...</a:t>
            </a:r>
            <a:endParaRPr/>
          </a:p>
        </p:txBody>
      </p:sp>
      <p:sp>
        <p:nvSpPr>
          <p:cNvPr id="291" name="Google Shape;291;p53"/>
          <p:cNvSpPr txBox="1"/>
          <p:nvPr>
            <p:ph idx="1" type="body"/>
          </p:nvPr>
        </p:nvSpPr>
        <p:spPr>
          <a:xfrm>
            <a:off x="381000" y="1447800"/>
            <a:ext cx="8305800" cy="49244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any relation, we can ask </a:t>
            </a:r>
            <a:endParaRPr/>
          </a:p>
          <a:p>
            <a:pPr indent="-277812" lvl="1" marL="735012" rtl="0" algn="l">
              <a:lnSpc>
                <a:spcPct val="94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which of the three (R, S, T) properties is required, excluded, or irrelevant.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answers leads to a simple but effective test suite.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4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Testing Relations	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</a:t>
            </a:r>
            <a:r>
              <a:rPr b="1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</a:t>
            </a: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...</a:t>
            </a:r>
            <a:endParaRPr/>
          </a:p>
        </p:txBody>
      </p:sp>
      <p:sp>
        <p:nvSpPr>
          <p:cNvPr id="297" name="Google Shape;297;p54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example, when reflexivity is excluded,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Any x that would make xRx true should be rejected.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1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Student </a:t>
            </a:r>
            <a:r>
              <a:rPr b="0" i="1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member of </a:t>
            </a: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Dept-Library and Dept-Library is a part of Dept.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relation </a:t>
            </a:r>
            <a:r>
              <a:rPr b="0" i="1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member of</a:t>
            </a: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is not R, not S but is T.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5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model-based  testing</a:t>
            </a:r>
            <a:endParaRPr/>
          </a:p>
        </p:txBody>
      </p:sp>
      <p:sp>
        <p:nvSpPr>
          <p:cNvPr id="303" name="Google Shape;303;p55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charts can be used to represents state-based behavior of :</a:t>
            </a:r>
            <a:endParaRPr/>
          </a:p>
          <a:p>
            <a:pPr indent="-277812" lvl="1" marL="735012" rtl="0" algn="just">
              <a:lnSpc>
                <a:spcPct val="94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class, subsystem, or system.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Statechart model: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provides most of the information necessary for class-level state-based testing.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56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model-based testing	</a:t>
            </a:r>
            <a:endParaRPr/>
          </a:p>
        </p:txBody>
      </p:sp>
      <p:sp>
        <p:nvSpPr>
          <p:cNvPr id="309" name="Google Shape;309;p56"/>
          <p:cNvSpPr txBox="1"/>
          <p:nvPr>
            <p:ph idx="1" type="body"/>
          </p:nvPr>
        </p:nvSpPr>
        <p:spPr>
          <a:xfrm>
            <a:off x="457200" y="1600200"/>
            <a:ext cx="83058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Times New Roman"/>
              <a:buChar char="•"/>
            </a:pPr>
            <a:r>
              <a:rPr b="0" i="0" lang="en-US" sz="3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concept of control flow of a conventional program 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1020"/>
              </a:spcBef>
              <a:spcAft>
                <a:spcPts val="0"/>
              </a:spcAft>
              <a:buClr>
                <a:srgbClr val="000000"/>
              </a:buClr>
              <a:buSzPts val="2448"/>
              <a:buFont typeface="Times New Roman"/>
              <a:buChar char="–"/>
            </a:pPr>
            <a:r>
              <a:rPr b="0" i="0" lang="en-US" sz="3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Does not map readily to an OO program.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Times New Roman"/>
              <a:buChar char="•"/>
            </a:pPr>
            <a:r>
              <a:rPr b="0" i="0" lang="en-US" sz="3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a state model: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Times New Roman"/>
              <a:buChar char="–"/>
            </a:pPr>
            <a:r>
              <a:rPr b="0" i="0" lang="en-US" sz="3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We specify how the object's state would change under certain conditions.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7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model-based testing</a:t>
            </a:r>
            <a:endParaRPr/>
          </a:p>
        </p:txBody>
      </p:sp>
      <p:sp>
        <p:nvSpPr>
          <p:cNvPr id="315" name="Google Shape;315;p57"/>
          <p:cNvSpPr txBox="1"/>
          <p:nvPr>
            <p:ph idx="1" type="body"/>
          </p:nvPr>
        </p:nvSpPr>
        <p:spPr>
          <a:xfrm>
            <a:off x="304800" y="1219200"/>
            <a:ext cx="86106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Times New Roman"/>
              <a:buChar char="•"/>
            </a:pPr>
            <a:r>
              <a:rPr b="0" i="0" lang="en-US" sz="3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Flow of control in OO programs: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Times New Roman"/>
              <a:buChar char="–"/>
            </a:pPr>
            <a:r>
              <a:rPr b="0" i="0" lang="en-US" sz="3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Message passing from one object to another.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Times New Roman"/>
              <a:buChar char="–"/>
            </a:pPr>
            <a:r>
              <a:rPr b="0" i="0" lang="en-US" sz="3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Causes the receiving object to perform some operation, can lead to an alteration of its state.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074"/>
              <a:buFont typeface="Times New Roman"/>
              <a:buChar char="•"/>
            </a:pPr>
            <a:r>
              <a:rPr b="0" i="0" lang="en-US" sz="34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Coverage: </a:t>
            </a:r>
            <a:r>
              <a:rPr b="0" i="0" lang="en-US" sz="3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method of an object is tested at each state of the object.</a:t>
            </a:r>
            <a:endParaRPr/>
          </a:p>
          <a:p>
            <a:pPr indent="-119063" lvl="0" marL="334963" rtl="0" algn="l">
              <a:spcBef>
                <a:spcPts val="102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 b="0" i="0" sz="3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8"/>
          <p:cNvSpPr txBox="1"/>
          <p:nvPr>
            <p:ph type="title"/>
          </p:nvPr>
        </p:nvSpPr>
        <p:spPr>
          <a:xfrm>
            <a:off x="762000" y="0"/>
            <a:ext cx="8153400" cy="129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model-based testing	            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</a:t>
            </a:r>
            <a:endParaRPr/>
          </a:p>
        </p:txBody>
      </p:sp>
      <p:sp>
        <p:nvSpPr>
          <p:cNvPr id="321" name="Google Shape;321;p58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state model defines the allowable transitions at each state.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States can be constructed: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Using  equivalence classes defined on the instance variables.</a:t>
            </a:r>
            <a:endParaRPr/>
          </a:p>
          <a:p>
            <a:pPr indent="-334962" lvl="0" marL="334962" rtl="0" algn="just">
              <a:lnSpc>
                <a:spcPct val="94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Jacobson's OOSE advocates: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 test cases to cover all state transitions.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59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model-based testing</a:t>
            </a:r>
            <a:endParaRPr/>
          </a:p>
        </p:txBody>
      </p:sp>
      <p:sp>
        <p:nvSpPr>
          <p:cNvPr id="327" name="Google Shape;327;p59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transitions coverage: 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tested whether all transitions depicted in the state model work satisfactorily.</a:t>
            </a:r>
            <a:endParaRPr/>
          </a:p>
          <a:p>
            <a:pPr indent="-334962" lvl="0" marL="334962" rtl="0" algn="just">
              <a:lnSpc>
                <a:spcPct val="94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transition path coverage: </a:t>
            </a:r>
            <a:r>
              <a:rPr b="0" i="0" lang="en-US" sz="32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transition paths in the state model are tested. 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60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State model-based testing</a:t>
            </a:r>
            <a:endParaRPr/>
          </a:p>
        </p:txBody>
      </p:sp>
      <p:sp>
        <p:nvSpPr>
          <p:cNvPr id="333" name="Google Shape;333;p60"/>
          <p:cNvSpPr txBox="1"/>
          <p:nvPr>
            <p:ph idx="1" type="body"/>
          </p:nvPr>
        </p:nvSpPr>
        <p:spPr>
          <a:xfrm>
            <a:off x="381000" y="1600200"/>
            <a:ext cx="83820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can be derived from the state machine model of a class: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Methods result in state transitions.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are designed to exercise each transition at a state.</a:t>
            </a:r>
            <a:endParaRPr/>
          </a:p>
          <a:p>
            <a:pPr indent="-334962" lvl="0" marL="33496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However, the transitions are tied to user-selectable activation sequences: 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Cases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61"/>
          <p:cNvSpPr txBox="1"/>
          <p:nvPr>
            <p:ph type="title"/>
          </p:nvPr>
        </p:nvSpPr>
        <p:spPr>
          <a:xfrm>
            <a:off x="685800" y="228600"/>
            <a:ext cx="7772400" cy="1300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Difficulty with state model-based testing</a:t>
            </a:r>
            <a:endParaRPr/>
          </a:p>
        </p:txBody>
      </p:sp>
      <p:sp>
        <p:nvSpPr>
          <p:cNvPr id="339" name="Google Shape;339;p61"/>
          <p:cNvSpPr txBox="1"/>
          <p:nvPr>
            <p:ph idx="1" type="body"/>
          </p:nvPr>
        </p:nvSpPr>
        <p:spPr>
          <a:xfrm>
            <a:off x="381000" y="1600200"/>
            <a:ext cx="8382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locus of state control is distributed over an entire OO application.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Cooperative control makes it difficult to achieve system state and transition coverage.</a:t>
            </a:r>
            <a:endParaRPr/>
          </a:p>
          <a:p>
            <a:pPr indent="-334962" lvl="0" marL="334962" rtl="0" algn="just">
              <a:lnSpc>
                <a:spcPct val="94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global state model becomes too complex for practical systems. </a:t>
            </a:r>
            <a:endParaRPr/>
          </a:p>
          <a:p>
            <a:pPr indent="-277812" lvl="1" marL="735012" rtl="0" algn="just">
              <a:lnSpc>
                <a:spcPct val="94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Rarely constructed by developers.</a:t>
            </a:r>
            <a:endParaRPr/>
          </a:p>
          <a:p>
            <a:pPr indent="-277812" lvl="1" marL="735012" rtl="0" algn="just">
              <a:lnSpc>
                <a:spcPct val="94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 global state model is needed to show how classes interact.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2"/>
          <p:cNvSpPr txBox="1"/>
          <p:nvPr>
            <p:ph type="title"/>
          </p:nvPr>
        </p:nvSpPr>
        <p:spPr>
          <a:xfrm>
            <a:off x="0" y="228600"/>
            <a:ext cx="8991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Activity diagram-based testing</a:t>
            </a:r>
            <a:endParaRPr/>
          </a:p>
        </p:txBody>
      </p:sp>
      <p:sp>
        <p:nvSpPr>
          <p:cNvPr id="345" name="Google Shape;345;p62"/>
          <p:cNvSpPr txBox="1"/>
          <p:nvPr>
            <p:ph idx="1" type="body"/>
          </p:nvPr>
        </p:nvSpPr>
        <p:spPr>
          <a:xfrm>
            <a:off x="381000" y="1295400"/>
            <a:ext cx="8382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Activity diagrams are based on: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flow charts, state transition diagrams, flow graphs and Petri nets.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be considered to be  a flow chart that can represent two or more threads of concurrent execution.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Supports all features of a basic flow graph,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 be used to develop test models for control flow based techniques.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63"/>
          <p:cNvSpPr txBox="1"/>
          <p:nvPr>
            <p:ph type="title"/>
          </p:nvPr>
        </p:nvSpPr>
        <p:spPr>
          <a:xfrm>
            <a:off x="457200" y="228600"/>
            <a:ext cx="84582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r>
              <a:rPr b="0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Activity diagram-based testing</a:t>
            </a:r>
            <a:endParaRPr/>
          </a:p>
        </p:txBody>
      </p:sp>
      <p:sp>
        <p:nvSpPr>
          <p:cNvPr id="351" name="Google Shape;351;p63"/>
          <p:cNvSpPr txBox="1"/>
          <p:nvPr>
            <p:ph idx="1" type="body"/>
          </p:nvPr>
        </p:nvSpPr>
        <p:spPr>
          <a:xfrm>
            <a:off x="228600" y="1744662"/>
            <a:ext cx="8610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Activity diagram can be used to construct: 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Decision tables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Composite control flow graph representing a collection of sequence diagrams.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Control flow graph at method scope:</a:t>
            </a:r>
            <a:endParaRPr/>
          </a:p>
          <a:p>
            <a:pPr indent="-228600" lvl="2" marL="1143000" rtl="0" algn="just">
              <a:lnSpc>
                <a:spcPct val="100000"/>
              </a:lnSpc>
              <a:spcBef>
                <a:spcPts val="8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may be useful to analyze path coverage.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4"/>
          <p:cNvSpPr txBox="1"/>
          <p:nvPr>
            <p:ph type="title"/>
          </p:nvPr>
        </p:nvSpPr>
        <p:spPr>
          <a:xfrm>
            <a:off x="0" y="2286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i="0" lang="en-US" sz="4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r>
              <a:rPr b="0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Activity diagram-based testing</a:t>
            </a:r>
            <a:endParaRPr/>
          </a:p>
        </p:txBody>
      </p:sp>
      <p:sp>
        <p:nvSpPr>
          <p:cNvPr id="357" name="Google Shape;357;p64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Generic test requirements: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At least one test case should exercise each different path:</a:t>
            </a:r>
            <a:endParaRPr/>
          </a:p>
          <a:p>
            <a:pPr indent="-319024" lvl="2" marL="1143000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5024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Action 1 is followed by Action 2</a:t>
            </a:r>
            <a:endParaRPr/>
          </a:p>
          <a:p>
            <a:pPr indent="-371856" lvl="2" marL="114300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5856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Synch Point is followed by Action</a:t>
            </a:r>
            <a:endParaRPr/>
          </a:p>
          <a:p>
            <a:pPr indent="-371856" lvl="2" marL="114300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5856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Action is started after Signal</a:t>
            </a:r>
            <a:endParaRPr/>
          </a:p>
          <a:p>
            <a:pPr indent="-371856" lvl="2" marL="114300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5856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Synch Point is reached after Action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5"/>
          <p:cNvSpPr txBox="1"/>
          <p:nvPr>
            <p:ph type="title"/>
          </p:nvPr>
        </p:nvSpPr>
        <p:spPr>
          <a:xfrm>
            <a:off x="0" y="22860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Sequence diagram-based Testing</a:t>
            </a:r>
            <a:endParaRPr/>
          </a:p>
        </p:txBody>
      </p:sp>
      <p:sp>
        <p:nvSpPr>
          <p:cNvPr id="363" name="Google Shape;363;p65"/>
          <p:cNvSpPr txBox="1"/>
          <p:nvPr>
            <p:ph idx="1" type="body"/>
          </p:nvPr>
        </p:nvSpPr>
        <p:spPr>
          <a:xfrm>
            <a:off x="381000" y="1295400"/>
            <a:ext cx="8382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sequence diagram (SD) documents message exchanges in time dimension.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Generic tests include: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Message coverage:</a:t>
            </a: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At least one test case should exercise each message.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Message path coverage:</a:t>
            </a: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All end-to-end message  paths in the SD should be identified and exercised.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66"/>
          <p:cNvSpPr txBox="1"/>
          <p:nvPr>
            <p:ph type="title"/>
          </p:nvPr>
        </p:nvSpPr>
        <p:spPr>
          <a:xfrm>
            <a:off x="685800" y="304800"/>
            <a:ext cx="7772400" cy="1300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Difficulties with Sequence Diagram-based testing</a:t>
            </a:r>
            <a:endParaRPr/>
          </a:p>
        </p:txBody>
      </p:sp>
      <p:sp>
        <p:nvSpPr>
          <p:cNvPr id="369" name="Google Shape;369;p66"/>
          <p:cNvSpPr txBox="1"/>
          <p:nvPr>
            <p:ph idx="1" type="body"/>
          </p:nvPr>
        </p:nvSpPr>
        <p:spPr>
          <a:xfrm>
            <a:off x="381000" y="1752600"/>
            <a:ext cx="8458200" cy="48863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Representing complex control is difficult: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example:</a:t>
            </a: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notation for selection and iteration is clumsy.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becomes difficult to determine whether all scenarios are covered.</a:t>
            </a:r>
            <a:endParaRPr/>
          </a:p>
          <a:p>
            <a:pPr indent="-334962" lvl="0" marL="33496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Dynamic binding and the consequent superclass/subclass behavior :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Cannot be represented directly.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7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Difficulties with Sequence Diagram-based testing  cont...</a:t>
            </a:r>
            <a:endParaRPr/>
          </a:p>
        </p:txBody>
      </p:sp>
      <p:sp>
        <p:nvSpPr>
          <p:cNvPr id="375" name="Google Shape;375;p67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Sequence diagram shows only a single collaboration.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Different bindings are shown on separate sheets.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8"/>
          <p:cNvSpPr txBox="1"/>
          <p:nvPr>
            <p:ph type="title"/>
          </p:nvPr>
        </p:nvSpPr>
        <p:spPr>
          <a:xfrm>
            <a:off x="152400" y="381000"/>
            <a:ext cx="8763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Collaboration diagram-based testing</a:t>
            </a:r>
            <a:endParaRPr/>
          </a:p>
        </p:txBody>
      </p:sp>
      <p:sp>
        <p:nvSpPr>
          <p:cNvPr id="381" name="Google Shape;381;p68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Collaboration diagram represents interactions among objects.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collaboration diagram  specifies: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implementation of a use case.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 also depict the participants in design patterns.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69"/>
          <p:cNvSpPr txBox="1"/>
          <p:nvPr>
            <p:ph type="title"/>
          </p:nvPr>
        </p:nvSpPr>
        <p:spPr>
          <a:xfrm>
            <a:off x="0" y="304800"/>
            <a:ext cx="9144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Collaboration diagram-based testing   </a:t>
            </a:r>
            <a:br>
              <a:rPr b="1" i="0" lang="en-US" sz="4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</a:t>
            </a:r>
            <a:endParaRPr/>
          </a:p>
        </p:txBody>
      </p:sp>
      <p:sp>
        <p:nvSpPr>
          <p:cNvPr id="387" name="Google Shape;387;p69"/>
          <p:cNvSpPr txBox="1"/>
          <p:nvPr>
            <p:ph idx="1" type="body"/>
          </p:nvPr>
        </p:nvSpPr>
        <p:spPr>
          <a:xfrm>
            <a:off x="304800" y="1143000"/>
            <a:ext cx="86106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collaboration diagram represents only one slice of the interaction.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composite collaboration diagram would be necessary: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develop a complete test suite for an implementation.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Generic tests include: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Message coverage:</a:t>
            </a: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At least one test case should exercise each message.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Other coverage like </a:t>
            </a: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 Coverage 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chemeClr val="accent2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70"/>
          <p:cNvSpPr txBox="1"/>
          <p:nvPr>
            <p:ph type="title"/>
          </p:nvPr>
        </p:nvSpPr>
        <p:spPr>
          <a:xfrm>
            <a:off x="228600" y="304800"/>
            <a:ext cx="8686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Component diagram-based testing</a:t>
            </a:r>
            <a:endParaRPr/>
          </a:p>
        </p:txBody>
      </p:sp>
      <p:sp>
        <p:nvSpPr>
          <p:cNvPr id="393" name="Google Shape;393;p70"/>
          <p:cNvSpPr txBox="1"/>
          <p:nvPr>
            <p:ph idx="1" type="body"/>
          </p:nvPr>
        </p:nvSpPr>
        <p:spPr>
          <a:xfrm>
            <a:off x="381000" y="1371600"/>
            <a:ext cx="83820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Component diagram shows the dependency relationships among: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components,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physical containment of components,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interfaces and calling components.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basic testing practice with respect to component diagrams: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call paths should be identified and exercised.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71"/>
          <p:cNvSpPr txBox="1"/>
          <p:nvPr>
            <p:ph type="title"/>
          </p:nvPr>
        </p:nvSpPr>
        <p:spPr>
          <a:xfrm>
            <a:off x="6858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0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Deployment</a:t>
            </a: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diagram-based testing</a:t>
            </a:r>
            <a:endParaRPr/>
          </a:p>
        </p:txBody>
      </p:sp>
      <p:sp>
        <p:nvSpPr>
          <p:cNvPr id="399" name="Google Shape;399;p71"/>
          <p:cNvSpPr txBox="1"/>
          <p:nvPr>
            <p:ph idx="1" type="body"/>
          </p:nvPr>
        </p:nvSpPr>
        <p:spPr>
          <a:xfrm>
            <a:off x="457200" y="1371600"/>
            <a:ext cx="8305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Deployment diagram </a:t>
            </a:r>
            <a:r>
              <a:rPr b="0" i="0" lang="en-US" sz="2800" u="none">
                <a:solidFill>
                  <a:srgbClr val="0070C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represents the hardware, software, and network architecture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Times New Roman"/>
              <a:buChar char="–"/>
            </a:pP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Useful in integration planning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334962" lvl="0" marL="334962" rtl="0" algn="just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a component runs on a node, 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Times New Roman"/>
              <a:buChar char="–"/>
            </a:pP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should exercise whether a component can be loaded and run on each designated host node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334962" lvl="0" marL="334962" rtl="0" algn="just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a node communicates with another node, 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Times New Roman"/>
              <a:buChar char="–"/>
            </a:pP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cases should exercise </a:t>
            </a:r>
            <a:r>
              <a:rPr b="0" i="0" lang="en-US" sz="2800" u="none">
                <a:solidFill>
                  <a:srgbClr val="00B050"/>
                </a:solidFill>
                <a:latin typeface="Comic Sans MS"/>
                <a:ea typeface="Comic Sans MS"/>
                <a:cs typeface="Comic Sans MS"/>
                <a:sym typeface="Comic Sans MS"/>
              </a:rPr>
              <a:t>open, transmit, </a:t>
            </a: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and</a:t>
            </a:r>
            <a:r>
              <a:rPr b="0" i="0" lang="en-US" sz="2800" u="none">
                <a:solidFill>
                  <a:srgbClr val="00B05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close communication </a:t>
            </a: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each remote component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72"/>
          <p:cNvSpPr txBox="1"/>
          <p:nvPr>
            <p:ph type="title"/>
          </p:nvPr>
        </p:nvSpPr>
        <p:spPr>
          <a:xfrm>
            <a:off x="685800" y="228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b="1" i="0" lang="en-US" sz="5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Coverage </a:t>
            </a:r>
            <a:endParaRPr/>
          </a:p>
        </p:txBody>
      </p:sp>
      <p:sp>
        <p:nvSpPr>
          <p:cNvPr id="405" name="Google Shape;405;p72"/>
          <p:cNvSpPr txBox="1"/>
          <p:nvPr>
            <p:ph idx="1" type="body"/>
          </p:nvPr>
        </p:nvSpPr>
        <p:spPr>
          <a:xfrm>
            <a:off x="457200" y="1371600"/>
            <a:ext cx="8305800" cy="47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coverage analysis:</a:t>
            </a:r>
            <a:endParaRPr/>
          </a:p>
          <a:p>
            <a:pPr indent="-277812" lvl="1" marL="735012" rtl="0" algn="l">
              <a:lnSpc>
                <a:spcPct val="105000"/>
              </a:lnSpc>
              <a:spcBef>
                <a:spcPts val="9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helps determine the “thoroughness” of testing achieved.</a:t>
            </a:r>
            <a:endParaRPr/>
          </a:p>
          <a:p>
            <a:pPr indent="-334962" lvl="0" marL="334962" rtl="0" algn="l">
              <a:lnSpc>
                <a:spcPct val="105000"/>
              </a:lnSpc>
              <a:spcBef>
                <a:spcPts val="9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Several coverage analysis criteria  for traditional programs have been proposed:</a:t>
            </a:r>
            <a:endParaRPr/>
          </a:p>
          <a:p>
            <a:pPr indent="-277812" lvl="1" marL="735012" rtl="0" algn="l">
              <a:lnSpc>
                <a:spcPct val="105000"/>
              </a:lnSpc>
              <a:spcBef>
                <a:spcPts val="9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is a coverage criterion?</a:t>
            </a:r>
            <a:endParaRPr/>
          </a:p>
          <a:p>
            <a:pPr indent="-334962" lvl="0" marL="334962" rtl="0" algn="l">
              <a:lnSpc>
                <a:spcPct val="94000"/>
              </a:lnSpc>
              <a:spcBef>
                <a:spcPts val="9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Tests that are adequate w.r.t a criterion: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Cover all elements of the domain determined by that criterion.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73"/>
          <p:cNvSpPr txBox="1"/>
          <p:nvPr>
            <p:ph type="title"/>
          </p:nvPr>
        </p:nvSpPr>
        <p:spPr>
          <a:xfrm>
            <a:off x="609600" y="304800"/>
            <a:ext cx="7767637" cy="9112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i="0" lang="en-US" sz="4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Coverage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Criterion     </a:t>
            </a:r>
            <a:r>
              <a:rPr b="1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</a:t>
            </a: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...</a:t>
            </a:r>
            <a:endParaRPr/>
          </a:p>
        </p:txBody>
      </p:sp>
      <p:sp>
        <p:nvSpPr>
          <p:cNvPr id="411" name="Google Shape;411;p73"/>
          <p:cNvSpPr txBox="1"/>
          <p:nvPr>
            <p:ph idx="1" type="body"/>
          </p:nvPr>
        </p:nvSpPr>
        <p:spPr>
          <a:xfrm>
            <a:off x="457200" y="1447800"/>
            <a:ext cx="8153400" cy="478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But, what are the elements that appropriately characterize an object-oriented program?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Certainly different from procedural programs.</a:t>
            </a:r>
            <a:endParaRPr/>
          </a:p>
          <a:p>
            <a:pPr indent="-277812" lvl="1" marL="735012" rtl="0" algn="just">
              <a:lnSpc>
                <a:spcPct val="105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example: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Statement coverage is not appropriate due to inheritance and polymorphism.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98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Appropriate test coverage criteria are needed.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4"/>
          <p:cNvSpPr txBox="1"/>
          <p:nvPr>
            <p:ph type="title"/>
          </p:nvPr>
        </p:nvSpPr>
        <p:spPr>
          <a:xfrm>
            <a:off x="685800" y="228600"/>
            <a:ext cx="7772400" cy="126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Coverage Criteria Based on  UML Models</a:t>
            </a:r>
            <a:endParaRPr/>
          </a:p>
        </p:txBody>
      </p:sp>
      <p:sp>
        <p:nvSpPr>
          <p:cNvPr id="417" name="Google Shape;417;p74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Generalization criterion</a:t>
            </a:r>
            <a:endParaRPr/>
          </a:p>
          <a:p>
            <a:pPr indent="-334962" lvl="0" marL="334962" rtl="0" algn="l">
              <a:lnSpc>
                <a:spcPct val="129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 attribute criterion</a:t>
            </a:r>
            <a:endParaRPr/>
          </a:p>
          <a:p>
            <a:pPr indent="-334962" lvl="0" marL="334962" rtl="0" algn="l">
              <a:lnSpc>
                <a:spcPct val="129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 coverage criterion</a:t>
            </a:r>
            <a:endParaRPr/>
          </a:p>
          <a:p>
            <a:pPr indent="-334962" lvl="0" marL="334962" rtl="0" algn="l">
              <a:lnSpc>
                <a:spcPct val="129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Full predicate coverage criterion</a:t>
            </a:r>
            <a:endParaRPr/>
          </a:p>
          <a:p>
            <a:pPr indent="-334962" lvl="0" marL="334962" rtl="0" algn="l">
              <a:lnSpc>
                <a:spcPct val="129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message on link criterion</a:t>
            </a:r>
            <a:endParaRPr/>
          </a:p>
          <a:p>
            <a:pPr indent="-334962" lvl="0" marL="334962" rtl="0" algn="l">
              <a:lnSpc>
                <a:spcPct val="129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message paths criterion</a:t>
            </a:r>
            <a:endParaRPr/>
          </a:p>
          <a:p>
            <a:pPr indent="-334962" lvl="0" marL="334962" rtl="0" algn="l">
              <a:lnSpc>
                <a:spcPct val="129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Collection coverage criterion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75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Generalization (GN) Criterion</a:t>
            </a:r>
            <a:endParaRPr/>
          </a:p>
        </p:txBody>
      </p:sp>
      <p:sp>
        <p:nvSpPr>
          <p:cNvPr id="423" name="Google Shape;423;p75"/>
          <p:cNvSpPr txBox="1"/>
          <p:nvPr>
            <p:ph idx="1" type="body"/>
          </p:nvPr>
        </p:nvSpPr>
        <p:spPr>
          <a:xfrm>
            <a:off x="685800" y="1600200"/>
            <a:ext cx="7772400" cy="47339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a test set T and a system model SM, T must cause: 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Times New Roman"/>
              <a:buChar char="–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every specialization defined in a generalization relationship to be created.</a:t>
            </a:r>
            <a:endParaRPr/>
          </a:p>
          <a:p>
            <a:pPr indent="-334962" lvl="0" marL="334962" rtl="0" algn="just">
              <a:lnSpc>
                <a:spcPct val="129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GN criterion fault model: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likely to reveal faults that can arise from violation of the </a:t>
            </a:r>
            <a:r>
              <a:rPr b="0" i="0" lang="en-US" sz="2800" u="none">
                <a:solidFill>
                  <a:srgbClr val="2323DC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substitutability principle.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76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Substitutability Principle</a:t>
            </a:r>
            <a:endParaRPr/>
          </a:p>
        </p:txBody>
      </p:sp>
      <p:sp>
        <p:nvSpPr>
          <p:cNvPr id="429" name="Google Shape;429;p76"/>
          <p:cNvSpPr txBox="1"/>
          <p:nvPr>
            <p:ph idx="1" type="body"/>
          </p:nvPr>
        </p:nvSpPr>
        <p:spPr>
          <a:xfrm>
            <a:off x="990600" y="1600200"/>
            <a:ext cx="6553200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29298" lvl="0" marL="334962" rtl="0" algn="l">
              <a:lnSpc>
                <a:spcPct val="129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Times New Roman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77812" lvl="1" marL="735012" rtl="0" algn="l">
              <a:lnSpc>
                <a:spcPct val="129000"/>
              </a:lnSpc>
              <a:spcBef>
                <a:spcPts val="820"/>
              </a:spcBef>
              <a:spcAft>
                <a:spcPts val="0"/>
              </a:spcAft>
              <a:buSzPts val="3200"/>
              <a:buNone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“An instance of a subclass can be used anywhere an instance of its superclass is expected.”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77"/>
          <p:cNvSpPr txBox="1"/>
          <p:nvPr>
            <p:ph type="title"/>
          </p:nvPr>
        </p:nvSpPr>
        <p:spPr>
          <a:xfrm>
            <a:off x="7620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 Attribute Criterion</a:t>
            </a:r>
            <a:endParaRPr/>
          </a:p>
        </p:txBody>
      </p:sp>
      <p:sp>
        <p:nvSpPr>
          <p:cNvPr id="435" name="Google Shape;435;p77"/>
          <p:cNvSpPr txBox="1"/>
          <p:nvPr>
            <p:ph idx="1" type="body"/>
          </p:nvPr>
        </p:nvSpPr>
        <p:spPr>
          <a:xfrm>
            <a:off x="457200" y="1295400"/>
            <a:ext cx="82296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a test set T, a system model SM, and a class C, T must cause 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Times New Roman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set of representative attribute value combinations in each instance of class C must be created.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value space of attributes provides an opportunity to develop test criteria. 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value space of an attribute are usually restricted by OCL constraints.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Times New Roman"/>
              <a:buChar char="•"/>
            </a:pPr>
            <a:r>
              <a:rPr b="1" i="0" lang="en-US" sz="2400" u="none">
                <a:solidFill>
                  <a:srgbClr val="2323DC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1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age</a:t>
            </a: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attribute in Customer class can have a constraint 	</a:t>
            </a:r>
            <a:r>
              <a:rPr b="0" i="1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age </a:t>
            </a: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&gt;18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8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Condition Coverage Criterion</a:t>
            </a:r>
            <a:endParaRPr/>
          </a:p>
        </p:txBody>
      </p:sp>
      <p:sp>
        <p:nvSpPr>
          <p:cNvPr id="441" name="Google Shape;441;p78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message in a collaboration diagram occurs  only under certain conditions.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a test set T and collaboration diagram CD, T must cause: 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condition in each decision to evaluate to both TRUE and FALSE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157163" lvl="0" marL="334963" rtl="0" algn="l"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9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Full Predicate Coverage Criterion</a:t>
            </a:r>
            <a:endParaRPr/>
          </a:p>
        </p:txBody>
      </p:sp>
      <p:sp>
        <p:nvSpPr>
          <p:cNvPr id="447" name="Google Shape;447;p79"/>
          <p:cNvSpPr txBox="1"/>
          <p:nvPr>
            <p:ph idx="1" type="body"/>
          </p:nvPr>
        </p:nvSpPr>
        <p:spPr>
          <a:xfrm>
            <a:off x="685800" y="170815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a test set T and collaboration diagram CD, T must cause: </a:t>
            </a:r>
            <a:endParaRPr/>
          </a:p>
          <a:p>
            <a:pPr indent="-277812" lvl="1" marL="735012" rtl="0" algn="just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clause in every condition in CD to take the values of TRUE and FALSE</a:t>
            </a:r>
            <a:r>
              <a:rPr b="0" i="0" lang="en-US" sz="2800" u="none">
                <a:solidFill>
                  <a:schemeClr val="dk1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r>
              <a:rPr b="0" i="0" lang="en-US" sz="28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indent="-334962" lvl="0" marL="334962" rtl="0" algn="just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condition may consist of more than one clause connected by Boolean operators (e.g., AND, OR).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80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Message On Each Link Criterion</a:t>
            </a:r>
            <a:endParaRPr/>
          </a:p>
        </p:txBody>
      </p:sp>
      <p:sp>
        <p:nvSpPr>
          <p:cNvPr id="453" name="Google Shape;453;p80"/>
          <p:cNvSpPr txBox="1"/>
          <p:nvPr>
            <p:ph idx="1" type="body"/>
          </p:nvPr>
        </p:nvSpPr>
        <p:spPr>
          <a:xfrm>
            <a:off x="685800" y="170815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a test set T and collaboration diagram CD, T must cause: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Message on each link connecting two objects in CD to be exercised at least once.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criterion ensures: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possible messages between two objects occur during tests.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81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Message Paths Criterion</a:t>
            </a:r>
            <a:endParaRPr/>
          </a:p>
        </p:txBody>
      </p:sp>
      <p:sp>
        <p:nvSpPr>
          <p:cNvPr id="459" name="Google Shape;459;p81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a test set T and collaboration diagram CD, T must cause: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Times New Roman"/>
              <a:buChar char="–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possible message path in CD to be taken at least once.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message path is a sequence of messages.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ts val="1664"/>
              <a:buFont typeface="Times New Roman"/>
              <a:buChar char="•"/>
            </a:pP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message paths </a:t>
            </a:r>
            <a:r>
              <a:rPr b="0" i="0" lang="en-US" sz="3200" u="none">
                <a:solidFill>
                  <a:srgbClr val="FF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is a stronger criterion than </a:t>
            </a:r>
            <a:r>
              <a:rPr b="0" i="0" lang="en-US" sz="32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message on each link criterion.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2"/>
          <p:cNvSpPr txBox="1"/>
          <p:nvPr>
            <p:ph type="title"/>
          </p:nvPr>
        </p:nvSpPr>
        <p:spPr>
          <a:xfrm>
            <a:off x="6858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Collection Coverage Criterion</a:t>
            </a:r>
            <a:endParaRPr/>
          </a:p>
        </p:txBody>
      </p:sp>
      <p:sp>
        <p:nvSpPr>
          <p:cNvPr id="465" name="Google Shape;465;p82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Given a test set T and collaboration diagram CD, T must test: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70C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interaction with a collection of objects of various representative sizes at least once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4962" lvl="0" marL="33496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rgbClr val="2323DC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 object </a:t>
            </a:r>
            <a:r>
              <a:rPr b="0" i="1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Staff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can be an aggregation of O</a:t>
            </a:r>
            <a:r>
              <a:rPr b="0" i="1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ffice staff, Faculty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and </a:t>
            </a:r>
            <a:r>
              <a:rPr b="0" i="1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Technical Staff.</a:t>
            </a:r>
            <a:endParaRPr/>
          </a:p>
          <a:p>
            <a:pPr indent="-157163" lvl="0" marL="334963" rtl="0" algn="l"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1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83"/>
          <p:cNvSpPr txBox="1"/>
          <p:nvPr>
            <p:ph type="title"/>
          </p:nvPr>
        </p:nvSpPr>
        <p:spPr>
          <a:xfrm>
            <a:off x="838200" y="1600200"/>
            <a:ext cx="7764462" cy="2438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70C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Development of test suite by applying test design patterns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84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Design Pattern</a:t>
            </a:r>
            <a:endParaRPr/>
          </a:p>
        </p:txBody>
      </p:sp>
      <p:sp>
        <p:nvSpPr>
          <p:cNvPr id="476" name="Google Shape;476;p84"/>
          <p:cNvSpPr txBox="1"/>
          <p:nvPr>
            <p:ph idx="1" type="body"/>
          </p:nvPr>
        </p:nvSpPr>
        <p:spPr>
          <a:xfrm>
            <a:off x="685800" y="1219200"/>
            <a:ext cx="7772400" cy="47990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just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design pattern is a generalized (reusable) solution to a recurring problem.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based on common sense and some good practices.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provides a concise description of: 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common elements, 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context, and </a:t>
            </a:r>
            <a:endParaRPr/>
          </a:p>
          <a:p>
            <a:pPr indent="-277812" lvl="1" marL="735012" rtl="0" algn="just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essential requirements for a solution.</a:t>
            </a:r>
            <a:endParaRPr/>
          </a:p>
          <a:p>
            <a:pPr indent="-334962" lvl="0" marL="334962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rgbClr val="2323DC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design patterns are to testing what software design patterns are to programming.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5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Design Pattern	</a:t>
            </a:r>
            <a:b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     </a:t>
            </a:r>
            <a:r>
              <a:rPr b="1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</a:t>
            </a: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...</a:t>
            </a:r>
            <a:endParaRPr/>
          </a:p>
        </p:txBody>
      </p:sp>
      <p:sp>
        <p:nvSpPr>
          <p:cNvPr id="482" name="Google Shape;482;p85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Patterns developed under different scope of testing: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</a:t>
            </a:r>
            <a:r>
              <a:rPr b="1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Scope	</a:t>
            </a: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						</a:t>
            </a:r>
            <a:r>
              <a:rPr b="1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Pattern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Method scope				Polymorphic Message Test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 Scope 				     Modal Class Test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Reusable Components  	Abstract Class Test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Subsystem					Round-trip Scenario Test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					Collaboration Integration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Application Scope			Extended Use Case Pattern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72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Regression Test 			Retest Within Firewall</a:t>
            </a:r>
            <a:endParaRPr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6"/>
          <p:cNvSpPr txBox="1"/>
          <p:nvPr>
            <p:ph type="title"/>
          </p:nvPr>
        </p:nvSpPr>
        <p:spPr>
          <a:xfrm>
            <a:off x="609600" y="228600"/>
            <a:ext cx="7772400" cy="1300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Extended Use Case (EUC)Test Pattern</a:t>
            </a:r>
            <a:endParaRPr/>
          </a:p>
        </p:txBody>
      </p:sp>
      <p:sp>
        <p:nvSpPr>
          <p:cNvPr id="488" name="Google Shape;488;p86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Difficulties  with  use case :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– No variable definitions required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– No business rules required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– No input/output constraints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– Narrative can be ambiguous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 a test-ready model we need to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– Define all input/output relationships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– Define all operational variables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7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EUC Intent</a:t>
            </a:r>
            <a:endParaRPr/>
          </a:p>
        </p:txBody>
      </p:sp>
      <p:sp>
        <p:nvSpPr>
          <p:cNvPr id="494" name="Google Shape;494;p87"/>
          <p:cNvSpPr txBox="1"/>
          <p:nvPr>
            <p:ph idx="1" type="body"/>
          </p:nvPr>
        </p:nvSpPr>
        <p:spPr>
          <a:xfrm>
            <a:off x="685800" y="1744662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Model the input output relationships in a use case using a decision table.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then becomes possible to develop test cases: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by considering specific inputs for a use case and corresponding expected results.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88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EUC Context	    </a:t>
            </a:r>
            <a:b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    </a:t>
            </a:r>
            <a:r>
              <a:rPr b="1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</a:t>
            </a: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...</a:t>
            </a:r>
            <a:endParaRPr/>
          </a:p>
        </p:txBody>
      </p:sp>
      <p:sp>
        <p:nvSpPr>
          <p:cNvPr id="500" name="Google Shape;500;p88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Unless test points are systematically selected based on a use case’s implicit constraints and relationships: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fundamental relationships would not be exercised.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1" i="0" lang="en-US" sz="2800" u="none">
                <a:solidFill>
                  <a:srgbClr val="2323DC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 Use Case “</a:t>
            </a:r>
            <a:r>
              <a:rPr b="0" i="1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Pay-Fees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 can be a generalization of “</a:t>
            </a:r>
            <a:r>
              <a:rPr b="0" i="1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Pay-by-Credit-Card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 and 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“</a:t>
            </a:r>
            <a:r>
              <a:rPr b="0" i="1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Pay-by-Cash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” Use Cases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9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EUC Fault Model</a:t>
            </a:r>
            <a:endParaRPr/>
          </a:p>
        </p:txBody>
      </p:sp>
      <p:sp>
        <p:nvSpPr>
          <p:cNvPr id="506" name="Google Shape;506;p89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What kind of bugs can EUCs help detect?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86"/>
              <a:buFont typeface="Times New Roman"/>
              <a:buChar char="–"/>
            </a:pPr>
            <a:r>
              <a:rPr b="0" i="0" lang="en-US" sz="2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Domain bugs.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586"/>
              <a:buFont typeface="Times New Roman"/>
              <a:buChar char="–"/>
            </a:pPr>
            <a:r>
              <a:rPr b="0" i="0" lang="en-US" sz="2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Logic bugs</a:t>
            </a: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2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Example: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Customer registers with a Supermarket: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586"/>
              <a:buFont typeface="Times New Roman"/>
              <a:buChar char="–"/>
            </a:pPr>
            <a:r>
              <a:rPr b="0" i="0" lang="en-US" sz="2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Domain error:  Incorrect Pin code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586"/>
              <a:buFont typeface="Times New Roman"/>
              <a:buChar char="–"/>
            </a:pPr>
            <a:r>
              <a:rPr b="0" i="0" lang="en-US" sz="2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Logic Error: Sales registered against an invalid customer code.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90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EUC Fault Model	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 </a:t>
            </a:r>
            <a:r>
              <a:rPr b="1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</a:t>
            </a: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...</a:t>
            </a:r>
            <a:endParaRPr/>
          </a:p>
        </p:txBody>
      </p:sp>
      <p:sp>
        <p:nvSpPr>
          <p:cNvPr id="512" name="Google Shape;512;p90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Generic system-scope faults: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•"/>
            </a:pPr>
            <a:r>
              <a:rPr b="0" i="0" lang="en-US" sz="3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Incorrect output.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•"/>
            </a:pPr>
            <a:r>
              <a:rPr b="0" i="0" lang="en-US" sz="3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Abnormal termination.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•"/>
            </a:pPr>
            <a:r>
              <a:rPr b="0" i="0" lang="en-US" sz="3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Inadequate response time.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•"/>
            </a:pPr>
            <a:r>
              <a:rPr b="0" i="0" lang="en-US" sz="3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Omitted capability.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Times New Roman"/>
              <a:buChar char="•"/>
            </a:pPr>
            <a:r>
              <a:rPr b="0" i="0" lang="en-US" sz="3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Extra capability.</a:t>
            </a:r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91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EUC Test Model</a:t>
            </a:r>
            <a:endParaRPr/>
          </a:p>
        </p:txBody>
      </p:sp>
      <p:sp>
        <p:nvSpPr>
          <p:cNvPr id="518" name="Google Shape;518;p91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Extended Use Case consists of the following: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complete inventory of </a:t>
            </a:r>
            <a:r>
              <a:rPr b="1" i="0" lang="en-US" sz="2800" u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operational variables.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complete specification of domain constraints for each operational variable.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operational relation for each use case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relative frequency of each use case (optional).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92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EUC Test Procedure</a:t>
            </a:r>
            <a:endParaRPr/>
          </a:p>
        </p:txBody>
      </p:sp>
      <p:sp>
        <p:nvSpPr>
          <p:cNvPr id="524" name="Google Shape;524;p92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test suite is developed in 4 Steps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1. Identify the Operational Variables.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2. Define the domains of the operational variables.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3. Develop the Operational Relations.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4. Develop Test cases.</a:t>
            </a:r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93"/>
          <p:cNvSpPr txBox="1"/>
          <p:nvPr>
            <p:ph type="title"/>
          </p:nvPr>
        </p:nvSpPr>
        <p:spPr>
          <a:xfrm>
            <a:off x="685800" y="434975"/>
            <a:ext cx="7772400" cy="126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Identify Operational Variables      </a:t>
            </a:r>
            <a:endParaRPr/>
          </a:p>
        </p:txBody>
      </p:sp>
      <p:sp>
        <p:nvSpPr>
          <p:cNvPr id="530" name="Google Shape;530;p93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2"/>
              <a:buFont typeface="Times New Roman"/>
              <a:buChar char="•"/>
            </a:pPr>
            <a:r>
              <a:rPr b="0" i="0" lang="en-US" sz="2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Operational variables: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872"/>
              <a:buFont typeface="Times New Roman"/>
              <a:buChar char="–"/>
            </a:pPr>
            <a:r>
              <a:rPr b="0" i="0" lang="en-US" sz="26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Factors which vary from one scenario to the next.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872"/>
              <a:buFont typeface="Times New Roman"/>
              <a:buChar char="–"/>
            </a:pPr>
            <a:r>
              <a:rPr b="0" i="0" lang="en-US" sz="2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Determine different system responses.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872"/>
              <a:buFont typeface="Times New Roman"/>
              <a:buChar char="•"/>
            </a:pPr>
            <a:r>
              <a:rPr b="0" i="0" lang="en-US" sz="2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Operational variables include: 	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872"/>
              <a:buFont typeface="Times New Roman"/>
              <a:buChar char="–"/>
            </a:pPr>
            <a:r>
              <a:rPr b="0" i="0" lang="en-US" sz="2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Explicit inputs and outputs.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872"/>
              <a:buFont typeface="Times New Roman"/>
              <a:buChar char="–"/>
            </a:pPr>
            <a:r>
              <a:rPr b="0" i="0" lang="en-US" sz="2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Environmental conditions which result in significantly different behavior.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1872"/>
              <a:buFont typeface="Times New Roman"/>
              <a:buChar char="–"/>
            </a:pPr>
            <a:r>
              <a:rPr b="0" i="0" lang="en-US" sz="2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Abstractions of the state of the system.</a:t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4"/>
          <p:cNvSpPr txBox="1"/>
          <p:nvPr>
            <p:ph type="title"/>
          </p:nvPr>
        </p:nvSpPr>
        <p:spPr>
          <a:xfrm>
            <a:off x="685800" y="434975"/>
            <a:ext cx="7772400" cy="126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2. Define the Domains of the Operational Variables  </a:t>
            </a:r>
            <a:endParaRPr/>
          </a:p>
        </p:txBody>
      </p:sp>
      <p:sp>
        <p:nvSpPr>
          <p:cNvPr id="536" name="Google Shape;536;p94"/>
          <p:cNvSpPr txBox="1"/>
          <p:nvPr>
            <p:ph idx="1" type="body"/>
          </p:nvPr>
        </p:nvSpPr>
        <p:spPr>
          <a:xfrm>
            <a:off x="685800" y="1905000"/>
            <a:ext cx="7772400" cy="451008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4962" lvl="0" marL="334962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2016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domains are developed by defining: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 valid and invalid values for each variable.</a:t>
            </a:r>
            <a:endParaRPr/>
          </a:p>
          <a:p>
            <a:pPr indent="-157163" lvl="0" marL="334963" rtl="0" algn="l"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95"/>
          <p:cNvSpPr txBox="1"/>
          <p:nvPr>
            <p:ph type="title"/>
          </p:nvPr>
        </p:nvSpPr>
        <p:spPr>
          <a:xfrm>
            <a:off x="685800" y="463550"/>
            <a:ext cx="7770812" cy="120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3. Develop the Operational Relation</a:t>
            </a:r>
            <a:endParaRPr/>
          </a:p>
        </p:txBody>
      </p:sp>
      <p:sp>
        <p:nvSpPr>
          <p:cNvPr id="542" name="Google Shape;542;p95"/>
          <p:cNvSpPr txBox="1"/>
          <p:nvPr>
            <p:ph idx="1" type="body"/>
          </p:nvPr>
        </p:nvSpPr>
        <p:spPr>
          <a:xfrm>
            <a:off x="685800" y="1600200"/>
            <a:ext cx="7770812" cy="44942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2016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Operational variables: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May determine distinct classes of system responses.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Clr>
                <a:srgbClr val="000000"/>
              </a:buClr>
              <a:buSzPts val="238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Express them in the form of a decision  table: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all the conditions in a row are true, the expected action is to be produced.</a:t>
            </a:r>
            <a:endParaRPr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96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4. Develop Test Cases</a:t>
            </a:r>
            <a:endParaRPr/>
          </a:p>
        </p:txBody>
      </p:sp>
      <p:sp>
        <p:nvSpPr>
          <p:cNvPr id="548" name="Google Shape;548;p96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Every variant is made true once and false once.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Oracle: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Expected results are typically developed by inspection.</a:t>
            </a:r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7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EUC Test Example</a:t>
            </a:r>
            <a:endParaRPr/>
          </a:p>
        </p:txBody>
      </p:sp>
      <p:sp>
        <p:nvSpPr>
          <p:cNvPr id="554" name="Google Shape;554;p97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7163" lvl="0" marL="334963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55" name="Google Shape;555;p9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447800"/>
            <a:ext cx="746760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8"/>
          <p:cNvSpPr txBox="1"/>
          <p:nvPr>
            <p:ph type="title"/>
          </p:nvPr>
        </p:nvSpPr>
        <p:spPr>
          <a:xfrm>
            <a:off x="6096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Modal Class Test (MCT) Pattern</a:t>
            </a:r>
            <a:endParaRPr/>
          </a:p>
        </p:txBody>
      </p:sp>
      <p:sp>
        <p:nvSpPr>
          <p:cNvPr id="561" name="Google Shape;561;p98"/>
          <p:cNvSpPr txBox="1"/>
          <p:nvPr>
            <p:ph idx="1" type="body"/>
          </p:nvPr>
        </p:nvSpPr>
        <p:spPr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Some classes can accept any message in any state: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Times New Roman"/>
              <a:buChar char="–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But others restrict based on past messages received or current values (domain).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modal class is a special class 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Times New Roman"/>
              <a:buChar char="–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Places domain constraint as well as sequence constraint while accepting messages.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Domain Constraint</a:t>
            </a: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: An object of class Account will not accept a withdrawal message if the balance is less than 0.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rgbClr val="000000"/>
              </a:buClr>
              <a:buSzPts val="1248"/>
              <a:buFont typeface="Times New Roman"/>
              <a:buChar char="•"/>
            </a:pPr>
            <a:r>
              <a:rPr b="1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Sequence Constraint</a:t>
            </a: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: In the frozen state, an Account object can accept a credit or debit message only after an unfreeze message.</a:t>
            </a:r>
            <a:endParaRPr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99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Modal Class Test (MCT)	                   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 </a:t>
            </a:r>
            <a:r>
              <a:rPr b="1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cont...</a:t>
            </a:r>
            <a:endParaRPr/>
          </a:p>
        </p:txBody>
      </p:sp>
      <p:sp>
        <p:nvSpPr>
          <p:cNvPr id="567" name="Google Shape;567;p99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7163" lvl="0" marL="334963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68" name="Google Shape;568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24000"/>
            <a:ext cx="7620000" cy="4583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100"/>
          <p:cNvSpPr txBox="1"/>
          <p:nvPr>
            <p:ph type="title"/>
          </p:nvPr>
        </p:nvSpPr>
        <p:spPr>
          <a:xfrm>
            <a:off x="685800" y="228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MCT Fault Model</a:t>
            </a:r>
            <a:endParaRPr/>
          </a:p>
        </p:txBody>
      </p:sp>
      <p:sp>
        <p:nvSpPr>
          <p:cNvPr id="574" name="Google Shape;574;p100"/>
          <p:cNvSpPr txBox="1"/>
          <p:nvPr>
            <p:ph idx="1" type="body"/>
          </p:nvPr>
        </p:nvSpPr>
        <p:spPr>
          <a:xfrm>
            <a:off x="381000" y="1135062"/>
            <a:ext cx="8382000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6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class may fail to implement its state model in five ways: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1. </a:t>
            </a:r>
            <a:r>
              <a:rPr b="1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Missing transition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: A valid message is rejected in a valid 	state.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2. </a:t>
            </a:r>
            <a:r>
              <a:rPr b="1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Incorrect action: 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wrong response for an 	accepting state and valid message.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3. </a:t>
            </a:r>
            <a:r>
              <a:rPr b="1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Invalid resultant state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: A message results in transition to a wrong state.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4</a:t>
            </a:r>
            <a:r>
              <a:rPr b="1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 Invalid state: 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An invalid state is produced.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8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5. </a:t>
            </a:r>
            <a:r>
              <a:rPr b="1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Sneak path: 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sneak path allows a wrong message to be accepted.</a:t>
            </a:r>
            <a:endParaRPr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101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MCT Test Strategy</a:t>
            </a:r>
            <a:endParaRPr/>
          </a:p>
        </p:txBody>
      </p:sp>
      <p:sp>
        <p:nvSpPr>
          <p:cNvPr id="580" name="Google Shape;580;p101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behavior of a class is represented using a state model.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Generate the transition tree.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Perform conditional transition test.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Tabulate events and actions along each path to form test cases.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Perform illegal transitions and sneak path test.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2"/>
          <p:cNvSpPr txBox="1"/>
          <p:nvPr>
            <p:ph type="title"/>
          </p:nvPr>
        </p:nvSpPr>
        <p:spPr>
          <a:xfrm>
            <a:off x="685800" y="228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MCT Transition Tree</a:t>
            </a:r>
            <a:endParaRPr/>
          </a:p>
        </p:txBody>
      </p:sp>
      <p:sp>
        <p:nvSpPr>
          <p:cNvPr id="586" name="Google Shape;586;p102"/>
          <p:cNvSpPr txBox="1"/>
          <p:nvPr>
            <p:ph idx="1" type="body"/>
          </p:nvPr>
        </p:nvSpPr>
        <p:spPr>
          <a:xfrm>
            <a:off x="685800" y="1295400"/>
            <a:ext cx="7772400" cy="49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each transition out of the root state ,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 branch is drawn to a node that represents the resultant state.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This step is repeated for each resultant state node.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node is marked </a:t>
            </a:r>
            <a:r>
              <a:rPr b="0" i="1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terminal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: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if no transition to a new state (yet to be drawn) exists.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branch in the tree (an event path) becomes a test case.</a:t>
            </a:r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103"/>
          <p:cNvSpPr txBox="1"/>
          <p:nvPr>
            <p:ph type="title"/>
          </p:nvPr>
        </p:nvSpPr>
        <p:spPr>
          <a:xfrm>
            <a:off x="685800" y="152400"/>
            <a:ext cx="7772400" cy="126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MCT Transition Tree Testing: Example</a:t>
            </a:r>
            <a:endParaRPr/>
          </a:p>
        </p:txBody>
      </p:sp>
      <p:sp>
        <p:nvSpPr>
          <p:cNvPr id="592" name="Google Shape;592;p103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57163" lvl="0" marL="334963" rtl="0" algn="l"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593" name="Google Shape;593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2000" y="1524000"/>
            <a:ext cx="7772400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4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MCT Conditional Transition Test</a:t>
            </a:r>
            <a:endParaRPr/>
          </a:p>
        </p:txBody>
      </p:sp>
      <p:sp>
        <p:nvSpPr>
          <p:cNvPr id="599" name="Google Shape;599;p104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conditional transition: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Analyzed to identify additional test cases.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each conditional transition 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Develop a truth table for the variables in the condition.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Develop an additional test case: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For each entry in the truth table that is not  already exercised.</a:t>
            </a:r>
            <a:endParaRPr/>
          </a:p>
          <a:p>
            <a:pPr indent="-157163" lvl="0" marL="334963" rtl="0" algn="l"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105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MCT Sneak Path Test</a:t>
            </a:r>
            <a:endParaRPr/>
          </a:p>
        </p:txBody>
      </p:sp>
      <p:sp>
        <p:nvSpPr>
          <p:cNvPr id="605" name="Google Shape;605;p105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Sneak Path is a bug that allows an illegal message to be accepted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,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Resulting in an illegal transition.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Illegal Transition is present: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When a valid state of CUT accepts a message not specified for that state.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Illegal Message: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Results in an illegal transition.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6"/>
          <p:cNvSpPr txBox="1"/>
          <p:nvPr>
            <p:ph type="title"/>
          </p:nvPr>
        </p:nvSpPr>
        <p:spPr>
          <a:xfrm>
            <a:off x="685800" y="3048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MCT Sneak Path 	      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 </a:t>
            </a:r>
            <a:r>
              <a:rPr b="1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</a:t>
            </a: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...</a:t>
            </a:r>
            <a:endParaRPr/>
          </a:p>
        </p:txBody>
      </p:sp>
      <p:sp>
        <p:nvSpPr>
          <p:cNvPr id="611" name="Google Shape;611;p106"/>
          <p:cNvSpPr txBox="1"/>
          <p:nvPr>
            <p:ph idx="1" type="body"/>
          </p:nvPr>
        </p:nvSpPr>
        <p:spPr>
          <a:xfrm>
            <a:off x="381000" y="1295400"/>
            <a:ext cx="8610600" cy="4835525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test sneak paths send illegal messages: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1" i="0" lang="en-US" sz="2800" u="none">
                <a:solidFill>
                  <a:srgbClr val="2323DC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: In the </a:t>
            </a:r>
            <a:r>
              <a:rPr b="0" i="1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overdrawn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state, messages: </a:t>
            </a:r>
            <a:r>
              <a:rPr b="0" i="1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open, freeze, close</a:t>
            </a: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etc can lead to possible sneak paths.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confirm that no sneak paths exist: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Attempt each type of illegal message.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expected response: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message should be rejected.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Also, the state of the object should be unchanged after rejecting the illegal message.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p107"/>
          <p:cNvSpPr txBox="1"/>
          <p:nvPr>
            <p:ph type="title"/>
          </p:nvPr>
        </p:nvSpPr>
        <p:spPr>
          <a:xfrm>
            <a:off x="685800" y="152400"/>
            <a:ext cx="7772400" cy="1300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Collaboration Integration Pattern(CIP)</a:t>
            </a:r>
            <a:endParaRPr/>
          </a:p>
        </p:txBody>
      </p:sp>
      <p:sp>
        <p:nvSpPr>
          <p:cNvPr id="617" name="Google Shape;617;p107"/>
          <p:cNvSpPr txBox="1"/>
          <p:nvPr>
            <p:ph idx="1" type="body"/>
          </p:nvPr>
        </p:nvSpPr>
        <p:spPr>
          <a:xfrm>
            <a:off x="685800" y="1600200"/>
            <a:ext cx="7772400" cy="4735512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CIP chooses the order of integration: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according to collaborations and  dependencies. 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chemeClr val="accent2"/>
                </a:solidFill>
                <a:latin typeface="Comic Sans MS"/>
                <a:ea typeface="Comic Sans MS"/>
                <a:cs typeface="Comic Sans MS"/>
                <a:sym typeface="Comic Sans MS"/>
              </a:rPr>
              <a:t>Classes to be integrated are tested by testing one collaboration at a time.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system consists of many collaborations.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Their sequence is determined by dependencies and sequential activation constraints.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•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by collaboration: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Char char="–"/>
            </a:pPr>
            <a:r>
              <a:rPr b="0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Exercises interfaces between the participants of a collaboration.</a:t>
            </a:r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108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CIP Test Procedure</a:t>
            </a:r>
            <a:endParaRPr/>
          </a:p>
        </p:txBody>
      </p:sp>
      <p:sp>
        <p:nvSpPr>
          <p:cNvPr id="623" name="Google Shape;623;p108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1. Develop a dependency tree for the SUT.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2. Map collaborations onto tree until all components and interfaces are covered.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3. Choose a sequence in which to apply the collaborations.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4. Several heuristics are available for choosing a sequence.</a:t>
            </a:r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9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	CIP Test Procedure	cont..</a:t>
            </a:r>
            <a:endParaRPr/>
          </a:p>
        </p:txBody>
      </p:sp>
      <p:sp>
        <p:nvSpPr>
          <p:cNvPr id="629" name="Google Shape;629;p109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533400" lvl="0" marL="533400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Example Heuristics: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AutoNum type="arabicPeriod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Begin with the simplest and finish with the most complex.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AutoNum type="arabicPeriod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Begin with the collaboration that requires the fewest stubs .</a:t>
            </a:r>
            <a:endParaRPr/>
          </a:p>
          <a:p>
            <a:pPr indent="-533400" lvl="1" marL="99060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AutoNum type="arabicPeriod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in order of risk of disruption of system testing.</a:t>
            </a:r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110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CIP Test Procedure	</a:t>
            </a:r>
            <a:b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</a:b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                       </a:t>
            </a:r>
            <a:r>
              <a:rPr b="1" i="0" lang="en-US" sz="2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cont...</a:t>
            </a:r>
            <a:endParaRPr/>
          </a:p>
        </p:txBody>
      </p:sp>
      <p:sp>
        <p:nvSpPr>
          <p:cNvPr id="635" name="Google Shape;635;p110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277812" lvl="1" marL="73501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4. Develop test suite for each collaboration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5. Run the test suite and debug until first collaboration passes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6. Continue until all collaborations have been exercised</a:t>
            </a:r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11"/>
          <p:cNvSpPr txBox="1"/>
          <p:nvPr>
            <p:ph type="title"/>
          </p:nvPr>
        </p:nvSpPr>
        <p:spPr>
          <a:xfrm>
            <a:off x="685800" y="6096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Integration Strategies</a:t>
            </a:r>
            <a:endParaRPr/>
          </a:p>
        </p:txBody>
      </p:sp>
      <p:sp>
        <p:nvSpPr>
          <p:cNvPr id="641" name="Google Shape;641;p111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Essentially two approaches exist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Thread-based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 Use-based</a:t>
            </a:r>
            <a:endParaRPr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112"/>
          <p:cNvSpPr txBox="1"/>
          <p:nvPr>
            <p:ph type="title"/>
          </p:nvPr>
        </p:nvSpPr>
        <p:spPr>
          <a:xfrm>
            <a:off x="685800" y="434975"/>
            <a:ext cx="7772400" cy="126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Thread-based integration Strategies	</a:t>
            </a:r>
            <a:endParaRPr/>
          </a:p>
        </p:txBody>
      </p:sp>
      <p:sp>
        <p:nvSpPr>
          <p:cNvPr id="647" name="Google Shape;647;p112"/>
          <p:cNvSpPr txBox="1"/>
          <p:nvPr>
            <p:ph idx="1" type="body"/>
          </p:nvPr>
        </p:nvSpPr>
        <p:spPr>
          <a:xfrm>
            <a:off x="700087" y="1989137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 thread consists of: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All the classes needed to respond to a single external input. 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class is unit tested,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2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then each  thread  is exercised.</a:t>
            </a:r>
            <a:endParaRPr/>
          </a:p>
          <a:p>
            <a:pPr indent="-131763" lvl="0" marL="334963" rtl="0" algn="l">
              <a:spcBef>
                <a:spcPts val="960"/>
              </a:spcBef>
              <a:spcAft>
                <a:spcPts val="0"/>
              </a:spcAft>
              <a:buSzPts val="3200"/>
              <a:buNone/>
            </a:pPr>
            <a:r>
              <a:t/>
            </a:r>
            <a:endParaRPr b="0" i="0" sz="32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113"/>
          <p:cNvSpPr txBox="1"/>
          <p:nvPr>
            <p:ph type="title"/>
          </p:nvPr>
        </p:nvSpPr>
        <p:spPr>
          <a:xfrm>
            <a:off x="685800" y="3810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Case-based Integration Strategies	</a:t>
            </a:r>
            <a:endParaRPr/>
          </a:p>
        </p:txBody>
      </p:sp>
      <p:sp>
        <p:nvSpPr>
          <p:cNvPr id="653" name="Google Shape;653;p113"/>
          <p:cNvSpPr txBox="1"/>
          <p:nvPr>
            <p:ph idx="1" type="body"/>
          </p:nvPr>
        </p:nvSpPr>
        <p:spPr>
          <a:xfrm>
            <a:off x="685800" y="167640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•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Use case-based integration:</a:t>
            </a:r>
            <a:endParaRPr/>
          </a:p>
          <a:p>
            <a:pPr indent="-277812" lvl="1" marL="735012" rtl="0" algn="l">
              <a:lnSpc>
                <a:spcPct val="94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Begins by testing classes that use services of none (or a few) of other classes.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Next, classes that use the first group of classes are tested.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rgbClr val="000000"/>
              </a:buClr>
              <a:buSzPts val="1952"/>
              <a:buFont typeface="Times New Roman"/>
              <a:buChar char="–"/>
            </a:pPr>
            <a:r>
              <a:rPr b="0" i="0" lang="en-US" sz="32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Followed by classes that use the second group, and so on.</a:t>
            </a:r>
            <a:endParaRPr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4"/>
          <p:cNvSpPr txBox="1"/>
          <p:nvPr>
            <p:ph type="title"/>
          </p:nvPr>
        </p:nvSpPr>
        <p:spPr>
          <a:xfrm>
            <a:off x="685800" y="228600"/>
            <a:ext cx="7772400" cy="126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Research Challenge 1: Testing Based on Precode Artifacts</a:t>
            </a:r>
            <a:endParaRPr/>
          </a:p>
        </p:txBody>
      </p:sp>
      <p:sp>
        <p:nvSpPr>
          <p:cNvPr id="659" name="Google Shape;659;p114"/>
          <p:cNvSpPr txBox="1"/>
          <p:nvPr>
            <p:ph idx="1" type="body"/>
          </p:nvPr>
        </p:nvSpPr>
        <p:spPr>
          <a:xfrm>
            <a:off x="381000" y="1600200"/>
            <a:ext cx="8229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Precode artifacts: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Design,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Requirements,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Architecture specifications.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Software architecture involves  description of elements from which systems are built,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Interactions among those elements,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Patterns that guide their composition,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Constraints on these patterns.</a:t>
            </a:r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115"/>
          <p:cNvSpPr txBox="1"/>
          <p:nvPr>
            <p:ph type="title"/>
          </p:nvPr>
        </p:nvSpPr>
        <p:spPr>
          <a:xfrm>
            <a:off x="685800" y="434975"/>
            <a:ext cx="7772400" cy="126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b="1" i="0" lang="en-US" sz="40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Research Challenge 2:Testing Evolving Software</a:t>
            </a:r>
            <a:endParaRPr/>
          </a:p>
        </p:txBody>
      </p:sp>
      <p:sp>
        <p:nvSpPr>
          <p:cNvPr id="665" name="Google Shape;665;p115"/>
          <p:cNvSpPr txBox="1"/>
          <p:nvPr>
            <p:ph idx="1" type="body"/>
          </p:nvPr>
        </p:nvSpPr>
        <p:spPr>
          <a:xfrm>
            <a:off x="685800" y="17526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Regression testing is used to test software that undergoes evolution due to: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Technology changes, 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New or modified components. 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FF"/>
                </a:solidFill>
                <a:latin typeface="Comic Sans MS"/>
                <a:ea typeface="Comic Sans MS"/>
                <a:cs typeface="Comic Sans MS"/>
                <a:sym typeface="Comic Sans MS"/>
              </a:rPr>
              <a:t>Regression testing remains one of the most expensive activities performed during a software lifecycle.</a:t>
            </a:r>
            <a:endParaRPr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16"/>
          <p:cNvSpPr txBox="1"/>
          <p:nvPr>
            <p:ph type="title"/>
          </p:nvPr>
        </p:nvSpPr>
        <p:spPr>
          <a:xfrm>
            <a:off x="685800" y="141287"/>
            <a:ext cx="7772400" cy="1851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Research Challenge 3: Measuring Effectiveness Of Testing Techniques</a:t>
            </a:r>
            <a:endParaRPr/>
          </a:p>
        </p:txBody>
      </p:sp>
      <p:sp>
        <p:nvSpPr>
          <p:cNvPr id="671" name="Google Shape;671;p116"/>
          <p:cNvSpPr txBox="1"/>
          <p:nvPr>
            <p:ph idx="1" type="body"/>
          </p:nvPr>
        </p:nvSpPr>
        <p:spPr>
          <a:xfrm>
            <a:off x="685800" y="21336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Quantitative values of effectiveness of a test-set design in revealing faults: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Analytical, statistical, or empirical.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We also need to understand the classes of faults for which the different criteria are useful.</a:t>
            </a:r>
            <a:endParaRPr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117"/>
          <p:cNvSpPr txBox="1"/>
          <p:nvPr>
            <p:ph type="title"/>
          </p:nvPr>
        </p:nvSpPr>
        <p:spPr>
          <a:xfrm>
            <a:off x="685800" y="434975"/>
            <a:ext cx="7772400" cy="126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Research Challenge 4: Test Data Generation</a:t>
            </a:r>
            <a:endParaRPr/>
          </a:p>
        </p:txBody>
      </p:sp>
      <p:sp>
        <p:nvSpPr>
          <p:cNvPr id="677" name="Google Shape;677;p117"/>
          <p:cNvSpPr txBox="1"/>
          <p:nvPr>
            <p:ph idx="1" type="body"/>
          </p:nvPr>
        </p:nvSpPr>
        <p:spPr>
          <a:xfrm>
            <a:off x="609600" y="19050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Generating test data (inputs for test cases) is often a labour-intensive process. 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 date, available techniques generating test data automatically work for toy systems: 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Do not scale to large systems.</a:t>
            </a:r>
            <a:endParaRPr/>
          </a:p>
          <a:p>
            <a:pPr indent="-334962" lvl="0" marL="33496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Also, it should be possible to automatically execute test cases:</a:t>
            </a:r>
            <a:endParaRPr/>
          </a:p>
          <a:p>
            <a:pPr indent="-277812" lvl="1" marL="735012" rtl="0" algn="l">
              <a:lnSpc>
                <a:spcPct val="9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 test output should also be automatically analyzed.</a:t>
            </a:r>
            <a:endParaRPr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p118"/>
          <p:cNvSpPr txBox="1"/>
          <p:nvPr>
            <p:ph type="title"/>
          </p:nvPr>
        </p:nvSpPr>
        <p:spPr>
          <a:xfrm>
            <a:off x="685800" y="304800"/>
            <a:ext cx="7772400" cy="12652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Research Challenges 5: Methods and Tools</a:t>
            </a:r>
            <a:endParaRPr/>
          </a:p>
        </p:txBody>
      </p:sp>
      <p:sp>
        <p:nvSpPr>
          <p:cNvPr id="683" name="Google Shape;683;p118"/>
          <p:cNvSpPr txBox="1"/>
          <p:nvPr>
            <p:ph idx="1" type="body"/>
          </p:nvPr>
        </p:nvSpPr>
        <p:spPr>
          <a:xfrm>
            <a:off x="685800" y="1600200"/>
            <a:ext cx="77724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Along with fundamental research and empirical methods for testing: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tool development is also needed.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•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An important requirement: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Methods and tools be scalable to large systems.</a:t>
            </a:r>
            <a:endParaRPr/>
          </a:p>
          <a:p>
            <a:pPr indent="-277812" lvl="1" marL="735012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/>
              <a:buChar char="–"/>
            </a:pPr>
            <a:r>
              <a:rPr b="0" i="0" lang="en-US" sz="2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Many of the tools and methods developed so far work only on toy systems.</a:t>
            </a:r>
            <a:endParaRPr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19"/>
          <p:cNvSpPr txBox="1"/>
          <p:nvPr>
            <p:ph type="title"/>
          </p:nvPr>
        </p:nvSpPr>
        <p:spPr>
          <a:xfrm>
            <a:off x="685800" y="457200"/>
            <a:ext cx="7772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6800" lIns="90000" spcFirstLastPara="1" rIns="90000" wrap="square" tIns="46800">
            <a:noAutofit/>
          </a:bodyPr>
          <a:lstStyle/>
          <a:p>
            <a:pPr indent="0" lvl="0" marL="0" rtl="0" algn="ctr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b="1" i="0" lang="en-US" sz="48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Summary</a:t>
            </a:r>
            <a:endParaRPr/>
          </a:p>
        </p:txBody>
      </p:sp>
      <p:sp>
        <p:nvSpPr>
          <p:cNvPr id="689" name="Google Shape;689;p119"/>
          <p:cNvSpPr txBox="1"/>
          <p:nvPr>
            <p:ph idx="1" type="body"/>
          </p:nvPr>
        </p:nvSpPr>
        <p:spPr>
          <a:xfrm>
            <a:off x="304800" y="1600200"/>
            <a:ext cx="8610600" cy="44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-334962" lvl="0" marL="334962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Discussed introduction to O-O S/W testing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Challenges in testing OO programs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suite design using UML models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Test design patterns</a:t>
            </a:r>
            <a:endParaRPr/>
          </a:p>
          <a:p>
            <a:pPr indent="-334962" lvl="0" marL="334962" rtl="0" algn="l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Char char="•"/>
            </a:pPr>
            <a:r>
              <a:rPr b="0" i="0" lang="en-US" sz="36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Current research challenges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20"/>
          <p:cNvSpPr txBox="1"/>
          <p:nvPr/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00"/>
              </a:buClr>
              <a:buSzPts val="4400"/>
              <a:buFont typeface="Garamond"/>
              <a:buNone/>
            </a:pPr>
            <a:r>
              <a:rPr b="0" i="0" lang="en-US" sz="4400" u="none">
                <a:solidFill>
                  <a:srgbClr val="999900"/>
                </a:solidFill>
                <a:latin typeface="Garamond"/>
                <a:ea typeface="Garamond"/>
                <a:cs typeface="Garamond"/>
                <a:sym typeface="Garamond"/>
              </a:rPr>
              <a:t>References</a:t>
            </a:r>
            <a:endParaRPr/>
          </a:p>
        </p:txBody>
      </p:sp>
      <p:sp>
        <p:nvSpPr>
          <p:cNvPr id="696" name="Google Shape;696;p120"/>
          <p:cNvSpPr txBox="1"/>
          <p:nvPr/>
        </p:nvSpPr>
        <p:spPr>
          <a:xfrm>
            <a:off x="457200" y="1600200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514350" lvl="0" marL="51435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00"/>
              </a:buClr>
              <a:buSzPts val="2100"/>
              <a:buFont typeface="Garamond"/>
              <a:buAutoNum type="arabicPeriod"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 Mall, Fundamentals of Software Engineering, Fifth Edition, (Chapter – 10), PHI, 2018.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66600"/>
              </a:buClr>
              <a:buSzPts val="2100"/>
              <a:buFont typeface="Garamond"/>
              <a:buAutoNum type="arabicPeriod"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R. S. Pressman, Software Engineering, McGraw-Hill, 2018.</a:t>
            </a:r>
            <a:endParaRPr/>
          </a:p>
          <a:p>
            <a:pPr indent="-514350" lvl="0" marL="514350" marR="0" rtl="0" algn="just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666600"/>
              </a:buClr>
              <a:buSzPts val="2100"/>
              <a:buFont typeface="Garamond"/>
              <a:buAutoNum type="arabicPeriod"/>
            </a:pPr>
            <a:r>
              <a:rPr b="0" i="0" lang="en-US" sz="2800" u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N. Chauhan, Software Testing; Principles and Practices, Second Edition, (Chapter – 14), Oxford University Press, 2018.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121"/>
          <p:cNvSpPr txBox="1"/>
          <p:nvPr>
            <p:ph type="title"/>
          </p:nvPr>
        </p:nvSpPr>
        <p:spPr>
          <a:xfrm>
            <a:off x="609600" y="304800"/>
            <a:ext cx="7764462" cy="906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b="1" i="0" lang="en-US" sz="4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 </a:t>
            </a:r>
            <a:endParaRPr/>
          </a:p>
        </p:txBody>
      </p:sp>
      <p:sp>
        <p:nvSpPr>
          <p:cNvPr id="702" name="Google Shape;702;p121"/>
          <p:cNvSpPr txBox="1"/>
          <p:nvPr>
            <p:ph idx="1" type="body"/>
          </p:nvPr>
        </p:nvSpPr>
        <p:spPr>
          <a:xfrm>
            <a:off x="685800" y="1600200"/>
            <a:ext cx="7764462" cy="44878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34962" lvl="0" marL="33496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Times New Roman"/>
              <a:buNone/>
            </a:pPr>
            <a:r>
              <a:t/>
            </a:r>
            <a:endParaRPr b="0" i="0" sz="5400" u="none">
              <a:solidFill>
                <a:srgbClr val="000000"/>
              </a:solidFill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34962" lvl="0" marL="334962" marR="0" rtl="0" algn="ctr">
              <a:lnSpc>
                <a:spcPct val="100000"/>
              </a:lnSpc>
              <a:spcBef>
                <a:spcPts val="1620"/>
              </a:spcBef>
              <a:spcAft>
                <a:spcPts val="0"/>
              </a:spcAft>
              <a:buClr>
                <a:srgbClr val="000000"/>
              </a:buClr>
              <a:buSzPts val="5400"/>
              <a:buFont typeface="Times New Roman"/>
              <a:buNone/>
            </a:pPr>
            <a:r>
              <a:rPr b="0" i="0" lang="en-US" sz="5400" u="none">
                <a:solidFill>
                  <a:srgbClr val="000000"/>
                </a:solidFill>
                <a:latin typeface="Comic Sans MS"/>
                <a:ea typeface="Comic Sans MS"/>
                <a:cs typeface="Comic Sans MS"/>
                <a:sym typeface="Comic Sans M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