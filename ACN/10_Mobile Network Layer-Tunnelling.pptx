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8529" y="2489072"/>
            <a:ext cx="6776084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5880" algn="l"/>
              </a:tabLst>
            </a:pPr>
            <a:r>
              <a:rPr dirty="0"/>
              <a:t>Mobile</a:t>
            </a:r>
            <a:r>
              <a:rPr dirty="0" spc="-40"/>
              <a:t> </a:t>
            </a:r>
            <a:r>
              <a:rPr dirty="0" spc="-10"/>
              <a:t>Network</a:t>
            </a:r>
            <a:r>
              <a:rPr dirty="0"/>
              <a:t>	</a:t>
            </a:r>
            <a:r>
              <a:rPr dirty="0" spc="-35"/>
              <a:t>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139" y="183959"/>
            <a:ext cx="10073005" cy="52089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latin typeface="Calibri"/>
                <a:cs typeface="Calibri"/>
              </a:rPr>
              <a:t>Tunneling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and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Mechanism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forwarding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COA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7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lvl="1" marL="698500" marR="5715" indent="-228600">
              <a:lnSpc>
                <a:spcPts val="281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tunnel</a:t>
            </a:r>
            <a:r>
              <a:rPr dirty="0" sz="2600" spc="5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establishes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virtual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pipe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tunnel </a:t>
            </a:r>
            <a:r>
              <a:rPr dirty="0" sz="2600">
                <a:latin typeface="Calibri"/>
                <a:cs typeface="Calibri"/>
              </a:rPr>
              <a:t>entry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tunnel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endpoint.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Tunneling,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i.e.,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through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tunnel,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achieved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by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encapsulation.</a:t>
            </a:r>
            <a:endParaRPr sz="2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58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9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 b="1">
                <a:latin typeface="Calibri"/>
                <a:cs typeface="Calibri"/>
              </a:rPr>
              <a:t>Encapsulation</a:t>
            </a:r>
            <a:r>
              <a:rPr dirty="0" sz="2600" spc="45" b="1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mechanism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taking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consisting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packet</a:t>
            </a:r>
            <a:r>
              <a:rPr dirty="0" sz="2600" spc="3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header</a:t>
            </a:r>
            <a:r>
              <a:rPr dirty="0" sz="2600" spc="3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2600" spc="3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2600" spc="3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putting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600" spc="3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2600" spc="3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part</a:t>
            </a:r>
            <a:r>
              <a:rPr dirty="0" sz="2600" spc="3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2600" spc="3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2600" spc="3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0000"/>
                </a:solidFill>
                <a:latin typeface="Calibri"/>
                <a:cs typeface="Calibri"/>
              </a:rPr>
              <a:t>new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packet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just" lvl="2" marL="1155700" marR="5715" indent="-228600">
              <a:lnSpc>
                <a:spcPts val="2810"/>
              </a:lnSpc>
              <a:spcBef>
                <a:spcPts val="54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reverse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operation,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taking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out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part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another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packet,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called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decapsulation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8210" y="212801"/>
            <a:ext cx="10741660" cy="2849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latin typeface="Calibri"/>
                <a:cs typeface="Calibri"/>
              </a:rPr>
              <a:t>Tunneling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and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algn="just" lvl="1" marL="697865" marR="5080" indent="-228600">
              <a:lnSpc>
                <a:spcPts val="281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600">
                <a:latin typeface="Calibri"/>
                <a:cs typeface="Calibri"/>
              </a:rPr>
              <a:t>Encapsulation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decapsulation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operations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typically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performed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transferred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higher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lower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layer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lower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higher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respectively.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8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buFont typeface="Arial MT"/>
              <a:buChar char="•"/>
              <a:tabLst>
                <a:tab pos="1155065" algn="l"/>
              </a:tabLst>
            </a:pPr>
            <a:r>
              <a:rPr dirty="0" sz="2600">
                <a:latin typeface="Calibri"/>
                <a:cs typeface="Calibri"/>
              </a:rPr>
              <a:t>Here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functions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within</a:t>
            </a:r>
            <a:r>
              <a:rPr dirty="0" sz="26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6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same</a:t>
            </a:r>
            <a:r>
              <a:rPr dirty="0" sz="2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3565" y="183959"/>
            <a:ext cx="5098415" cy="26879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latin typeface="Calibri"/>
                <a:cs typeface="Calibri"/>
              </a:rPr>
              <a:t>Tunneling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and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9000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takes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destination,</a:t>
            </a:r>
            <a:r>
              <a:rPr dirty="0" sz="2600" spc="-20">
                <a:latin typeface="Calibri"/>
                <a:cs typeface="Calibri"/>
              </a:rPr>
              <a:t> puts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part</a:t>
            </a:r>
            <a:r>
              <a:rPr dirty="0" sz="2600" spc="5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5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new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3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sets</a:t>
            </a:r>
            <a:r>
              <a:rPr dirty="0" sz="2600" spc="3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32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IP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5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such</a:t>
            </a:r>
            <a:r>
              <a:rPr dirty="0" sz="2600" spc="5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5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way</a:t>
            </a:r>
            <a:r>
              <a:rPr dirty="0" sz="2600" spc="5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5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routed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COA.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0765" y="3288868"/>
            <a:ext cx="4639945" cy="11366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241300" marR="5080" indent="-228600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6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called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5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outer</a:t>
            </a:r>
            <a:r>
              <a:rPr dirty="0" sz="2600" spc="160" b="1">
                <a:latin typeface="Calibri"/>
                <a:cs typeface="Calibri"/>
              </a:rPr>
              <a:t>  </a:t>
            </a:r>
            <a:r>
              <a:rPr dirty="0" sz="2600" b="1">
                <a:latin typeface="Calibri"/>
                <a:cs typeface="Calibri"/>
              </a:rPr>
              <a:t>header</a:t>
            </a:r>
            <a:r>
              <a:rPr dirty="0" sz="2600" spc="155" b="1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5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obvious reasons.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1200" y="4601413"/>
            <a:ext cx="10572750" cy="1215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9900" marR="5080" indent="-4572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600" spc="-10">
                <a:latin typeface="Calibri"/>
                <a:cs typeface="Calibri"/>
              </a:rPr>
              <a:t>Additionally,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inner</a:t>
            </a:r>
            <a:r>
              <a:rPr dirty="0" sz="2600" spc="-2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header</a:t>
            </a:r>
            <a:r>
              <a:rPr dirty="0" sz="2600" spc="-1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identical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original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case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 </a:t>
            </a:r>
            <a:r>
              <a:rPr dirty="0" sz="2600" spc="-10">
                <a:latin typeface="Calibri"/>
                <a:cs typeface="Calibri"/>
              </a:rPr>
              <a:t>IP-in-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encapsulation,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 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inner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can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computed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during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encapsulation.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3189" y="205086"/>
            <a:ext cx="6274982" cy="319354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435977" y="3779265"/>
            <a:ext cx="222631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Encapsulation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97917"/>
            <a:ext cx="5561965" cy="3877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0029" indent="-227329">
              <a:lnSpc>
                <a:spcPts val="3304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latin typeface="Calibri"/>
                <a:cs typeface="Calibri"/>
              </a:rPr>
              <a:t>IP-</a:t>
            </a:r>
            <a:r>
              <a:rPr dirty="0" sz="2800" spc="-25" b="1">
                <a:latin typeface="Calibri"/>
                <a:cs typeface="Calibri"/>
              </a:rPr>
              <a:t>in-</a:t>
            </a:r>
            <a:r>
              <a:rPr dirty="0" sz="2800" b="1">
                <a:latin typeface="Calibri"/>
                <a:cs typeface="Calibri"/>
              </a:rPr>
              <a:t>IP</a:t>
            </a:r>
            <a:r>
              <a:rPr dirty="0" sz="2800" spc="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8000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different</a:t>
            </a:r>
            <a:r>
              <a:rPr dirty="0" sz="2600" spc="1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ways</a:t>
            </a:r>
            <a:r>
              <a:rPr dirty="0" sz="2600" spc="1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performing</a:t>
            </a:r>
            <a:r>
              <a:rPr dirty="0" sz="2600" spc="13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encapsulation</a:t>
            </a:r>
            <a:endParaRPr sz="2600">
              <a:latin typeface="Calibri"/>
              <a:cs typeface="Calibri"/>
            </a:endParaRPr>
          </a:p>
          <a:p>
            <a:pPr algn="just" lvl="1" marL="698500" marR="6350" indent="-228600">
              <a:lnSpc>
                <a:spcPts val="2500"/>
              </a:lnSpc>
              <a:spcBef>
                <a:spcPts val="4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Mandatory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IP-in-</a:t>
            </a:r>
            <a:r>
              <a:rPr dirty="0" sz="2600" spc="-25" b="1">
                <a:latin typeface="Calibri"/>
                <a:cs typeface="Calibri"/>
              </a:rPr>
              <a:t>IP </a:t>
            </a:r>
            <a:r>
              <a:rPr dirty="0" sz="2600" spc="-10" b="1">
                <a:latin typeface="Calibri"/>
                <a:cs typeface="Calibri"/>
              </a:rPr>
              <a:t>encapsulation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fields</a:t>
            </a:r>
            <a:r>
              <a:rPr dirty="0" sz="2600" spc="5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follow</a:t>
            </a:r>
            <a:r>
              <a:rPr dirty="0" sz="2600" spc="5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4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standard </a:t>
            </a:r>
            <a:r>
              <a:rPr dirty="0" sz="2600">
                <a:latin typeface="Calibri"/>
                <a:cs typeface="Calibri"/>
              </a:rPr>
              <a:t>specification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5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interpretation</a:t>
            </a:r>
            <a:r>
              <a:rPr dirty="0" sz="2600" spc="5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57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former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TOS,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DS</a:t>
            </a:r>
            <a:r>
              <a:rPr dirty="0" sz="2600" spc="11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0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context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0">
                <a:latin typeface="Calibri"/>
                <a:cs typeface="Calibri"/>
              </a:rPr>
              <a:t> differentiated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services.</a:t>
            </a:r>
            <a:endParaRPr sz="2600">
              <a:latin typeface="Calibri"/>
              <a:cs typeface="Calibri"/>
            </a:endParaRPr>
          </a:p>
          <a:p>
            <a:pPr algn="just" lvl="1" marL="698500" indent="-228600">
              <a:lnSpc>
                <a:spcPts val="3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 b="1">
                <a:latin typeface="Calibri"/>
                <a:cs typeface="Calibri"/>
              </a:rPr>
              <a:t>ver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4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version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4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3932935"/>
            <a:ext cx="402526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1771014" algn="l"/>
                <a:tab pos="3164840" algn="l"/>
              </a:tabLst>
            </a:pPr>
            <a:r>
              <a:rPr dirty="0" sz="2600" spc="-10">
                <a:latin typeface="Calibri"/>
                <a:cs typeface="Calibri"/>
              </a:rPr>
              <a:t>Internet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header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length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64540" y="3932935"/>
            <a:ext cx="487553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810"/>
              </a:lnSpc>
              <a:spcBef>
                <a:spcPts val="100"/>
              </a:spcBef>
            </a:pPr>
            <a:r>
              <a:rPr dirty="0" sz="2600" spc="-10">
                <a:latin typeface="Calibri"/>
                <a:cs typeface="Calibri"/>
              </a:rPr>
              <a:t>(</a:t>
            </a:r>
            <a:r>
              <a:rPr dirty="0" sz="2600" spc="-10" b="1">
                <a:latin typeface="Calibri"/>
                <a:cs typeface="Calibri"/>
              </a:rPr>
              <a:t>IHL</a:t>
            </a:r>
            <a:r>
              <a:rPr dirty="0" sz="2600" spc="-10"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2810"/>
              </a:lnSpc>
              <a:tabLst>
                <a:tab pos="1300480" algn="l"/>
                <a:tab pos="1951355" algn="l"/>
                <a:tab pos="2999740" algn="l"/>
                <a:tab pos="3477260" algn="l"/>
                <a:tab pos="4127500" algn="l"/>
              </a:tabLst>
            </a:pPr>
            <a:r>
              <a:rPr dirty="0" sz="2600" spc="-10">
                <a:latin typeface="Calibri"/>
                <a:cs typeface="Calibri"/>
              </a:rPr>
              <a:t>denotes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length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outer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4540" y="4567173"/>
            <a:ext cx="311975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32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-10">
                <a:latin typeface="Calibri"/>
                <a:cs typeface="Calibri"/>
              </a:rPr>
              <a:t> words.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5940" y="4948173"/>
            <a:ext cx="358457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  <a:tab pos="1557655" algn="l"/>
                <a:tab pos="1972310" algn="l"/>
                <a:tab pos="2673350" algn="l"/>
              </a:tabLst>
            </a:pPr>
            <a:r>
              <a:rPr dirty="0" sz="2600" spc="-10" b="1">
                <a:latin typeface="Calibri"/>
                <a:cs typeface="Calibri"/>
              </a:rPr>
              <a:t>DS(TOS)</a:t>
            </a:r>
            <a:r>
              <a:rPr dirty="0" sz="2600" b="1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just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copied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05427" y="4948173"/>
            <a:ext cx="13354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3125" algn="l"/>
              </a:tabLst>
            </a:pPr>
            <a:r>
              <a:rPr dirty="0" sz="2600" spc="-20">
                <a:latin typeface="Calibri"/>
                <a:cs typeface="Calibri"/>
              </a:rPr>
              <a:t>from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3944" y="333740"/>
            <a:ext cx="6139000" cy="591369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35940" y="5265216"/>
            <a:ext cx="9535160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ts val="3060"/>
              </a:lnSpc>
              <a:spcBef>
                <a:spcPts val="100"/>
              </a:spcBef>
            </a:pPr>
            <a:r>
              <a:rPr dirty="0" sz="2600">
                <a:latin typeface="Calibri"/>
                <a:cs typeface="Calibri"/>
              </a:rPr>
              <a:t>inner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header</a:t>
            </a:r>
            <a:endParaRPr sz="2600">
              <a:latin typeface="Calibri"/>
              <a:cs typeface="Calibri"/>
            </a:endParaRPr>
          </a:p>
          <a:p>
            <a:pPr marL="241300" marR="4434840" indent="-228600">
              <a:lnSpc>
                <a:spcPct val="8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length</a:t>
            </a:r>
            <a:r>
              <a:rPr dirty="0" sz="2600" spc="-2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covers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complete encapsulated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packet.</a:t>
            </a:r>
            <a:endParaRPr sz="2600">
              <a:latin typeface="Calibri"/>
              <a:cs typeface="Calibri"/>
            </a:endParaRPr>
          </a:p>
          <a:p>
            <a:pPr marL="6844030">
              <a:lnSpc>
                <a:spcPts val="2780"/>
              </a:lnSpc>
            </a:pPr>
            <a:r>
              <a:rPr dirty="0" sz="2400" spc="-10">
                <a:latin typeface="Calibri"/>
                <a:cs typeface="Calibri"/>
              </a:rPr>
              <a:t>IP-in-</a:t>
            </a:r>
            <a:r>
              <a:rPr dirty="0" sz="2400">
                <a:latin typeface="Calibri"/>
                <a:cs typeface="Calibri"/>
              </a:rPr>
              <a:t>IP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Encapsulation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1899" y="258906"/>
            <a:ext cx="11156950" cy="558482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latin typeface="Calibri"/>
                <a:cs typeface="Calibri"/>
              </a:rPr>
              <a:t>IP-</a:t>
            </a:r>
            <a:r>
              <a:rPr dirty="0" sz="2800" spc="-25" b="1">
                <a:latin typeface="Calibri"/>
                <a:cs typeface="Calibri"/>
              </a:rPr>
              <a:t>in-</a:t>
            </a:r>
            <a:r>
              <a:rPr dirty="0" sz="2800" b="1">
                <a:latin typeface="Calibri"/>
                <a:cs typeface="Calibri"/>
              </a:rPr>
              <a:t>IP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fields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up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TTL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have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special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meaning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mobile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IP.</a:t>
            </a:r>
            <a:endParaRPr sz="27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5"/>
              </a:spcBef>
              <a:buFont typeface="Arial MT"/>
              <a:buChar char="•"/>
            </a:pPr>
            <a:endParaRPr sz="27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700" b="1">
                <a:latin typeface="Calibri"/>
                <a:cs typeface="Calibri"/>
              </a:rPr>
              <a:t>TTL</a:t>
            </a:r>
            <a:r>
              <a:rPr dirty="0" sz="2700" spc="-35" b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must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high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enough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so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can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reach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tunnel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endpoint.</a:t>
            </a:r>
            <a:endParaRPr sz="27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27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700" spc="-10" b="1">
                <a:latin typeface="Calibri"/>
                <a:cs typeface="Calibri"/>
              </a:rPr>
              <a:t>IP-in-</a:t>
            </a:r>
            <a:r>
              <a:rPr dirty="0" sz="2700" b="1">
                <a:latin typeface="Calibri"/>
                <a:cs typeface="Calibri"/>
              </a:rPr>
              <a:t>IP</a:t>
            </a:r>
            <a:r>
              <a:rPr dirty="0" sz="2700">
                <a:latin typeface="Calibri"/>
                <a:cs typeface="Calibri"/>
              </a:rPr>
              <a:t>,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type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protocol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used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IP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payload.</a:t>
            </a:r>
            <a:endParaRPr sz="2700">
              <a:latin typeface="Calibri"/>
              <a:cs typeface="Calibri"/>
            </a:endParaRPr>
          </a:p>
          <a:p>
            <a:pPr lvl="2" marL="1154430" marR="7620" indent="-227329">
              <a:lnSpc>
                <a:spcPts val="302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800">
                <a:latin typeface="Calibri"/>
                <a:cs typeface="Calibri"/>
              </a:rPr>
              <a:t>This field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4,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type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IPv4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because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again an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IPv4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follows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after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outer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header.</a:t>
            </a:r>
            <a:endParaRPr sz="28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700">
                <a:latin typeface="Calibri"/>
                <a:cs typeface="Calibri"/>
              </a:rPr>
              <a:t>IP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checksum</a:t>
            </a:r>
            <a:r>
              <a:rPr dirty="0" sz="2700" spc="-25" b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calculated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as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usual.</a:t>
            </a:r>
            <a:endParaRPr sz="27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55"/>
              </a:spcBef>
              <a:buFont typeface="Arial MT"/>
              <a:buChar char="•"/>
            </a:pPr>
            <a:endParaRPr sz="2700">
              <a:latin typeface="Calibri"/>
              <a:cs typeface="Calibri"/>
            </a:endParaRPr>
          </a:p>
          <a:p>
            <a:pPr lvl="1" marL="698500" marR="5080" indent="-228600">
              <a:lnSpc>
                <a:spcPts val="2920"/>
              </a:lnSpc>
              <a:buFont typeface="Arial MT"/>
              <a:buChar char="•"/>
              <a:tabLst>
                <a:tab pos="698500" algn="l"/>
                <a:tab pos="1351915" algn="l"/>
                <a:tab pos="2388235" algn="l"/>
                <a:tab pos="3261995" algn="l"/>
                <a:tab pos="3695065" algn="l"/>
                <a:tab pos="4754245" algn="l"/>
                <a:tab pos="5962650" algn="l"/>
                <a:tab pos="6665595" algn="l"/>
                <a:tab pos="7075170" algn="l"/>
                <a:tab pos="8315959" algn="l"/>
                <a:tab pos="8744585" algn="l"/>
                <a:tab pos="9355455" algn="l"/>
                <a:tab pos="10020300" algn="l"/>
                <a:tab pos="10680065" algn="l"/>
              </a:tabLst>
            </a:pPr>
            <a:r>
              <a:rPr dirty="0" sz="2700" spc="-25">
                <a:latin typeface="Calibri"/>
                <a:cs typeface="Calibri"/>
              </a:rPr>
              <a:t>The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tunnel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entry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as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source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address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0">
                <a:latin typeface="Calibri"/>
                <a:cs typeface="Calibri"/>
              </a:rPr>
              <a:t>(the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 b="1">
                <a:latin typeface="Calibri"/>
                <a:cs typeface="Calibri"/>
              </a:rPr>
              <a:t>IP</a:t>
            </a:r>
            <a:r>
              <a:rPr dirty="0" sz="2700" b="1">
                <a:latin typeface="Calibri"/>
                <a:cs typeface="Calibri"/>
              </a:rPr>
              <a:t>	</a:t>
            </a:r>
            <a:r>
              <a:rPr dirty="0" sz="2700" spc="-10" b="1">
                <a:latin typeface="Calibri"/>
                <a:cs typeface="Calibri"/>
              </a:rPr>
              <a:t>address</a:t>
            </a:r>
            <a:r>
              <a:rPr dirty="0" sz="2700" b="1">
                <a:latin typeface="Calibri"/>
                <a:cs typeface="Calibri"/>
              </a:rPr>
              <a:t>	</a:t>
            </a:r>
            <a:r>
              <a:rPr dirty="0" sz="2700" spc="-25" b="1">
                <a:latin typeface="Calibri"/>
                <a:cs typeface="Calibri"/>
              </a:rPr>
              <a:t>of</a:t>
            </a:r>
            <a:r>
              <a:rPr dirty="0" sz="2700" b="1">
                <a:latin typeface="Calibri"/>
                <a:cs typeface="Calibri"/>
              </a:rPr>
              <a:t>	</a:t>
            </a:r>
            <a:r>
              <a:rPr dirty="0" sz="2700" spc="-25" b="1">
                <a:latin typeface="Calibri"/>
                <a:cs typeface="Calibri"/>
              </a:rPr>
              <a:t>the</a:t>
            </a:r>
            <a:r>
              <a:rPr dirty="0" sz="2700" b="1">
                <a:latin typeface="Calibri"/>
                <a:cs typeface="Calibri"/>
              </a:rPr>
              <a:t>	</a:t>
            </a:r>
            <a:r>
              <a:rPr dirty="0" sz="2700" spc="-25" b="1">
                <a:latin typeface="Calibri"/>
                <a:cs typeface="Calibri"/>
              </a:rPr>
              <a:t>HA</a:t>
            </a:r>
            <a:r>
              <a:rPr dirty="0" sz="2700" spc="-25">
                <a:latin typeface="Calibri"/>
                <a:cs typeface="Calibri"/>
              </a:rPr>
              <a:t>)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and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tunnel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exit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point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as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destination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address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(the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COA</a:t>
            </a:r>
            <a:r>
              <a:rPr dirty="0" sz="2700" spc="-10">
                <a:latin typeface="Calibri"/>
                <a:cs typeface="Calibri"/>
              </a:rPr>
              <a:t>).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5284" y="307756"/>
            <a:ext cx="11246485" cy="5768975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latin typeface="Calibri"/>
                <a:cs typeface="Calibri"/>
              </a:rPr>
              <a:t>IP-in-</a:t>
            </a:r>
            <a:r>
              <a:rPr dirty="0" sz="2800" b="1">
                <a:latin typeface="Calibri"/>
                <a:cs typeface="Calibri"/>
              </a:rPr>
              <a:t>IP</a:t>
            </a:r>
            <a:r>
              <a:rPr dirty="0" sz="2800" spc="4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lvl="1" marL="698500" marR="7620" indent="-228600">
              <a:lnSpc>
                <a:spcPts val="292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700">
                <a:latin typeface="Calibri"/>
                <a:cs typeface="Calibri"/>
              </a:rPr>
              <a:t>If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options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follow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outer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header,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inner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header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starts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with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same </a:t>
            </a:r>
            <a:r>
              <a:rPr dirty="0" sz="2700" spc="-10">
                <a:latin typeface="Calibri"/>
                <a:cs typeface="Calibri"/>
              </a:rPr>
              <a:t>fields.</a:t>
            </a:r>
            <a:endParaRPr sz="2700">
              <a:latin typeface="Calibri"/>
              <a:cs typeface="Calibri"/>
            </a:endParaRPr>
          </a:p>
          <a:p>
            <a:pPr lvl="2" marL="1155700" marR="7620" indent="-228600">
              <a:lnSpc>
                <a:spcPts val="2810"/>
              </a:lnSpc>
              <a:spcBef>
                <a:spcPts val="50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remains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almost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unchanged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during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encapsulation,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thus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showing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sender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packet.</a:t>
            </a:r>
            <a:endParaRPr sz="2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6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only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change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TTL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which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decremented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by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1.</a:t>
            </a:r>
            <a:endParaRPr sz="2700">
              <a:latin typeface="Calibri"/>
              <a:cs typeface="Calibri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550"/>
              </a:spcBef>
              <a:buFont typeface="Arial MT"/>
              <a:buChar char="•"/>
              <a:tabLst>
                <a:tab pos="1155700" algn="l"/>
                <a:tab pos="1840230" algn="l"/>
                <a:tab pos="2871470" algn="l"/>
                <a:tab pos="3566795" algn="l"/>
                <a:tab pos="4156710" algn="l"/>
                <a:tab pos="5125720" algn="l"/>
                <a:tab pos="6139815" algn="l"/>
                <a:tab pos="6489065" algn="l"/>
                <a:tab pos="8107680" algn="l"/>
                <a:tab pos="8409305" algn="l"/>
                <a:tab pos="9326880" algn="l"/>
                <a:tab pos="9991090" algn="l"/>
                <a:tab pos="10784205" algn="l"/>
              </a:tabLst>
            </a:pPr>
            <a:r>
              <a:rPr dirty="0" sz="2600" spc="-20">
                <a:latin typeface="Calibri"/>
                <a:cs typeface="Calibri"/>
              </a:rPr>
              <a:t>This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means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that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whole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tunnel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considered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50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single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hop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from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packet’s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point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view.</a:t>
            </a:r>
            <a:endParaRPr sz="26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behave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were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attached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network.</a:t>
            </a:r>
            <a:endParaRPr sz="2600">
              <a:latin typeface="Calibri"/>
              <a:cs typeface="Calibri"/>
            </a:endParaRPr>
          </a:p>
          <a:p>
            <a:pPr lvl="2" marL="1155700" marR="8255" indent="-228600">
              <a:lnSpc>
                <a:spcPts val="2810"/>
              </a:lnSpc>
              <a:spcBef>
                <a:spcPts val="54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matter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how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many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real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hops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take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tunnel,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just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(logical)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hop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away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MN.</a:t>
            </a:r>
            <a:endParaRPr sz="2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36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700" spc="-20">
                <a:latin typeface="Calibri"/>
                <a:cs typeface="Calibri"/>
              </a:rPr>
              <a:t>Finally,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payload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follows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two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headers.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1587" y="121742"/>
            <a:ext cx="5615940" cy="251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306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Minimal</a:t>
            </a:r>
            <a:r>
              <a:rPr dirty="0" sz="2600" spc="-2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encapsulation</a:t>
            </a:r>
            <a:endParaRPr sz="2600">
              <a:latin typeface="Calibri"/>
              <a:cs typeface="Calibri"/>
            </a:endParaRPr>
          </a:p>
          <a:p>
            <a:pPr lvl="1" marL="698500" marR="5080" indent="-228600">
              <a:lnSpc>
                <a:spcPct val="8000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  <a:tab pos="1189355" algn="l"/>
                <a:tab pos="1690370" algn="l"/>
                <a:tab pos="2317115" algn="l"/>
                <a:tab pos="3729990" algn="l"/>
              </a:tabLst>
            </a:pPr>
            <a:r>
              <a:rPr dirty="0" sz="2600" spc="-25">
                <a:latin typeface="Calibri"/>
                <a:cs typeface="Calibri"/>
              </a:rPr>
              <a:t>It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optional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encapsulation </a:t>
            </a:r>
            <a:r>
              <a:rPr dirty="0" sz="2600">
                <a:latin typeface="Calibri"/>
                <a:cs typeface="Calibri"/>
              </a:rPr>
              <a:t>method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IP.</a:t>
            </a:r>
            <a:endParaRPr sz="2600">
              <a:latin typeface="Calibri"/>
              <a:cs typeface="Calibri"/>
            </a:endParaRPr>
          </a:p>
          <a:p>
            <a:pPr lvl="1" marL="698500" marR="5715" indent="-228600">
              <a:lnSpc>
                <a:spcPct val="8000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tunnel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entry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point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endpoint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specified.</a:t>
            </a:r>
            <a:endParaRPr sz="2600">
              <a:latin typeface="Calibri"/>
              <a:cs typeface="Calibri"/>
            </a:endParaRPr>
          </a:p>
          <a:p>
            <a:pPr lvl="1" marL="698500" marR="5080" indent="-228600">
              <a:lnSpc>
                <a:spcPct val="8000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  <a:tab pos="1445260" algn="l"/>
                <a:tab pos="2456815" algn="l"/>
                <a:tab pos="3089275" algn="l"/>
                <a:tab pos="3769360" algn="l"/>
                <a:tab pos="4516120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value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55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minimal encapsulation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8787" y="2596133"/>
            <a:ext cx="321437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942340" algn="l"/>
                <a:tab pos="1844675" algn="l"/>
                <a:tab pos="2995295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inner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header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98721" y="2596133"/>
            <a:ext cx="1767839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71600" algn="l"/>
              </a:tabLst>
            </a:pPr>
            <a:r>
              <a:rPr dirty="0" sz="2600" spc="-10">
                <a:latin typeface="Calibri"/>
                <a:cs typeface="Calibri"/>
              </a:rPr>
              <a:t>different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for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7387" y="2913126"/>
            <a:ext cx="314706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Calibri"/>
                <a:cs typeface="Calibri"/>
              </a:rPr>
              <a:t>minimal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encapsulation.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8787" y="3292855"/>
            <a:ext cx="5160010" cy="308673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241300" marR="5715" indent="-2286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following</a:t>
            </a:r>
            <a:r>
              <a:rPr dirty="0" sz="2600" spc="509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29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229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29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22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are </a:t>
            </a:r>
            <a:r>
              <a:rPr dirty="0" sz="2600" spc="-10">
                <a:latin typeface="Calibri"/>
                <a:cs typeface="Calibri"/>
              </a:rPr>
              <a:t>needed.</a:t>
            </a:r>
            <a:endParaRPr sz="26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S</a:t>
            </a:r>
            <a:r>
              <a:rPr dirty="0" sz="2600" spc="8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set,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sender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10">
                <a:latin typeface="Calibri"/>
                <a:cs typeface="Calibri"/>
              </a:rPr>
              <a:t> included.</a:t>
            </a:r>
            <a:endParaRPr sz="2600">
              <a:latin typeface="Calibri"/>
              <a:cs typeface="Calibri"/>
            </a:endParaRPr>
          </a:p>
          <a:p>
            <a:pPr algn="just" marL="241300" marR="5080" indent="-228600">
              <a:lnSpc>
                <a:spcPts val="250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fragmentation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offset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left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inner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minimal </a:t>
            </a:r>
            <a:r>
              <a:rPr dirty="0" sz="2600">
                <a:latin typeface="Calibri"/>
                <a:cs typeface="Calibri"/>
              </a:rPr>
              <a:t>encapsulation</a:t>
            </a:r>
            <a:r>
              <a:rPr dirty="0" sz="2600" spc="6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work</a:t>
            </a:r>
            <a:r>
              <a:rPr dirty="0" sz="2600" spc="63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with </a:t>
            </a:r>
            <a:r>
              <a:rPr dirty="0" sz="2600">
                <a:latin typeface="Calibri"/>
                <a:cs typeface="Calibri"/>
              </a:rPr>
              <a:t>already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fragmented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packets.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5113" y="621431"/>
            <a:ext cx="6090114" cy="486702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145526" y="5562396"/>
            <a:ext cx="28403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Minimal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Encapsulation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9933" y="98247"/>
            <a:ext cx="5998845" cy="3180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0029" indent="-227329">
              <a:lnSpc>
                <a:spcPts val="3304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latin typeface="Calibri"/>
                <a:cs typeface="Calibri"/>
              </a:rPr>
              <a:t>Generic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routing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algn="just" lvl="1" marL="698500" marR="5715" indent="-228600">
              <a:lnSpc>
                <a:spcPts val="250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525">
                <a:latin typeface="Calibri"/>
                <a:cs typeface="Calibri"/>
              </a:rPr>
              <a:t>   </a:t>
            </a:r>
            <a:r>
              <a:rPr dirty="0" sz="2600">
                <a:latin typeface="Calibri"/>
                <a:cs typeface="Calibri"/>
              </a:rPr>
              <a:t>encapsulation</a:t>
            </a:r>
            <a:r>
              <a:rPr dirty="0" sz="2600" spc="530">
                <a:latin typeface="Calibri"/>
                <a:cs typeface="Calibri"/>
              </a:rPr>
              <a:t>   </a:t>
            </a:r>
            <a:r>
              <a:rPr dirty="0" sz="2600">
                <a:latin typeface="Calibri"/>
                <a:cs typeface="Calibri"/>
              </a:rPr>
              <a:t>scheme</a:t>
            </a:r>
            <a:r>
              <a:rPr dirty="0" sz="2600" spc="525">
                <a:latin typeface="Calibri"/>
                <a:cs typeface="Calibri"/>
              </a:rPr>
              <a:t>   </a:t>
            </a:r>
            <a:r>
              <a:rPr dirty="0" sz="2600" spc="-20">
                <a:latin typeface="Calibri"/>
                <a:cs typeface="Calibri"/>
              </a:rPr>
              <a:t>also </a:t>
            </a:r>
            <a:r>
              <a:rPr dirty="0" sz="2600">
                <a:latin typeface="Calibri"/>
                <a:cs typeface="Calibri"/>
              </a:rPr>
              <a:t>supports other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protocols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addition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IP.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8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 b="1">
                <a:latin typeface="Calibri"/>
                <a:cs typeface="Calibri"/>
              </a:rPr>
              <a:t>GRE</a:t>
            </a:r>
            <a:r>
              <a:rPr dirty="0" sz="2600" spc="640" b="1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allows</a:t>
            </a:r>
            <a:r>
              <a:rPr dirty="0" sz="2600" spc="6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encapsulation</a:t>
            </a:r>
            <a:r>
              <a:rPr dirty="0" sz="2600" spc="64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2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suite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29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payload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portion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another protocol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suite.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7133" y="3616833"/>
            <a:ext cx="5542280" cy="211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just" marL="241300" marR="5080" indent="-228600">
              <a:lnSpc>
                <a:spcPts val="25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suite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with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original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taken</a:t>
            </a:r>
            <a:r>
              <a:rPr dirty="0" sz="2600" spc="43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4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434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GRE</a:t>
            </a:r>
            <a:r>
              <a:rPr dirty="0" sz="2600" spc="4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header</a:t>
            </a:r>
            <a:r>
              <a:rPr dirty="0" sz="2600" spc="44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 spc="-10">
                <a:latin typeface="Calibri"/>
                <a:cs typeface="Calibri"/>
              </a:rPr>
              <a:t>prepended.</a:t>
            </a:r>
            <a:endParaRPr sz="2600">
              <a:latin typeface="Calibri"/>
              <a:cs typeface="Calibri"/>
            </a:endParaRPr>
          </a:p>
          <a:p>
            <a:pPr algn="just" lvl="1" marL="697230" marR="7620" indent="-227329">
              <a:lnSpc>
                <a:spcPts val="269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800" spc="-10">
                <a:latin typeface="Calibri"/>
                <a:cs typeface="Calibri"/>
              </a:rPr>
              <a:t>Together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forms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part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packet.</a:t>
            </a:r>
            <a:r>
              <a:rPr dirty="0" sz="2800" spc="5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Finally,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23213" y="5625794"/>
            <a:ext cx="4852670" cy="79311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  <a:tabLst>
                <a:tab pos="875030" algn="l"/>
                <a:tab pos="2274570" algn="l"/>
                <a:tab pos="2950845" algn="l"/>
                <a:tab pos="3813810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header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second protocol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suite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put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front.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4488" y="1274045"/>
            <a:ext cx="5527575" cy="35609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176643" y="5097017"/>
            <a:ext cx="3804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Generic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Routing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Encapsulation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-51054"/>
            <a:ext cx="4705350" cy="546481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240665" indent="-22796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700" b="1">
                <a:latin typeface="Calibri"/>
                <a:cs typeface="Calibri"/>
              </a:rPr>
              <a:t>Generic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routing</a:t>
            </a:r>
            <a:r>
              <a:rPr dirty="0" sz="2700" spc="-8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encapsulation</a:t>
            </a:r>
            <a:endParaRPr sz="2700">
              <a:latin typeface="Calibri"/>
              <a:cs typeface="Calibri"/>
            </a:endParaRPr>
          </a:p>
          <a:p>
            <a:pPr algn="just" lvl="1" marL="698500" marR="6985" indent="-228600">
              <a:lnSpc>
                <a:spcPts val="292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41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outer</a:t>
            </a:r>
            <a:r>
              <a:rPr dirty="0" sz="2700" spc="409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header</a:t>
            </a:r>
            <a:r>
              <a:rPr dirty="0" sz="2700" spc="409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420">
                <a:latin typeface="Calibri"/>
                <a:cs typeface="Calibri"/>
              </a:rPr>
              <a:t>  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standard</a:t>
            </a:r>
            <a:r>
              <a:rPr dirty="0" sz="2700" spc="3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IP</a:t>
            </a:r>
            <a:r>
              <a:rPr dirty="0" sz="2700" spc="3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header</a:t>
            </a:r>
            <a:r>
              <a:rPr dirty="0" sz="2700" spc="2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with</a:t>
            </a:r>
            <a:r>
              <a:rPr dirty="0" sz="2700" spc="320"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FF0000"/>
                </a:solidFill>
                <a:latin typeface="Calibri"/>
                <a:cs typeface="Calibri"/>
              </a:rPr>
              <a:t>HA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dirty="0" sz="2700" spc="4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r>
              <a:rPr dirty="0" sz="2700" spc="4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address</a:t>
            </a:r>
            <a:r>
              <a:rPr dirty="0" sz="2700" spc="4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475">
                <a:latin typeface="Calibri"/>
                <a:cs typeface="Calibri"/>
              </a:rPr>
              <a:t> </a:t>
            </a:r>
            <a:r>
              <a:rPr dirty="0" sz="2700" spc="-25">
                <a:solidFill>
                  <a:srgbClr val="FF0000"/>
                </a:solidFill>
                <a:latin typeface="Calibri"/>
                <a:cs typeface="Calibri"/>
              </a:rPr>
              <a:t>COA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dirty="0" sz="27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destination</a:t>
            </a:r>
            <a:r>
              <a:rPr dirty="0" sz="27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FF0000"/>
                </a:solidFill>
                <a:latin typeface="Calibri"/>
                <a:cs typeface="Calibri"/>
              </a:rPr>
              <a:t>address</a:t>
            </a:r>
            <a:r>
              <a:rPr dirty="0" sz="2700" spc="-1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  <a:p>
            <a:pPr algn="just" lvl="1" marL="698500" marR="6350" indent="-228600">
              <a:lnSpc>
                <a:spcPts val="292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14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protocol</a:t>
            </a:r>
            <a:r>
              <a:rPr dirty="0" sz="2700" spc="13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type</a:t>
            </a:r>
            <a:r>
              <a:rPr dirty="0" sz="2700" spc="11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used</a:t>
            </a:r>
            <a:r>
              <a:rPr dirty="0" sz="2700" spc="114">
                <a:latin typeface="Calibri"/>
                <a:cs typeface="Calibri"/>
              </a:rPr>
              <a:t>  </a:t>
            </a:r>
            <a:r>
              <a:rPr dirty="0" sz="2700" spc="-25">
                <a:latin typeface="Calibri"/>
                <a:cs typeface="Calibri"/>
              </a:rPr>
              <a:t>in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outer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IP</a:t>
            </a:r>
            <a:r>
              <a:rPr dirty="0" sz="2700" spc="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header</a:t>
            </a:r>
            <a:r>
              <a:rPr dirty="0" sz="2700" spc="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40"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47</a:t>
            </a:r>
            <a:r>
              <a:rPr dirty="0" sz="270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for </a:t>
            </a:r>
            <a:r>
              <a:rPr dirty="0" sz="2700" spc="-20">
                <a:latin typeface="Calibri"/>
                <a:cs typeface="Calibri"/>
              </a:rPr>
              <a:t>GRE.</a:t>
            </a:r>
            <a:endParaRPr sz="27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90000"/>
              </a:lnSpc>
              <a:spcBef>
                <a:spcPts val="4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other</a:t>
            </a:r>
            <a:r>
              <a:rPr dirty="0" sz="2700" spc="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fields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outer </a:t>
            </a:r>
            <a:r>
              <a:rPr dirty="0" sz="2700">
                <a:latin typeface="Calibri"/>
                <a:cs typeface="Calibri"/>
              </a:rPr>
              <a:t>packet,</a:t>
            </a:r>
            <a:r>
              <a:rPr dirty="0" sz="2700" spc="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such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as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TTL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TOS, </a:t>
            </a:r>
            <a:r>
              <a:rPr dirty="0" sz="2700">
                <a:latin typeface="Calibri"/>
                <a:cs typeface="Calibri"/>
              </a:rPr>
              <a:t>may</a:t>
            </a:r>
            <a:r>
              <a:rPr dirty="0" sz="2700" spc="33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33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copied</a:t>
            </a:r>
            <a:r>
              <a:rPr dirty="0" sz="2700" spc="33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from</a:t>
            </a:r>
            <a:r>
              <a:rPr dirty="0" sz="2700" spc="330">
                <a:latin typeface="Calibri"/>
                <a:cs typeface="Calibri"/>
              </a:rPr>
              <a:t>  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original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IP</a:t>
            </a:r>
            <a:r>
              <a:rPr dirty="0" sz="2700" spc="1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header.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 spc="-30">
                <a:latin typeface="Calibri"/>
                <a:cs typeface="Calibri"/>
              </a:rPr>
              <a:t>However,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430">
                <a:latin typeface="Calibri"/>
                <a:cs typeface="Calibri"/>
              </a:rPr>
              <a:t>     </a:t>
            </a:r>
            <a:r>
              <a:rPr dirty="0" sz="2700">
                <a:latin typeface="Calibri"/>
                <a:cs typeface="Calibri"/>
              </a:rPr>
              <a:t>TTL</a:t>
            </a:r>
            <a:r>
              <a:rPr dirty="0" sz="2700" spc="440">
                <a:latin typeface="Calibri"/>
                <a:cs typeface="Calibri"/>
              </a:rPr>
              <a:t>     </a:t>
            </a:r>
            <a:r>
              <a:rPr dirty="0" sz="2700">
                <a:latin typeface="Calibri"/>
                <a:cs typeface="Calibri"/>
              </a:rPr>
              <a:t>must</a:t>
            </a:r>
            <a:r>
              <a:rPr dirty="0" sz="2700" spc="434">
                <a:latin typeface="Calibri"/>
                <a:cs typeface="Calibri"/>
              </a:rPr>
              <a:t>     </a:t>
            </a:r>
            <a:r>
              <a:rPr dirty="0" sz="2700" spc="-35">
                <a:latin typeface="Calibri"/>
                <a:cs typeface="Calibri"/>
              </a:rPr>
              <a:t>be </a:t>
            </a:r>
            <a:r>
              <a:rPr dirty="0" sz="2700">
                <a:latin typeface="Calibri"/>
                <a:cs typeface="Calibri"/>
              </a:rPr>
              <a:t>decremented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by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1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when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the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75661" y="5346903"/>
            <a:ext cx="23990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0580" algn="l"/>
              </a:tabLst>
            </a:pPr>
            <a:r>
              <a:rPr dirty="0" sz="2700" spc="-10">
                <a:latin typeface="Calibri"/>
                <a:cs typeface="Calibri"/>
              </a:rPr>
              <a:t>decapsulated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to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25697" y="5717235"/>
            <a:ext cx="13589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indefinite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64540" y="5346903"/>
            <a:ext cx="1631950" cy="1177925"/>
          </a:xfrm>
          <a:prstGeom prst="rect">
            <a:avLst/>
          </a:prstGeom>
        </p:spPr>
        <p:txBody>
          <a:bodyPr wrap="square" lIns="0" tIns="59054" rIns="0" bIns="0" rtlCol="0" vert="horz">
            <a:spAutoFit/>
          </a:bodyPr>
          <a:lstStyle/>
          <a:p>
            <a:pPr marL="12700" marR="5080">
              <a:lnSpc>
                <a:spcPts val="2920"/>
              </a:lnSpc>
              <a:spcBef>
                <a:spcPts val="464"/>
              </a:spcBef>
              <a:tabLst>
                <a:tab pos="1170940" algn="l"/>
              </a:tabLst>
            </a:pPr>
            <a:r>
              <a:rPr dirty="0" sz="2700" spc="-10">
                <a:latin typeface="Calibri"/>
                <a:cs typeface="Calibri"/>
              </a:rPr>
              <a:t>packet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is </a:t>
            </a:r>
            <a:r>
              <a:rPr dirty="0" sz="2700" spc="-10">
                <a:latin typeface="Calibri"/>
                <a:cs typeface="Calibri"/>
              </a:rPr>
              <a:t>prevent </a:t>
            </a:r>
            <a:r>
              <a:rPr dirty="0" sz="2700" spc="-20">
                <a:latin typeface="Calibri"/>
                <a:cs typeface="Calibri"/>
              </a:rPr>
              <a:t>forwarding.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0861" y="206153"/>
            <a:ext cx="7073637" cy="64405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8982" y="181813"/>
            <a:ext cx="10335260" cy="6486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7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latin typeface="Calibri"/>
                <a:cs typeface="Calibri"/>
              </a:rPr>
              <a:t>Generic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routing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ts val="3185"/>
              </a:lnSpc>
              <a:buFont typeface="Arial MT"/>
              <a:buChar char="•"/>
              <a:tabLst>
                <a:tab pos="69723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header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starts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several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flags</a:t>
            </a:r>
            <a:endParaRPr sz="2800">
              <a:latin typeface="Calibri"/>
              <a:cs typeface="Calibri"/>
            </a:endParaRPr>
          </a:p>
          <a:p>
            <a:pPr lvl="2" marL="1154430" indent="-227329">
              <a:lnSpc>
                <a:spcPts val="3185"/>
              </a:lnSpc>
              <a:buFont typeface="Arial MT"/>
              <a:buChar char="•"/>
              <a:tabLst>
                <a:tab pos="1154430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minimal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GRE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header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4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bytes;</a:t>
            </a:r>
            <a:endParaRPr sz="2800">
              <a:latin typeface="Calibri"/>
              <a:cs typeface="Calibri"/>
            </a:endParaRPr>
          </a:p>
          <a:p>
            <a:pPr lvl="1" marL="697865" marR="5715" indent="-228600">
              <a:lnSpc>
                <a:spcPts val="2690"/>
              </a:lnSpc>
              <a:spcBef>
                <a:spcPts val="565"/>
              </a:spcBef>
              <a:buChar char="•"/>
              <a:tabLst>
                <a:tab pos="697865" algn="l"/>
                <a:tab pos="779145" algn="l"/>
              </a:tabLst>
            </a:pPr>
            <a:r>
              <a:rPr dirty="0" sz="2800">
                <a:latin typeface="Arial MT"/>
                <a:cs typeface="Arial MT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26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indicates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checksum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present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contains </a:t>
            </a:r>
            <a:r>
              <a:rPr dirty="0" sz="2800">
                <a:latin typeface="Calibri"/>
                <a:cs typeface="Calibri"/>
              </a:rPr>
              <a:t>valid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information.</a:t>
            </a:r>
            <a:endParaRPr sz="2800">
              <a:latin typeface="Calibri"/>
              <a:cs typeface="Calibri"/>
            </a:endParaRPr>
          </a:p>
          <a:p>
            <a:pPr lvl="2" marL="1154430" marR="6985" indent="-227329">
              <a:lnSpc>
                <a:spcPts val="2690"/>
              </a:lnSpc>
              <a:spcBef>
                <a:spcPts val="50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22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set,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checksum</a:t>
            </a:r>
            <a:r>
              <a:rPr dirty="0" sz="2800" spc="24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contains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valid</a:t>
            </a:r>
            <a:r>
              <a:rPr dirty="0" sz="2800" spc="2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IP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checksum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GRE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header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payload.</a:t>
            </a:r>
            <a:endParaRPr sz="2800">
              <a:latin typeface="Calibri"/>
              <a:cs typeface="Calibri"/>
            </a:endParaRPr>
          </a:p>
          <a:p>
            <a:pPr lvl="1" marL="696595" marR="6985" indent="-227329">
              <a:lnSpc>
                <a:spcPts val="2690"/>
              </a:lnSpc>
              <a:spcBef>
                <a:spcPts val="484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R</a:t>
            </a:r>
            <a:r>
              <a:rPr dirty="0" sz="2800" spc="11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indicates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offset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routing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fields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present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contain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valid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information.</a:t>
            </a:r>
            <a:endParaRPr sz="2800">
              <a:latin typeface="Calibri"/>
              <a:cs typeface="Calibri"/>
            </a:endParaRPr>
          </a:p>
          <a:p>
            <a:pPr lvl="2" marL="1154430" indent="-227329">
              <a:lnSpc>
                <a:spcPts val="2880"/>
              </a:lnSpc>
              <a:buFont typeface="Arial MT"/>
              <a:buChar char="•"/>
              <a:tabLst>
                <a:tab pos="1154430" algn="l"/>
                <a:tab pos="1838325" algn="l"/>
                <a:tab pos="2839720" algn="l"/>
                <a:tab pos="4522470" algn="l"/>
                <a:tab pos="5151755" algn="l"/>
                <a:tab pos="6127750" algn="l"/>
                <a:tab pos="6540500" algn="l"/>
                <a:tab pos="7465695" algn="l"/>
                <a:tab pos="8023859" algn="l"/>
                <a:tab pos="8653145" algn="l"/>
                <a:tab pos="9360535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offset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represents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offset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bytes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first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source</a:t>
            </a:r>
            <a:endParaRPr sz="2800">
              <a:latin typeface="Calibri"/>
              <a:cs typeface="Calibri"/>
            </a:endParaRPr>
          </a:p>
          <a:p>
            <a:pPr marL="1155700">
              <a:lnSpc>
                <a:spcPts val="2940"/>
              </a:lnSpc>
            </a:pPr>
            <a:r>
              <a:rPr dirty="0" sz="2800" b="1">
                <a:latin typeface="Calibri"/>
                <a:cs typeface="Calibri"/>
              </a:rPr>
              <a:t>routing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entry.</a:t>
            </a:r>
            <a:endParaRPr sz="2800">
              <a:latin typeface="Calibri"/>
              <a:cs typeface="Calibri"/>
            </a:endParaRPr>
          </a:p>
          <a:p>
            <a:pPr lvl="2" marL="1154430" marR="8890" indent="-227329">
              <a:lnSpc>
                <a:spcPts val="2690"/>
              </a:lnSpc>
              <a:spcBef>
                <a:spcPts val="56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routing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field,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present,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variable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length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fields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source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routing.</a:t>
            </a:r>
            <a:endParaRPr sz="2800">
              <a:latin typeface="Calibri"/>
              <a:cs typeface="Calibri"/>
            </a:endParaRPr>
          </a:p>
          <a:p>
            <a:pPr lvl="1" marL="696595" marR="8255" indent="-227329">
              <a:lnSpc>
                <a:spcPts val="2690"/>
              </a:lnSpc>
              <a:spcBef>
                <a:spcPts val="489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set,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offset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1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present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and,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vice</a:t>
            </a:r>
            <a:r>
              <a:rPr dirty="0" sz="2800" spc="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versa,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checksum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field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must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present.</a:t>
            </a:r>
            <a:endParaRPr sz="2800">
              <a:latin typeface="Calibri"/>
              <a:cs typeface="Calibri"/>
            </a:endParaRPr>
          </a:p>
          <a:p>
            <a:pPr lvl="2" marL="1154430" marR="7620" indent="-227329">
              <a:lnSpc>
                <a:spcPts val="2690"/>
              </a:lnSpc>
              <a:spcBef>
                <a:spcPts val="500"/>
              </a:spcBef>
              <a:buFont typeface="Arial MT"/>
              <a:buChar char="•"/>
              <a:tabLst>
                <a:tab pos="1155700" algn="l"/>
                <a:tab pos="1842770" algn="l"/>
                <a:tab pos="2611120" algn="l"/>
                <a:tab pos="3740785" algn="l"/>
                <a:tab pos="4304665" algn="l"/>
                <a:tab pos="4982845" algn="l"/>
                <a:tab pos="5354320" algn="l"/>
                <a:tab pos="5810250" algn="l"/>
                <a:tab pos="6647180" algn="l"/>
                <a:tab pos="7282815" algn="l"/>
                <a:tab pos="8759825" algn="l"/>
                <a:tab pos="9683115" algn="l"/>
                <a:tab pos="10139045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only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reason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this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align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following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fields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0">
                <a:latin typeface="Calibri"/>
                <a:cs typeface="Calibri"/>
              </a:rPr>
              <a:t>4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bytes.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6400" y="357987"/>
            <a:ext cx="11364595" cy="529780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Generic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routing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encapsulation</a:t>
            </a:r>
            <a:endParaRPr sz="26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GRE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offers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key</a:t>
            </a:r>
            <a:r>
              <a:rPr dirty="0" sz="2600" spc="-4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authentication.</a:t>
            </a:r>
            <a:endParaRPr sz="2600">
              <a:latin typeface="Calibri"/>
              <a:cs typeface="Calibri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791335" algn="l"/>
                <a:tab pos="2111375" algn="l"/>
                <a:tab pos="2609215" algn="l"/>
                <a:tab pos="2950845" algn="l"/>
                <a:tab pos="3575685" algn="l"/>
                <a:tab pos="4968875" algn="l"/>
                <a:tab pos="5555615" algn="l"/>
                <a:tab pos="7657465" algn="l"/>
                <a:tab pos="9229090" algn="l"/>
                <a:tab pos="9800590" algn="l"/>
                <a:tab pos="10396855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50" b="1">
                <a:latin typeface="Calibri"/>
                <a:cs typeface="Calibri"/>
              </a:rPr>
              <a:t>K</a:t>
            </a:r>
            <a:r>
              <a:rPr dirty="0" sz="2600" b="1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bit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set.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However,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authentication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algorithms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are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not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further </a:t>
            </a:r>
            <a:r>
              <a:rPr dirty="0" sz="2600">
                <a:latin typeface="Calibri"/>
                <a:cs typeface="Calibri"/>
              </a:rPr>
              <a:t>specified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GRE.</a:t>
            </a:r>
            <a:endParaRPr sz="2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64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8500" marR="8255" indent="-228600">
              <a:lnSpc>
                <a:spcPts val="2810"/>
              </a:lnSpc>
              <a:buFont typeface="Arial MT"/>
              <a:buChar char="•"/>
              <a:tabLst>
                <a:tab pos="698500" algn="l"/>
                <a:tab pos="1373505" algn="l"/>
                <a:tab pos="2827655" algn="l"/>
                <a:tab pos="4066540" algn="l"/>
                <a:tab pos="4603115" algn="l"/>
                <a:tab pos="4937125" algn="l"/>
                <a:tab pos="6304280" algn="l"/>
                <a:tab pos="7031355" algn="l"/>
                <a:tab pos="7656195" algn="l"/>
                <a:tab pos="9136380" algn="l"/>
                <a:tab pos="10378440" algn="l"/>
                <a:tab pos="11142345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sequence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number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bit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50" b="1">
                <a:latin typeface="Calibri"/>
                <a:cs typeface="Calibri"/>
              </a:rPr>
              <a:t>S</a:t>
            </a:r>
            <a:r>
              <a:rPr dirty="0" sz="2600" b="1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indicates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that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 b="1">
                <a:latin typeface="Calibri"/>
                <a:cs typeface="Calibri"/>
              </a:rPr>
              <a:t>sequence</a:t>
            </a:r>
            <a:r>
              <a:rPr dirty="0" sz="2600" b="1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number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field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 spc="-10">
                <a:latin typeface="Calibri"/>
                <a:cs typeface="Calibri"/>
              </a:rPr>
              <a:t>present.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7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numbers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decapsulator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restore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order.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7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8500" marR="9525" indent="-228600">
              <a:lnSpc>
                <a:spcPts val="281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decapsulator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tunnel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exit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restore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maintain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characteristic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protocol.</a:t>
            </a:r>
            <a:endParaRPr sz="26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s</a:t>
            </a:r>
            <a:r>
              <a:rPr dirty="0" sz="2600" spc="-1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strict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source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routing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used.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3001" y="355358"/>
            <a:ext cx="6701970" cy="133445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76478" y="349758"/>
            <a:ext cx="11299825" cy="6170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Generic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routing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encapsulation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800">
              <a:latin typeface="Calibri"/>
              <a:cs typeface="Calibri"/>
            </a:endParaRPr>
          </a:p>
          <a:p>
            <a:pPr algn="just" marL="265430" marR="5080" indent="-228600">
              <a:lnSpc>
                <a:spcPts val="3240"/>
              </a:lnSpc>
              <a:buFont typeface="Arial MT"/>
              <a:buChar char="•"/>
              <a:tabLst>
                <a:tab pos="265430" algn="l"/>
              </a:tabLst>
            </a:pP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18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recursion</a:t>
            </a:r>
            <a:r>
              <a:rPr dirty="0" sz="3000" spc="19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control</a:t>
            </a:r>
            <a:r>
              <a:rPr dirty="0" sz="3000" spc="18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field</a:t>
            </a:r>
            <a:r>
              <a:rPr dirty="0" sz="3000" spc="1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(rec.)</a:t>
            </a:r>
            <a:r>
              <a:rPr dirty="0" sz="3000" spc="1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represents</a:t>
            </a:r>
            <a:r>
              <a:rPr dirty="0" sz="3000" spc="20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1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counter</a:t>
            </a:r>
            <a:r>
              <a:rPr dirty="0" sz="3000" spc="1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1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shows</a:t>
            </a:r>
            <a:r>
              <a:rPr dirty="0" sz="3000" spc="19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number</a:t>
            </a:r>
            <a:r>
              <a:rPr dirty="0" sz="3000" spc="7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8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allowed</a:t>
            </a:r>
            <a:r>
              <a:rPr dirty="0" sz="3000" spc="8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recursive</a:t>
            </a:r>
            <a:r>
              <a:rPr dirty="0" sz="3000" spc="7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encapsulations.</a:t>
            </a:r>
            <a:r>
              <a:rPr dirty="0" sz="3000" spc="8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As</a:t>
            </a:r>
            <a:r>
              <a:rPr dirty="0" sz="3000" spc="8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soon</a:t>
            </a:r>
            <a:r>
              <a:rPr dirty="0" sz="3000" spc="8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as</a:t>
            </a:r>
            <a:r>
              <a:rPr dirty="0" sz="3000" spc="8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75">
                <a:latin typeface="Calibri"/>
                <a:cs typeface="Calibri"/>
              </a:rPr>
              <a:t>  </a:t>
            </a:r>
            <a:r>
              <a:rPr dirty="0" sz="3000" spc="-10">
                <a:latin typeface="Calibri"/>
                <a:cs typeface="Calibri"/>
              </a:rPr>
              <a:t>packet </a:t>
            </a:r>
            <a:r>
              <a:rPr dirty="0" sz="3000">
                <a:latin typeface="Calibri"/>
                <a:cs typeface="Calibri"/>
              </a:rPr>
              <a:t>arrives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at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encapsulator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it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checks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whether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field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equals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zero.</a:t>
            </a:r>
            <a:endParaRPr sz="3000">
              <a:latin typeface="Calibri"/>
              <a:cs typeface="Calibri"/>
            </a:endParaRPr>
          </a:p>
          <a:p>
            <a:pPr algn="just" marL="265430" marR="6350" indent="-228600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3000">
                <a:latin typeface="Calibri"/>
                <a:cs typeface="Calibri"/>
              </a:rPr>
              <a:t>If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field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not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zero,</a:t>
            </a:r>
            <a:r>
              <a:rPr dirty="0" sz="3000" spc="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additional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encapsulation</a:t>
            </a:r>
            <a:r>
              <a:rPr dirty="0" sz="3000" spc="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allowed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–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packet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4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encapsulated</a:t>
            </a:r>
            <a:r>
              <a:rPr dirty="0" sz="3000" spc="4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4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7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field</a:t>
            </a:r>
            <a:r>
              <a:rPr dirty="0" sz="3000" spc="3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decremented</a:t>
            </a:r>
            <a:r>
              <a:rPr dirty="0" sz="3000" spc="7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by</a:t>
            </a:r>
            <a:r>
              <a:rPr dirty="0" sz="3000" spc="3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one.</a:t>
            </a:r>
            <a:r>
              <a:rPr dirty="0" sz="3000" spc="40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Otherwise</a:t>
            </a:r>
            <a:r>
              <a:rPr dirty="0" sz="3000" spc="74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packet</a:t>
            </a:r>
            <a:r>
              <a:rPr dirty="0" sz="3000" spc="-1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will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most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likely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discarded.</a:t>
            </a:r>
            <a:endParaRPr sz="3000">
              <a:latin typeface="Calibri"/>
              <a:cs typeface="Calibri"/>
            </a:endParaRPr>
          </a:p>
          <a:p>
            <a:pPr algn="just" marL="265430" marR="7620" indent="-228600">
              <a:lnSpc>
                <a:spcPts val="3240"/>
              </a:lnSpc>
              <a:spcBef>
                <a:spcPts val="49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12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mechanism</a:t>
            </a:r>
            <a:r>
              <a:rPr dirty="0" sz="3000" spc="13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prevents</a:t>
            </a:r>
            <a:r>
              <a:rPr dirty="0" sz="3000" spc="12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indefinite</a:t>
            </a:r>
            <a:r>
              <a:rPr dirty="0" sz="3000" spc="13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recursive</a:t>
            </a:r>
            <a:r>
              <a:rPr dirty="0" sz="3000" spc="125">
                <a:latin typeface="Calibri"/>
                <a:cs typeface="Calibri"/>
              </a:rPr>
              <a:t>  </a:t>
            </a:r>
            <a:r>
              <a:rPr dirty="0" sz="3000">
                <a:latin typeface="Calibri"/>
                <a:cs typeface="Calibri"/>
              </a:rPr>
              <a:t>encapsulation</a:t>
            </a:r>
            <a:r>
              <a:rPr dirty="0" sz="3000" spc="130">
                <a:latin typeface="Calibri"/>
                <a:cs typeface="Calibri"/>
              </a:rPr>
              <a:t>  </a:t>
            </a:r>
            <a:r>
              <a:rPr dirty="0" sz="3000" spc="-10">
                <a:latin typeface="Calibri"/>
                <a:cs typeface="Calibri"/>
              </a:rPr>
              <a:t>which </a:t>
            </a:r>
            <a:r>
              <a:rPr dirty="0" sz="3000">
                <a:latin typeface="Calibri"/>
                <a:cs typeface="Calibri"/>
              </a:rPr>
              <a:t>might</a:t>
            </a:r>
            <a:r>
              <a:rPr dirty="0" sz="3000" spc="1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happen</a:t>
            </a:r>
            <a:r>
              <a:rPr dirty="0" sz="3000" spc="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other</a:t>
            </a:r>
            <a:r>
              <a:rPr dirty="0" sz="3000" spc="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schemes</a:t>
            </a:r>
            <a:r>
              <a:rPr dirty="0" sz="3000" spc="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if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tunnels</a:t>
            </a:r>
            <a:r>
              <a:rPr dirty="0" sz="3000" spc="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are</a:t>
            </a:r>
            <a:r>
              <a:rPr dirty="0" sz="3000" spc="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set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up</a:t>
            </a:r>
            <a:r>
              <a:rPr dirty="0" sz="3000" spc="10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improperly </a:t>
            </a:r>
            <a:r>
              <a:rPr dirty="0" sz="3000">
                <a:latin typeface="Calibri"/>
                <a:cs typeface="Calibri"/>
              </a:rPr>
              <a:t>(e.g.,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several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tunnels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forming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loop).</a:t>
            </a:r>
            <a:endParaRPr sz="3000">
              <a:latin typeface="Calibri"/>
              <a:cs typeface="Calibri"/>
            </a:endParaRPr>
          </a:p>
          <a:p>
            <a:pPr algn="just" marL="265430" marR="7620" indent="-228600">
              <a:lnSpc>
                <a:spcPts val="3240"/>
              </a:lnSpc>
              <a:spcBef>
                <a:spcPts val="50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default</a:t>
            </a:r>
            <a:r>
              <a:rPr dirty="0" sz="3000" spc="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value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field</a:t>
            </a:r>
            <a:r>
              <a:rPr dirty="0" sz="3000" spc="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should</a:t>
            </a:r>
            <a:r>
              <a:rPr dirty="0" sz="3000" spc="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</a:t>
            </a:r>
            <a:r>
              <a:rPr dirty="0" sz="3000" spc="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0,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thus</a:t>
            </a:r>
            <a:r>
              <a:rPr dirty="0" sz="3000" spc="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allowing</a:t>
            </a:r>
            <a:r>
              <a:rPr dirty="0" sz="3000" spc="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only</a:t>
            </a:r>
            <a:r>
              <a:rPr dirty="0" sz="3000" spc="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one</a:t>
            </a:r>
            <a:r>
              <a:rPr dirty="0" sz="3000" spc="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level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encapsulation.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9006" y="152526"/>
            <a:ext cx="11692255" cy="6085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900" b="1">
                <a:latin typeface="Calibri"/>
                <a:cs typeface="Calibri"/>
              </a:rPr>
              <a:t>Generic</a:t>
            </a:r>
            <a:r>
              <a:rPr dirty="0" sz="2900" spc="-75" b="1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routing</a:t>
            </a:r>
            <a:r>
              <a:rPr dirty="0" sz="2900" spc="-80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encapsulation</a:t>
            </a:r>
            <a:endParaRPr sz="2900">
              <a:latin typeface="Calibri"/>
              <a:cs typeface="Calibri"/>
            </a:endParaRPr>
          </a:p>
          <a:p>
            <a:pPr lvl="1" marL="697230" marR="6350" indent="-227329">
              <a:lnSpc>
                <a:spcPts val="313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following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reserved</a:t>
            </a:r>
            <a:r>
              <a:rPr dirty="0" sz="2900" spc="35" b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fields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must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be</a:t>
            </a:r>
            <a:r>
              <a:rPr dirty="0" sz="2900" spc="1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zero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and</a:t>
            </a:r>
            <a:r>
              <a:rPr dirty="0" sz="2900" spc="2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are</a:t>
            </a:r>
            <a:r>
              <a:rPr dirty="0" sz="2900" spc="2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ignored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on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reception. </a:t>
            </a:r>
            <a:r>
              <a:rPr dirty="0" sz="2900" spc="-10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version</a:t>
            </a:r>
            <a:r>
              <a:rPr dirty="0" sz="2900" spc="-80" b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contains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0</a:t>
            </a:r>
            <a:r>
              <a:rPr dirty="0" sz="2900" spc="-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for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GRE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version.</a:t>
            </a:r>
            <a:endParaRPr sz="2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95"/>
              </a:spcBef>
              <a:buFont typeface="Arial MT"/>
              <a:buChar char="•"/>
            </a:pPr>
            <a:endParaRPr sz="2900">
              <a:latin typeface="Calibri"/>
              <a:cs typeface="Calibri"/>
            </a:endParaRPr>
          </a:p>
          <a:p>
            <a:pPr lvl="1" marL="697230" marR="5080" indent="-227329">
              <a:lnSpc>
                <a:spcPts val="313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following</a:t>
            </a:r>
            <a:r>
              <a:rPr dirty="0" sz="2900" spc="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2</a:t>
            </a:r>
            <a:r>
              <a:rPr dirty="0" sz="2900" spc="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byte</a:t>
            </a:r>
            <a:r>
              <a:rPr dirty="0" sz="2900" spc="75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protocol</a:t>
            </a:r>
            <a:r>
              <a:rPr dirty="0" sz="2900" spc="90" b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represents</a:t>
            </a:r>
            <a:r>
              <a:rPr dirty="0" sz="2900" spc="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protocol</a:t>
            </a:r>
            <a:r>
              <a:rPr dirty="0" sz="2900" spc="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6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packet </a:t>
            </a:r>
            <a:r>
              <a:rPr dirty="0" sz="2900" spc="-10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following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GRE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header.</a:t>
            </a:r>
            <a:endParaRPr sz="2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2900">
              <a:latin typeface="Calibri"/>
              <a:cs typeface="Calibri"/>
            </a:endParaRPr>
          </a:p>
          <a:p>
            <a:pPr algn="just" lvl="1" marL="697230" marR="5080" indent="-227329">
              <a:lnSpc>
                <a:spcPct val="9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900">
                <a:latin typeface="Calibri"/>
                <a:cs typeface="Calibri"/>
              </a:rPr>
              <a:t>In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case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mobile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IP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tunnel,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protocol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contains</a:t>
            </a:r>
            <a:r>
              <a:rPr dirty="0" sz="2900" spc="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0×800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for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IP. </a:t>
            </a:r>
            <a:r>
              <a:rPr dirty="0" sz="2900" spc="-25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6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standard</a:t>
            </a:r>
            <a:r>
              <a:rPr dirty="0" sz="2900" spc="7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header</a:t>
            </a:r>
            <a:r>
              <a:rPr dirty="0" sz="2900" spc="6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7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7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original</a:t>
            </a:r>
            <a:r>
              <a:rPr dirty="0" sz="2900" spc="7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packet</a:t>
            </a:r>
            <a:r>
              <a:rPr dirty="0" sz="2900" spc="6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follows</a:t>
            </a:r>
            <a:r>
              <a:rPr dirty="0" sz="2900" spc="7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with</a:t>
            </a:r>
            <a:r>
              <a:rPr dirty="0" sz="2900" spc="7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65">
                <a:latin typeface="Calibri"/>
                <a:cs typeface="Calibri"/>
              </a:rPr>
              <a:t>  </a:t>
            </a:r>
            <a:r>
              <a:rPr dirty="0" sz="2900" spc="-10">
                <a:latin typeface="Calibri"/>
                <a:cs typeface="Calibri"/>
              </a:rPr>
              <a:t>source </a:t>
            </a:r>
            <a:r>
              <a:rPr dirty="0" sz="2900" spc="-10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address</a:t>
            </a:r>
            <a:r>
              <a:rPr dirty="0" sz="2900" spc="32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3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correspondent</a:t>
            </a:r>
            <a:r>
              <a:rPr dirty="0" sz="2900" spc="3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node</a:t>
            </a:r>
            <a:r>
              <a:rPr dirty="0" sz="2900" spc="32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and</a:t>
            </a:r>
            <a:r>
              <a:rPr dirty="0" sz="2900" spc="3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2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destination</a:t>
            </a:r>
            <a:r>
              <a:rPr dirty="0" sz="2900" spc="3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address</a:t>
            </a:r>
            <a:r>
              <a:rPr dirty="0" sz="2900" spc="3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330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the </a:t>
            </a:r>
            <a:r>
              <a:rPr dirty="0" sz="2900" spc="-25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mobile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node.</a:t>
            </a:r>
            <a:endParaRPr sz="2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35"/>
              </a:spcBef>
              <a:buFont typeface="Arial MT"/>
              <a:buChar char="•"/>
            </a:pPr>
            <a:endParaRPr sz="2900">
              <a:latin typeface="Calibri"/>
              <a:cs typeface="Calibri"/>
            </a:endParaRPr>
          </a:p>
          <a:p>
            <a:pPr lvl="1" marL="697230" marR="6985" indent="-227329">
              <a:lnSpc>
                <a:spcPts val="3130"/>
              </a:lnSpc>
              <a:spcBef>
                <a:spcPts val="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C</a:t>
            </a:r>
            <a:r>
              <a:rPr dirty="0" sz="2900" spc="-45" b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indicates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again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if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checksum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is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present.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next</a:t>
            </a:r>
            <a:r>
              <a:rPr dirty="0" sz="2900" spc="-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5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bits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are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set </a:t>
            </a:r>
            <a:r>
              <a:rPr dirty="0" sz="2900" spc="-25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to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zero,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then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7</a:t>
            </a:r>
            <a:r>
              <a:rPr dirty="0" sz="2900" spc="-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reserved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bits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follow.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9442" y="152526"/>
            <a:ext cx="10890250" cy="2609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900" b="1">
                <a:latin typeface="Calibri"/>
                <a:cs typeface="Calibri"/>
              </a:rPr>
              <a:t>Generic</a:t>
            </a:r>
            <a:r>
              <a:rPr dirty="0" sz="2900" spc="-70" b="1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routing</a:t>
            </a:r>
            <a:r>
              <a:rPr dirty="0" sz="2900" spc="-50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encapsulation</a:t>
            </a:r>
            <a:endParaRPr sz="2900">
              <a:latin typeface="Calibri"/>
              <a:cs typeface="Calibri"/>
            </a:endParaRPr>
          </a:p>
          <a:p>
            <a:pPr algn="just" lvl="1" marL="697230" indent="-227329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version</a:t>
            </a:r>
            <a:r>
              <a:rPr dirty="0" sz="2900" spc="-80" b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contains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value</a:t>
            </a:r>
            <a:r>
              <a:rPr dirty="0" sz="2900" spc="-6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zero.</a:t>
            </a:r>
            <a:endParaRPr sz="2900">
              <a:latin typeface="Calibri"/>
              <a:cs typeface="Calibri"/>
            </a:endParaRPr>
          </a:p>
          <a:p>
            <a:pPr algn="just" lvl="1" marL="696595" marR="5080" indent="-227329">
              <a:lnSpc>
                <a:spcPts val="313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 b="1">
                <a:latin typeface="Calibri"/>
                <a:cs typeface="Calibri"/>
              </a:rPr>
              <a:t>protocol</a:t>
            </a:r>
            <a:r>
              <a:rPr dirty="0" sz="2900" spc="45" b="1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type,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again,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defines</a:t>
            </a:r>
            <a:r>
              <a:rPr dirty="0" sz="2900" spc="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protocol</a:t>
            </a:r>
            <a:r>
              <a:rPr dirty="0" sz="2900" spc="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of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payload.</a:t>
            </a:r>
            <a:r>
              <a:rPr dirty="0" sz="2900" spc="6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If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the </a:t>
            </a:r>
            <a:r>
              <a:rPr dirty="0" sz="2900" spc="-25">
                <a:latin typeface="Calibri"/>
                <a:cs typeface="Calibri"/>
              </a:rPr>
              <a:t>	</a:t>
            </a:r>
            <a:r>
              <a:rPr dirty="0" sz="2900">
                <a:latin typeface="Calibri"/>
                <a:cs typeface="Calibri"/>
              </a:rPr>
              <a:t>flag</a:t>
            </a:r>
            <a:r>
              <a:rPr dirty="0" sz="2900" spc="6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C</a:t>
            </a:r>
            <a:r>
              <a:rPr dirty="0" sz="2900" spc="5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is</a:t>
            </a:r>
            <a:r>
              <a:rPr dirty="0" sz="2900" spc="6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set,</a:t>
            </a:r>
            <a:r>
              <a:rPr dirty="0" sz="2900" spc="7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then</a:t>
            </a:r>
            <a:r>
              <a:rPr dirty="0" sz="2900" spc="60">
                <a:latin typeface="Calibri"/>
                <a:cs typeface="Calibri"/>
              </a:rPr>
              <a:t>  </a:t>
            </a:r>
            <a:r>
              <a:rPr dirty="0" sz="2900" b="1">
                <a:latin typeface="Calibri"/>
                <a:cs typeface="Calibri"/>
              </a:rPr>
              <a:t>checksum</a:t>
            </a:r>
            <a:r>
              <a:rPr dirty="0" sz="2900" spc="65" b="1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6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and</a:t>
            </a:r>
            <a:r>
              <a:rPr dirty="0" sz="2900" spc="7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60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field</a:t>
            </a:r>
            <a:r>
              <a:rPr dirty="0" sz="2900" spc="65">
                <a:latin typeface="Calibri"/>
                <a:cs typeface="Calibri"/>
              </a:rPr>
              <a:t>  </a:t>
            </a:r>
            <a:r>
              <a:rPr dirty="0" sz="2900">
                <a:latin typeface="Calibri"/>
                <a:cs typeface="Calibri"/>
              </a:rPr>
              <a:t>called</a:t>
            </a:r>
            <a:r>
              <a:rPr dirty="0" sz="2900" spc="55">
                <a:latin typeface="Calibri"/>
                <a:cs typeface="Calibri"/>
              </a:rPr>
              <a:t>  </a:t>
            </a:r>
            <a:r>
              <a:rPr dirty="0" sz="2900" spc="-10">
                <a:latin typeface="Calibri"/>
                <a:cs typeface="Calibri"/>
              </a:rPr>
              <a:t>reserved1 	follows.</a:t>
            </a:r>
            <a:endParaRPr sz="2900">
              <a:latin typeface="Calibri"/>
              <a:cs typeface="Calibri"/>
            </a:endParaRPr>
          </a:p>
          <a:p>
            <a:pPr algn="just" lvl="2" marL="1155700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latter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field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constant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zero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zero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follow.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976" y="-20370"/>
            <a:ext cx="26022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/>
              <a:t>Optimization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731900"/>
            <a:ext cx="11174095" cy="53130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240029" marR="9525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Inefficient</a:t>
            </a:r>
            <a:r>
              <a:rPr dirty="0" sz="2800" spc="1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behavior</a:t>
            </a:r>
            <a:r>
              <a:rPr dirty="0" sz="2800" spc="1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non-</a:t>
            </a:r>
            <a:r>
              <a:rPr dirty="0" sz="2800">
                <a:latin typeface="Calibri"/>
                <a:cs typeface="Calibri"/>
              </a:rPr>
              <a:t>optimized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1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IP</a:t>
            </a:r>
            <a:r>
              <a:rPr dirty="0" sz="2800" spc="1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140">
                <a:latin typeface="Calibri"/>
                <a:cs typeface="Calibri"/>
              </a:rPr>
              <a:t>  </a:t>
            </a:r>
            <a:r>
              <a:rPr dirty="0" sz="2800" spc="-10" b="1">
                <a:latin typeface="Calibri"/>
                <a:cs typeface="Calibri"/>
              </a:rPr>
              <a:t>triangular 	routing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algn="just" marL="240029" marR="6985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triangle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made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three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segments,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HA,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COA/MN,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back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CN.</a:t>
            </a:r>
            <a:endParaRPr sz="2800">
              <a:latin typeface="Calibri"/>
              <a:cs typeface="Calibri"/>
            </a:endParaRPr>
          </a:p>
          <a:p>
            <a:pPr algn="just" marL="240029" marR="508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cause</a:t>
            </a:r>
            <a:r>
              <a:rPr dirty="0" sz="2800" spc="3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unnecessary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overheads</a:t>
            </a:r>
            <a:r>
              <a:rPr dirty="0" sz="2800" spc="4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HA,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COA,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depending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location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MN.</a:t>
            </a:r>
            <a:endParaRPr sz="2800">
              <a:latin typeface="Calibri"/>
              <a:cs typeface="Calibri"/>
            </a:endParaRPr>
          </a:p>
          <a:p>
            <a:pPr algn="just" marL="240029" marR="4508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optimize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route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inform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MN.</a:t>
            </a:r>
            <a:endParaRPr sz="2800">
              <a:latin typeface="Calibri"/>
              <a:cs typeface="Calibri"/>
            </a:endParaRPr>
          </a:p>
          <a:p>
            <a:pPr marL="240029" marR="59817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learn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caching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binding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cache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0">
                <a:latin typeface="Calibri"/>
                <a:cs typeface="Calibri"/>
              </a:rPr>
              <a:t> 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part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routing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CN.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appropriate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entity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inform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location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HA.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4903" y="467607"/>
            <a:ext cx="10082530" cy="225742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900">
                <a:latin typeface="Calibri"/>
                <a:cs typeface="Calibri"/>
              </a:rPr>
              <a:t>The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optimized</a:t>
            </a:r>
            <a:r>
              <a:rPr dirty="0" sz="2900" spc="-7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mobile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IP</a:t>
            </a:r>
            <a:r>
              <a:rPr dirty="0" sz="2900" spc="-5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protocol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needs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four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additional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messages.</a:t>
            </a:r>
            <a:endParaRPr sz="2900">
              <a:latin typeface="Calibri"/>
              <a:cs typeface="Calibri"/>
            </a:endParaRPr>
          </a:p>
          <a:p>
            <a:pPr lvl="1" marL="751205" indent="-281305">
              <a:lnSpc>
                <a:spcPct val="100000"/>
              </a:lnSpc>
              <a:spcBef>
                <a:spcPts val="455"/>
              </a:spcBef>
              <a:buChar char="●"/>
              <a:tabLst>
                <a:tab pos="751205" algn="l"/>
              </a:tabLst>
            </a:pP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request</a:t>
            </a:r>
            <a:endParaRPr sz="2600">
              <a:latin typeface="Calibri"/>
              <a:cs typeface="Calibri"/>
            </a:endParaRPr>
          </a:p>
          <a:p>
            <a:pPr lvl="1" marL="743585" indent="-273685">
              <a:lnSpc>
                <a:spcPct val="100000"/>
              </a:lnSpc>
              <a:spcBef>
                <a:spcPts val="265"/>
              </a:spcBef>
              <a:buChar char="●"/>
              <a:tabLst>
                <a:tab pos="743585" algn="l"/>
              </a:tabLst>
            </a:pP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update:</a:t>
            </a:r>
            <a:endParaRPr sz="2600">
              <a:latin typeface="Calibri"/>
              <a:cs typeface="Calibri"/>
            </a:endParaRPr>
          </a:p>
          <a:p>
            <a:pPr lvl="1" marL="743585" indent="-273685">
              <a:lnSpc>
                <a:spcPct val="100000"/>
              </a:lnSpc>
              <a:spcBef>
                <a:spcPts val="190"/>
              </a:spcBef>
              <a:buChar char="●"/>
              <a:tabLst>
                <a:tab pos="743585" algn="l"/>
              </a:tabLst>
            </a:pP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acknowledgement</a:t>
            </a:r>
            <a:endParaRPr sz="2600">
              <a:latin typeface="Calibri"/>
              <a:cs typeface="Calibri"/>
            </a:endParaRPr>
          </a:p>
          <a:p>
            <a:pPr lvl="1" marL="743585" indent="-273685">
              <a:lnSpc>
                <a:spcPct val="100000"/>
              </a:lnSpc>
              <a:spcBef>
                <a:spcPts val="195"/>
              </a:spcBef>
              <a:buChar char="●"/>
              <a:tabLst>
                <a:tab pos="743585" algn="l"/>
              </a:tabLst>
            </a:pP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warning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4333" y="855258"/>
            <a:ext cx="10044430" cy="277876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360"/>
              </a:spcBef>
              <a:buFont typeface="Calibri"/>
              <a:buChar char="●"/>
              <a:tabLst>
                <a:tab pos="316230" algn="l"/>
              </a:tabLst>
            </a:pPr>
            <a:r>
              <a:rPr dirty="0" sz="2900" b="1">
                <a:latin typeface="Calibri"/>
                <a:cs typeface="Calibri"/>
              </a:rPr>
              <a:t>Binding</a:t>
            </a:r>
            <a:r>
              <a:rPr dirty="0" sz="2900" spc="-70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request</a:t>
            </a:r>
            <a:endParaRPr sz="2900">
              <a:latin typeface="Calibri"/>
              <a:cs typeface="Calibri"/>
            </a:endParaRPr>
          </a:p>
          <a:p>
            <a:pPr lvl="1" marL="698500" marR="5080" indent="-228600">
              <a:lnSpc>
                <a:spcPts val="270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Any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node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that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wants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know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current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location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an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MN</a:t>
            </a:r>
            <a:r>
              <a:rPr dirty="0" sz="2500" spc="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send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 spc="-50">
                <a:latin typeface="Calibri"/>
                <a:cs typeface="Calibri"/>
              </a:rPr>
              <a:t>a </a:t>
            </a:r>
            <a:r>
              <a:rPr dirty="0" sz="2500">
                <a:latin typeface="Calibri"/>
                <a:cs typeface="Calibri"/>
              </a:rPr>
              <a:t>binding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request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HA.</a:t>
            </a:r>
            <a:endParaRPr sz="2500">
              <a:latin typeface="Calibri"/>
              <a:cs typeface="Calibri"/>
            </a:endParaRPr>
          </a:p>
          <a:p>
            <a:pPr lvl="1" marL="698500" marR="5715" indent="-228600">
              <a:lnSpc>
                <a:spcPts val="270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3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</a:t>
            </a:r>
            <a:r>
              <a:rPr dirty="0" sz="2500" spc="31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3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check</a:t>
            </a:r>
            <a:r>
              <a:rPr dirty="0" sz="2500" spc="3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if</a:t>
            </a:r>
            <a:r>
              <a:rPr dirty="0" sz="2500" spc="3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3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MN</a:t>
            </a:r>
            <a:r>
              <a:rPr dirty="0" sz="2500" spc="3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has</a:t>
            </a:r>
            <a:r>
              <a:rPr dirty="0" sz="2500" spc="3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allowed</a:t>
            </a:r>
            <a:r>
              <a:rPr dirty="0" sz="2500" spc="3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dissemination</a:t>
            </a:r>
            <a:r>
              <a:rPr dirty="0" sz="2500" spc="3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31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its</a:t>
            </a:r>
            <a:r>
              <a:rPr dirty="0" sz="2500" spc="32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current location.</a:t>
            </a:r>
            <a:endParaRPr sz="2500">
              <a:latin typeface="Calibri"/>
              <a:cs typeface="Calibri"/>
            </a:endParaRPr>
          </a:p>
          <a:p>
            <a:pPr lvl="2" marL="1155700" marR="5080" indent="-228600">
              <a:lnSpc>
                <a:spcPts val="2810"/>
              </a:lnSpc>
              <a:spcBef>
                <a:spcPts val="484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allowed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reveal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location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back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binding update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944" y="442000"/>
            <a:ext cx="10892155" cy="334137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360"/>
              </a:spcBef>
              <a:buFont typeface="Calibri"/>
              <a:buChar char="●"/>
              <a:tabLst>
                <a:tab pos="316230" algn="l"/>
              </a:tabLst>
            </a:pPr>
            <a:r>
              <a:rPr dirty="0" sz="2900" b="1">
                <a:latin typeface="Calibri"/>
                <a:cs typeface="Calibri"/>
              </a:rPr>
              <a:t>Binding</a:t>
            </a:r>
            <a:r>
              <a:rPr dirty="0" sz="2900" spc="-65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update</a:t>
            </a:r>
            <a:endParaRPr sz="29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message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sent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by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CNs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reveals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current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location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an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MN.</a:t>
            </a:r>
            <a:endParaRPr sz="25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message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contains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fixed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IP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address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of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MN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and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COA.</a:t>
            </a:r>
            <a:endParaRPr sz="25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binding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update</a:t>
            </a:r>
            <a:r>
              <a:rPr dirty="0" sz="2500" spc="-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request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an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acknowledgement.</a:t>
            </a:r>
            <a:endParaRPr sz="25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Font typeface="Arial MT"/>
              <a:buChar char="•"/>
            </a:pPr>
            <a:endParaRPr sz="2500">
              <a:latin typeface="Calibri"/>
              <a:cs typeface="Calibri"/>
            </a:endParaRPr>
          </a:p>
          <a:p>
            <a:pPr marL="316230" indent="-303530">
              <a:lnSpc>
                <a:spcPct val="100000"/>
              </a:lnSpc>
              <a:buFont typeface="Calibri"/>
              <a:buChar char="●"/>
              <a:tabLst>
                <a:tab pos="316230" algn="l"/>
              </a:tabLst>
            </a:pPr>
            <a:r>
              <a:rPr dirty="0" sz="2900" b="1">
                <a:latin typeface="Calibri"/>
                <a:cs typeface="Calibri"/>
              </a:rPr>
              <a:t>Binding</a:t>
            </a:r>
            <a:r>
              <a:rPr dirty="0" sz="2900" spc="-65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acknowledgement</a:t>
            </a:r>
            <a:endParaRPr sz="2900">
              <a:latin typeface="Calibri"/>
              <a:cs typeface="Calibri"/>
            </a:endParaRPr>
          </a:p>
          <a:p>
            <a:pPr lvl="1" marL="698500" marR="5080" indent="-228600">
              <a:lnSpc>
                <a:spcPts val="270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500">
                <a:latin typeface="Calibri"/>
                <a:cs typeface="Calibri"/>
              </a:rPr>
              <a:t>If</a:t>
            </a:r>
            <a:r>
              <a:rPr dirty="0" sz="2500" spc="2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requested,</a:t>
            </a:r>
            <a:r>
              <a:rPr dirty="0" sz="2500" spc="229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2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node</a:t>
            </a:r>
            <a:r>
              <a:rPr dirty="0" sz="2500" spc="2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returns</a:t>
            </a:r>
            <a:r>
              <a:rPr dirty="0" sz="2500" spc="2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this</a:t>
            </a:r>
            <a:r>
              <a:rPr dirty="0" sz="2500" spc="229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acknowledgement</a:t>
            </a:r>
            <a:r>
              <a:rPr dirty="0" sz="2500" spc="2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after</a:t>
            </a:r>
            <a:r>
              <a:rPr dirty="0" sz="2500" spc="229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receiving</a:t>
            </a:r>
            <a:r>
              <a:rPr dirty="0" sz="2500" spc="229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2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binding </a:t>
            </a:r>
            <a:r>
              <a:rPr dirty="0" sz="2500">
                <a:latin typeface="Calibri"/>
                <a:cs typeface="Calibri"/>
              </a:rPr>
              <a:t>update</a:t>
            </a:r>
            <a:r>
              <a:rPr dirty="0" sz="2500" spc="-114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message.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1252" y="860025"/>
            <a:ext cx="10554970" cy="45097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16230" indent="-303530">
              <a:lnSpc>
                <a:spcPct val="100000"/>
              </a:lnSpc>
              <a:spcBef>
                <a:spcPts val="325"/>
              </a:spcBef>
              <a:buFont typeface="Calibri"/>
              <a:buChar char="●"/>
              <a:tabLst>
                <a:tab pos="316230" algn="l"/>
              </a:tabLst>
            </a:pPr>
            <a:r>
              <a:rPr dirty="0" sz="2900" b="1">
                <a:latin typeface="Calibri"/>
                <a:cs typeface="Calibri"/>
              </a:rPr>
              <a:t>Binding</a:t>
            </a:r>
            <a:r>
              <a:rPr dirty="0" sz="2900" spc="-55" b="1">
                <a:latin typeface="Calibri"/>
                <a:cs typeface="Calibri"/>
              </a:rPr>
              <a:t> </a:t>
            </a:r>
            <a:r>
              <a:rPr dirty="0" sz="2900" spc="-10" b="1">
                <a:latin typeface="Calibri"/>
                <a:cs typeface="Calibri"/>
              </a:rPr>
              <a:t>warning</a:t>
            </a:r>
            <a:endParaRPr sz="2900">
              <a:latin typeface="Calibri"/>
              <a:cs typeface="Calibri"/>
            </a:endParaRPr>
          </a:p>
          <a:p>
            <a:pPr lvl="1" marL="697865" marR="5080" indent="-228600">
              <a:lnSpc>
                <a:spcPts val="2810"/>
              </a:lnSpc>
              <a:spcBef>
                <a:spcPts val="55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600">
                <a:latin typeface="Calibri"/>
                <a:cs typeface="Calibri"/>
              </a:rPr>
              <a:t>If a node decapsulates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 packet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 an MN, but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current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node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warning.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7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warning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contains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MN’s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home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node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address.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8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7865" marR="5080" indent="-228600">
              <a:lnSpc>
                <a:spcPts val="281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recipient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warning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knows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node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benefit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obtaining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fresh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MN.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2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lvl="1" marL="697865" marR="5080" indent="-228600">
              <a:lnSpc>
                <a:spcPts val="281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should now send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update to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node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obviously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has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wrong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COA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MN.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8124" y="170433"/>
            <a:ext cx="75438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69238" y="170433"/>
            <a:ext cx="296735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7060" algn="l"/>
                <a:tab pos="1278890" algn="l"/>
                <a:tab pos="2504440" algn="l"/>
              </a:tabLst>
            </a:pPr>
            <a:r>
              <a:rPr dirty="0" sz="2600" spc="-25">
                <a:latin typeface="Calibri"/>
                <a:cs typeface="Calibri"/>
              </a:rPr>
              <a:t>CN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can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request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6724" y="447801"/>
            <a:ext cx="366839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58875" algn="l"/>
                <a:tab pos="2396490" algn="l"/>
                <a:tab pos="3205480" algn="l"/>
              </a:tabLst>
            </a:pPr>
            <a:r>
              <a:rPr dirty="0" sz="2600" spc="-10">
                <a:latin typeface="Calibri"/>
                <a:cs typeface="Calibri"/>
              </a:rPr>
              <a:t>current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location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from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8124" y="724865"/>
            <a:ext cx="3898900" cy="165925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algn="just" marL="241300" marR="5080">
              <a:lnSpc>
                <a:spcPct val="70000"/>
              </a:lnSpc>
              <a:spcBef>
                <a:spcPts val="1040"/>
              </a:spcBef>
            </a:pPr>
            <a:r>
              <a:rPr dirty="0" sz="2600">
                <a:latin typeface="Calibri"/>
                <a:cs typeface="Calibri"/>
              </a:rPr>
              <a:t>HA.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allowed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MN,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returns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COA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4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4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42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update message.</a:t>
            </a:r>
            <a:endParaRPr sz="2600">
              <a:latin typeface="Calibri"/>
              <a:cs typeface="Calibri"/>
            </a:endParaRPr>
          </a:p>
          <a:p>
            <a:pPr algn="just"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3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acknowledges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28570" y="2238578"/>
            <a:ext cx="220662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87195" algn="l"/>
              </a:tabLst>
            </a:pPr>
            <a:r>
              <a:rPr dirty="0" sz="2600" spc="-10">
                <a:latin typeface="Calibri"/>
                <a:cs typeface="Calibri"/>
              </a:rPr>
              <a:t>message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19426" y="2516505"/>
            <a:ext cx="221551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3630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mobility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6724" y="2238578"/>
            <a:ext cx="1111885" cy="977900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1040"/>
              </a:spcBef>
            </a:pPr>
            <a:r>
              <a:rPr dirty="0" sz="2600" spc="-10">
                <a:latin typeface="Calibri"/>
                <a:cs typeface="Calibri"/>
              </a:rPr>
              <a:t>update stores binding.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2724" y="3197732"/>
            <a:ext cx="3949065" cy="97726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algn="just" marL="266700" marR="30480" indent="-228600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58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its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directly to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current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</a:t>
            </a:r>
            <a:r>
              <a:rPr dirty="0" baseline="-21241" sz="2550" spc="-15">
                <a:latin typeface="Calibri"/>
                <a:cs typeface="Calibri"/>
              </a:rPr>
              <a:t>old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12724" y="4158234"/>
            <a:ext cx="394779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6700" algn="l"/>
                <a:tab pos="1002665" algn="l"/>
                <a:tab pos="2320925" algn="l"/>
              </a:tabLst>
            </a:pPr>
            <a:r>
              <a:rPr dirty="0" sz="2600" spc="-10">
                <a:latin typeface="Calibri"/>
                <a:cs typeface="Calibri"/>
              </a:rPr>
              <a:t>FA</a:t>
            </a:r>
            <a:r>
              <a:rPr dirty="0" baseline="-21241" sz="2550" spc="-15">
                <a:latin typeface="Calibri"/>
                <a:cs typeface="Calibri"/>
              </a:rPr>
              <a:t>old</a:t>
            </a:r>
            <a:r>
              <a:rPr dirty="0" baseline="-21241" sz="255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forwards</a:t>
            </a:r>
            <a:r>
              <a:rPr dirty="0" sz="2600">
                <a:latin typeface="Calibri"/>
                <a:cs typeface="Calibri"/>
              </a:rPr>
              <a:t>	the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66724" y="4435602"/>
            <a:ext cx="3668395" cy="1809750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algn="just" marL="12700" marR="5080">
              <a:lnSpc>
                <a:spcPct val="70000"/>
              </a:lnSpc>
              <a:spcBef>
                <a:spcPts val="1040"/>
              </a:spcBef>
            </a:pP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MN.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scenario </a:t>
            </a:r>
            <a:r>
              <a:rPr dirty="0" sz="2600">
                <a:latin typeface="Calibri"/>
                <a:cs typeface="Calibri"/>
              </a:rPr>
              <a:t>shows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COA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located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 </a:t>
            </a:r>
            <a:r>
              <a:rPr dirty="0" sz="2600">
                <a:latin typeface="Calibri"/>
                <a:cs typeface="Calibri"/>
              </a:rPr>
              <a:t>FA.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Encapsulation</a:t>
            </a:r>
            <a:r>
              <a:rPr dirty="0" sz="2600" spc="6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data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tunneling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COA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done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CN,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not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HA.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2779" y="170291"/>
            <a:ext cx="7701871" cy="565878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524880" y="5926328"/>
            <a:ext cx="60128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Change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optimized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mobile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IP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1108" y="509473"/>
            <a:ext cx="10893425" cy="397065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78130" marR="431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might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its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location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register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2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foreign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agent,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FA</a:t>
            </a:r>
            <a:r>
              <a:rPr dirty="0" baseline="-21021" sz="2775" spc="-15">
                <a:latin typeface="Calibri"/>
                <a:cs typeface="Calibri"/>
              </a:rPr>
              <a:t>new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734695" marR="44450" indent="-227329">
              <a:lnSpc>
                <a:spcPts val="3020"/>
              </a:lnSpc>
              <a:spcBef>
                <a:spcPts val="500"/>
              </a:spcBef>
              <a:buFont typeface="Arial MT"/>
              <a:buChar char="•"/>
              <a:tabLst>
                <a:tab pos="735965" algn="l"/>
                <a:tab pos="1455420" algn="l"/>
                <a:tab pos="3249930" algn="l"/>
                <a:tab pos="3609340" algn="l"/>
                <a:tab pos="4326890" algn="l"/>
                <a:tab pos="5970270" algn="l"/>
                <a:tab pos="6412230" algn="l"/>
                <a:tab pos="7035800" algn="l"/>
                <a:tab pos="7601584" algn="l"/>
                <a:tab pos="8044815" algn="l"/>
                <a:tab pos="9204325" algn="l"/>
                <a:tab pos="9681845" algn="l"/>
              </a:tabLst>
            </a:pPr>
            <a:r>
              <a:rPr dirty="0" sz="2800" spc="-20">
                <a:latin typeface="Calibri"/>
                <a:cs typeface="Calibri"/>
              </a:rPr>
              <a:t>This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registration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also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forwarded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HA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update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its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location 	database.</a:t>
            </a:r>
            <a:endParaRPr sz="2800">
              <a:latin typeface="Calibri"/>
              <a:cs typeface="Calibri"/>
            </a:endParaRPr>
          </a:p>
          <a:p>
            <a:pPr lvl="1" marL="735330" indent="-227329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735330" algn="l"/>
              </a:tabLst>
            </a:pPr>
            <a:r>
              <a:rPr dirty="0" sz="2800">
                <a:latin typeface="Calibri"/>
                <a:cs typeface="Calibri"/>
              </a:rPr>
              <a:t>Furthermore,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baseline="-21021" sz="2775">
                <a:latin typeface="Calibri"/>
                <a:cs typeface="Calibri"/>
              </a:rPr>
              <a:t>new</a:t>
            </a:r>
            <a:r>
              <a:rPr dirty="0" baseline="-21021" sz="2775" spc="17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informs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FA</a:t>
            </a:r>
            <a:r>
              <a:rPr dirty="0" baseline="-21021" sz="2775" spc="-37">
                <a:latin typeface="Calibri"/>
                <a:cs typeface="Calibri"/>
              </a:rPr>
              <a:t>old</a:t>
            </a:r>
            <a:r>
              <a:rPr dirty="0" baseline="-21021" sz="2775" spc="-8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about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MN.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6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78130" indent="-227329">
              <a:lnSpc>
                <a:spcPct val="100000"/>
              </a:lnSpc>
              <a:buFont typeface="Arial MT"/>
              <a:buChar char="•"/>
              <a:tabLst>
                <a:tab pos="278130" algn="l"/>
              </a:tabLst>
            </a:pPr>
            <a:r>
              <a:rPr dirty="0" sz="2800" spc="-20">
                <a:latin typeface="Calibri"/>
                <a:cs typeface="Calibri"/>
              </a:rPr>
              <a:t>MN’s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message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contains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address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baseline="-21021" sz="2775">
                <a:latin typeface="Calibri"/>
                <a:cs typeface="Calibri"/>
              </a:rPr>
              <a:t>old</a:t>
            </a:r>
            <a:r>
              <a:rPr dirty="0" baseline="-21021" sz="2775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purpose.</a:t>
            </a:r>
            <a:endParaRPr sz="2800">
              <a:latin typeface="Calibri"/>
              <a:cs typeface="Calibri"/>
            </a:endParaRPr>
          </a:p>
          <a:p>
            <a:pPr lvl="1" marL="734695" marR="44450" indent="-227329">
              <a:lnSpc>
                <a:spcPts val="3030"/>
              </a:lnSpc>
              <a:spcBef>
                <a:spcPts val="545"/>
              </a:spcBef>
              <a:buFont typeface="Arial MT"/>
              <a:buChar char="•"/>
              <a:tabLst>
                <a:tab pos="735965" algn="l"/>
              </a:tabLst>
            </a:pPr>
            <a:r>
              <a:rPr dirty="0" sz="2800">
                <a:latin typeface="Calibri"/>
                <a:cs typeface="Calibri"/>
              </a:rPr>
              <a:t>Passing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information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achieved</a:t>
            </a:r>
            <a:r>
              <a:rPr dirty="0" sz="2800" spc="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via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1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update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message,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acknowledged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FA</a:t>
            </a:r>
            <a:r>
              <a:rPr dirty="0" baseline="-21021" sz="2775" spc="-15">
                <a:latin typeface="Calibri"/>
                <a:cs typeface="Calibri"/>
              </a:rPr>
              <a:t>old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9359" y="534161"/>
            <a:ext cx="11464925" cy="556387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65430" marR="37465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800">
                <a:latin typeface="Calibri"/>
                <a:cs typeface="Calibri"/>
              </a:rPr>
              <a:t>Without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information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old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would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get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know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anything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about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location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MN.</a:t>
            </a:r>
            <a:endParaRPr sz="2800">
              <a:latin typeface="Calibri"/>
              <a:cs typeface="Calibri"/>
            </a:endParaRPr>
          </a:p>
          <a:p>
            <a:pPr lvl="1" marL="723900" marR="34925" indent="-228600">
              <a:lnSpc>
                <a:spcPts val="2810"/>
              </a:lnSpc>
              <a:spcBef>
                <a:spcPts val="525"/>
              </a:spcBef>
              <a:buFont typeface="Arial MT"/>
              <a:buChar char="•"/>
              <a:tabLst>
                <a:tab pos="723900" algn="l"/>
                <a:tab pos="1121410" algn="l"/>
                <a:tab pos="1750695" algn="l"/>
                <a:tab pos="2561590" algn="l"/>
                <a:tab pos="3091815" algn="l"/>
                <a:tab pos="3870960" algn="l"/>
                <a:tab pos="4469765" algn="l"/>
                <a:tab pos="5344795" algn="l"/>
                <a:tab pos="6650990" algn="l"/>
                <a:tab pos="7582534" algn="l"/>
                <a:tab pos="8170545" algn="l"/>
                <a:tab pos="8884285" algn="l"/>
                <a:tab pos="10184130" algn="l"/>
                <a:tab pos="10627360" algn="l"/>
                <a:tab pos="10955655" algn="l"/>
              </a:tabLst>
            </a:pPr>
            <a:r>
              <a:rPr dirty="0" sz="2600" spc="-25">
                <a:latin typeface="Calibri"/>
                <a:cs typeface="Calibri"/>
              </a:rPr>
              <a:t>In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this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case,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CN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does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not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know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anything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about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new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location,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so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still </a:t>
            </a:r>
            <a:r>
              <a:rPr dirty="0" sz="2600">
                <a:latin typeface="Calibri"/>
                <a:cs typeface="Calibri"/>
              </a:rPr>
              <a:t>tunnels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FAold.</a:t>
            </a:r>
            <a:endParaRPr sz="2600">
              <a:latin typeface="Calibri"/>
              <a:cs typeface="Calibri"/>
            </a:endParaRPr>
          </a:p>
          <a:p>
            <a:pPr lvl="1" marL="723900" marR="32384" indent="-228600">
              <a:lnSpc>
                <a:spcPts val="2810"/>
              </a:lnSpc>
              <a:spcBef>
                <a:spcPts val="484"/>
              </a:spcBef>
              <a:buFont typeface="Arial MT"/>
              <a:buChar char="•"/>
              <a:tabLst>
                <a:tab pos="7239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notices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destination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MN,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knows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not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current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MN.</a:t>
            </a:r>
            <a:endParaRPr sz="2600">
              <a:latin typeface="Calibri"/>
              <a:cs typeface="Calibri"/>
            </a:endParaRPr>
          </a:p>
          <a:p>
            <a:pPr lvl="1" marL="723900" marR="31115" indent="-228600">
              <a:lnSpc>
                <a:spcPts val="2810"/>
              </a:lnSpc>
              <a:spcBef>
                <a:spcPts val="505"/>
              </a:spcBef>
              <a:buFont typeface="Arial MT"/>
              <a:buChar char="•"/>
              <a:tabLst>
                <a:tab pos="723900" algn="l"/>
              </a:tabLst>
            </a:pPr>
            <a:r>
              <a:rPr dirty="0" sz="2600">
                <a:latin typeface="Calibri"/>
                <a:cs typeface="Calibri"/>
              </a:rPr>
              <a:t>FA</a:t>
            </a:r>
            <a:r>
              <a:rPr dirty="0" baseline="-21241" sz="2550">
                <a:latin typeface="Calibri"/>
                <a:cs typeface="Calibri"/>
              </a:rPr>
              <a:t>old</a:t>
            </a:r>
            <a:r>
              <a:rPr dirty="0" baseline="-21241" sz="2550" spc="367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might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forward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COA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</a:t>
            </a:r>
            <a:r>
              <a:rPr dirty="0" baseline="-21241" sz="2550">
                <a:latin typeface="Calibri"/>
                <a:cs typeface="Calibri"/>
              </a:rPr>
              <a:t>new</a:t>
            </a:r>
            <a:r>
              <a:rPr dirty="0" baseline="-21241" sz="2550" spc="359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in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example.</a:t>
            </a:r>
            <a:endParaRPr sz="2600">
              <a:latin typeface="Calibri"/>
              <a:cs typeface="Calibri"/>
            </a:endParaRPr>
          </a:p>
          <a:p>
            <a:pPr lvl="1" marL="723900" marR="30480" indent="-228600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723900" algn="l"/>
                <a:tab pos="1430655" algn="l"/>
                <a:tab pos="3064510" algn="l"/>
                <a:tab pos="3506470" algn="l"/>
                <a:tab pos="4688205" algn="l"/>
                <a:tab pos="5061585" algn="l"/>
                <a:tab pos="6299200" algn="l"/>
                <a:tab pos="8154034" algn="l"/>
                <a:tab pos="8595995" algn="l"/>
                <a:tab pos="9213215" algn="l"/>
                <a:tab pos="10055860" algn="l"/>
                <a:tab pos="11170285" algn="l"/>
              </a:tabLst>
            </a:pPr>
            <a:r>
              <a:rPr dirty="0" sz="2600" spc="-20">
                <a:latin typeface="Calibri"/>
                <a:cs typeface="Calibri"/>
              </a:rPr>
              <a:t>This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forwarding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packets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another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optimization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basic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Mobile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IP </a:t>
            </a:r>
            <a:r>
              <a:rPr dirty="0" sz="2600">
                <a:latin typeface="Calibri"/>
                <a:cs typeface="Calibri"/>
              </a:rPr>
              <a:t>providing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b="1">
                <a:latin typeface="Calibri"/>
                <a:cs typeface="Calibri"/>
              </a:rPr>
              <a:t>mooth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handovers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66700" marR="33020" indent="-228600">
              <a:lnSpc>
                <a:spcPts val="2810"/>
              </a:lnSpc>
              <a:spcBef>
                <a:spcPts val="994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600">
                <a:latin typeface="Calibri"/>
                <a:cs typeface="Calibri"/>
              </a:rPr>
              <a:t>Without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optimization,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transit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would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lost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while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moves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another.</a:t>
            </a:r>
            <a:endParaRPr sz="2600">
              <a:latin typeface="Calibri"/>
              <a:cs typeface="Calibri"/>
            </a:endParaRPr>
          </a:p>
          <a:p>
            <a:pPr lvl="1" marL="723900" marR="34290" indent="-228600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723900" algn="l"/>
              </a:tabLst>
            </a:pP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higher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would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result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severe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performance degradation.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3270" y="281127"/>
            <a:ext cx="11064240" cy="49060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65430" marR="32384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tell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CN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stale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binding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cache,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baseline="-21021" sz="2775">
                <a:latin typeface="Calibri"/>
                <a:cs typeface="Calibri"/>
              </a:rPr>
              <a:t>old</a:t>
            </a:r>
            <a:r>
              <a:rPr dirty="0" baseline="-21021" sz="2775" spc="4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sends,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binding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warning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message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CN.</a:t>
            </a:r>
            <a:endParaRPr sz="2800">
              <a:latin typeface="Calibri"/>
              <a:cs typeface="Calibri"/>
            </a:endParaRPr>
          </a:p>
          <a:p>
            <a:pPr lvl="1" marL="723265" marR="32384" indent="-228600">
              <a:lnSpc>
                <a:spcPts val="2810"/>
              </a:lnSpc>
              <a:spcBef>
                <a:spcPts val="509"/>
              </a:spcBef>
              <a:buFont typeface="Arial MT"/>
              <a:buChar char="•"/>
              <a:tabLst>
                <a:tab pos="723265" algn="l"/>
              </a:tabLst>
            </a:pP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requests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binding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update.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(The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warning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directly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sent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triggering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update).</a:t>
            </a:r>
            <a:endParaRPr sz="2600">
              <a:latin typeface="Calibri"/>
              <a:cs typeface="Calibri"/>
            </a:endParaRPr>
          </a:p>
          <a:p>
            <a:pPr lvl="1" marL="723265" marR="33655" indent="-228600">
              <a:lnSpc>
                <a:spcPts val="2810"/>
              </a:lnSpc>
              <a:spcBef>
                <a:spcPts val="490"/>
              </a:spcBef>
              <a:buFont typeface="Arial MT"/>
              <a:buChar char="•"/>
              <a:tabLst>
                <a:tab pos="72326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sends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update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inform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about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location,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 spc="-10">
                <a:latin typeface="Calibri"/>
                <a:cs typeface="Calibri"/>
              </a:rPr>
              <a:t>acknowledged.</a:t>
            </a:r>
            <a:endParaRPr sz="2600">
              <a:latin typeface="Calibri"/>
              <a:cs typeface="Calibri"/>
            </a:endParaRPr>
          </a:p>
          <a:p>
            <a:pPr marL="265430" marR="32384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66700" algn="l"/>
                <a:tab pos="1066165" algn="l"/>
                <a:tab pos="1616710" algn="l"/>
                <a:tab pos="2254250" algn="l"/>
                <a:tab pos="3075305" algn="l"/>
                <a:tab pos="3547745" algn="l"/>
                <a:tab pos="4770120" algn="l"/>
                <a:tab pos="5974080" algn="l"/>
                <a:tab pos="6410325" algn="l"/>
                <a:tab pos="7370445" algn="l"/>
                <a:tab pos="8268334" algn="l"/>
                <a:tab pos="9611360" algn="l"/>
              </a:tabLst>
            </a:pPr>
            <a:r>
              <a:rPr dirty="0" sz="2800" spc="-25">
                <a:latin typeface="Calibri"/>
                <a:cs typeface="Calibri"/>
              </a:rPr>
              <a:t>Now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CN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can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send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its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packets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directly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FA</a:t>
            </a:r>
            <a:r>
              <a:rPr dirty="0" baseline="-21021" sz="2775" spc="-15">
                <a:latin typeface="Calibri"/>
                <a:cs typeface="Calibri"/>
              </a:rPr>
              <a:t>new</a:t>
            </a:r>
            <a:r>
              <a:rPr dirty="0" sz="2800" spc="-10">
                <a:latin typeface="Calibri"/>
                <a:cs typeface="Calibri"/>
              </a:rPr>
              <a:t>,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again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avoiding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triangular 	routing.</a:t>
            </a:r>
            <a:endParaRPr sz="2800">
              <a:latin typeface="Calibri"/>
              <a:cs typeface="Calibri"/>
            </a:endParaRPr>
          </a:p>
          <a:p>
            <a:pPr lvl="1" marL="723265" marR="30480" indent="-228600">
              <a:lnSpc>
                <a:spcPts val="2810"/>
              </a:lnSpc>
              <a:spcBef>
                <a:spcPts val="509"/>
              </a:spcBef>
              <a:buFont typeface="Arial MT"/>
              <a:buChar char="•"/>
              <a:tabLst>
                <a:tab pos="723265" algn="l"/>
                <a:tab pos="2819400" algn="l"/>
                <a:tab pos="3467100" algn="l"/>
                <a:tab pos="5314315" algn="l"/>
                <a:tab pos="5748655" algn="l"/>
                <a:tab pos="6835775" algn="l"/>
                <a:tab pos="7248525" algn="l"/>
                <a:tab pos="7690484" algn="l"/>
                <a:tab pos="8574405" algn="l"/>
                <a:tab pos="10048875" algn="l"/>
              </a:tabLst>
            </a:pPr>
            <a:r>
              <a:rPr dirty="0" sz="2600" spc="-10">
                <a:latin typeface="Calibri"/>
                <a:cs typeface="Calibri"/>
              </a:rPr>
              <a:t>Unfortunately,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this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optimization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mobile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to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avoid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triangular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routing </a:t>
            </a:r>
            <a:r>
              <a:rPr dirty="0" sz="2600">
                <a:latin typeface="Calibri"/>
                <a:cs typeface="Calibri"/>
              </a:rPr>
              <a:t>causes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several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security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(e.g.,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tunnel</a:t>
            </a:r>
            <a:r>
              <a:rPr dirty="0" sz="26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hijacking</a:t>
            </a:r>
            <a:r>
              <a:rPr dirty="0" sz="2600" spc="-10">
                <a:latin typeface="Calibri"/>
                <a:cs typeface="Calibri"/>
              </a:rPr>
              <a:t>).</a:t>
            </a:r>
            <a:endParaRPr sz="2600">
              <a:latin typeface="Calibri"/>
              <a:cs typeface="Calibri"/>
            </a:endParaRPr>
          </a:p>
          <a:p>
            <a:pPr marL="266700" marR="31750" indent="-228600">
              <a:lnSpc>
                <a:spcPts val="2810"/>
              </a:lnSpc>
              <a:spcBef>
                <a:spcPts val="1010"/>
              </a:spcBef>
              <a:buFont typeface="Arial MT"/>
              <a:buChar char="•"/>
              <a:tabLst>
                <a:tab pos="266700" algn="l"/>
                <a:tab pos="900430" algn="l"/>
                <a:tab pos="1346835" algn="l"/>
                <a:tab pos="2188210" algn="l"/>
                <a:tab pos="2598420" algn="l"/>
                <a:tab pos="3663950" algn="l"/>
                <a:tab pos="5887720" algn="l"/>
                <a:tab pos="7082790" algn="l"/>
                <a:tab pos="7890509" algn="l"/>
                <a:tab pos="8307705" algn="l"/>
                <a:tab pos="9264015" algn="l"/>
                <a:tab pos="10041255" algn="l"/>
              </a:tabLst>
            </a:pPr>
            <a:r>
              <a:rPr dirty="0" sz="2600" spc="-25">
                <a:latin typeface="Calibri"/>
                <a:cs typeface="Calibri"/>
              </a:rPr>
              <a:t>Not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all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users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mobile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communication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systems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want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to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reveal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their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sz="2600" spc="-25">
                <a:solidFill>
                  <a:srgbClr val="FF0000"/>
                </a:solidFill>
                <a:latin typeface="Calibri"/>
                <a:cs typeface="Calibri"/>
              </a:rPr>
              <a:t>current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location</a:t>
            </a:r>
            <a:r>
              <a:rPr dirty="0" sz="26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sense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subnet)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communication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partner.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Judhistir</dc:creator>
  <dc:title>Mobile Network Layer</dc:title>
  <dcterms:created xsi:type="dcterms:W3CDTF">2026-04-16T17:23:57Z</dcterms:created>
  <dcterms:modified xsi:type="dcterms:W3CDTF">2026-04-16T17:23:57Z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2026-04-16T00:00:00Z</vt:filetime>
  </property>
  <property fmtid="{D5CDD505-2E9C-101B-9397-08002B2CF9AE}" pid="5" name="Producer">
    <vt:lpwstr>Microsoft® PowerPoint® 2021</vt:lpwstr>
  </property>
</Properties>
</file>