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72135"/>
            <a:ext cx="26904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52" y="2046858"/>
            <a:ext cx="8646160" cy="4250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6632" y="2481833"/>
            <a:ext cx="510921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Mobile</a:t>
            </a:r>
            <a:r>
              <a:rPr dirty="0" sz="4400" spc="-110"/>
              <a:t> </a:t>
            </a:r>
            <a:r>
              <a:rPr dirty="0" sz="4400" spc="-10"/>
              <a:t>transport</a:t>
            </a:r>
            <a:r>
              <a:rPr dirty="0" sz="4400" spc="-85"/>
              <a:t> </a:t>
            </a:r>
            <a:r>
              <a:rPr dirty="0" sz="4400" spc="-10"/>
              <a:t>layer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812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Snooping</a:t>
            </a:r>
            <a:r>
              <a:rPr dirty="0" sz="2900" spc="-45"/>
              <a:t> </a:t>
            </a:r>
            <a:r>
              <a:rPr dirty="0" sz="2900" spc="-25"/>
              <a:t>TCP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383540" y="772413"/>
            <a:ext cx="8302625" cy="5659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9525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drawbacks of</a:t>
            </a:r>
            <a:r>
              <a:rPr dirty="0" sz="2800" spc="-10">
                <a:latin typeface="Calibri"/>
                <a:cs typeface="Calibri"/>
              </a:rPr>
              <a:t> I-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loses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original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end- 	to-</a:t>
            </a:r>
            <a:r>
              <a:rPr dirty="0" sz="2800">
                <a:latin typeface="Calibri"/>
                <a:cs typeface="Calibri"/>
              </a:rPr>
              <a:t>end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semantic.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8255" indent="-34163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enhancement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works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completely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transparently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leaves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end-</a:t>
            </a:r>
            <a:r>
              <a:rPr dirty="0" sz="2800" spc="-20">
                <a:latin typeface="Calibri"/>
                <a:cs typeface="Calibri"/>
              </a:rPr>
              <a:t>to-</a:t>
            </a:r>
            <a:r>
              <a:rPr dirty="0" sz="2800">
                <a:latin typeface="Calibri"/>
                <a:cs typeface="Calibri"/>
              </a:rPr>
              <a:t>end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intact.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3695" marR="5080" indent="-34099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main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function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enhancement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6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5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buffer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close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perform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fast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local 	retransmission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case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loss.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6350" indent="-34163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good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place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enhancement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could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IP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context.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Snooping</a:t>
            </a:r>
            <a:r>
              <a:rPr dirty="0" sz="2900" spc="-30"/>
              <a:t> </a:t>
            </a:r>
            <a:r>
              <a:rPr dirty="0" sz="2900" spc="-25"/>
              <a:t>TCP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325627" y="3898468"/>
            <a:ext cx="8284845" cy="257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4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foreign</a:t>
            </a:r>
            <a:r>
              <a:rPr dirty="0" sz="2700" spc="4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agent</a:t>
            </a:r>
            <a:r>
              <a:rPr dirty="0" sz="2700" spc="4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buffers</a:t>
            </a:r>
            <a:r>
              <a:rPr dirty="0" sz="2700" spc="4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all</a:t>
            </a:r>
            <a:r>
              <a:rPr dirty="0" sz="2700" spc="48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packets</a:t>
            </a:r>
            <a:r>
              <a:rPr dirty="0" sz="2700" spc="4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with</a:t>
            </a:r>
            <a:r>
              <a:rPr dirty="0" sz="2700" spc="484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destination </a:t>
            </a:r>
            <a:r>
              <a:rPr dirty="0" sz="2700" b="1">
                <a:latin typeface="Calibri"/>
                <a:cs typeface="Calibri"/>
              </a:rPr>
              <a:t>mobile</a:t>
            </a:r>
            <a:r>
              <a:rPr dirty="0" sz="2700" spc="6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host</a:t>
            </a:r>
            <a:r>
              <a:rPr dirty="0" sz="2700" spc="65" b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additionally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‘snoops’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flow</a:t>
            </a:r>
            <a:r>
              <a:rPr dirty="0" sz="2700" spc="6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in </a:t>
            </a:r>
            <a:r>
              <a:rPr dirty="0" sz="2700">
                <a:latin typeface="Calibri"/>
                <a:cs typeface="Calibri"/>
              </a:rPr>
              <a:t>both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directions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recognize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acknowledgements.</a:t>
            </a:r>
            <a:endParaRPr sz="27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8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reason</a:t>
            </a:r>
            <a:r>
              <a:rPr dirty="0" sz="2700" spc="9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for</a:t>
            </a:r>
            <a:r>
              <a:rPr dirty="0" sz="2700" spc="9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buffering</a:t>
            </a:r>
            <a:r>
              <a:rPr dirty="0" sz="2700" spc="9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packets</a:t>
            </a:r>
            <a:r>
              <a:rPr dirty="0" sz="2700" spc="8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toward</a:t>
            </a:r>
            <a:r>
              <a:rPr dirty="0" sz="2700" spc="9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00">
                <a:latin typeface="Calibri"/>
                <a:cs typeface="Calibri"/>
              </a:rPr>
              <a:t>  </a:t>
            </a:r>
            <a:r>
              <a:rPr dirty="0" sz="2700" spc="-10">
                <a:latin typeface="Calibri"/>
                <a:cs typeface="Calibri"/>
              </a:rPr>
              <a:t>mobile </a:t>
            </a:r>
            <a:r>
              <a:rPr dirty="0" sz="2700">
                <a:latin typeface="Calibri"/>
                <a:cs typeface="Calibri"/>
              </a:rPr>
              <a:t>node</a:t>
            </a:r>
            <a:r>
              <a:rPr dirty="0" sz="2700" spc="3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3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3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enable</a:t>
            </a:r>
            <a:r>
              <a:rPr dirty="0" sz="2700" spc="3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3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foreign</a:t>
            </a:r>
            <a:r>
              <a:rPr dirty="0" sz="2700" spc="3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agent</a:t>
            </a:r>
            <a:r>
              <a:rPr dirty="0" sz="2700" spc="3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3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perform</a:t>
            </a:r>
            <a:r>
              <a:rPr dirty="0" sz="2700" spc="3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35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local retransmission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case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loss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wireless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link.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30" y="671178"/>
            <a:ext cx="8243551" cy="30313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Snooping</a:t>
            </a:r>
            <a:r>
              <a:rPr dirty="0" sz="2900" spc="-30"/>
              <a:t> </a:t>
            </a:r>
            <a:r>
              <a:rPr dirty="0" sz="2900" spc="-25"/>
              <a:t>TCP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116230" y="577342"/>
            <a:ext cx="8416925" cy="595757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354330" marR="5715" indent="-34163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buffers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every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until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receives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host.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5715" indent="-341630">
              <a:lnSpc>
                <a:spcPts val="302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receive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within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certain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amount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time,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either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packet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been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lost.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5080" indent="-341630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Alternatively,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could</a:t>
            </a:r>
            <a:r>
              <a:rPr dirty="0" sz="2800" spc="1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receive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duplicate</a:t>
            </a:r>
            <a:r>
              <a:rPr dirty="0" sz="2800" spc="9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ACK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shows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loss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packet.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Now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foreign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retransmits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directly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buffer.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5080" indent="-341630">
              <a:lnSpc>
                <a:spcPts val="302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out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acknowledgements</a:t>
            </a:r>
            <a:r>
              <a:rPr dirty="0" sz="2800" spc="1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much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shorter,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because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reflects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3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delay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3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hop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plus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processing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952" y="-72694"/>
            <a:ext cx="2065655" cy="468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Snooping</a:t>
            </a:r>
            <a:r>
              <a:rPr dirty="0" sz="2900" spc="-30"/>
              <a:t> </a:t>
            </a:r>
            <a:r>
              <a:rPr dirty="0" sz="2900" spc="-25"/>
              <a:t>TCP</a:t>
            </a:r>
            <a:endParaRPr sz="2900"/>
          </a:p>
        </p:txBody>
      </p:sp>
      <p:sp>
        <p:nvSpPr>
          <p:cNvPr id="3" name="object 3" descr=""/>
          <p:cNvSpPr txBox="1"/>
          <p:nvPr/>
        </p:nvSpPr>
        <p:spPr>
          <a:xfrm>
            <a:off x="104952" y="424942"/>
            <a:ext cx="864743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remain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transparent,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must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CN.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2152" y="1278077"/>
            <a:ext cx="71342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9980" algn="l"/>
                <a:tab pos="1734820" algn="l"/>
                <a:tab pos="2513330" algn="l"/>
                <a:tab pos="3474085" algn="l"/>
                <a:tab pos="4229735" algn="l"/>
                <a:tab pos="5835015" algn="l"/>
                <a:tab pos="6821170" algn="l"/>
              </a:tabLst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FA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can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filter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duplicate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ACKs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8664" y="1662811"/>
            <a:ext cx="70802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0745" algn="l"/>
                <a:tab pos="4757420" algn="l"/>
                <a:tab pos="5393055" algn="l"/>
                <a:tab pos="6370320" algn="l"/>
              </a:tabLst>
            </a:pPr>
            <a:r>
              <a:rPr dirty="0" sz="2800" spc="-10">
                <a:latin typeface="Calibri"/>
                <a:cs typeface="Calibri"/>
              </a:rPr>
              <a:t>unnecessary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retransmissions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948676" y="1278077"/>
            <a:ext cx="802640" cy="8362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3195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avoid</a:t>
            </a:r>
            <a:endParaRPr sz="2800">
              <a:latin typeface="Calibri"/>
              <a:cs typeface="Calibri"/>
            </a:endParaRPr>
          </a:p>
          <a:p>
            <a:pPr algn="r" marR="5080">
              <a:lnSpc>
                <a:spcPts val="3195"/>
              </a:lnSpc>
            </a:pPr>
            <a:r>
              <a:rPr dirty="0" sz="2800" spc="-2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4952" y="2046858"/>
            <a:ext cx="8646160" cy="4250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56285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correspondent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host.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800">
              <a:latin typeface="Calibri"/>
              <a:cs typeface="Calibri"/>
            </a:endParaRPr>
          </a:p>
          <a:p>
            <a:pPr algn="just" marL="354330" marR="6350" indent="-341630">
              <a:lnSpc>
                <a:spcPts val="302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now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crashes,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time-</a:t>
            </a:r>
            <a:r>
              <a:rPr dirty="0" sz="2800">
                <a:latin typeface="Calibri"/>
                <a:cs typeface="Calibri"/>
              </a:rPr>
              <a:t>out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correspondent</a:t>
            </a:r>
            <a:r>
              <a:rPr dirty="0" sz="2800" spc="370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370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still</a:t>
            </a:r>
            <a:r>
              <a:rPr dirty="0" sz="2800" spc="3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works</a:t>
            </a:r>
            <a:r>
              <a:rPr dirty="0" sz="2800" spc="3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triggers</a:t>
            </a:r>
            <a:r>
              <a:rPr dirty="0" sz="2800" spc="360">
                <a:latin typeface="Calibri"/>
                <a:cs typeface="Calibri"/>
              </a:rPr>
              <a:t>  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retransmission.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5080" indent="-341630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1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11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1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discard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duplicates</a:t>
            </a:r>
            <a:r>
              <a:rPr dirty="0" sz="2800" spc="11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1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packets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already</a:t>
            </a:r>
            <a:r>
              <a:rPr dirty="0" sz="2800" spc="4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retransmitted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locally</a:t>
            </a:r>
            <a:r>
              <a:rPr dirty="0" sz="2800" spc="4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acknowledged</a:t>
            </a:r>
            <a:r>
              <a:rPr dirty="0" sz="2800" spc="40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4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host.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avoids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unnecessary</a:t>
            </a:r>
            <a:r>
              <a:rPr dirty="0" sz="2800" spc="2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traffic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link.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7340" y="424942"/>
            <a:ext cx="8150859" cy="59575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354330" marR="7620" indent="-34163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While</a:t>
            </a:r>
            <a:r>
              <a:rPr dirty="0" sz="2800" spc="2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transfer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2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with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b="1">
                <a:latin typeface="Calibri"/>
                <a:cs typeface="Calibri"/>
              </a:rPr>
              <a:t>destination</a:t>
            </a:r>
            <a:r>
              <a:rPr dirty="0" sz="2800" spc="64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correspondent</a:t>
            </a:r>
            <a:r>
              <a:rPr dirty="0" sz="2800" spc="6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host,</a:t>
            </a:r>
            <a:r>
              <a:rPr dirty="0" sz="2800" spc="64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6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agent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snoops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stream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detect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gaps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sequence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TCP.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3695" marR="5080" indent="-340995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detects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missing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packet,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returns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negative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acknowledgement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(NACK)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host.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6350" indent="-341630">
              <a:lnSpc>
                <a:spcPts val="302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2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now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retransmit</a:t>
            </a:r>
            <a:r>
              <a:rPr dirty="0" sz="2800" spc="13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25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missing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immediately.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7620" indent="-341630">
              <a:lnSpc>
                <a:spcPts val="302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Reordering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packets</a:t>
            </a:r>
            <a:r>
              <a:rPr dirty="0" sz="2800" spc="5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done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automatically</a:t>
            </a:r>
            <a:r>
              <a:rPr dirty="0" sz="2800" spc="5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correspondent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TCP.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952" y="-72694"/>
            <a:ext cx="2065655" cy="468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Snooping</a:t>
            </a:r>
            <a:r>
              <a:rPr dirty="0" sz="2900" spc="-30"/>
              <a:t> </a:t>
            </a:r>
            <a:r>
              <a:rPr dirty="0" sz="2900" spc="-25"/>
              <a:t>TCP</a:t>
            </a:r>
            <a:endParaRPr sz="2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181419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/>
              <a:t>Advantages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102514" y="581101"/>
            <a:ext cx="8585200" cy="41230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3695" marR="508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end-</a:t>
            </a:r>
            <a:r>
              <a:rPr dirty="0" sz="2800" spc="-10">
                <a:latin typeface="Calibri"/>
                <a:cs typeface="Calibri"/>
              </a:rPr>
              <a:t>to-</a:t>
            </a:r>
            <a:r>
              <a:rPr dirty="0" sz="2800">
                <a:latin typeface="Calibri"/>
                <a:cs typeface="Calibri"/>
              </a:rPr>
              <a:t>end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semantic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preserved.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matter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at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crashes,</a:t>
            </a:r>
            <a:r>
              <a:rPr dirty="0" sz="2800" spc="3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neither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nor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inconsistent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view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0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connection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possible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 spc="-20">
                <a:latin typeface="Calibri"/>
                <a:cs typeface="Calibri"/>
              </a:rPr>
              <a:t>TCP.</a:t>
            </a:r>
            <a:endParaRPr sz="2800">
              <a:latin typeface="Calibri"/>
              <a:cs typeface="Calibri"/>
            </a:endParaRPr>
          </a:p>
          <a:p>
            <a:pPr algn="just" marL="756285" marR="6985" indent="-287020">
              <a:lnSpc>
                <a:spcPct val="100000"/>
              </a:lnSpc>
              <a:spcBef>
                <a:spcPts val="68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approach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automatically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falls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back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standard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TCP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enhancements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stop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working.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2800">
              <a:latin typeface="Calibri"/>
              <a:cs typeface="Calibri"/>
            </a:endParaRPr>
          </a:p>
          <a:p>
            <a:pPr algn="just" marL="353695" marR="8255" indent="-34163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MN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2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need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changed;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most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enhancements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agent.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181419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/>
              <a:t>Advantages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102514" y="494880"/>
            <a:ext cx="8583930" cy="548957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algn="just" marL="354330" indent="-34163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>
                <a:latin typeface="Calibri"/>
                <a:cs typeface="Calibri"/>
              </a:rPr>
              <a:t>Handover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required.</a:t>
            </a:r>
            <a:endParaRPr sz="28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75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transfer</a:t>
            </a:r>
            <a:r>
              <a:rPr dirty="0" sz="2800" spc="2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buffer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takes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place.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All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happens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time-</a:t>
            </a:r>
            <a:r>
              <a:rPr dirty="0" sz="2800">
                <a:latin typeface="Calibri"/>
                <a:cs typeface="Calibri"/>
              </a:rPr>
              <a:t>out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correspondent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host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retransmission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packets,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possibly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already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care-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address.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800">
              <a:latin typeface="Calibri"/>
              <a:cs typeface="Calibri"/>
            </a:endParaRPr>
          </a:p>
          <a:p>
            <a:pPr algn="just" marL="353695" marR="5080" indent="-34163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enhancement.</a:t>
            </a:r>
            <a:r>
              <a:rPr dirty="0" sz="2800" spc="2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then,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approach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automatically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falls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back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problems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I-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TCP,</a:t>
            </a:r>
            <a:r>
              <a:rPr dirty="0" sz="2800" spc="1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since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old</a:t>
            </a:r>
            <a:r>
              <a:rPr dirty="0" sz="2800" spc="1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1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1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already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signaled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correct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receipt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via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ACKs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now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transfer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these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via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16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/>
              <a:t>Disadvantages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102514" y="581101"/>
            <a:ext cx="2482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1929764" algn="l"/>
              </a:tabLst>
            </a:pPr>
            <a:r>
              <a:rPr dirty="0" sz="2800" spc="-10">
                <a:latin typeface="Calibri"/>
                <a:cs typeface="Calibri"/>
              </a:rPr>
              <a:t>Snooping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TCP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86888" y="581101"/>
            <a:ext cx="60509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9640" algn="l"/>
                <a:tab pos="1649095" algn="l"/>
                <a:tab pos="2827655" algn="l"/>
                <a:tab pos="3536315" algn="l"/>
                <a:tab pos="5031740" algn="l"/>
                <a:tab pos="5554345" algn="l"/>
              </a:tabLst>
            </a:pPr>
            <a:r>
              <a:rPr dirty="0" sz="2800" spc="-20">
                <a:latin typeface="Calibri"/>
                <a:cs typeface="Calibri"/>
              </a:rPr>
              <a:t>does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not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isolate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behavior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5719" y="922426"/>
            <a:ext cx="8392795" cy="54889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70"/>
              </a:spcBef>
            </a:pP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well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 spc="-20">
                <a:latin typeface="Calibri"/>
                <a:cs typeface="Calibri"/>
              </a:rPr>
              <a:t>TCP.</a:t>
            </a:r>
            <a:endParaRPr sz="2800">
              <a:latin typeface="Calibri"/>
              <a:cs typeface="Calibri"/>
            </a:endParaRPr>
          </a:p>
          <a:p>
            <a:pPr algn="just" marL="412115" marR="5080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413384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problems</a:t>
            </a:r>
            <a:r>
              <a:rPr dirty="0" sz="2800" spc="3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3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36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37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(interference,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congestion)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now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visible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correspondent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fully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isolated.</a:t>
            </a:r>
            <a:endParaRPr sz="2800">
              <a:latin typeface="Calibri"/>
              <a:cs typeface="Calibri"/>
            </a:endParaRPr>
          </a:p>
          <a:p>
            <a:pPr algn="just" marL="412115" marR="5715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413384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 of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isolation,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snooping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10">
                <a:latin typeface="Calibri"/>
                <a:cs typeface="Calibri"/>
              </a:rPr>
              <a:t> offers,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strongly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depends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link,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time-</a:t>
            </a:r>
            <a:r>
              <a:rPr dirty="0" sz="2800">
                <a:latin typeface="Calibri"/>
                <a:cs typeface="Calibri"/>
              </a:rPr>
              <a:t>out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values,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further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traffic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characteristics.</a:t>
            </a:r>
            <a:endParaRPr sz="2800">
              <a:latin typeface="Calibri"/>
              <a:cs typeface="Calibri"/>
            </a:endParaRPr>
          </a:p>
          <a:p>
            <a:pPr algn="just" marL="412115" marR="5080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413384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problematic</a:t>
            </a:r>
            <a:r>
              <a:rPr dirty="0" sz="2800" spc="5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5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exhibits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very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high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delays</a:t>
            </a:r>
            <a:r>
              <a:rPr dirty="0" sz="2800" spc="40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compared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wired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due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4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error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correction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2.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similar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>
                <a:latin typeface="Calibri"/>
                <a:cs typeface="Calibri"/>
              </a:rPr>
              <a:t>TCP.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case,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timers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3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3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3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almost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equal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approach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almost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ineffective.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224726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/>
              <a:t>Disadvantages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102514" y="424942"/>
            <a:ext cx="8813165" cy="60490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353695" marR="8255" indent="-34163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negative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ACKs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foreign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agent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host</a:t>
            </a:r>
            <a:r>
              <a:rPr dirty="0" sz="2800" spc="30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assumes</a:t>
            </a:r>
            <a:r>
              <a:rPr dirty="0" sz="2800" spc="30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additional</a:t>
            </a:r>
            <a:r>
              <a:rPr dirty="0" sz="2800" spc="2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mechanisms</a:t>
            </a:r>
            <a:r>
              <a:rPr dirty="0" sz="2800" spc="3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30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host.</a:t>
            </a:r>
            <a:endParaRPr sz="2800">
              <a:latin typeface="Calibri"/>
              <a:cs typeface="Calibri"/>
            </a:endParaRPr>
          </a:p>
          <a:p>
            <a:pPr algn="just" lvl="1" marL="755015" marR="6350" indent="-285750">
              <a:lnSpc>
                <a:spcPts val="302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6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approach</a:t>
            </a:r>
            <a:r>
              <a:rPr dirty="0" sz="2800" spc="6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6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6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longer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transparent</a:t>
            </a:r>
            <a:r>
              <a:rPr dirty="0" sz="2800" spc="6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6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arbitrary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hosts.</a:t>
            </a:r>
            <a:endParaRPr sz="2800">
              <a:latin typeface="Calibri"/>
              <a:cs typeface="Calibri"/>
            </a:endParaRPr>
          </a:p>
          <a:p>
            <a:pPr algn="just" marL="353695" marR="6350" indent="-341630">
              <a:lnSpc>
                <a:spcPct val="9000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Snooping</a:t>
            </a:r>
            <a:r>
              <a:rPr dirty="0" sz="2800" spc="6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6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buffering</a:t>
            </a:r>
            <a:r>
              <a:rPr dirty="0" sz="2800" spc="6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6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6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useless</a:t>
            </a:r>
            <a:r>
              <a:rPr dirty="0" sz="2800" spc="6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certain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encryption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schemes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applied</a:t>
            </a:r>
            <a:r>
              <a:rPr dirty="0" sz="2800" spc="2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end-</a:t>
            </a:r>
            <a:r>
              <a:rPr dirty="0" sz="2800" spc="-25">
                <a:latin typeface="Calibri"/>
                <a:cs typeface="Calibri"/>
              </a:rPr>
              <a:t>to-</a:t>
            </a:r>
            <a:r>
              <a:rPr dirty="0" sz="2800">
                <a:latin typeface="Calibri"/>
                <a:cs typeface="Calibri"/>
              </a:rPr>
              <a:t>end</a:t>
            </a:r>
            <a:r>
              <a:rPr dirty="0" sz="2800" spc="2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MN.</a:t>
            </a:r>
            <a:endParaRPr sz="28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90000"/>
              </a:lnSpc>
              <a:spcBef>
                <a:spcPts val="64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encapsulation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security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payload</a:t>
            </a:r>
            <a:r>
              <a:rPr dirty="0" sz="2600" spc="4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4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 </a:t>
            </a:r>
            <a:r>
              <a:rPr dirty="0" sz="2600" spc="-10">
                <a:latin typeface="Calibri"/>
                <a:cs typeface="Calibri"/>
              </a:rPr>
              <a:t>	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encrypted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–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snooping</a:t>
            </a:r>
            <a:r>
              <a:rPr dirty="0" sz="2600" spc="11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1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sequence </a:t>
            </a:r>
            <a:r>
              <a:rPr dirty="0" sz="2600" spc="-10">
                <a:latin typeface="Calibri"/>
                <a:cs typeface="Calibri"/>
              </a:rPr>
              <a:t>	</a:t>
            </a:r>
            <a:r>
              <a:rPr dirty="0" sz="2600">
                <a:latin typeface="Calibri"/>
                <a:cs typeface="Calibri"/>
              </a:rPr>
              <a:t>numbers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longer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work.</a:t>
            </a:r>
            <a:endParaRPr sz="26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ts val="2810"/>
              </a:lnSpc>
              <a:spcBef>
                <a:spcPts val="66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Retransmitting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misinterpreted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as </a:t>
            </a:r>
            <a:r>
              <a:rPr dirty="0" sz="2600" spc="-25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replay.</a:t>
            </a:r>
            <a:endParaRPr sz="26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ts val="2810"/>
              </a:lnSpc>
              <a:spcBef>
                <a:spcPts val="62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encryption</a:t>
            </a:r>
            <a:r>
              <a:rPr dirty="0" sz="2600" spc="50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above</a:t>
            </a:r>
            <a:r>
              <a:rPr dirty="0" sz="2600" spc="5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transport</a:t>
            </a:r>
            <a:r>
              <a:rPr dirty="0" sz="2600" spc="5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5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snooping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used.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" y="-72135"/>
            <a:ext cx="21310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Mobile</a:t>
            </a:r>
            <a:r>
              <a:rPr dirty="0" spc="-25"/>
              <a:t> TCP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10717"/>
            <a:ext cx="8912860" cy="6116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71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Dropping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packets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due</a:t>
            </a:r>
            <a:r>
              <a:rPr dirty="0" sz="2700" spc="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handover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or</a:t>
            </a:r>
            <a:r>
              <a:rPr dirty="0" sz="2700" spc="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higher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bit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error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rates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not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only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phenomenon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wireless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links</a:t>
            </a:r>
            <a:r>
              <a:rPr dirty="0" sz="2700" spc="1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mobility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 spc="-50">
                <a:latin typeface="Calibri"/>
                <a:cs typeface="Calibri"/>
              </a:rPr>
              <a:t>–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occurrence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185"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lengthy</a:t>
            </a:r>
            <a:r>
              <a:rPr dirty="0" sz="2700" spc="1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and/or</a:t>
            </a:r>
            <a:r>
              <a:rPr dirty="0" sz="2700" spc="1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frequent</a:t>
            </a:r>
            <a:r>
              <a:rPr dirty="0" sz="2700" spc="1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disconnections</a:t>
            </a:r>
            <a:r>
              <a:rPr dirty="0" sz="2700" spc="1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is </a:t>
            </a:r>
            <a:r>
              <a:rPr dirty="0" sz="2700">
                <a:latin typeface="Calibri"/>
                <a:cs typeface="Calibri"/>
              </a:rPr>
              <a:t>another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problem.</a:t>
            </a:r>
            <a:endParaRPr sz="2700">
              <a:latin typeface="Calibri"/>
              <a:cs typeface="Calibri"/>
            </a:endParaRPr>
          </a:p>
          <a:p>
            <a:pPr algn="just" marL="354965" indent="-34226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Calibri"/>
                <a:cs typeface="Calibri"/>
              </a:rPr>
              <a:t>Quite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often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mobile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users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cannot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connect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at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all.</a:t>
            </a:r>
            <a:endParaRPr sz="2700">
              <a:latin typeface="Calibri"/>
              <a:cs typeface="Calibri"/>
            </a:endParaRPr>
          </a:p>
          <a:p>
            <a:pPr algn="just" marL="354965" indent="-34226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Calibri"/>
                <a:cs typeface="Calibri"/>
              </a:rPr>
              <a:t>What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happens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standard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case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disconnection?</a:t>
            </a:r>
            <a:endParaRPr sz="27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2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retransmission</a:t>
            </a:r>
            <a:r>
              <a:rPr dirty="0" sz="2700" spc="2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timer</a:t>
            </a:r>
            <a:r>
              <a:rPr dirty="0" sz="2700" spc="2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that</a:t>
            </a:r>
            <a:r>
              <a:rPr dirty="0" sz="2700" spc="2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doubles</a:t>
            </a:r>
            <a:r>
              <a:rPr dirty="0" sz="2700" spc="2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with</a:t>
            </a:r>
            <a:r>
              <a:rPr dirty="0" sz="2700" spc="2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each</a:t>
            </a:r>
            <a:r>
              <a:rPr dirty="0" sz="2700" spc="26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unsuccessful </a:t>
            </a:r>
            <a:r>
              <a:rPr dirty="0" sz="2700">
                <a:latin typeface="Calibri"/>
                <a:cs typeface="Calibri"/>
              </a:rPr>
              <a:t>ReTrans.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attempt,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up</a:t>
            </a:r>
            <a:r>
              <a:rPr dirty="0" sz="2700" spc="1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1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max.</a:t>
            </a:r>
            <a:r>
              <a:rPr dirty="0" sz="2700" spc="1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1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1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minute.</a:t>
            </a:r>
            <a:r>
              <a:rPr dirty="0" sz="2700" spc="1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sender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will </a:t>
            </a:r>
            <a:r>
              <a:rPr dirty="0" sz="2700">
                <a:latin typeface="Calibri"/>
                <a:cs typeface="Calibri"/>
              </a:rPr>
              <a:t>give</a:t>
            </a:r>
            <a:r>
              <a:rPr dirty="0" sz="2700" spc="5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up</a:t>
            </a:r>
            <a:r>
              <a:rPr dirty="0" sz="2700" spc="5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after</a:t>
            </a:r>
            <a:r>
              <a:rPr dirty="0" sz="2700" spc="5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12</a:t>
            </a:r>
            <a:r>
              <a:rPr dirty="0" sz="2700" spc="5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ReTrans.</a:t>
            </a:r>
            <a:r>
              <a:rPr dirty="0" sz="2700" spc="5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What</a:t>
            </a:r>
            <a:r>
              <a:rPr dirty="0" sz="2700" spc="5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happens</a:t>
            </a:r>
            <a:r>
              <a:rPr dirty="0" sz="2700" spc="5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if</a:t>
            </a:r>
            <a:r>
              <a:rPr dirty="0" sz="2700" spc="5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connectivity</a:t>
            </a:r>
            <a:r>
              <a:rPr dirty="0" sz="2700" spc="52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is </a:t>
            </a:r>
            <a:r>
              <a:rPr dirty="0" sz="2700">
                <a:latin typeface="Calibri"/>
                <a:cs typeface="Calibri"/>
              </a:rPr>
              <a:t>back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earlier</a:t>
            </a:r>
            <a:r>
              <a:rPr dirty="0" sz="2700" spc="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than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this?</a:t>
            </a:r>
            <a:r>
              <a:rPr dirty="0" sz="2700" spc="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data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successfully</a:t>
            </a:r>
            <a:r>
              <a:rPr dirty="0" sz="2700" spc="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transmitted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for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period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1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minute!</a:t>
            </a:r>
            <a:endParaRPr sz="27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2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retransmission</a:t>
            </a:r>
            <a:r>
              <a:rPr dirty="0" sz="2700" spc="225"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FF0000"/>
                </a:solidFill>
                <a:latin typeface="Calibri"/>
                <a:cs typeface="Calibri"/>
              </a:rPr>
              <a:t>time-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out</a:t>
            </a:r>
            <a:r>
              <a:rPr dirty="0" sz="2700" spc="2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dirty="0" sz="2700" spc="2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still</a:t>
            </a:r>
            <a:r>
              <a:rPr dirty="0" sz="2700" spc="2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valid</a:t>
            </a:r>
            <a:r>
              <a:rPr dirty="0" sz="2700" spc="229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2700" spc="2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700" spc="2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sender</a:t>
            </a:r>
            <a:r>
              <a:rPr dirty="0" sz="2700" spc="204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FF0000"/>
                </a:solidFill>
                <a:latin typeface="Calibri"/>
                <a:cs typeface="Calibri"/>
              </a:rPr>
              <a:t>has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2700" spc="85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wait</a:t>
            </a:r>
            <a:r>
              <a:rPr dirty="0" sz="2700">
                <a:latin typeface="Calibri"/>
                <a:cs typeface="Calibri"/>
              </a:rPr>
              <a:t>.</a:t>
            </a:r>
            <a:r>
              <a:rPr dirty="0" sz="2700" spc="8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8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sender</a:t>
            </a:r>
            <a:r>
              <a:rPr dirty="0" sz="2700" spc="7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also</a:t>
            </a:r>
            <a:r>
              <a:rPr dirty="0" sz="2700" spc="9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goes</a:t>
            </a:r>
            <a:r>
              <a:rPr dirty="0" sz="2700" spc="8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into</a:t>
            </a:r>
            <a:r>
              <a:rPr dirty="0" sz="2700" spc="85">
                <a:latin typeface="Calibri"/>
                <a:cs typeface="Calibri"/>
              </a:rPr>
              <a:t>  </a:t>
            </a:r>
            <a:r>
              <a:rPr dirty="0" sz="2700" spc="-20">
                <a:solidFill>
                  <a:srgbClr val="FF0000"/>
                </a:solidFill>
                <a:latin typeface="Calibri"/>
                <a:cs typeface="Calibri"/>
              </a:rPr>
              <a:t>slow-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r>
              <a:rPr dirty="0" sz="2700" spc="8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because</a:t>
            </a:r>
            <a:r>
              <a:rPr dirty="0" sz="2700" spc="80">
                <a:latin typeface="Calibri"/>
                <a:cs typeface="Calibri"/>
              </a:rPr>
              <a:t>  </a:t>
            </a:r>
            <a:r>
              <a:rPr dirty="0" sz="2700" spc="-25">
                <a:latin typeface="Calibri"/>
                <a:cs typeface="Calibri"/>
              </a:rPr>
              <a:t>it </a:t>
            </a:r>
            <a:r>
              <a:rPr dirty="0" sz="2700">
                <a:latin typeface="Calibri"/>
                <a:cs typeface="Calibri"/>
              </a:rPr>
              <a:t>assumes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congestion.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140" y="620013"/>
            <a:ext cx="8759825" cy="40373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762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happens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5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case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5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1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15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disconnected?</a:t>
            </a:r>
            <a:endParaRPr sz="28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75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Calibri"/>
                <a:cs typeface="Calibri"/>
              </a:rPr>
              <a:t>so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longer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8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period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4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disconnection,</a:t>
            </a:r>
            <a:r>
              <a:rPr dirty="0" sz="2800" spc="4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more </a:t>
            </a:r>
            <a:r>
              <a:rPr dirty="0" sz="2800">
                <a:latin typeface="Calibri"/>
                <a:cs typeface="Calibri"/>
              </a:rPr>
              <a:t>buffer</a:t>
            </a:r>
            <a:r>
              <a:rPr dirty="0" sz="2800" spc="260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needed.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handover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follows</a:t>
            </a:r>
            <a:r>
              <a:rPr dirty="0" sz="2800" spc="20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</a:t>
            </a:r>
            <a:r>
              <a:rPr dirty="0" sz="2800" spc="-25">
                <a:latin typeface="Calibri"/>
                <a:cs typeface="Calibri"/>
              </a:rPr>
              <a:t>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disconnection,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typical,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transferred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proxy.</a:t>
            </a:r>
            <a:endParaRPr sz="2800">
              <a:latin typeface="Calibri"/>
              <a:cs typeface="Calibri"/>
            </a:endParaRPr>
          </a:p>
          <a:p>
            <a:pPr algn="just" marL="354330" marR="508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60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snooping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approach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suffers</a:t>
            </a:r>
            <a:r>
              <a:rPr dirty="0" sz="2800" spc="265">
                <a:latin typeface="Calibri"/>
                <a:cs typeface="Calibri"/>
              </a:rPr>
              <a:t>  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270">
                <a:latin typeface="Calibri"/>
                <a:cs typeface="Calibri"/>
              </a:rPr>
              <a:t>   </a:t>
            </a:r>
            <a:r>
              <a:rPr dirty="0" sz="2800" spc="-10">
                <a:latin typeface="Calibri"/>
                <a:cs typeface="Calibri"/>
              </a:rPr>
              <a:t>being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disconnected.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able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</a:t>
            </a:r>
            <a:r>
              <a:rPr dirty="0" sz="2800" spc="3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ACKs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so,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snooping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cannot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help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situation.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/>
              <a:t>Mobile</a:t>
            </a:r>
            <a:r>
              <a:rPr dirty="0" spc="-25"/>
              <a:t> TCP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140" y="620013"/>
            <a:ext cx="8757920" cy="5061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08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M-</a:t>
            </a:r>
            <a:r>
              <a:rPr dirty="0" sz="2800" b="1">
                <a:latin typeface="Calibri"/>
                <a:cs typeface="Calibri"/>
              </a:rPr>
              <a:t>TCP</a:t>
            </a:r>
            <a:r>
              <a:rPr dirty="0" sz="2800" spc="56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approach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same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goals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5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snooping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TCP: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prevent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window</a:t>
            </a:r>
            <a:r>
              <a:rPr dirty="0" sz="2800" spc="275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from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shrinking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errors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disconnection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congestion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cause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problems.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5715" indent="-34163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 spc="-25">
                <a:latin typeface="Calibri"/>
                <a:cs typeface="Calibri"/>
              </a:rPr>
              <a:t>M-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wants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improve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overall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throughput,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lower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delay,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maintain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end-to-</a:t>
            </a:r>
            <a:r>
              <a:rPr dirty="0" sz="2800">
                <a:latin typeface="Calibri"/>
                <a:cs typeface="Calibri"/>
              </a:rPr>
              <a:t>end</a:t>
            </a:r>
            <a:r>
              <a:rPr dirty="0" sz="2800" spc="2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semantics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TCP,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provide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efficient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handover.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marL="354330" marR="6985" indent="-34163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800" spc="-10">
                <a:latin typeface="Calibri"/>
                <a:cs typeface="Calibri"/>
              </a:rPr>
              <a:t>Additionally,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especially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adapted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problems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arising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lengthy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frequent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disconnections.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/>
              <a:t>Mobile</a:t>
            </a:r>
            <a:r>
              <a:rPr dirty="0" spc="-25"/>
              <a:t> TCP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140" y="620013"/>
            <a:ext cx="8455025" cy="5820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635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 spc="-25">
                <a:latin typeface="Calibri"/>
                <a:cs typeface="Calibri"/>
              </a:rPr>
              <a:t>M-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splits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connection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parts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 spc="-25">
                <a:latin typeface="Calibri"/>
                <a:cs typeface="Calibri"/>
              </a:rPr>
              <a:t>TCP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does.</a:t>
            </a:r>
            <a:endParaRPr sz="2800">
              <a:latin typeface="Calibri"/>
              <a:cs typeface="Calibri"/>
            </a:endParaRPr>
          </a:p>
          <a:p>
            <a:pPr algn="just" marL="354330" marR="635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unmodified</a:t>
            </a:r>
            <a:r>
              <a:rPr dirty="0" sz="2800" spc="1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1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1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1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7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standard</a:t>
            </a:r>
            <a:r>
              <a:rPr dirty="0" sz="2800" spc="18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host-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b="1">
                <a:latin typeface="Calibri"/>
                <a:cs typeface="Calibri"/>
              </a:rPr>
              <a:t>supervisory</a:t>
            </a:r>
            <a:r>
              <a:rPr dirty="0" sz="2800" spc="409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host</a:t>
            </a:r>
            <a:r>
              <a:rPr dirty="0" sz="2800" spc="40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(SH)</a:t>
            </a:r>
            <a:r>
              <a:rPr dirty="0" sz="2800" spc="39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connection,</a:t>
            </a:r>
            <a:r>
              <a:rPr dirty="0" sz="2800" spc="3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while</a:t>
            </a:r>
            <a:r>
              <a:rPr dirty="0" sz="2800" spc="4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optimized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SH-</a:t>
            </a:r>
            <a:r>
              <a:rPr dirty="0" sz="2800">
                <a:latin typeface="Calibri"/>
                <a:cs typeface="Calibri"/>
              </a:rPr>
              <a:t>MH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connection.</a:t>
            </a:r>
            <a:endParaRPr sz="2800">
              <a:latin typeface="Calibri"/>
              <a:cs typeface="Calibri"/>
            </a:endParaRPr>
          </a:p>
          <a:p>
            <a:pPr algn="just" marL="354330" marR="6985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responsible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exchanging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both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parts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similar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proxy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 spc="-20">
                <a:latin typeface="Calibri"/>
                <a:cs typeface="Calibri"/>
              </a:rPr>
              <a:t>TCP.</a:t>
            </a:r>
            <a:endParaRPr sz="2800">
              <a:latin typeface="Calibri"/>
              <a:cs typeface="Calibri"/>
            </a:endParaRPr>
          </a:p>
          <a:p>
            <a:pPr algn="just" marL="353695" marR="6350" indent="-34099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approach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assumes</a:t>
            </a:r>
            <a:r>
              <a:rPr dirty="0" sz="2800" spc="1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relatively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low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error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rate on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link. Therefore, it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perform 	caching/retransmission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via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SH.</a:t>
            </a:r>
            <a:endParaRPr sz="28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50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lost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link,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6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>
                <a:latin typeface="Calibri"/>
                <a:cs typeface="Calibri"/>
              </a:rPr>
              <a:t>retransmitted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original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sender.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maintains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end-</a:t>
            </a:r>
            <a:r>
              <a:rPr dirty="0" sz="2600" spc="-30">
                <a:latin typeface="Calibri"/>
                <a:cs typeface="Calibri"/>
              </a:rPr>
              <a:t>to-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semantics.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/>
              <a:t>Mobile</a:t>
            </a:r>
            <a:r>
              <a:rPr dirty="0" spc="-25"/>
              <a:t> TCP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140" y="577342"/>
            <a:ext cx="8530590" cy="60007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354330" marR="5080" indent="-341630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monitors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3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packets</a:t>
            </a:r>
            <a:r>
              <a:rPr dirty="0" sz="2800" spc="3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sent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MH</a:t>
            </a:r>
            <a:r>
              <a:rPr dirty="0" sz="2800" spc="3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ACKs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returned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MH.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receive</a:t>
            </a:r>
            <a:r>
              <a:rPr dirty="0" sz="2800" spc="4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ACK</a:t>
            </a:r>
            <a:r>
              <a:rPr dirty="0" sz="2800" spc="3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3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3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time,</a:t>
            </a:r>
            <a:r>
              <a:rPr dirty="0" sz="2800" spc="3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3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assumes</a:t>
            </a:r>
            <a:r>
              <a:rPr dirty="0" sz="2800" spc="3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3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MH</a:t>
            </a:r>
            <a:r>
              <a:rPr dirty="0" sz="2800" spc="38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disconnected.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then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chokes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setting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sender’s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window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size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0.</a:t>
            </a:r>
            <a:endParaRPr sz="28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9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Setting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window</a:t>
            </a:r>
            <a:r>
              <a:rPr dirty="0" sz="2800" spc="1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size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0</a:t>
            </a:r>
            <a:r>
              <a:rPr dirty="0" sz="2800" spc="1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forces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go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persistent mode</a:t>
            </a:r>
            <a:r>
              <a:rPr dirty="0" sz="2800">
                <a:latin typeface="Calibri"/>
                <a:cs typeface="Calibri"/>
              </a:rPr>
              <a:t>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i.e.,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state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-20">
                <a:latin typeface="Calibri"/>
                <a:cs typeface="Calibri"/>
              </a:rPr>
              <a:t> will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change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2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matter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21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long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04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receiver</a:t>
            </a:r>
            <a:r>
              <a:rPr dirty="0" sz="2800" spc="20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disconnected.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9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means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try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retransmit </a:t>
            </a:r>
            <a:r>
              <a:rPr dirty="0" sz="2800">
                <a:latin typeface="Calibri"/>
                <a:cs typeface="Calibri"/>
              </a:rPr>
              <a:t>data.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soon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(either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old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new </a:t>
            </a:r>
            <a:r>
              <a:rPr dirty="0" sz="2800">
                <a:latin typeface="Calibri"/>
                <a:cs typeface="Calibri"/>
              </a:rPr>
              <a:t>SH)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detects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connectivity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again,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reopens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window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5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old</a:t>
            </a:r>
            <a:r>
              <a:rPr dirty="0" sz="2800" spc="1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value.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6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155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continue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sending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full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speed.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mechanism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does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require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sender’s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TCP.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/>
              <a:t>Mobile</a:t>
            </a:r>
            <a:r>
              <a:rPr dirty="0" spc="-25"/>
              <a:t> TCP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140" y="620013"/>
            <a:ext cx="8308975" cy="2244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08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side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recover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from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loss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much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faster.</a:t>
            </a:r>
            <a:endParaRPr sz="28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75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modified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slow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start,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thus,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M-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needs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bandwidth</a:t>
            </a:r>
            <a:r>
              <a:rPr dirty="0" sz="2800" spc="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manager</a:t>
            </a:r>
            <a:r>
              <a:rPr dirty="0" sz="2800" spc="7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implement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fair </a:t>
            </a:r>
            <a:r>
              <a:rPr dirty="0" sz="2800">
                <a:latin typeface="Calibri"/>
                <a:cs typeface="Calibri"/>
              </a:rPr>
              <a:t>sharing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link.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/>
              <a:t>Mobile</a:t>
            </a:r>
            <a:r>
              <a:rPr dirty="0" spc="-25"/>
              <a:t> TCP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72135"/>
            <a:ext cx="21729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Advantages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1140" y="693165"/>
            <a:ext cx="8682355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6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maintains</a:t>
            </a:r>
            <a:r>
              <a:rPr dirty="0" sz="3200" spc="6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TCP</a:t>
            </a:r>
            <a:r>
              <a:rPr dirty="0" sz="3200" spc="5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end-</a:t>
            </a:r>
            <a:r>
              <a:rPr dirty="0" sz="3200" spc="-15">
                <a:latin typeface="Calibri"/>
                <a:cs typeface="Calibri"/>
              </a:rPr>
              <a:t>to-</a:t>
            </a:r>
            <a:r>
              <a:rPr dirty="0" sz="3200">
                <a:latin typeface="Calibri"/>
                <a:cs typeface="Calibri"/>
              </a:rPr>
              <a:t>end</a:t>
            </a:r>
            <a:r>
              <a:rPr dirty="0" sz="3200" spc="5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semantics.</a:t>
            </a:r>
            <a:r>
              <a:rPr dirty="0" sz="3200" spc="5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The </a:t>
            </a:r>
            <a:r>
              <a:rPr dirty="0" sz="3200">
                <a:latin typeface="Calibri"/>
                <a:cs typeface="Calibri"/>
              </a:rPr>
              <a:t>SH</a:t>
            </a:r>
            <a:r>
              <a:rPr dirty="0" sz="3200" spc="1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does</a:t>
            </a:r>
            <a:r>
              <a:rPr dirty="0" sz="3200" spc="1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not</a:t>
            </a:r>
            <a:r>
              <a:rPr dirty="0" sz="3200" spc="1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send</a:t>
            </a:r>
            <a:r>
              <a:rPr dirty="0" sz="3200" spc="1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any</a:t>
            </a:r>
            <a:r>
              <a:rPr dirty="0" sz="3200" spc="1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ACK</a:t>
            </a:r>
            <a:r>
              <a:rPr dirty="0" sz="3200" spc="1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itself</a:t>
            </a:r>
            <a:r>
              <a:rPr dirty="0" sz="3200" spc="1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but</a:t>
            </a:r>
            <a:r>
              <a:rPr dirty="0" sz="3200" spc="1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forwards</a:t>
            </a:r>
            <a:r>
              <a:rPr dirty="0" sz="3200" spc="16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the </a:t>
            </a:r>
            <a:r>
              <a:rPr dirty="0" sz="3200">
                <a:latin typeface="Calibri"/>
                <a:cs typeface="Calibri"/>
              </a:rPr>
              <a:t>ACKs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MH.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1140" y="2253818"/>
            <a:ext cx="306070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855344" algn="l"/>
                <a:tab pos="1681480" algn="l"/>
                <a:tab pos="2554605" algn="l"/>
                <a:tab pos="2635250" algn="l"/>
              </a:tabLst>
            </a:pPr>
            <a:r>
              <a:rPr dirty="0" sz="3200" spc="-25">
                <a:latin typeface="Calibri"/>
                <a:cs typeface="Calibri"/>
              </a:rPr>
              <a:t>If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MH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is </a:t>
            </a:r>
            <a:r>
              <a:rPr dirty="0" sz="3200" spc="-20">
                <a:latin typeface="Calibri"/>
                <a:cs typeface="Calibri"/>
              </a:rPr>
              <a:t>retransmissions, </a:t>
            </a:r>
            <a:r>
              <a:rPr dirty="0" sz="3200" spc="-10">
                <a:latin typeface="Calibri"/>
                <a:cs typeface="Calibri"/>
              </a:rPr>
              <a:t>connections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 spc="-25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window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0.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01110" y="2253818"/>
            <a:ext cx="415417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86355" algn="l"/>
                <a:tab pos="3089275" algn="l"/>
              </a:tabLst>
            </a:pPr>
            <a:r>
              <a:rPr dirty="0" sz="3200" spc="-10">
                <a:latin typeface="Calibri"/>
                <a:cs typeface="Calibri"/>
              </a:rPr>
              <a:t>disconnected,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it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avoids</a:t>
            </a:r>
            <a:endParaRPr sz="3200">
              <a:latin typeface="Calibri"/>
              <a:cs typeface="Calibri"/>
            </a:endParaRPr>
          </a:p>
          <a:p>
            <a:pPr marL="3269615">
              <a:lnSpc>
                <a:spcPct val="100000"/>
              </a:lnSpc>
            </a:pPr>
            <a:r>
              <a:rPr dirty="0" sz="3200" spc="-25"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32759" y="2742057"/>
            <a:ext cx="3714115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05"/>
              </a:spcBef>
              <a:tabLst>
                <a:tab pos="1580515" algn="l"/>
              </a:tabLst>
            </a:pPr>
            <a:r>
              <a:rPr dirty="0" sz="3200" spc="-20">
                <a:latin typeface="Calibri"/>
                <a:cs typeface="Calibri"/>
              </a:rPr>
              <a:t>slow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starts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361440" algn="l"/>
                <a:tab pos="3147695" algn="l"/>
              </a:tabLst>
            </a:pPr>
            <a:r>
              <a:rPr dirty="0" sz="3200" spc="-10">
                <a:latin typeface="Calibri"/>
                <a:cs typeface="Calibri"/>
              </a:rPr>
              <a:t>simply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10">
                <a:latin typeface="Calibri"/>
                <a:cs typeface="Calibri"/>
              </a:rPr>
              <a:t>shrinking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54645" y="2253818"/>
            <a:ext cx="146050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246379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latin typeface="Calibri"/>
                <a:cs typeface="Calibri"/>
              </a:rPr>
              <a:t>useless breaking sender’s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1140" y="4303014"/>
            <a:ext cx="8682355" cy="19773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Since</a:t>
            </a:r>
            <a:r>
              <a:rPr dirty="0" sz="3200" spc="5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5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does</a:t>
            </a:r>
            <a:r>
              <a:rPr dirty="0" sz="3200" spc="5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not</a:t>
            </a:r>
            <a:r>
              <a:rPr dirty="0" sz="3200" spc="5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buffer</a:t>
            </a:r>
            <a:r>
              <a:rPr dirty="0" sz="3200" spc="509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509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5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SH</a:t>
            </a:r>
            <a:r>
              <a:rPr dirty="0" sz="3200" spc="5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509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I-</a:t>
            </a:r>
            <a:r>
              <a:rPr dirty="0" sz="3200" spc="-25">
                <a:latin typeface="Calibri"/>
                <a:cs typeface="Calibri"/>
              </a:rPr>
              <a:t>TCP </a:t>
            </a:r>
            <a:r>
              <a:rPr dirty="0" sz="3200">
                <a:latin typeface="Calibri"/>
                <a:cs typeface="Calibri"/>
              </a:rPr>
              <a:t>does,</a:t>
            </a:r>
            <a:r>
              <a:rPr dirty="0" sz="3200" spc="4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4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4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not</a:t>
            </a:r>
            <a:r>
              <a:rPr dirty="0" sz="3200" spc="43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necessary</a:t>
            </a:r>
            <a:r>
              <a:rPr dirty="0" sz="3200" spc="4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4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forward</a:t>
            </a:r>
            <a:r>
              <a:rPr dirty="0" sz="3200" spc="4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buffers</a:t>
            </a:r>
            <a:r>
              <a:rPr dirty="0" sz="3200" spc="4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44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a </a:t>
            </a:r>
            <a:r>
              <a:rPr dirty="0" sz="3200">
                <a:latin typeface="Calibri"/>
                <a:cs typeface="Calibri"/>
              </a:rPr>
              <a:t>new</a:t>
            </a:r>
            <a:r>
              <a:rPr dirty="0" sz="3200" spc="500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SH.</a:t>
            </a:r>
            <a:r>
              <a:rPr dirty="0" sz="3200" spc="50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Lost</a:t>
            </a:r>
            <a:r>
              <a:rPr dirty="0" sz="3200" spc="50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packets</a:t>
            </a:r>
            <a:r>
              <a:rPr dirty="0" sz="3200" spc="49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will</a:t>
            </a:r>
            <a:r>
              <a:rPr dirty="0" sz="3200" spc="505">
                <a:latin typeface="Calibri"/>
                <a:cs typeface="Calibri"/>
              </a:rPr>
              <a:t> 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500">
                <a:latin typeface="Calibri"/>
                <a:cs typeface="Calibri"/>
              </a:rPr>
              <a:t>  </a:t>
            </a:r>
            <a:r>
              <a:rPr dirty="0" sz="3200" spc="-10">
                <a:latin typeface="Calibri"/>
                <a:cs typeface="Calibri"/>
              </a:rPr>
              <a:t>automatically </a:t>
            </a:r>
            <a:r>
              <a:rPr dirty="0" sz="3200" spc="-20">
                <a:latin typeface="Calibri"/>
                <a:cs typeface="Calibri"/>
              </a:rPr>
              <a:t>retransmitted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new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Disadvantages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1140" y="696213"/>
            <a:ext cx="8683625" cy="4122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715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does not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proxy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10">
                <a:latin typeface="Calibri"/>
                <a:cs typeface="Calibri"/>
              </a:rPr>
              <a:t> I-</a:t>
            </a:r>
            <a:r>
              <a:rPr dirty="0" sz="2800" spc="-70">
                <a:latin typeface="Calibri"/>
                <a:cs typeface="Calibri"/>
              </a:rPr>
              <a:t>TCP,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loss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3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due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errors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propagated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sender.</a:t>
            </a:r>
            <a:endParaRPr sz="28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75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 spc="-25">
                <a:latin typeface="Calibri"/>
                <a:cs typeface="Calibri"/>
              </a:rPr>
              <a:t>M-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assumes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low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error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rates,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always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valid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assumption.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2800">
              <a:latin typeface="Calibri"/>
              <a:cs typeface="Calibri"/>
            </a:endParaRPr>
          </a:p>
          <a:p>
            <a:pPr algn="just" marL="354330" marR="6350" indent="-34163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modified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wireless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link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modifications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MH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protocol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software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new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network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elements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bandwidth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judhistir</dc:creator>
  <dc:title>Mobile transport layer</dc:title>
  <dcterms:created xsi:type="dcterms:W3CDTF">2026-04-18T09:29:10Z</dcterms:created>
  <dcterms:modified xsi:type="dcterms:W3CDTF">2026-04-18T09:29:10Z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2026-04-18T00:00:00Z</vt:filetime>
  </property>
  <property fmtid="{D5CDD505-2E9C-101B-9397-08002B2CF9AE}" pid="5" name="Producer">
    <vt:lpwstr>Microsoft® PowerPoint® 2016</vt:lpwstr>
  </property>
</Properties>
</file>