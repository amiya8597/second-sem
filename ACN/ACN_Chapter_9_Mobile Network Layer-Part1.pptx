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jpg" ContentType="image/jpg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8060" y="286588"/>
            <a:ext cx="180784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129" y="-67310"/>
            <a:ext cx="11743740" cy="8931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820" y="1165351"/>
            <a:ext cx="6204584" cy="438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529" y="2489072"/>
            <a:ext cx="6776084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5880" algn="l"/>
              </a:tabLst>
            </a:pPr>
            <a:r>
              <a:rPr dirty="0" sz="6000" b="0">
                <a:latin typeface="Calibri Light"/>
                <a:cs typeface="Calibri Light"/>
              </a:rPr>
              <a:t>Mobile</a:t>
            </a:r>
            <a:r>
              <a:rPr dirty="0" sz="6000" spc="-40" b="0">
                <a:latin typeface="Calibri Light"/>
                <a:cs typeface="Calibri Light"/>
              </a:rPr>
              <a:t> </a:t>
            </a:r>
            <a:r>
              <a:rPr dirty="0" sz="6000" spc="-10" b="0">
                <a:latin typeface="Calibri Light"/>
                <a:cs typeface="Calibri Light"/>
              </a:rPr>
              <a:t>Network</a:t>
            </a:r>
            <a:r>
              <a:rPr dirty="0" sz="6000" b="0">
                <a:latin typeface="Calibri Light"/>
                <a:cs typeface="Calibri Light"/>
              </a:rPr>
              <a:t>	</a:t>
            </a:r>
            <a:r>
              <a:rPr dirty="0" sz="6000" spc="-35" b="0">
                <a:latin typeface="Calibri Light"/>
                <a:cs typeface="Calibri Light"/>
              </a:rPr>
              <a:t>Layer</a:t>
            </a:r>
            <a:endParaRPr sz="6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129" y="76581"/>
            <a:ext cx="4040504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65"/>
              <a:t> </a:t>
            </a:r>
            <a:r>
              <a:rPr dirty="0" sz="3200"/>
              <a:t>network</a:t>
            </a:r>
            <a:r>
              <a:rPr dirty="0" sz="3200" spc="-60"/>
              <a:t> </a:t>
            </a:r>
            <a:r>
              <a:rPr dirty="0" sz="3200" spc="-10"/>
              <a:t>layer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588670" y="804463"/>
            <a:ext cx="10743565" cy="428879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Idea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support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mobility.</a:t>
            </a:r>
            <a:endParaRPr sz="2600">
              <a:latin typeface="Arial MT"/>
              <a:cs typeface="Arial MT"/>
            </a:endParaRPr>
          </a:p>
          <a:p>
            <a:pPr lvl="1" marL="697865" marR="5715" indent="-228600">
              <a:lnSpc>
                <a:spcPts val="2810"/>
              </a:lnSpc>
              <a:spcBef>
                <a:spcPts val="530"/>
              </a:spcBef>
              <a:buChar char="•"/>
              <a:tabLst>
                <a:tab pos="697865" algn="l"/>
                <a:tab pos="2139950" algn="l"/>
                <a:tab pos="2531745" algn="l"/>
                <a:tab pos="3659504" algn="l"/>
                <a:tab pos="4175125" algn="l"/>
                <a:tab pos="5174615" algn="l"/>
                <a:tab pos="6046470" algn="l"/>
                <a:tab pos="7320915" algn="l"/>
                <a:tab pos="8578215" algn="l"/>
                <a:tab pos="9010015" algn="l"/>
                <a:tab pos="9624060" algn="l"/>
              </a:tabLst>
            </a:pPr>
            <a:r>
              <a:rPr dirty="0" sz="2600" spc="-10">
                <a:latin typeface="Arial MT"/>
                <a:cs typeface="Arial MT"/>
              </a:rPr>
              <a:t>Example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which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adds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mobility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support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internet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protocol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IP.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41300" marR="5080" indent="-228600">
              <a:lnSpc>
                <a:spcPts val="2810"/>
              </a:lnSpc>
              <a:spcBef>
                <a:spcPts val="5"/>
              </a:spcBef>
              <a:buChar char="•"/>
              <a:tabLst>
                <a:tab pos="241300" algn="l"/>
                <a:tab pos="1567180" algn="l"/>
                <a:tab pos="2880995" algn="l"/>
                <a:tab pos="3846829" algn="l"/>
                <a:tab pos="4592320" algn="l"/>
                <a:tab pos="6659245" algn="l"/>
                <a:tab pos="7145655" algn="l"/>
                <a:tab pos="8459470" algn="l"/>
                <a:tab pos="9480550" algn="l"/>
              </a:tabLst>
            </a:pPr>
            <a:r>
              <a:rPr dirty="0" sz="2600" spc="-10">
                <a:latin typeface="Arial MT"/>
                <a:cs typeface="Arial MT"/>
              </a:rPr>
              <a:t>Today’s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internet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lacks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mechanisms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support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users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traveling </a:t>
            </a:r>
            <a:r>
              <a:rPr dirty="0" sz="2600">
                <a:latin typeface="Arial MT"/>
                <a:cs typeface="Arial MT"/>
              </a:rPr>
              <a:t>around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world.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41300" marR="5080" indent="-228600">
              <a:lnSpc>
                <a:spcPts val="2810"/>
              </a:lnSpc>
              <a:buChar char="•"/>
              <a:tabLst>
                <a:tab pos="241300" algn="l"/>
                <a:tab pos="702945" algn="l"/>
                <a:tab pos="1099185" algn="l"/>
                <a:tab pos="1716405" algn="l"/>
                <a:tab pos="3140075" algn="l"/>
                <a:tab pos="4015104" algn="l"/>
                <a:tab pos="4556125" algn="l"/>
                <a:tab pos="6240145" algn="l"/>
                <a:tab pos="6673215" algn="l"/>
                <a:tab pos="8578215" algn="l"/>
                <a:tab pos="9286875" algn="l"/>
                <a:tab pos="10086975" algn="l"/>
              </a:tabLst>
            </a:pP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common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base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thousands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applications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runs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over </a:t>
            </a:r>
            <a:r>
              <a:rPr dirty="0" sz="2600">
                <a:latin typeface="Arial MT"/>
                <a:cs typeface="Arial MT"/>
              </a:rPr>
              <a:t>dozens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different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networks.</a:t>
            </a: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reason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supporting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layer.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718820"/>
            <a:ext cx="10109835" cy="55670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1300" marR="6985" indent="-22923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6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merge</a:t>
            </a:r>
            <a:r>
              <a:rPr dirty="0" sz="2600" spc="6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world</a:t>
            </a:r>
            <a:r>
              <a:rPr dirty="0" sz="2600" spc="6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6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6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phones</a:t>
            </a:r>
            <a:r>
              <a:rPr dirty="0" sz="2600" spc="6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support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small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more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efficiently,</a:t>
            </a: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micro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protocols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been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developed.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64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marL="241300" marR="5080" indent="-229235">
              <a:lnSpc>
                <a:spcPts val="2810"/>
              </a:lnSpc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Another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kind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mobility,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portability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equipment,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supported</a:t>
            </a:r>
            <a:r>
              <a:rPr dirty="0" sz="2600" spc="30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by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dynamic</a:t>
            </a:r>
            <a:r>
              <a:rPr dirty="0" sz="26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host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configuration</a:t>
            </a:r>
            <a:r>
              <a:rPr dirty="0" sz="26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protocol</a:t>
            </a:r>
            <a:r>
              <a:rPr dirty="0" sz="26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(DHCP).</a:t>
            </a:r>
            <a:endParaRPr sz="2600">
              <a:latin typeface="Arial MT"/>
              <a:cs typeface="Arial MT"/>
            </a:endParaRPr>
          </a:p>
          <a:p>
            <a:pPr algn="just" lvl="1" marL="698500" marR="6985" indent="-228600">
              <a:lnSpc>
                <a:spcPct val="90000"/>
              </a:lnSpc>
              <a:spcBef>
                <a:spcPts val="459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Today,</a:t>
            </a:r>
            <a:r>
              <a:rPr dirty="0" sz="2600" spc="5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due</a:t>
            </a:r>
            <a:r>
              <a:rPr dirty="0" sz="2600" spc="5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6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laptops</a:t>
            </a:r>
            <a:r>
              <a:rPr dirty="0" sz="2600" spc="6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5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notebooks,</a:t>
            </a:r>
            <a:r>
              <a:rPr dirty="0" sz="2600" spc="5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students</a:t>
            </a:r>
            <a:r>
              <a:rPr dirty="0" sz="2600" spc="6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show</a:t>
            </a:r>
            <a:r>
              <a:rPr dirty="0" sz="2600" spc="6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up</a:t>
            </a:r>
            <a:r>
              <a:rPr dirty="0" sz="2600" spc="6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59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 </a:t>
            </a:r>
            <a:r>
              <a:rPr dirty="0" sz="2600">
                <a:latin typeface="Arial MT"/>
                <a:cs typeface="Arial MT"/>
              </a:rPr>
              <a:t>university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their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computers,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want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plug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them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use </a:t>
            </a:r>
            <a:r>
              <a:rPr dirty="0" sz="2600">
                <a:latin typeface="Arial MT"/>
                <a:cs typeface="Arial MT"/>
              </a:rPr>
              <a:t>wireless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access.</a:t>
            </a:r>
            <a:endParaRPr sz="2600">
              <a:latin typeface="Arial MT"/>
              <a:cs typeface="Arial MT"/>
            </a:endParaRPr>
          </a:p>
          <a:p>
            <a:pPr algn="just" lvl="1" marL="698500" marR="5715" indent="-228600">
              <a:lnSpc>
                <a:spcPts val="2810"/>
              </a:lnSpc>
              <a:spcBef>
                <a:spcPts val="53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2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3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administrator</a:t>
            </a:r>
            <a:r>
              <a:rPr dirty="0" sz="2600" spc="3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want</a:t>
            </a:r>
            <a:r>
              <a:rPr dirty="0" sz="2600" spc="3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configure</a:t>
            </a:r>
            <a:r>
              <a:rPr dirty="0" sz="2600" spc="3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dozens</a:t>
            </a:r>
            <a:r>
              <a:rPr dirty="0" sz="2600" spc="36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>
                <a:latin typeface="Arial MT"/>
                <a:cs typeface="Arial MT"/>
              </a:rPr>
              <a:t>computers</a:t>
            </a:r>
            <a:r>
              <a:rPr dirty="0" sz="2600" spc="48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every</a:t>
            </a:r>
            <a:r>
              <a:rPr dirty="0" sz="2600" spc="5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day</a:t>
            </a:r>
            <a:r>
              <a:rPr dirty="0" sz="2600" spc="4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hand</a:t>
            </a:r>
            <a:r>
              <a:rPr dirty="0" sz="2600" spc="48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out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lists</a:t>
            </a:r>
            <a:r>
              <a:rPr dirty="0" sz="2600" spc="4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valid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4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addresses, </a:t>
            </a:r>
            <a:r>
              <a:rPr dirty="0" sz="2600">
                <a:latin typeface="Arial MT"/>
                <a:cs typeface="Arial MT"/>
              </a:rPr>
              <a:t>DNS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servers,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prefixes,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default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etc.</a:t>
            </a:r>
            <a:endParaRPr sz="2600">
              <a:latin typeface="Arial MT"/>
              <a:cs typeface="Arial MT"/>
            </a:endParaRPr>
          </a:p>
          <a:p>
            <a:pPr algn="just" lvl="1" marL="698500" marR="635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DHCP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sets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point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support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automatic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configuration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 spc="-10">
                <a:latin typeface="Arial MT"/>
                <a:cs typeface="Arial MT"/>
              </a:rPr>
              <a:t>computers.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129" y="76581"/>
            <a:ext cx="4040504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65"/>
              <a:t> </a:t>
            </a:r>
            <a:r>
              <a:rPr dirty="0" sz="3200"/>
              <a:t>network</a:t>
            </a:r>
            <a:r>
              <a:rPr dirty="0" sz="3200" spc="-60"/>
              <a:t> </a:t>
            </a:r>
            <a:r>
              <a:rPr dirty="0" sz="3200" spc="-10"/>
              <a:t>layer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Mobile</a:t>
            </a:r>
            <a:r>
              <a:rPr dirty="0" sz="3200" spc="-45"/>
              <a:t> </a:t>
            </a:r>
            <a:r>
              <a:rPr dirty="0" sz="3200" spc="-25"/>
              <a:t>IP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1463166" y="1650873"/>
            <a:ext cx="9104630" cy="113601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 marL="12700" marR="5080">
              <a:lnSpc>
                <a:spcPts val="2810"/>
              </a:lnSpc>
              <a:spcBef>
                <a:spcPts val="455"/>
              </a:spcBef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internet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dirty="0" sz="26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network</a:t>
            </a:r>
            <a:r>
              <a:rPr dirty="0" sz="26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dirty="0" sz="26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global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communication</a:t>
            </a:r>
            <a:r>
              <a:rPr dirty="0" sz="26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with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hundreds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millions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users.</a:t>
            </a:r>
            <a:r>
              <a:rPr dirty="0" sz="26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So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why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simply</a:t>
            </a:r>
            <a:r>
              <a:rPr dirty="0" sz="26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mobile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computer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dirty="0" sz="26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internet?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89" y="254634"/>
            <a:ext cx="18078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40"/>
              <a:t> </a:t>
            </a:r>
            <a:r>
              <a:rPr dirty="0" sz="3200" spc="-25"/>
              <a:t>IP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74903" y="824941"/>
            <a:ext cx="10563860" cy="113665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1300" marR="5080" indent="-228600">
              <a:lnSpc>
                <a:spcPts val="2810"/>
              </a:lnSpc>
              <a:spcBef>
                <a:spcPts val="455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You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will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single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soon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you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leave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your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home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network</a:t>
            </a:r>
            <a:r>
              <a:rPr dirty="0" sz="2600">
                <a:latin typeface="Arial MT"/>
                <a:cs typeface="Arial MT"/>
              </a:rPr>
              <a:t>,</a:t>
            </a:r>
            <a:r>
              <a:rPr dirty="0" sz="2600" spc="15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1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1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your</a:t>
            </a:r>
            <a:r>
              <a:rPr dirty="0" sz="2600" spc="1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computer</a:t>
            </a:r>
            <a:r>
              <a:rPr dirty="0" sz="2600" spc="1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configured</a:t>
            </a:r>
            <a:r>
              <a:rPr dirty="0" sz="2600" spc="1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for,</a:t>
            </a:r>
            <a:r>
              <a:rPr dirty="0" sz="2600" spc="165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and </a:t>
            </a:r>
            <a:r>
              <a:rPr dirty="0" sz="2600">
                <a:latin typeface="Arial MT"/>
                <a:cs typeface="Arial MT"/>
              </a:rPr>
              <a:t>reconnect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your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computer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(wireless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wired)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another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place.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289" y="254634"/>
            <a:ext cx="18078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40"/>
              <a:t> </a:t>
            </a:r>
            <a:r>
              <a:rPr dirty="0" sz="3200" spc="-25"/>
              <a:t>IP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74903" y="802476"/>
            <a:ext cx="10743565" cy="558990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just" marL="241300" indent="-228600">
              <a:lnSpc>
                <a:spcPct val="100000"/>
              </a:lnSpc>
              <a:spcBef>
                <a:spcPts val="280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you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consider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mechanisms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internet.</a:t>
            </a:r>
            <a:endParaRPr sz="2600">
              <a:latin typeface="Arial MT"/>
              <a:cs typeface="Arial MT"/>
            </a:endParaRPr>
          </a:p>
          <a:p>
            <a:pPr algn="just" lvl="1" marL="698500" marR="5080" indent="-229235">
              <a:lnSpc>
                <a:spcPts val="2810"/>
              </a:lnSpc>
              <a:spcBef>
                <a:spcPts val="53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host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sends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header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containing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destination </a:t>
            </a:r>
            <a:r>
              <a:rPr dirty="0" sz="2600">
                <a:latin typeface="Arial MT"/>
                <a:cs typeface="Arial MT"/>
              </a:rPr>
              <a:t>address.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determines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2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receiver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also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physical</a:t>
            </a:r>
            <a:r>
              <a:rPr dirty="0" sz="26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subnet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receiver.</a:t>
            </a:r>
            <a:endParaRPr sz="2600">
              <a:latin typeface="Arial MT"/>
              <a:cs typeface="Arial MT"/>
            </a:endParaRPr>
          </a:p>
          <a:p>
            <a:pPr algn="just" lvl="2" marL="1155700" marR="5715" indent="-228600">
              <a:lnSpc>
                <a:spcPct val="90000"/>
              </a:lnSpc>
              <a:spcBef>
                <a:spcPts val="459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4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example,</a:t>
            </a:r>
            <a:r>
              <a:rPr dirty="0" sz="2600" spc="4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4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44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129.13.42.99</a:t>
            </a:r>
            <a:r>
              <a:rPr dirty="0" sz="2600" spc="434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shows</a:t>
            </a:r>
            <a:r>
              <a:rPr dirty="0" sz="2600" spc="4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that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receiver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connected</a:t>
            </a:r>
            <a:r>
              <a:rPr dirty="0" sz="2600" spc="3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physical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3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prefix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129.13.42</a:t>
            </a:r>
            <a:r>
              <a:rPr dirty="0" sz="2600" spc="-1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5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1" marL="698500" marR="5080" indent="-229235">
              <a:lnSpc>
                <a:spcPts val="2810"/>
              </a:lnSpc>
              <a:spcBef>
                <a:spcPts val="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Incoming</a:t>
            </a:r>
            <a:r>
              <a:rPr dirty="0" sz="2600" spc="6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6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6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forwarded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routers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according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internal </a:t>
            </a:r>
            <a:r>
              <a:rPr dirty="0" sz="2600">
                <a:latin typeface="Arial MT"/>
                <a:cs typeface="Arial MT"/>
              </a:rPr>
              <a:t>look-up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tables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storing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prefixes.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soon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moves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outside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subnet,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will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reach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it.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host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so-called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topologically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correct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address</a:t>
            </a:r>
            <a:r>
              <a:rPr dirty="0" sz="2600" spc="-1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71829" y="643542"/>
            <a:ext cx="10178415" cy="258381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800" b="1">
                <a:latin typeface="Arial"/>
                <a:cs typeface="Arial"/>
              </a:rPr>
              <a:t>Quick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solutions</a:t>
            </a:r>
            <a:endParaRPr sz="2800">
              <a:latin typeface="Arial"/>
              <a:cs typeface="Arial"/>
            </a:endParaRPr>
          </a:p>
          <a:p>
            <a:pPr marL="241300" marR="5080" indent="-228600">
              <a:lnSpc>
                <a:spcPts val="2810"/>
              </a:lnSpc>
              <a:spcBef>
                <a:spcPts val="1045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quick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solution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problem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would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assign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computer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new,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topologically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correct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address.</a:t>
            </a: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users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 help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DHCP.</a:t>
            </a: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ts val="2810"/>
              </a:lnSpc>
              <a:spcBef>
                <a:spcPts val="53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problem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almost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impossible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find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(mobile)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host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on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just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changed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056" y="97282"/>
            <a:ext cx="18078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40"/>
              <a:t> </a:t>
            </a:r>
            <a:r>
              <a:rPr dirty="0" sz="3200" spc="-25"/>
              <a:t>IP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7133" y="643542"/>
            <a:ext cx="10579100" cy="594614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800" b="1">
                <a:latin typeface="Arial"/>
                <a:cs typeface="Arial"/>
              </a:rPr>
              <a:t>Quick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solutions</a:t>
            </a:r>
            <a:endParaRPr sz="2800">
              <a:latin typeface="Arial"/>
              <a:cs typeface="Arial"/>
            </a:endParaRPr>
          </a:p>
          <a:p>
            <a:pPr marL="241300" marR="12700" indent="-228600">
              <a:lnSpc>
                <a:spcPts val="2810"/>
              </a:lnSpc>
              <a:spcBef>
                <a:spcPts val="1045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could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argue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help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dynamic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DNS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update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mapping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logical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name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dirty="0" sz="26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IP</a:t>
            </a:r>
            <a:r>
              <a:rPr dirty="0" sz="26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address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possible.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41300" marR="9525" indent="-228600">
              <a:lnSpc>
                <a:spcPts val="2810"/>
              </a:lnSpc>
              <a:buChar char="•"/>
              <a:tabLst>
                <a:tab pos="241300" algn="l"/>
                <a:tab pos="1833880" algn="l"/>
                <a:tab pos="2786380" algn="l"/>
                <a:tab pos="3516629" algn="l"/>
                <a:tab pos="3843020" algn="l"/>
                <a:tab pos="5217160" algn="l"/>
                <a:tab pos="5667375" algn="l"/>
                <a:tab pos="7337425" algn="l"/>
                <a:tab pos="7940040" algn="l"/>
                <a:tab pos="8671560" algn="l"/>
                <a:tab pos="9624060" algn="l"/>
              </a:tabLst>
            </a:pPr>
            <a:r>
              <a:rPr dirty="0" sz="2600" spc="-10">
                <a:latin typeface="Arial MT"/>
                <a:cs typeface="Arial MT"/>
              </a:rPr>
              <a:t>Computer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users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dynamic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addresses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but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same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logical </a:t>
            </a:r>
            <a:r>
              <a:rPr dirty="0" sz="2600">
                <a:latin typeface="Arial MT"/>
                <a:cs typeface="Arial MT"/>
              </a:rPr>
              <a:t>name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still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want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permanently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reachable.</a:t>
            </a:r>
            <a:endParaRPr sz="2600">
              <a:latin typeface="Arial MT"/>
              <a:cs typeface="Arial MT"/>
            </a:endParaRPr>
          </a:p>
          <a:p>
            <a:pPr lvl="1" marL="698500" marR="12065" indent="-229235">
              <a:lnSpc>
                <a:spcPts val="2810"/>
              </a:lnSpc>
              <a:spcBef>
                <a:spcPts val="490"/>
              </a:spcBef>
              <a:buChar char="•"/>
              <a:tabLst>
                <a:tab pos="698500" algn="l"/>
                <a:tab pos="1849120" algn="l"/>
                <a:tab pos="4302760" algn="l"/>
                <a:tab pos="5011420" algn="l"/>
                <a:tab pos="6617970" algn="l"/>
                <a:tab pos="7012940" algn="l"/>
                <a:tab pos="7427595" algn="l"/>
                <a:tab pos="8300720" algn="l"/>
                <a:tab pos="9396730" algn="l"/>
                <a:tab pos="9900920" algn="l"/>
              </a:tabLst>
            </a:pPr>
            <a:r>
              <a:rPr dirty="0" sz="2600" spc="-10">
                <a:latin typeface="Arial MT"/>
                <a:cs typeface="Arial MT"/>
              </a:rPr>
              <a:t>These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considerations,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are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important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user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wants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offer </a:t>
            </a:r>
            <a:r>
              <a:rPr dirty="0" sz="2600">
                <a:latin typeface="Arial MT"/>
                <a:cs typeface="Arial MT"/>
              </a:rPr>
              <a:t>services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10">
                <a:latin typeface="Arial MT"/>
                <a:cs typeface="Arial MT"/>
              </a:rPr>
              <a:t> node.</a:t>
            </a: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ts val="2965"/>
              </a:lnSpc>
              <a:spcBef>
                <a:spcPts val="15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 address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special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interest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service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usage: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DHCP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</a:t>
            </a:r>
            <a:endParaRPr sz="2600">
              <a:latin typeface="Arial MT"/>
              <a:cs typeface="Arial MT"/>
            </a:endParaRPr>
          </a:p>
          <a:p>
            <a:pPr marL="698500">
              <a:lnSpc>
                <a:spcPts val="2965"/>
              </a:lnSpc>
            </a:pPr>
            <a:r>
              <a:rPr dirty="0" sz="2600" spc="-10">
                <a:latin typeface="Arial MT"/>
                <a:cs typeface="Arial MT"/>
              </a:rPr>
              <a:t>sufficient.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26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90000"/>
              </a:lnSpc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Another</a:t>
            </a:r>
            <a:r>
              <a:rPr dirty="0" sz="2600" spc="3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motivation</a:t>
            </a:r>
            <a:r>
              <a:rPr dirty="0" sz="2600" spc="3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3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permanent</a:t>
            </a:r>
            <a:r>
              <a:rPr dirty="0" sz="2600" spc="3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3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addresses</a:t>
            </a:r>
            <a:r>
              <a:rPr dirty="0" sz="2600" spc="3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37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emergency </a:t>
            </a:r>
            <a:r>
              <a:rPr dirty="0" sz="2600">
                <a:latin typeface="Arial MT"/>
                <a:cs typeface="Arial MT"/>
              </a:rPr>
              <a:t>communication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permanent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quick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reachability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via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IP </a:t>
            </a:r>
            <a:r>
              <a:rPr dirty="0" sz="2600" spc="-10">
                <a:latin typeface="Arial MT"/>
                <a:cs typeface="Arial MT"/>
              </a:rPr>
              <a:t>address.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056" y="97282"/>
            <a:ext cx="18078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40"/>
              <a:t> </a:t>
            </a:r>
            <a:r>
              <a:rPr dirty="0" sz="3200" spc="-25"/>
              <a:t>IP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4286" y="613442"/>
            <a:ext cx="10978515" cy="529717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600" b="1">
                <a:latin typeface="Arial"/>
                <a:cs typeface="Arial"/>
              </a:rPr>
              <a:t>Quick</a:t>
            </a:r>
            <a:r>
              <a:rPr dirty="0" sz="2600" spc="-1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solutions</a:t>
            </a:r>
            <a:endParaRPr sz="2600">
              <a:latin typeface="Arial"/>
              <a:cs typeface="Arial"/>
            </a:endParaRPr>
          </a:p>
          <a:p>
            <a:pPr marL="241300" marR="6350" indent="-228600">
              <a:lnSpc>
                <a:spcPts val="2810"/>
              </a:lnSpc>
              <a:spcBef>
                <a:spcPts val="1040"/>
              </a:spcBef>
              <a:buChar char="•"/>
              <a:tabLst>
                <a:tab pos="241300" algn="l"/>
                <a:tab pos="852169" algn="l"/>
                <a:tab pos="2785110" algn="l"/>
                <a:tab pos="4262120" algn="l"/>
                <a:tab pos="4929505" algn="l"/>
                <a:tab pos="5443220" algn="l"/>
                <a:tab pos="6826884" algn="l"/>
                <a:tab pos="7621270" algn="l"/>
                <a:tab pos="8783955" algn="l"/>
                <a:tab pos="9265920" algn="l"/>
                <a:tab pos="9933305" algn="l"/>
              </a:tabLst>
            </a:pPr>
            <a:r>
              <a:rPr dirty="0" sz="2600" spc="-25">
                <a:latin typeface="Arial MT"/>
                <a:cs typeface="Arial MT"/>
              </a:rPr>
              <a:t>So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dynamically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adapting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address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regard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current location?</a:t>
            </a:r>
            <a:endParaRPr sz="2600">
              <a:latin typeface="Arial MT"/>
              <a:cs typeface="Arial MT"/>
            </a:endParaRPr>
          </a:p>
          <a:p>
            <a:pPr lvl="1" marL="698500" marR="6985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problem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DNS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needs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some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map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logical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name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IP.</a:t>
            </a:r>
            <a:endParaRPr sz="26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approach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work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moves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quite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often.</a:t>
            </a:r>
            <a:endParaRPr sz="26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Imagine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millions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moving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time.</a:t>
            </a: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There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severe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problem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higher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protocols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like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TCP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which </a:t>
            </a:r>
            <a:r>
              <a:rPr dirty="0" sz="2600">
                <a:latin typeface="Arial MT"/>
                <a:cs typeface="Arial MT"/>
              </a:rPr>
              <a:t>rely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addresses.</a:t>
            </a:r>
            <a:endParaRPr sz="2600">
              <a:latin typeface="Arial MT"/>
              <a:cs typeface="Arial MT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490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Changing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still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having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TCP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connection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open </a:t>
            </a:r>
            <a:r>
              <a:rPr dirty="0" sz="2600">
                <a:latin typeface="Arial MT"/>
                <a:cs typeface="Arial MT"/>
              </a:rPr>
              <a:t>means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breaking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connection.</a:t>
            </a:r>
            <a:endParaRPr sz="2600">
              <a:latin typeface="Arial MT"/>
              <a:cs typeface="Arial MT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TCP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connection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identified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tuple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(source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55">
                <a:latin typeface="Arial MT"/>
                <a:cs typeface="Arial MT"/>
              </a:rPr>
              <a:t>IP,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source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port,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95">
                <a:latin typeface="Arial MT"/>
                <a:cs typeface="Arial MT"/>
              </a:rPr>
              <a:t>IP,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port).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515" y="113538"/>
            <a:ext cx="18078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Mobile</a:t>
            </a:r>
            <a:r>
              <a:rPr dirty="0" sz="3200" spc="-40"/>
              <a:t> </a:t>
            </a:r>
            <a:r>
              <a:rPr dirty="0" sz="3200" spc="-25"/>
              <a:t>IP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5363" y="735558"/>
            <a:ext cx="10702925" cy="3805554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2600" b="1">
                <a:latin typeface="Arial"/>
                <a:cs typeface="Arial"/>
              </a:rPr>
              <a:t>Quick</a:t>
            </a:r>
            <a:r>
              <a:rPr dirty="0" sz="2600" spc="-8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solutions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Another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approach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creation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specific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node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715" indent="-229235">
              <a:lnSpc>
                <a:spcPts val="2810"/>
              </a:lnSpc>
              <a:spcBef>
                <a:spcPts val="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theoretically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possible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change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routing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tables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over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world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create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specific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node</a:t>
            </a:r>
            <a:endParaRPr sz="26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14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scale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internet.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5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080" indent="-229235">
              <a:lnSpc>
                <a:spcPts val="2810"/>
              </a:lnSpc>
              <a:buChar char="•"/>
              <a:tabLst>
                <a:tab pos="698500" algn="l"/>
                <a:tab pos="1687195" algn="l"/>
                <a:tab pos="3140075" algn="l"/>
                <a:tab pos="3615054" algn="l"/>
                <a:tab pos="4275455" algn="l"/>
                <a:tab pos="5487035" algn="l"/>
                <a:tab pos="6662420" algn="l"/>
                <a:tab pos="8331200" algn="l"/>
                <a:tab pos="9700260" algn="l"/>
                <a:tab pos="10414635" algn="l"/>
              </a:tabLst>
            </a:pPr>
            <a:r>
              <a:rPr dirty="0" sz="2600" spc="-10">
                <a:latin typeface="Arial MT"/>
                <a:cs typeface="Arial MT"/>
              </a:rPr>
              <a:t>Allow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changes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routing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tables,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sacrificing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stability,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just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provide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individual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users.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054" y="250647"/>
            <a:ext cx="180784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Mobile</a:t>
            </a:r>
            <a:r>
              <a:rPr dirty="0" sz="3200" spc="-45"/>
              <a:t> </a:t>
            </a:r>
            <a:r>
              <a:rPr dirty="0" sz="3200" spc="-25"/>
              <a:t>IP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2516" y="1028445"/>
            <a:ext cx="10892155" cy="245872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  <a:tabLst>
                <a:tab pos="1318260" algn="l"/>
                <a:tab pos="3430904" algn="l"/>
                <a:tab pos="5582920" algn="l"/>
                <a:tab pos="6226175" algn="l"/>
                <a:tab pos="8305165" algn="l"/>
                <a:tab pos="8764270" algn="l"/>
                <a:tab pos="9408795" algn="l"/>
                <a:tab pos="10567035" algn="l"/>
              </a:tabLst>
            </a:pPr>
            <a:r>
              <a:rPr dirty="0" sz="2600" spc="-10">
                <a:latin typeface="Arial MT"/>
                <a:cs typeface="Arial MT"/>
              </a:rPr>
              <a:t>Several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requirements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accompanied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development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 </a:t>
            </a:r>
            <a:r>
              <a:rPr dirty="0" sz="2600" spc="-10">
                <a:latin typeface="Arial MT"/>
                <a:cs typeface="Arial MT"/>
              </a:rPr>
              <a:t>standard:</a:t>
            </a:r>
            <a:endParaRPr sz="2600">
              <a:latin typeface="Arial MT"/>
              <a:cs typeface="Arial MT"/>
            </a:endParaRPr>
          </a:p>
          <a:p>
            <a:pPr marL="6985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698500" algn="l"/>
              </a:tabLst>
            </a:pPr>
            <a:r>
              <a:rPr dirty="0" sz="2600" spc="-10">
                <a:latin typeface="Arial MT"/>
                <a:cs typeface="Arial MT"/>
              </a:rPr>
              <a:t>Compatibility</a:t>
            </a:r>
            <a:endParaRPr sz="2600">
              <a:latin typeface="Arial MT"/>
              <a:cs typeface="Arial MT"/>
            </a:endParaRPr>
          </a:p>
          <a:p>
            <a:pPr marL="698500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698500" algn="l"/>
              </a:tabLst>
            </a:pPr>
            <a:r>
              <a:rPr dirty="0" sz="2600" spc="-10">
                <a:latin typeface="Arial MT"/>
                <a:cs typeface="Arial MT"/>
              </a:rPr>
              <a:t>Transparency</a:t>
            </a:r>
            <a:endParaRPr sz="2600">
              <a:latin typeface="Arial MT"/>
              <a:cs typeface="Arial MT"/>
            </a:endParaRPr>
          </a:p>
          <a:p>
            <a:pPr marL="698500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Scalability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efficiency</a:t>
            </a:r>
            <a:endParaRPr sz="2600">
              <a:latin typeface="Arial MT"/>
              <a:cs typeface="Arial MT"/>
            </a:endParaRPr>
          </a:p>
          <a:p>
            <a:pPr marL="698500" indent="-228600">
              <a:lnSpc>
                <a:spcPct val="100000"/>
              </a:lnSpc>
              <a:spcBef>
                <a:spcPts val="180"/>
              </a:spcBef>
              <a:buChar char="•"/>
              <a:tabLst>
                <a:tab pos="698500" algn="l"/>
              </a:tabLst>
            </a:pPr>
            <a:r>
              <a:rPr dirty="0" sz="2600" spc="-10">
                <a:latin typeface="Arial MT"/>
                <a:cs typeface="Arial MT"/>
              </a:rPr>
              <a:t>Security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7934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Mobile</a:t>
            </a:r>
            <a:r>
              <a:rPr dirty="0" sz="3200" spc="-45"/>
              <a:t> </a:t>
            </a:r>
            <a:r>
              <a:rPr dirty="0" sz="3200" spc="-25"/>
              <a:t>IP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1977" y="91866"/>
            <a:ext cx="10889615" cy="64287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275"/>
              </a:spcBef>
              <a:buFont typeface="Microsoft Sans Serif"/>
              <a:buChar char="●"/>
              <a:tabLst>
                <a:tab pos="304800" algn="l"/>
              </a:tabLst>
            </a:pPr>
            <a:r>
              <a:rPr dirty="0" sz="2600" spc="-10" b="1">
                <a:latin typeface="Arial"/>
                <a:cs typeface="Arial"/>
              </a:rPr>
              <a:t>Compatibility</a:t>
            </a:r>
            <a:endParaRPr sz="2600">
              <a:latin typeface="Arial"/>
              <a:cs typeface="Arial"/>
            </a:endParaRPr>
          </a:p>
          <a:p>
            <a:pPr lvl="1" marL="698500" marR="5715" indent="-228600">
              <a:lnSpc>
                <a:spcPts val="2810"/>
              </a:lnSpc>
              <a:spcBef>
                <a:spcPts val="530"/>
              </a:spcBef>
              <a:buChar char="•"/>
              <a:tabLst>
                <a:tab pos="698500" algn="l"/>
                <a:tab pos="1111250" algn="l"/>
                <a:tab pos="1929764" algn="l"/>
                <a:tab pos="3427729" algn="l"/>
                <a:tab pos="4632325" algn="l"/>
                <a:tab pos="6203950" algn="l"/>
                <a:tab pos="7666990" algn="l"/>
                <a:tab pos="8261350" algn="l"/>
                <a:tab pos="9532620" algn="l"/>
              </a:tabLst>
            </a:pP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new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standard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cannot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introduce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changes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TCP/IP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protocols </a:t>
            </a:r>
            <a:r>
              <a:rPr dirty="0" sz="2600">
                <a:latin typeface="Arial MT"/>
                <a:cs typeface="Arial MT"/>
              </a:rPr>
              <a:t>(applications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protocols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already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use).</a:t>
            </a:r>
            <a:endParaRPr sz="26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People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still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want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their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favorite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browser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25">
                <a:latin typeface="Arial MT"/>
                <a:cs typeface="Arial MT"/>
              </a:rPr>
              <a:t> OS.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50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Routers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necessarily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other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software.</a:t>
            </a:r>
            <a:endParaRPr sz="2600">
              <a:latin typeface="Arial MT"/>
              <a:cs typeface="Arial MT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1155700" algn="l"/>
                <a:tab pos="2554605" algn="l"/>
                <a:tab pos="2978150" algn="l"/>
                <a:tab pos="4397375" algn="l"/>
                <a:tab pos="5005705" algn="l"/>
                <a:tab pos="6791959" algn="l"/>
                <a:tab pos="7214234" algn="l"/>
                <a:tab pos="8172450" algn="l"/>
                <a:tab pos="9349740" algn="l"/>
                <a:tab pos="9773285" algn="l"/>
              </a:tabLst>
            </a:pPr>
            <a:r>
              <a:rPr dirty="0" sz="2600" spc="-10">
                <a:latin typeface="Arial MT"/>
                <a:cs typeface="Arial MT"/>
              </a:rPr>
              <a:t>Possible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enhance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capabilities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some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routers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support mobility.</a:t>
            </a:r>
            <a:endParaRPr sz="2600">
              <a:latin typeface="Arial MT"/>
              <a:cs typeface="Arial MT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155700" algn="l"/>
                <a:tab pos="2341245" algn="l"/>
                <a:tab pos="4115435" algn="l"/>
                <a:tab pos="4879340" algn="l"/>
                <a:tab pos="5384800" algn="l"/>
                <a:tab pos="6350000" algn="l"/>
                <a:tab pos="7406005" algn="l"/>
                <a:tab pos="8299450" algn="l"/>
                <a:tab pos="8860155" algn="l"/>
                <a:tab pos="9495790" algn="l"/>
              </a:tabLst>
            </a:pPr>
            <a:r>
              <a:rPr dirty="0" sz="2600" spc="-10">
                <a:latin typeface="Arial MT"/>
                <a:cs typeface="Arial MT"/>
              </a:rPr>
              <a:t>remain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compatible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all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lower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layers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used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standard, </a:t>
            </a:r>
            <a:r>
              <a:rPr dirty="0" sz="2600" spc="-20">
                <a:latin typeface="Arial MT"/>
                <a:cs typeface="Arial MT"/>
              </a:rPr>
              <a:t>non-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25">
                <a:latin typeface="Arial MT"/>
                <a:cs typeface="Arial MT"/>
              </a:rPr>
              <a:t> IP.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ts val="2810"/>
              </a:lnSpc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special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media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MAC/LLC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protocols,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use </a:t>
            </a: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-10">
                <a:latin typeface="Arial MT"/>
                <a:cs typeface="Arial MT"/>
              </a:rPr>
              <a:t> interfaces.</a:t>
            </a: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698500" algn="l"/>
                <a:tab pos="1938655" algn="l"/>
                <a:tab pos="4031615" algn="l"/>
                <a:tab pos="5704840" algn="l"/>
                <a:tab pos="6513195" algn="l"/>
                <a:tab pos="6915150" algn="l"/>
                <a:tab pos="8107045" algn="l"/>
                <a:tab pos="8633460" algn="l"/>
              </a:tabLst>
            </a:pPr>
            <a:r>
              <a:rPr dirty="0" sz="2600" spc="-10">
                <a:latin typeface="Arial MT"/>
                <a:cs typeface="Arial MT"/>
              </a:rPr>
              <a:t>Finally,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end-</a:t>
            </a:r>
            <a:r>
              <a:rPr dirty="0" sz="2600" spc="-10">
                <a:latin typeface="Arial MT"/>
                <a:cs typeface="Arial MT"/>
              </a:rPr>
              <a:t>systems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enhanced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implementation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still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work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fixed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without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IP.</a:t>
            </a:r>
            <a:endParaRPr sz="2600">
              <a:latin typeface="Arial MT"/>
              <a:cs typeface="Arial MT"/>
            </a:endParaRPr>
          </a:p>
          <a:p>
            <a:pPr lvl="2" marL="11557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format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routing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mechanisms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used.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8131" y="257657"/>
            <a:ext cx="10800080" cy="638492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350"/>
              </a:spcBef>
              <a:buFont typeface="Calibri"/>
              <a:buChar char="●"/>
              <a:tabLst>
                <a:tab pos="286385" algn="l"/>
              </a:tabLst>
            </a:pPr>
            <a:r>
              <a:rPr dirty="0" sz="2600" spc="-10" b="1">
                <a:latin typeface="Arial"/>
                <a:cs typeface="Arial"/>
              </a:rPr>
              <a:t>Transparency</a:t>
            </a:r>
            <a:endParaRPr sz="2600">
              <a:latin typeface="Arial"/>
              <a:cs typeface="Arial"/>
            </a:endParaRPr>
          </a:p>
          <a:p>
            <a:pPr lvl="1" marL="698500" marR="12700" indent="-228600">
              <a:lnSpc>
                <a:spcPts val="2810"/>
              </a:lnSpc>
              <a:spcBef>
                <a:spcPts val="60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remain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‘invisible’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higher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protocols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and </a:t>
            </a:r>
            <a:r>
              <a:rPr dirty="0" sz="2600" spc="-10">
                <a:latin typeface="Arial MT"/>
                <a:cs typeface="Arial MT"/>
              </a:rPr>
              <a:t>applications.</a:t>
            </a:r>
            <a:endParaRPr sz="2600">
              <a:latin typeface="Arial MT"/>
              <a:cs typeface="Arial MT"/>
            </a:endParaRPr>
          </a:p>
          <a:p>
            <a:pPr lvl="1" marL="698500" marR="1143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Besides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maybe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noticing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lower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bandwidth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some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interruption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in </a:t>
            </a:r>
            <a:r>
              <a:rPr dirty="0" sz="2600" spc="-10">
                <a:latin typeface="Arial MT"/>
                <a:cs typeface="Arial MT"/>
              </a:rPr>
              <a:t>service</a:t>
            </a:r>
            <a:endParaRPr sz="2600">
              <a:latin typeface="Arial MT"/>
              <a:cs typeface="Arial MT"/>
            </a:endParaRPr>
          </a:p>
          <a:p>
            <a:pPr lvl="2" marL="1155700" marR="13970" indent="-229235">
              <a:lnSpc>
                <a:spcPts val="2810"/>
              </a:lnSpc>
              <a:spcBef>
                <a:spcPts val="500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higher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continue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work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even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has </a:t>
            </a:r>
            <a:r>
              <a:rPr dirty="0" sz="2600">
                <a:latin typeface="Arial MT"/>
                <a:cs typeface="Arial MT"/>
              </a:rPr>
              <a:t>changed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point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attachment.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2" marL="1155700" marR="5080" indent="-229235">
              <a:lnSpc>
                <a:spcPts val="2810"/>
              </a:lnSpc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interruption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connectivity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take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too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long,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TCP </a:t>
            </a:r>
            <a:r>
              <a:rPr dirty="0" sz="2600">
                <a:latin typeface="Arial MT"/>
                <a:cs typeface="Arial MT"/>
              </a:rPr>
              <a:t>connections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survive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change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attachment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point.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2" marL="1155700" marR="12065" indent="-229235">
              <a:lnSpc>
                <a:spcPts val="2810"/>
              </a:lnSpc>
              <a:buChar char="•"/>
              <a:tabLst>
                <a:tab pos="1155700" algn="l"/>
                <a:tab pos="3243580" algn="l"/>
                <a:tab pos="4263390" algn="l"/>
                <a:tab pos="5026660" algn="l"/>
                <a:tab pos="6069330" algn="l"/>
                <a:tab pos="7717155" algn="l"/>
                <a:tab pos="8408035" algn="l"/>
                <a:tab pos="9246235" algn="l"/>
                <a:tab pos="9806940" algn="l"/>
              </a:tabLst>
            </a:pPr>
            <a:r>
              <a:rPr dirty="0" sz="2600" spc="-10">
                <a:latin typeface="Arial MT"/>
                <a:cs typeface="Arial MT"/>
              </a:rPr>
              <a:t>Applications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have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not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been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designed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use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 environments.</a:t>
            </a:r>
            <a:endParaRPr sz="2600">
              <a:latin typeface="Arial MT"/>
              <a:cs typeface="Arial MT"/>
            </a:endParaRPr>
          </a:p>
          <a:p>
            <a:pPr lvl="3" marL="1612900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1612900" algn="l"/>
              </a:tabLst>
            </a:pPr>
            <a:r>
              <a:rPr dirty="0" sz="2600">
                <a:latin typeface="Arial MT"/>
                <a:cs typeface="Arial MT"/>
              </a:rPr>
              <a:t>Some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applications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better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‘mobility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aware’</a:t>
            </a:r>
            <a:endParaRPr sz="2600">
              <a:latin typeface="Arial MT"/>
              <a:cs typeface="Arial MT"/>
            </a:endParaRPr>
          </a:p>
          <a:p>
            <a:pPr lvl="4" marL="2070100" marR="1397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2070100" algn="l"/>
                <a:tab pos="3757295" algn="l"/>
                <a:tab pos="5848350" algn="l"/>
                <a:tab pos="6560184" algn="l"/>
                <a:tab pos="8302625" algn="l"/>
                <a:tab pos="8813165" algn="l"/>
                <a:tab pos="9968230" algn="l"/>
              </a:tabLst>
            </a:pPr>
            <a:r>
              <a:rPr dirty="0" sz="2600" spc="-10">
                <a:latin typeface="Arial MT"/>
                <a:cs typeface="Arial MT"/>
              </a:rPr>
              <a:t>Additional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mechanisms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are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necessary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inform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these </a:t>
            </a:r>
            <a:r>
              <a:rPr dirty="0" sz="2600">
                <a:latin typeface="Arial MT"/>
                <a:cs typeface="Arial MT"/>
              </a:rPr>
              <a:t>applications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about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mobility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0550" y="416478"/>
            <a:ext cx="11502390" cy="60096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275"/>
              </a:spcBef>
              <a:buFont typeface="Microsoft Sans Serif"/>
              <a:buChar char="●"/>
              <a:tabLst>
                <a:tab pos="304800" algn="l"/>
              </a:tabLst>
            </a:pPr>
            <a:r>
              <a:rPr dirty="0" sz="2600" b="1">
                <a:latin typeface="Arial"/>
                <a:cs typeface="Arial"/>
              </a:rPr>
              <a:t>Scalability</a:t>
            </a:r>
            <a:r>
              <a:rPr dirty="0" sz="2600" spc="-7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and</a:t>
            </a:r>
            <a:r>
              <a:rPr dirty="0" sz="2600" spc="-8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efficiency</a:t>
            </a:r>
            <a:endParaRPr sz="2600">
              <a:latin typeface="Arial"/>
              <a:cs typeface="Arial"/>
            </a:endParaRPr>
          </a:p>
          <a:p>
            <a:pPr lvl="1" marL="698500" indent="-228600">
              <a:lnSpc>
                <a:spcPct val="100000"/>
              </a:lnSpc>
              <a:spcBef>
                <a:spcPts val="18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mechanism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jeopardize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efficiency.</a:t>
            </a:r>
            <a:endParaRPr sz="2600">
              <a:latin typeface="Arial MT"/>
              <a:cs typeface="Arial MT"/>
            </a:endParaRPr>
          </a:p>
          <a:p>
            <a:pPr lvl="2" marL="1155065" indent="-228600">
              <a:lnSpc>
                <a:spcPts val="2965"/>
              </a:lnSpc>
              <a:spcBef>
                <a:spcPts val="19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Enhancing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generate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too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messages</a:t>
            </a:r>
            <a:endParaRPr sz="2600">
              <a:latin typeface="Arial MT"/>
              <a:cs typeface="Arial MT"/>
            </a:endParaRPr>
          </a:p>
          <a:p>
            <a:pPr marL="1155065">
              <a:lnSpc>
                <a:spcPts val="2965"/>
              </a:lnSpc>
            </a:pPr>
            <a:r>
              <a:rPr dirty="0" sz="2600">
                <a:latin typeface="Arial MT"/>
                <a:cs typeface="Arial MT"/>
              </a:rPr>
              <a:t>flooding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whole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will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wireless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link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attachment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point,</a:t>
            </a:r>
            <a:endParaRPr sz="2600">
              <a:latin typeface="Arial MT"/>
              <a:cs typeface="Arial MT"/>
            </a:endParaRPr>
          </a:p>
          <a:p>
            <a:pPr lvl="2" marL="1155065" marR="6350" indent="-228600">
              <a:lnSpc>
                <a:spcPts val="2810"/>
              </a:lnSpc>
              <a:spcBef>
                <a:spcPts val="550"/>
              </a:spcBef>
              <a:buChar char="•"/>
              <a:tabLst>
                <a:tab pos="1155065" algn="l"/>
                <a:tab pos="2226945" algn="l"/>
                <a:tab pos="3848735" algn="l"/>
                <a:tab pos="5196205" algn="l"/>
                <a:tab pos="6377305" algn="l"/>
                <a:tab pos="6951980" algn="l"/>
                <a:tab pos="8665210" algn="l"/>
                <a:tab pos="10122535" algn="l"/>
                <a:tab pos="10512425" algn="l"/>
              </a:tabLst>
            </a:pPr>
            <a:r>
              <a:rPr dirty="0" sz="2600" spc="-20">
                <a:latin typeface="Arial MT"/>
                <a:cs typeface="Arial MT"/>
              </a:rPr>
              <a:t>Some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additional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packets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should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be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necessary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between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node</a:t>
            </a:r>
            <a:endParaRPr sz="2600">
              <a:latin typeface="Arial MT"/>
              <a:cs typeface="Arial MT"/>
            </a:endParaRPr>
          </a:p>
          <a:p>
            <a:pPr lvl="2" marL="1155065" marR="635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clear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myriad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devices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(car,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phones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etc.)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will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participate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components</a:t>
            </a:r>
            <a:endParaRPr sz="2600">
              <a:latin typeface="Arial MT"/>
              <a:cs typeface="Arial MT"/>
            </a:endParaRPr>
          </a:p>
          <a:p>
            <a:pPr lvl="3" marL="1612900" marR="6985" indent="-228600">
              <a:lnSpc>
                <a:spcPts val="2810"/>
              </a:lnSpc>
              <a:spcBef>
                <a:spcPts val="489"/>
              </a:spcBef>
              <a:buChar char="•"/>
              <a:tabLst>
                <a:tab pos="1612900" algn="l"/>
              </a:tabLst>
            </a:pP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2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them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will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2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some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2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implementation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inside</a:t>
            </a:r>
            <a:r>
              <a:rPr dirty="0" sz="2600" spc="2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move </a:t>
            </a:r>
            <a:r>
              <a:rPr dirty="0" sz="2600">
                <a:latin typeface="Arial MT"/>
                <a:cs typeface="Arial MT"/>
              </a:rPr>
              <a:t>between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different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networks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IP</a:t>
            </a:r>
            <a:endParaRPr sz="2600">
              <a:latin typeface="Arial MT"/>
              <a:cs typeface="Arial MT"/>
            </a:endParaRPr>
          </a:p>
          <a:p>
            <a:pPr lvl="3">
              <a:lnSpc>
                <a:spcPct val="100000"/>
              </a:lnSpc>
              <a:spcBef>
                <a:spcPts val="819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ts val="2810"/>
              </a:lnSpc>
              <a:buChar char="•"/>
              <a:tabLst>
                <a:tab pos="698500" algn="l"/>
                <a:tab pos="1077595" algn="l"/>
                <a:tab pos="1512570" algn="l"/>
                <a:tab pos="2663190" algn="l"/>
                <a:tab pos="3243580" algn="l"/>
                <a:tab pos="3625850" algn="l"/>
                <a:tab pos="4796790" algn="l"/>
                <a:tab pos="5298440" algn="l"/>
                <a:tab pos="5770880" algn="l"/>
                <a:tab pos="6334760" algn="l"/>
                <a:tab pos="7744459" algn="l"/>
                <a:tab pos="8584565" algn="l"/>
                <a:tab pos="8964295" algn="l"/>
                <a:tab pos="9895205" algn="l"/>
                <a:tab pos="11212195" algn="l"/>
              </a:tabLst>
            </a:pPr>
            <a:r>
              <a:rPr dirty="0" sz="2600" spc="-25">
                <a:latin typeface="Arial MT"/>
                <a:cs typeface="Arial MT"/>
              </a:rPr>
              <a:t>It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crucial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be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scalable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over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large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number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>
                <a:latin typeface="Arial MT"/>
                <a:cs typeface="Arial MT"/>
              </a:rPr>
              <a:t>participants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whole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internet,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worldwide.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3884" y="398198"/>
            <a:ext cx="10840720" cy="525081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345"/>
              </a:spcBef>
              <a:buFont typeface="Microsoft Sans Serif"/>
              <a:buChar char="●"/>
              <a:tabLst>
                <a:tab pos="304800" algn="l"/>
              </a:tabLst>
            </a:pPr>
            <a:r>
              <a:rPr dirty="0" sz="2600" spc="-10" b="1">
                <a:latin typeface="Arial"/>
                <a:cs typeface="Arial"/>
              </a:rPr>
              <a:t>Security</a:t>
            </a:r>
            <a:endParaRPr sz="2600">
              <a:latin typeface="Arial"/>
              <a:cs typeface="Arial"/>
            </a:endParaRPr>
          </a:p>
          <a:p>
            <a:pPr lvl="1" marL="622935" indent="-227965">
              <a:lnSpc>
                <a:spcPct val="100000"/>
              </a:lnSpc>
              <a:spcBef>
                <a:spcPts val="254"/>
              </a:spcBef>
              <a:buChar char="•"/>
              <a:tabLst>
                <a:tab pos="622935" algn="l"/>
              </a:tabLst>
            </a:pP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poses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security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problems.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6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23570" marR="9525" indent="-228600">
              <a:lnSpc>
                <a:spcPts val="2810"/>
              </a:lnSpc>
              <a:buChar char="•"/>
              <a:tabLst>
                <a:tab pos="62357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minimum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requirement</a:t>
            </a:r>
            <a:r>
              <a:rPr dirty="0" sz="2600" spc="2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2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messages</a:t>
            </a:r>
            <a:r>
              <a:rPr dirty="0" sz="2600" spc="2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related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management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authenticated.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23570" marR="5080" indent="-228600">
              <a:lnSpc>
                <a:spcPts val="2810"/>
              </a:lnSpc>
              <a:buChar char="•"/>
              <a:tabLst>
                <a:tab pos="62357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sure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forwards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host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host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packet.</a:t>
            </a:r>
            <a:endParaRPr sz="2600">
              <a:latin typeface="Arial MT"/>
              <a:cs typeface="Arial MT"/>
            </a:endParaRPr>
          </a:p>
          <a:p>
            <a:pPr lvl="2" marL="1080770" marR="635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08077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layer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guarantee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receiver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correct.</a:t>
            </a:r>
            <a:endParaRPr sz="2600">
              <a:latin typeface="Arial MT"/>
              <a:cs typeface="Arial MT"/>
            </a:endParaRPr>
          </a:p>
          <a:p>
            <a:pPr lvl="2" marL="1080770" marR="8890" indent="-228600">
              <a:lnSpc>
                <a:spcPts val="2810"/>
              </a:lnSpc>
              <a:spcBef>
                <a:spcPts val="490"/>
              </a:spcBef>
              <a:buChar char="•"/>
              <a:tabLst>
                <a:tab pos="1080770" algn="l"/>
                <a:tab pos="2141855" algn="l"/>
                <a:tab pos="2812415" algn="l"/>
                <a:tab pos="3376295" algn="l"/>
                <a:tab pos="4324350" algn="l"/>
                <a:tab pos="4795520" algn="l"/>
                <a:tab pos="6535420" algn="l"/>
                <a:tab pos="7355840" algn="l"/>
                <a:tab pos="7857490" algn="l"/>
                <a:tab pos="9581515" algn="l"/>
                <a:tab pos="10070465" algn="l"/>
              </a:tabLst>
            </a:pPr>
            <a:r>
              <a:rPr dirty="0" sz="2600" spc="-10">
                <a:latin typeface="Arial MT"/>
                <a:cs typeface="Arial MT"/>
              </a:rPr>
              <a:t>There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are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no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ways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preventing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fake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addresses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other attacks.</a:t>
            </a:r>
            <a:endParaRPr sz="2600">
              <a:latin typeface="Arial MT"/>
              <a:cs typeface="Arial MT"/>
            </a:endParaRPr>
          </a:p>
          <a:p>
            <a:pPr lvl="3" marL="1537970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1537970" algn="l"/>
              </a:tabLst>
            </a:pPr>
            <a:r>
              <a:rPr dirty="0" sz="2600">
                <a:latin typeface="Arial MT"/>
                <a:cs typeface="Arial MT"/>
              </a:rPr>
              <a:t>According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philosophy,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left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higher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layers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79" y="1171344"/>
            <a:ext cx="8154816" cy="40480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2176" rIns="0" bIns="0" rtlCol="0" vert="horz">
            <a:spAutoFit/>
          </a:bodyPr>
          <a:lstStyle/>
          <a:p>
            <a:pPr marL="45593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latin typeface="Calibri"/>
                <a:cs typeface="Calibri"/>
              </a:rPr>
              <a:t>Mobile</a:t>
            </a:r>
            <a:r>
              <a:rPr dirty="0" sz="3200" spc="-90" b="0">
                <a:latin typeface="Calibri"/>
                <a:cs typeface="Calibri"/>
              </a:rPr>
              <a:t> </a:t>
            </a:r>
            <a:r>
              <a:rPr dirty="0" sz="3200" b="0">
                <a:latin typeface="Calibri"/>
                <a:cs typeface="Calibri"/>
              </a:rPr>
              <a:t>IP</a:t>
            </a:r>
            <a:r>
              <a:rPr dirty="0" sz="3200" spc="-85" b="0">
                <a:latin typeface="Calibri"/>
                <a:cs typeface="Calibri"/>
              </a:rPr>
              <a:t> </a:t>
            </a:r>
            <a:r>
              <a:rPr dirty="0" sz="3200" b="0">
                <a:latin typeface="Calibri"/>
                <a:cs typeface="Calibri"/>
              </a:rPr>
              <a:t>example</a:t>
            </a:r>
            <a:r>
              <a:rPr dirty="0" sz="3200" spc="-90" b="0">
                <a:latin typeface="Calibri"/>
                <a:cs typeface="Calibri"/>
              </a:rPr>
              <a:t> </a:t>
            </a:r>
            <a:r>
              <a:rPr dirty="0" sz="3200" spc="-10" b="0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712" rIns="0" bIns="0" rtlCol="0" vert="horz">
            <a:spAutoFit/>
          </a:bodyPr>
          <a:lstStyle/>
          <a:p>
            <a:pPr marL="383032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Mobile</a:t>
            </a:r>
            <a:r>
              <a:rPr dirty="0" sz="2900" spc="-55"/>
              <a:t> </a:t>
            </a:r>
            <a:r>
              <a:rPr dirty="0" sz="2900"/>
              <a:t>IP</a:t>
            </a:r>
            <a:r>
              <a:rPr dirty="0" sz="2900" spc="-70"/>
              <a:t> </a:t>
            </a:r>
            <a:r>
              <a:rPr dirty="0" sz="2900" spc="-10"/>
              <a:t>Entities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697788" y="974547"/>
            <a:ext cx="10857865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Arial"/>
                <a:cs typeface="Arial"/>
              </a:rPr>
              <a:t>Mobile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node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(MN)</a:t>
            </a:r>
            <a:endParaRPr sz="2600">
              <a:latin typeface="Arial"/>
              <a:cs typeface="Arial"/>
            </a:endParaRPr>
          </a:p>
          <a:p>
            <a:pPr algn="just" marL="926465" marR="6350" indent="-457200">
              <a:lnSpc>
                <a:spcPct val="100000"/>
              </a:lnSpc>
              <a:buChar char="•"/>
              <a:tabLst>
                <a:tab pos="926465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end-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change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point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attachment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IP.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marL="926465" marR="5080" indent="-457200">
              <a:lnSpc>
                <a:spcPct val="100000"/>
              </a:lnSpc>
              <a:buChar char="•"/>
              <a:tabLst>
                <a:tab pos="9264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3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keeps</a:t>
            </a:r>
            <a:r>
              <a:rPr dirty="0" sz="2600" spc="3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3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3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3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continuously</a:t>
            </a:r>
            <a:r>
              <a:rPr dirty="0" sz="2600" spc="3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communicate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2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any</a:t>
            </a:r>
            <a:r>
              <a:rPr dirty="0" sz="2600" spc="254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other</a:t>
            </a:r>
            <a:r>
              <a:rPr dirty="0" sz="2600" spc="2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2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2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25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2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long</a:t>
            </a:r>
            <a:r>
              <a:rPr dirty="0" sz="2600" spc="2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26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link-layer </a:t>
            </a:r>
            <a:r>
              <a:rPr dirty="0" sz="2600">
                <a:latin typeface="Arial MT"/>
                <a:cs typeface="Arial MT"/>
              </a:rPr>
              <a:t>connectivity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given.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marL="926465" marR="7620" indent="-457200">
              <a:lnSpc>
                <a:spcPct val="100000"/>
              </a:lnSpc>
              <a:buChar char="•"/>
              <a:tabLst>
                <a:tab pos="926465" algn="l"/>
              </a:tabLst>
            </a:pP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5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nodes</a:t>
            </a:r>
            <a:r>
              <a:rPr dirty="0" sz="2600" spc="5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5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5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necessarily</a:t>
            </a:r>
            <a:r>
              <a:rPr dirty="0" sz="2600" spc="5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small</a:t>
            </a:r>
            <a:r>
              <a:rPr dirty="0" sz="2600" spc="5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devices</a:t>
            </a:r>
            <a:r>
              <a:rPr dirty="0" sz="2600" spc="5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such</a:t>
            </a:r>
            <a:r>
              <a:rPr dirty="0" sz="2600" spc="5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5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laptops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antennas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phones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0891" rIns="0" bIns="0" rtlCol="0" vert="horz">
            <a:spAutoFit/>
          </a:bodyPr>
          <a:lstStyle/>
          <a:p>
            <a:pPr marL="3797935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Mobile</a:t>
            </a:r>
            <a:r>
              <a:rPr dirty="0" sz="2900" spc="-50"/>
              <a:t> </a:t>
            </a:r>
            <a:r>
              <a:rPr dirty="0" sz="2900"/>
              <a:t>IP</a:t>
            </a:r>
            <a:r>
              <a:rPr dirty="0" sz="2900" spc="-65"/>
              <a:t> </a:t>
            </a:r>
            <a:r>
              <a:rPr dirty="0" sz="2900" spc="-10"/>
              <a:t>Entities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754481" y="1153159"/>
            <a:ext cx="10854055" cy="39801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Arial"/>
                <a:cs typeface="Arial"/>
              </a:rPr>
              <a:t>Correspondent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node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(CN)</a:t>
            </a:r>
            <a:endParaRPr sz="2600">
              <a:latin typeface="Arial"/>
              <a:cs typeface="Arial"/>
            </a:endParaRPr>
          </a:p>
          <a:p>
            <a:pPr marL="926465" indent="-456565">
              <a:lnSpc>
                <a:spcPct val="100000"/>
              </a:lnSpc>
              <a:buChar char="•"/>
              <a:tabLst>
                <a:tab pos="926465" algn="l"/>
              </a:tabLst>
            </a:pP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least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partner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needed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communication.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926465" indent="-456565">
              <a:lnSpc>
                <a:spcPct val="100000"/>
              </a:lnSpc>
              <a:spcBef>
                <a:spcPts val="5"/>
              </a:spcBef>
              <a:buChar char="•"/>
              <a:tabLst>
                <a:tab pos="9264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fixed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node.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600" b="1">
                <a:latin typeface="Arial"/>
                <a:cs typeface="Arial"/>
              </a:rPr>
              <a:t>Home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network</a:t>
            </a:r>
            <a:endParaRPr sz="2600">
              <a:latin typeface="Arial"/>
              <a:cs typeface="Arial"/>
            </a:endParaRPr>
          </a:p>
          <a:p>
            <a:pPr marL="927100" marR="5080" indent="-457834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belongs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respect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926465" indent="-456565">
              <a:lnSpc>
                <a:spcPct val="100000"/>
              </a:lnSpc>
              <a:buChar char="•"/>
              <a:tabLst>
                <a:tab pos="926465" algn="l"/>
              </a:tabLst>
            </a:pPr>
            <a:r>
              <a:rPr dirty="0" sz="2600">
                <a:latin typeface="Arial MT"/>
                <a:cs typeface="Arial MT"/>
              </a:rPr>
              <a:t>No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support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needed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within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1555" y="1073022"/>
            <a:ext cx="10720705" cy="5186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965"/>
              </a:lnSpc>
              <a:spcBef>
                <a:spcPts val="105"/>
              </a:spcBef>
            </a:pPr>
            <a:r>
              <a:rPr dirty="0" sz="2600" b="1">
                <a:latin typeface="Arial"/>
                <a:cs typeface="Arial"/>
              </a:rPr>
              <a:t>Foreign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network</a:t>
            </a:r>
            <a:endParaRPr sz="2600">
              <a:latin typeface="Arial"/>
              <a:cs typeface="Arial"/>
            </a:endParaRPr>
          </a:p>
          <a:p>
            <a:pPr algn="just" marL="927100" marR="5080" indent="-457200">
              <a:lnSpc>
                <a:spcPts val="2810"/>
              </a:lnSpc>
              <a:spcBef>
                <a:spcPts val="195"/>
              </a:spcBef>
              <a:buChar char="•"/>
              <a:tabLst>
                <a:tab pos="9271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current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visits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which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12700">
              <a:lnSpc>
                <a:spcPts val="2965"/>
              </a:lnSpc>
            </a:pPr>
            <a:r>
              <a:rPr dirty="0" sz="2600" b="1">
                <a:latin typeface="Arial"/>
                <a:cs typeface="Arial"/>
              </a:rPr>
              <a:t>Foreign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10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(FA)</a:t>
            </a:r>
            <a:endParaRPr sz="2600">
              <a:latin typeface="Arial"/>
              <a:cs typeface="Arial"/>
            </a:endParaRPr>
          </a:p>
          <a:p>
            <a:pPr algn="just" marL="927100" marR="8255" indent="-457200">
              <a:lnSpc>
                <a:spcPts val="2810"/>
              </a:lnSpc>
              <a:spcBef>
                <a:spcPts val="195"/>
              </a:spcBef>
              <a:buChar char="•"/>
              <a:tabLst>
                <a:tab pos="927100" algn="l"/>
              </a:tabLst>
            </a:pP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48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provide</a:t>
            </a:r>
            <a:r>
              <a:rPr dirty="0" sz="2600" spc="5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several</a:t>
            </a:r>
            <a:r>
              <a:rPr dirty="0" sz="2600" spc="4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services</a:t>
            </a:r>
            <a:r>
              <a:rPr dirty="0" sz="2600" spc="5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during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visit</a:t>
            </a:r>
            <a:r>
              <a:rPr dirty="0" sz="2600" spc="48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4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 algn="just" marL="927735" indent="-457834">
              <a:lnSpc>
                <a:spcPts val="2610"/>
              </a:lnSpc>
              <a:buChar char="•"/>
              <a:tabLst>
                <a:tab pos="92773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10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1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1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COA,</a:t>
            </a:r>
            <a:r>
              <a:rPr dirty="0" sz="2600" spc="1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acting</a:t>
            </a:r>
            <a:r>
              <a:rPr dirty="0" sz="2600" spc="18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1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tunnel</a:t>
            </a:r>
            <a:r>
              <a:rPr dirty="0" sz="2600" spc="18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endpoint</a:t>
            </a:r>
            <a:r>
              <a:rPr dirty="0" sz="2600" spc="170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and</a:t>
            </a:r>
            <a:endParaRPr sz="2600">
              <a:latin typeface="Arial MT"/>
              <a:cs typeface="Arial MT"/>
            </a:endParaRPr>
          </a:p>
          <a:p>
            <a:pPr algn="just" marL="927100">
              <a:lnSpc>
                <a:spcPts val="2810"/>
              </a:lnSpc>
            </a:pPr>
            <a:r>
              <a:rPr dirty="0" sz="2600">
                <a:latin typeface="Arial MT"/>
                <a:cs typeface="Arial MT"/>
              </a:rPr>
              <a:t>forwarding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MN.</a:t>
            </a:r>
            <a:endParaRPr sz="2600">
              <a:latin typeface="Arial MT"/>
              <a:cs typeface="Arial MT"/>
            </a:endParaRPr>
          </a:p>
          <a:p>
            <a:pPr algn="just" marL="927735" indent="-457834">
              <a:lnSpc>
                <a:spcPts val="2810"/>
              </a:lnSpc>
              <a:buChar char="•"/>
              <a:tabLst>
                <a:tab pos="92773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FA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default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MN.</a:t>
            </a:r>
            <a:endParaRPr sz="2600">
              <a:latin typeface="Arial MT"/>
              <a:cs typeface="Arial MT"/>
            </a:endParaRPr>
          </a:p>
          <a:p>
            <a:pPr algn="just" marL="927735" indent="-457834">
              <a:lnSpc>
                <a:spcPts val="2810"/>
              </a:lnSpc>
              <a:buChar char="•"/>
              <a:tabLst>
                <a:tab pos="927735" algn="l"/>
              </a:tabLst>
            </a:pPr>
            <a:r>
              <a:rPr dirty="0" sz="2600">
                <a:latin typeface="Arial MT"/>
                <a:cs typeface="Arial MT"/>
              </a:rPr>
              <a:t>FAs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also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provide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security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services</a:t>
            </a:r>
            <a:endParaRPr sz="2600">
              <a:latin typeface="Arial MT"/>
              <a:cs typeface="Arial MT"/>
            </a:endParaRPr>
          </a:p>
          <a:p>
            <a:pPr algn="just" marL="927100" marR="5080" indent="-457200">
              <a:lnSpc>
                <a:spcPts val="2810"/>
              </a:lnSpc>
              <a:spcBef>
                <a:spcPts val="195"/>
              </a:spcBef>
              <a:buChar char="•"/>
              <a:tabLst>
                <a:tab pos="927100" algn="l"/>
              </a:tabLst>
            </a:pP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204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19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functioning,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FAs</a:t>
            </a:r>
            <a:r>
              <a:rPr dirty="0" sz="2600" spc="21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2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21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necessarily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needed. Typically,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implemented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 </a:t>
            </a:r>
            <a:r>
              <a:rPr dirty="0" sz="2600">
                <a:latin typeface="Arial MT"/>
                <a:cs typeface="Arial MT"/>
              </a:rPr>
              <a:t>attaches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608" rIns="0" bIns="0" rtlCol="0" vert="horz">
            <a:spAutoFit/>
          </a:bodyPr>
          <a:lstStyle/>
          <a:p>
            <a:pPr marL="383032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Mobile</a:t>
            </a:r>
            <a:r>
              <a:rPr dirty="0" sz="2900" spc="-50"/>
              <a:t> </a:t>
            </a:r>
            <a:r>
              <a:rPr dirty="0" sz="2900"/>
              <a:t>IP</a:t>
            </a:r>
            <a:r>
              <a:rPr dirty="0" sz="2900" spc="-65"/>
              <a:t> </a:t>
            </a:r>
            <a:r>
              <a:rPr dirty="0" sz="2900" spc="-10"/>
              <a:t>Entities</a:t>
            </a:r>
            <a:endParaRPr sz="2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6887" y="419455"/>
            <a:ext cx="10711180" cy="630237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600" spc="-10" b="1">
                <a:latin typeface="Arial"/>
                <a:cs typeface="Arial"/>
              </a:rPr>
              <a:t>Care-</a:t>
            </a:r>
            <a:r>
              <a:rPr dirty="0" sz="2600" b="1">
                <a:latin typeface="Arial"/>
                <a:cs typeface="Arial"/>
              </a:rPr>
              <a:t>of</a:t>
            </a:r>
            <a:r>
              <a:rPr dirty="0" sz="2600" spc="-2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address</a:t>
            </a:r>
            <a:r>
              <a:rPr dirty="0" sz="2600" spc="-3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(COA)</a:t>
            </a:r>
            <a:endParaRPr sz="2600">
              <a:latin typeface="Arial"/>
              <a:cs typeface="Arial"/>
            </a:endParaRPr>
          </a:p>
          <a:p>
            <a:pPr algn="just" marL="698500" indent="-228600">
              <a:lnSpc>
                <a:spcPct val="100000"/>
              </a:lnSpc>
              <a:spcBef>
                <a:spcPts val="18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defines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current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location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MN</a:t>
            </a:r>
            <a:endParaRPr sz="2600">
              <a:latin typeface="Arial MT"/>
              <a:cs typeface="Arial MT"/>
            </a:endParaRPr>
          </a:p>
          <a:p>
            <a:pPr algn="just" marL="698500" marR="10795" indent="-229235">
              <a:lnSpc>
                <a:spcPct val="9000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sent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delivered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COA,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directly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 of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MN.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delivery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toward the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 is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done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0">
                <a:latin typeface="Arial MT"/>
                <a:cs typeface="Arial MT"/>
              </a:rPr>
              <a:t> tunnel.</a:t>
            </a:r>
            <a:endParaRPr sz="2600">
              <a:latin typeface="Arial MT"/>
              <a:cs typeface="Arial MT"/>
            </a:endParaRPr>
          </a:p>
          <a:p>
            <a:pPr algn="just" marL="698500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There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two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different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possibilities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location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COA:</a:t>
            </a:r>
            <a:endParaRPr sz="2600">
              <a:latin typeface="Arial MT"/>
              <a:cs typeface="Arial MT"/>
            </a:endParaRPr>
          </a:p>
          <a:p>
            <a:pPr algn="just" lvl="1" marL="1155700" marR="10795" indent="-22860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 b="1">
                <a:latin typeface="Arial"/>
                <a:cs typeface="Arial"/>
              </a:rPr>
              <a:t>Foreign</a:t>
            </a:r>
            <a:r>
              <a:rPr dirty="0" sz="2600" spc="19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18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COA:</a:t>
            </a:r>
            <a:r>
              <a:rPr dirty="0" sz="2600" spc="18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could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1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located</a:t>
            </a:r>
            <a:r>
              <a:rPr dirty="0" sz="2600" spc="2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FA,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i.e.,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FA.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can </a:t>
            </a:r>
            <a:r>
              <a:rPr dirty="0" sz="2600">
                <a:latin typeface="Arial MT"/>
                <a:cs typeface="Arial MT"/>
              </a:rPr>
              <a:t>share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-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 common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  <a:p>
            <a:pPr lvl="1" marL="11557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 b="1">
                <a:latin typeface="Arial"/>
                <a:cs typeface="Arial"/>
              </a:rPr>
              <a:t>Co-located</a:t>
            </a:r>
            <a:r>
              <a:rPr dirty="0" sz="2600" spc="-95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COA:</a:t>
            </a:r>
            <a:endParaRPr sz="2600">
              <a:latin typeface="Arial"/>
              <a:cs typeface="Arial"/>
            </a:endParaRPr>
          </a:p>
          <a:p>
            <a:pPr lvl="2" marL="1612900" marR="11430" indent="-228600">
              <a:lnSpc>
                <a:spcPts val="2810"/>
              </a:lnSpc>
              <a:spcBef>
                <a:spcPts val="540"/>
              </a:spcBef>
              <a:buChar char="•"/>
              <a:tabLst>
                <a:tab pos="1612900" algn="l"/>
                <a:tab pos="2365375" algn="l"/>
                <a:tab pos="3243580" algn="l"/>
                <a:tab pos="3663950" algn="l"/>
                <a:tab pos="5371465" algn="l"/>
                <a:tab pos="5716905" algn="l"/>
                <a:tab pos="6360795" algn="l"/>
                <a:tab pos="7057390" algn="l"/>
                <a:tab pos="8870950" algn="l"/>
                <a:tab pos="1032192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COA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co-</a:t>
            </a:r>
            <a:r>
              <a:rPr dirty="0" sz="2600" spc="-10">
                <a:latin typeface="Arial MT"/>
                <a:cs typeface="Arial MT"/>
              </a:rPr>
              <a:t>located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temporarily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acquired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 </a:t>
            </a:r>
            <a:r>
              <a:rPr dirty="0" sz="2600">
                <a:latin typeface="Arial MT"/>
                <a:cs typeface="Arial MT"/>
              </a:rPr>
              <a:t>additional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acts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  <a:p>
            <a:pPr lvl="3" marL="2070100" marR="5080" indent="-228600">
              <a:lnSpc>
                <a:spcPts val="2810"/>
              </a:lnSpc>
              <a:spcBef>
                <a:spcPts val="495"/>
              </a:spcBef>
              <a:buChar char="•"/>
              <a:tabLst>
                <a:tab pos="20701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topologically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correct, acquired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DHCP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endpoint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MN.</a:t>
            </a:r>
            <a:endParaRPr sz="2600">
              <a:latin typeface="Arial MT"/>
              <a:cs typeface="Arial MT"/>
            </a:endParaRPr>
          </a:p>
          <a:p>
            <a:pPr lvl="3" marL="2070100" marR="12700" indent="-228600">
              <a:lnSpc>
                <a:spcPts val="2810"/>
              </a:lnSpc>
              <a:spcBef>
                <a:spcPts val="495"/>
              </a:spcBef>
              <a:buChar char="•"/>
              <a:tabLst>
                <a:tab pos="2070100" algn="l"/>
              </a:tabLst>
            </a:pP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problem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associated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approach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for </a:t>
            </a:r>
            <a:r>
              <a:rPr dirty="0" sz="2600">
                <a:latin typeface="Arial MT"/>
                <a:cs typeface="Arial MT"/>
              </a:rPr>
              <a:t>additional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addresses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9394" y="-67310"/>
            <a:ext cx="3067685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Mobile</a:t>
            </a:r>
            <a:r>
              <a:rPr dirty="0" sz="2900" spc="-45"/>
              <a:t> </a:t>
            </a:r>
            <a:r>
              <a:rPr dirty="0" sz="2900"/>
              <a:t>IP</a:t>
            </a:r>
            <a:r>
              <a:rPr dirty="0" sz="2900" spc="-60"/>
              <a:t> </a:t>
            </a:r>
            <a:r>
              <a:rPr dirty="0" sz="2900" spc="-10"/>
              <a:t>Entities</a:t>
            </a:r>
            <a:endParaRPr sz="2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3540" y="550508"/>
            <a:ext cx="11148695" cy="3259454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dirty="0" sz="2600" b="1">
                <a:latin typeface="Arial"/>
                <a:cs typeface="Arial"/>
              </a:rPr>
              <a:t>Home</a:t>
            </a:r>
            <a:r>
              <a:rPr dirty="0" sz="2600" spc="-3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30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(HA)</a:t>
            </a:r>
            <a:endParaRPr sz="2600">
              <a:latin typeface="Arial"/>
              <a:cs typeface="Arial"/>
            </a:endParaRPr>
          </a:p>
          <a:p>
            <a:pPr marL="698500" marR="6350" indent="-228600">
              <a:lnSpc>
                <a:spcPts val="2810"/>
              </a:lnSpc>
              <a:spcBef>
                <a:spcPts val="535"/>
              </a:spcBef>
              <a:buChar char="•"/>
              <a:tabLst>
                <a:tab pos="698500" algn="l"/>
                <a:tab pos="1433195" algn="l"/>
                <a:tab pos="2037714" algn="l"/>
                <a:tab pos="3451225" algn="l"/>
                <a:tab pos="4679315" algn="l"/>
                <a:tab pos="6055995" algn="l"/>
                <a:tab pos="6604634" algn="l"/>
                <a:tab pos="7227570" algn="l"/>
                <a:tab pos="7906384" algn="l"/>
                <a:tab pos="8621395" algn="l"/>
                <a:tab pos="9023350" algn="l"/>
                <a:tab pos="10253345" algn="l"/>
                <a:tab pos="10674350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HA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provides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several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services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located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6985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toward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starts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HA.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698500" indent="-228600">
              <a:lnSpc>
                <a:spcPts val="2965"/>
              </a:lnSpc>
              <a:buChar char="•"/>
              <a:tabLst>
                <a:tab pos="698500" algn="l"/>
                <a:tab pos="1420495" algn="l"/>
                <a:tab pos="3580765" algn="l"/>
                <a:tab pos="3917315" algn="l"/>
                <a:tab pos="5209540" algn="l"/>
                <a:tab pos="6513195" algn="l"/>
                <a:tab pos="7197090" algn="l"/>
                <a:tab pos="7515859" algn="l"/>
                <a:tab pos="7909559" algn="l"/>
                <a:tab pos="9347835" algn="l"/>
                <a:tab pos="9776460" algn="l"/>
                <a:tab pos="1038923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HA</a:t>
            </a:r>
            <a:r>
              <a:rPr dirty="0" sz="2600" spc="3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maintains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location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registry,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i.e.,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informed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MN’s</a:t>
            </a:r>
            <a:endParaRPr sz="2600">
              <a:latin typeface="Arial MT"/>
              <a:cs typeface="Arial MT"/>
            </a:endParaRPr>
          </a:p>
          <a:p>
            <a:pPr marL="698500">
              <a:lnSpc>
                <a:spcPts val="2965"/>
              </a:lnSpc>
            </a:pPr>
            <a:r>
              <a:rPr dirty="0" sz="2600">
                <a:latin typeface="Arial MT"/>
                <a:cs typeface="Arial MT"/>
              </a:rPr>
              <a:t>location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current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0790" y="101600"/>
            <a:ext cx="3067050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Mobile</a:t>
            </a:r>
            <a:r>
              <a:rPr dirty="0" sz="2900" spc="-50"/>
              <a:t> </a:t>
            </a:r>
            <a:r>
              <a:rPr dirty="0" sz="2900"/>
              <a:t>IP</a:t>
            </a:r>
            <a:r>
              <a:rPr dirty="0" sz="2900" spc="-65"/>
              <a:t> </a:t>
            </a:r>
            <a:r>
              <a:rPr dirty="0" sz="2900" spc="-10"/>
              <a:t>Entities</a:t>
            </a:r>
            <a:endParaRPr sz="2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3540" y="550508"/>
            <a:ext cx="11150600" cy="546354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84"/>
              </a:spcBef>
            </a:pPr>
            <a:r>
              <a:rPr dirty="0" sz="2600">
                <a:latin typeface="Arial MT"/>
                <a:cs typeface="Arial MT"/>
              </a:rPr>
              <a:t>Three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alternatives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implementation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-1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exist.</a:t>
            </a:r>
            <a:endParaRPr sz="2600">
              <a:latin typeface="Arial MT"/>
              <a:cs typeface="Arial MT"/>
            </a:endParaRPr>
          </a:p>
          <a:p>
            <a:pPr algn="just" marL="984885" indent="-514984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98488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implemented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 algn="just" lvl="1" marL="1155700" marR="762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obviously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best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position,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because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without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optimizations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5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IP,</a:t>
            </a:r>
            <a:r>
              <a:rPr dirty="0" sz="2600" spc="5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5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5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5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5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5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5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go</a:t>
            </a:r>
            <a:r>
              <a:rPr dirty="0" sz="2600" spc="5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through</a:t>
            </a:r>
            <a:r>
              <a:rPr dirty="0" sz="2600" spc="5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router anyway.</a:t>
            </a:r>
            <a:endParaRPr sz="2600">
              <a:latin typeface="Arial MT"/>
              <a:cs typeface="Arial MT"/>
            </a:endParaRPr>
          </a:p>
          <a:p>
            <a:pPr algn="just" marL="984885" marR="5080" indent="-515620">
              <a:lnSpc>
                <a:spcPts val="2810"/>
              </a:lnSpc>
              <a:spcBef>
                <a:spcPts val="500"/>
              </a:spcBef>
              <a:buAutoNum type="arabicPeriod"/>
              <a:tabLst>
                <a:tab pos="98488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changing the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router’s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software is not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possible,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 HA</a:t>
            </a:r>
            <a:r>
              <a:rPr dirty="0" sz="2600" spc="-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could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also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be </a:t>
            </a:r>
            <a:r>
              <a:rPr dirty="0" sz="2600">
                <a:latin typeface="Arial MT"/>
                <a:cs typeface="Arial MT"/>
              </a:rPr>
              <a:t>implemented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arbitrary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subnet.</a:t>
            </a:r>
            <a:endParaRPr sz="2600">
              <a:latin typeface="Arial MT"/>
              <a:cs typeface="Arial MT"/>
            </a:endParaRPr>
          </a:p>
          <a:p>
            <a:pPr algn="just" lvl="1" marL="1155700" marR="5715" indent="-228600">
              <a:lnSpc>
                <a:spcPts val="2810"/>
              </a:lnSpc>
              <a:spcBef>
                <a:spcPts val="489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disadvantage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solution</a:t>
            </a:r>
            <a:r>
              <a:rPr dirty="0" sz="2600" spc="-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double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crossing</a:t>
            </a:r>
            <a:r>
              <a:rPr dirty="0" sz="2600" spc="6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network.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-1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sends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through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again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crosses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router.</a:t>
            </a:r>
            <a:endParaRPr sz="2600">
              <a:latin typeface="Arial MT"/>
              <a:cs typeface="Arial MT"/>
            </a:endParaRPr>
          </a:p>
          <a:p>
            <a:pPr algn="just" marL="984885" marR="5080" indent="-515620">
              <a:lnSpc>
                <a:spcPts val="2810"/>
              </a:lnSpc>
              <a:spcBef>
                <a:spcPts val="500"/>
              </a:spcBef>
              <a:buAutoNum type="arabicPeriod"/>
              <a:tabLst>
                <a:tab pos="984885" algn="l"/>
              </a:tabLst>
            </a:pPr>
            <a:r>
              <a:rPr dirty="0" sz="2600">
                <a:latin typeface="Arial MT"/>
                <a:cs typeface="Arial MT"/>
              </a:rPr>
              <a:t>Finally,</a:t>
            </a:r>
            <a:r>
              <a:rPr dirty="0" sz="2600" spc="4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4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4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4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necessary</a:t>
            </a:r>
            <a:r>
              <a:rPr dirty="0" sz="2600" spc="4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4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all.</a:t>
            </a:r>
            <a:r>
              <a:rPr dirty="0" sz="2600" spc="4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3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could</a:t>
            </a:r>
            <a:r>
              <a:rPr dirty="0" sz="2600" spc="4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be </a:t>
            </a:r>
            <a:r>
              <a:rPr dirty="0" sz="2600">
                <a:latin typeface="Arial MT"/>
                <a:cs typeface="Arial MT"/>
              </a:rPr>
              <a:t>again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‘router’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but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only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acting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manager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MNs </a:t>
            </a:r>
            <a:r>
              <a:rPr dirty="0" sz="2600">
                <a:latin typeface="Arial MT"/>
                <a:cs typeface="Arial MT"/>
              </a:rPr>
              <a:t>belonging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virtual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 algn="just" lvl="1" marL="1155700" indent="-228600">
              <a:lnSpc>
                <a:spcPct val="100000"/>
              </a:lnSpc>
              <a:spcBef>
                <a:spcPts val="14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always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 foreign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10">
                <a:latin typeface="Arial MT"/>
                <a:cs typeface="Arial MT"/>
              </a:rPr>
              <a:t> solution.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0790" y="101600"/>
            <a:ext cx="3067050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Mobile</a:t>
            </a:r>
            <a:r>
              <a:rPr dirty="0" sz="2900" spc="-50"/>
              <a:t> </a:t>
            </a:r>
            <a:r>
              <a:rPr dirty="0" sz="2900"/>
              <a:t>IP</a:t>
            </a:r>
            <a:r>
              <a:rPr dirty="0" sz="2900" spc="-65"/>
              <a:t> </a:t>
            </a:r>
            <a:r>
              <a:rPr dirty="0" sz="2900" spc="-10"/>
              <a:t>Entities</a:t>
            </a:r>
            <a:endParaRPr sz="2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017" rIns="0" bIns="0" rtlCol="0" vert="horz">
            <a:spAutoFit/>
          </a:bodyPr>
          <a:lstStyle/>
          <a:p>
            <a:pPr marL="62928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IP</a:t>
            </a:r>
            <a:r>
              <a:rPr dirty="0" sz="3200" spc="-75"/>
              <a:t> </a:t>
            </a:r>
            <a:r>
              <a:rPr dirty="0" sz="3200"/>
              <a:t>packet</a:t>
            </a:r>
            <a:r>
              <a:rPr dirty="0" sz="3200" spc="-30"/>
              <a:t> </a:t>
            </a:r>
            <a:r>
              <a:rPr dirty="0" sz="3200" spc="-10"/>
              <a:t>delivery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7992" y="548807"/>
            <a:ext cx="6008681" cy="42780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5848" y="1193749"/>
            <a:ext cx="4709795" cy="1215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correspondent</a:t>
            </a:r>
            <a:r>
              <a:rPr dirty="0" sz="2600" spc="39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390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CN </a:t>
            </a:r>
            <a:r>
              <a:rPr dirty="0" sz="2600">
                <a:latin typeface="Arial MT"/>
                <a:cs typeface="Arial MT"/>
              </a:rPr>
              <a:t>wants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 packet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MN.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CN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2665" y="2383027"/>
            <a:ext cx="79756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20">
                <a:latin typeface="Arial MT"/>
                <a:cs typeface="Arial MT"/>
              </a:rPr>
              <a:t>know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600" spc="-20">
                <a:latin typeface="Arial MT"/>
                <a:cs typeface="Arial MT"/>
              </a:rPr>
              <a:t>MN’s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58823" y="2383027"/>
            <a:ext cx="336804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5"/>
              </a:spcBef>
              <a:tabLst>
                <a:tab pos="1350645" algn="l"/>
                <a:tab pos="1702435" algn="l"/>
                <a:tab pos="2801620" algn="l"/>
                <a:tab pos="2891155" algn="l"/>
              </a:tabLst>
            </a:pPr>
            <a:r>
              <a:rPr dirty="0" sz="2600" spc="-10">
                <a:latin typeface="Arial MT"/>
                <a:cs typeface="Arial MT"/>
              </a:rPr>
              <a:t>anything</a:t>
            </a:r>
            <a:r>
              <a:rPr dirty="0" sz="2600">
                <a:latin typeface="Arial MT"/>
                <a:cs typeface="Arial MT"/>
              </a:rPr>
              <a:t>		</a:t>
            </a:r>
            <a:r>
              <a:rPr dirty="0" sz="2600" spc="-20">
                <a:latin typeface="Arial MT"/>
                <a:cs typeface="Arial MT"/>
              </a:rPr>
              <a:t>about</a:t>
            </a:r>
            <a:r>
              <a:rPr dirty="0" sz="2600">
                <a:latin typeface="Arial MT"/>
                <a:cs typeface="Arial MT"/>
              </a:rPr>
              <a:t>		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 spc="-10">
                <a:latin typeface="Arial MT"/>
                <a:cs typeface="Arial MT"/>
              </a:rPr>
              <a:t>current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location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and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6925" y="3175762"/>
            <a:ext cx="10719435" cy="298450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just" marL="218440" marR="6095365">
              <a:lnSpc>
                <a:spcPct val="98800"/>
              </a:lnSpc>
              <a:spcBef>
                <a:spcPts val="140"/>
              </a:spcBef>
            </a:pPr>
            <a:r>
              <a:rPr dirty="0" sz="2600">
                <a:latin typeface="Arial MT"/>
                <a:cs typeface="Arial MT"/>
              </a:rPr>
              <a:t>sends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usual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3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address  of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-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(step </a:t>
            </a:r>
            <a:r>
              <a:rPr dirty="0" sz="2600" spc="-25">
                <a:latin typeface="Arial MT"/>
                <a:cs typeface="Arial MT"/>
              </a:rPr>
              <a:t>1).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6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internet</a:t>
            </a:r>
            <a:r>
              <a:rPr dirty="0" sz="2600" spc="2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routes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2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2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responsible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home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MN.</a:t>
            </a:r>
            <a:endParaRPr sz="2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standard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mechanisms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internet.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503" rIns="0" bIns="0" rtlCol="0" vert="horz">
            <a:spAutoFit/>
          </a:bodyPr>
          <a:lstStyle/>
          <a:p>
            <a:pPr marL="140398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IP</a:t>
            </a:r>
            <a:r>
              <a:rPr dirty="0" sz="3200" spc="-85"/>
              <a:t> </a:t>
            </a:r>
            <a:r>
              <a:rPr dirty="0" sz="3200"/>
              <a:t>packet</a:t>
            </a:r>
            <a:r>
              <a:rPr dirty="0" sz="3200" spc="-40"/>
              <a:t> </a:t>
            </a:r>
            <a:r>
              <a:rPr dirty="0" sz="3200" spc="-10"/>
              <a:t>delivery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9991" y="448995"/>
            <a:ext cx="6008680" cy="407294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61543" y="1557985"/>
            <a:ext cx="161544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1141730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HA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68144" y="1954783"/>
            <a:ext cx="281495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80185" algn="l"/>
                <a:tab pos="2286635" algn="l"/>
              </a:tabLst>
            </a:pPr>
            <a:r>
              <a:rPr dirty="0" sz="2600" spc="-10">
                <a:latin typeface="Arial MT"/>
                <a:cs typeface="Arial MT"/>
              </a:rPr>
              <a:t>knowing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that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2839" y="1557985"/>
            <a:ext cx="307086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  <a:tabLst>
                <a:tab pos="878840" algn="l"/>
                <a:tab pos="2584450" algn="l"/>
              </a:tabLst>
            </a:pPr>
            <a:r>
              <a:rPr dirty="0" sz="2600" spc="-25">
                <a:latin typeface="Arial MT"/>
                <a:cs typeface="Arial MT"/>
              </a:rPr>
              <a:t>now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intercepts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endParaRPr sz="2600">
              <a:latin typeface="Arial MT"/>
              <a:cs typeface="Arial MT"/>
            </a:endParaRPr>
          </a:p>
          <a:p>
            <a:pPr algn="r" marR="6985">
              <a:lnSpc>
                <a:spcPct val="100000"/>
              </a:lnSpc>
            </a:pPr>
            <a:r>
              <a:rPr dirty="0" sz="2600" spc="-25">
                <a:latin typeface="Arial MT"/>
                <a:cs typeface="Arial MT"/>
              </a:rPr>
              <a:t>is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79039" y="2351024"/>
            <a:ext cx="299402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6930" algn="l"/>
                <a:tab pos="1458595" algn="l"/>
                <a:tab pos="2153920" algn="l"/>
              </a:tabLst>
            </a:pPr>
            <a:r>
              <a:rPr dirty="0" sz="2600" spc="-25">
                <a:latin typeface="Arial MT"/>
                <a:cs typeface="Arial MT"/>
              </a:rPr>
              <a:t>not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home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8055" y="1954783"/>
            <a:ext cx="1294130" cy="1214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latin typeface="Arial MT"/>
                <a:cs typeface="Arial MT"/>
              </a:rPr>
              <a:t>packet, currently network.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1543" y="3143199"/>
            <a:ext cx="10772775" cy="2482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9085" marR="586422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1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4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13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forwarded </a:t>
            </a:r>
            <a:r>
              <a:rPr dirty="0" sz="2600">
                <a:latin typeface="Arial MT"/>
                <a:cs typeface="Arial MT"/>
              </a:rPr>
              <a:t>into</a:t>
            </a:r>
            <a:r>
              <a:rPr dirty="0" sz="2600" spc="-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-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usual,</a:t>
            </a:r>
            <a:r>
              <a:rPr dirty="0" sz="2600" spc="-25">
                <a:latin typeface="Arial MT"/>
                <a:cs typeface="Arial MT"/>
              </a:rPr>
              <a:t>  but </a:t>
            </a:r>
            <a:r>
              <a:rPr dirty="0" sz="2600">
                <a:latin typeface="Arial MT"/>
                <a:cs typeface="Arial MT"/>
              </a:rPr>
              <a:t>encapsulated</a:t>
            </a:r>
            <a:r>
              <a:rPr dirty="0" sz="2600" spc="5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5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tunneled</a:t>
            </a:r>
            <a:r>
              <a:rPr dirty="0" sz="2600" spc="5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header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put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front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old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header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showing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as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-1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source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encapsulated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(step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2).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834" rIns="0" bIns="0" rtlCol="0" vert="horz">
            <a:spAutoFit/>
          </a:bodyPr>
          <a:lstStyle/>
          <a:p>
            <a:pPr marL="140398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IP</a:t>
            </a:r>
            <a:r>
              <a:rPr dirty="0" sz="3200" spc="-85"/>
              <a:t> </a:t>
            </a:r>
            <a:r>
              <a:rPr dirty="0" sz="3200"/>
              <a:t>packet</a:t>
            </a:r>
            <a:r>
              <a:rPr dirty="0" sz="3200" spc="-40"/>
              <a:t> </a:t>
            </a:r>
            <a:r>
              <a:rPr dirty="0" sz="3200" spc="-10"/>
              <a:t>delivery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9859" y="311327"/>
            <a:ext cx="5032168" cy="407294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5744" y="1885010"/>
            <a:ext cx="5873115" cy="3593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4965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now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de-</a:t>
            </a:r>
            <a:r>
              <a:rPr dirty="0" sz="2600" spc="-10">
                <a:latin typeface="Arial MT"/>
                <a:cs typeface="Arial MT"/>
              </a:rPr>
              <a:t>capsulates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8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packet,</a:t>
            </a:r>
            <a:r>
              <a:rPr dirty="0" sz="2600" spc="39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39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removes</a:t>
            </a:r>
            <a:r>
              <a:rPr dirty="0" sz="2600" spc="385">
                <a:latin typeface="Arial MT"/>
                <a:cs typeface="Arial MT"/>
              </a:rPr>
              <a:t>  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additional</a:t>
            </a:r>
            <a:r>
              <a:rPr dirty="0" sz="2600" spc="5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header,</a:t>
            </a:r>
            <a:r>
              <a:rPr dirty="0" sz="2600" spc="5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5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forwards</a:t>
            </a:r>
            <a:r>
              <a:rPr dirty="0" sz="2600" spc="56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original</a:t>
            </a:r>
            <a:r>
              <a:rPr dirty="0" sz="2600" spc="9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10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0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CN</a:t>
            </a:r>
            <a:r>
              <a:rPr dirty="0" sz="2600" spc="9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9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source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MN </a:t>
            </a:r>
            <a:r>
              <a:rPr dirty="0" sz="2600">
                <a:latin typeface="Arial MT"/>
                <a:cs typeface="Arial MT"/>
              </a:rPr>
              <a:t>(step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3).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marL="354965" marR="6985" indent="-34290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600">
                <a:latin typeface="Arial MT"/>
                <a:cs typeface="Arial MT"/>
              </a:rPr>
              <a:t>Again,</a:t>
            </a:r>
            <a:r>
              <a:rPr dirty="0" sz="2600" spc="1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1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1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75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not </a:t>
            </a:r>
            <a:r>
              <a:rPr dirty="0" sz="2600" spc="-10">
                <a:latin typeface="Arial MT"/>
                <a:cs typeface="Arial MT"/>
              </a:rPr>
              <a:t>visible.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1272" rIns="0" bIns="0" rtlCol="0" vert="horz">
            <a:spAutoFit/>
          </a:bodyPr>
          <a:lstStyle/>
          <a:p>
            <a:pPr marL="77279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IP</a:t>
            </a:r>
            <a:r>
              <a:rPr dirty="0" sz="3200" spc="-85"/>
              <a:t> </a:t>
            </a:r>
            <a:r>
              <a:rPr dirty="0" sz="3200"/>
              <a:t>packet</a:t>
            </a:r>
            <a:r>
              <a:rPr dirty="0" sz="3200" spc="-40"/>
              <a:t> </a:t>
            </a:r>
            <a:r>
              <a:rPr dirty="0" sz="3200" spc="-10"/>
              <a:t>delivery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9146" y="472463"/>
            <a:ext cx="4968129" cy="37885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77697" y="1624964"/>
            <a:ext cx="593915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1097915" algn="l"/>
                <a:tab pos="1780539" algn="l"/>
                <a:tab pos="2835275" algn="l"/>
                <a:tab pos="3466465" algn="l"/>
                <a:tab pos="4613910" algn="l"/>
                <a:tab pos="513397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sends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packet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usual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0902" y="2021205"/>
            <a:ext cx="119634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52169" algn="l"/>
              </a:tabLst>
            </a:pP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its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0902" y="2021205"/>
            <a:ext cx="356870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421765">
              <a:lnSpc>
                <a:spcPct val="100000"/>
              </a:lnSpc>
              <a:spcBef>
                <a:spcPts val="105"/>
              </a:spcBef>
              <a:tabLst>
                <a:tab pos="1452245" algn="l"/>
                <a:tab pos="2294255" algn="l"/>
                <a:tab pos="2452370" algn="l"/>
                <a:tab pos="3243580" algn="l"/>
              </a:tabLst>
            </a:pPr>
            <a:r>
              <a:rPr dirty="0" sz="2600" spc="-25">
                <a:latin typeface="Arial MT"/>
                <a:cs typeface="Arial MT"/>
              </a:rPr>
              <a:t>own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fixed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 </a:t>
            </a:r>
            <a:r>
              <a:rPr dirty="0" sz="2600" spc="-10">
                <a:latin typeface="Arial MT"/>
                <a:cs typeface="Arial MT"/>
              </a:rPr>
              <a:t>source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and</a:t>
            </a:r>
            <a:r>
              <a:rPr dirty="0" sz="2600">
                <a:latin typeface="Arial MT"/>
                <a:cs typeface="Arial MT"/>
              </a:rPr>
              <a:t>		</a:t>
            </a:r>
            <a:r>
              <a:rPr dirty="0" sz="2600" spc="-20">
                <a:latin typeface="Arial MT"/>
                <a:cs typeface="Arial MT"/>
              </a:rPr>
              <a:t>CN’s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17897" y="2021205"/>
            <a:ext cx="1999614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91770">
              <a:lnSpc>
                <a:spcPct val="100000"/>
              </a:lnSpc>
              <a:spcBef>
                <a:spcPts val="105"/>
              </a:spcBef>
              <a:tabLst>
                <a:tab pos="1635760" algn="l"/>
              </a:tabLst>
            </a:pPr>
            <a:r>
              <a:rPr dirty="0" sz="2600" spc="-10">
                <a:latin typeface="Arial MT"/>
                <a:cs typeface="Arial MT"/>
              </a:rPr>
              <a:t>address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as </a:t>
            </a:r>
            <a:r>
              <a:rPr dirty="0" sz="2600" spc="-10">
                <a:latin typeface="Arial MT"/>
                <a:cs typeface="Arial MT"/>
              </a:rPr>
              <a:t>address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730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as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4390" y="2814066"/>
            <a:ext cx="10558145" cy="317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(step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4).</a:t>
            </a:r>
            <a:endParaRPr sz="2600">
              <a:latin typeface="Arial MT"/>
              <a:cs typeface="Arial MT"/>
            </a:endParaRPr>
          </a:p>
          <a:p>
            <a:pPr marL="299085" marR="4700905" indent="-287020">
              <a:lnSpc>
                <a:spcPct val="98800"/>
              </a:lnSpc>
              <a:spcBef>
                <a:spcPts val="1939"/>
              </a:spcBef>
              <a:buChar char="•"/>
              <a:tabLst>
                <a:tab pos="29908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way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would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any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other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  <a:p>
            <a:pPr marL="359410" indent="-342900">
              <a:lnSpc>
                <a:spcPct val="100000"/>
              </a:lnSpc>
              <a:spcBef>
                <a:spcPts val="1125"/>
              </a:spcBef>
              <a:buChar char="•"/>
              <a:tabLst>
                <a:tab pos="359410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fixed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happens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fixed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internet.</a:t>
            </a:r>
            <a:endParaRPr sz="2600">
              <a:latin typeface="Arial MT"/>
              <a:cs typeface="Arial MT"/>
            </a:endParaRPr>
          </a:p>
          <a:p>
            <a:pPr marL="359410" marR="5080" indent="-342900">
              <a:lnSpc>
                <a:spcPct val="100000"/>
              </a:lnSpc>
              <a:buChar char="•"/>
              <a:tabLst>
                <a:tab pos="359410" algn="l"/>
                <a:tab pos="709930" algn="l"/>
                <a:tab pos="1356360" algn="l"/>
                <a:tab pos="1761489" algn="l"/>
                <a:tab pos="2113915" algn="l"/>
                <a:tab pos="3253740" algn="l"/>
                <a:tab pos="4159250" algn="l"/>
                <a:tab pos="5483860" algn="l"/>
                <a:tab pos="5909310" algn="l"/>
                <a:tab pos="6259830" algn="l"/>
                <a:tab pos="7439659" algn="l"/>
                <a:tab pos="8855075" algn="l"/>
              </a:tabLst>
            </a:pPr>
            <a:r>
              <a:rPr dirty="0" sz="2600" spc="-25">
                <a:latin typeface="Arial MT"/>
                <a:cs typeface="Arial MT"/>
              </a:rPr>
              <a:t>If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CN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node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residing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foreign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network,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mechanism </a:t>
            </a:r>
            <a:r>
              <a:rPr dirty="0" sz="2600">
                <a:latin typeface="Arial MT"/>
                <a:cs typeface="Arial MT"/>
              </a:rPr>
              <a:t>follows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steps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1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through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3.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2044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Agent</a:t>
            </a:r>
            <a:r>
              <a:rPr dirty="0" sz="3200" spc="-35"/>
              <a:t> </a:t>
            </a:r>
            <a:r>
              <a:rPr dirty="0" sz="3200" spc="-10"/>
              <a:t>discovery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74903" y="982471"/>
            <a:ext cx="10647045" cy="5567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965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How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find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foreign</a:t>
            </a:r>
            <a:r>
              <a:rPr dirty="0" sz="26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agent?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How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does</a:t>
            </a:r>
            <a:r>
              <a:rPr dirty="0" sz="26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discover</a:t>
            </a:r>
            <a:r>
              <a:rPr dirty="0" sz="26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dirty="0" sz="26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25">
                <a:solidFill>
                  <a:srgbClr val="FF0000"/>
                </a:solidFill>
                <a:latin typeface="Arial MT"/>
                <a:cs typeface="Arial MT"/>
              </a:rPr>
              <a:t>has</a:t>
            </a:r>
            <a:endParaRPr sz="2600">
              <a:latin typeface="Arial MT"/>
              <a:cs typeface="Arial MT"/>
            </a:endParaRPr>
          </a:p>
          <a:p>
            <a:pPr marL="241300">
              <a:lnSpc>
                <a:spcPts val="2965"/>
              </a:lnSpc>
            </a:pP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moved?</a:t>
            </a:r>
            <a:endParaRPr sz="2600">
              <a:latin typeface="Arial MT"/>
              <a:cs typeface="Arial MT"/>
            </a:endParaRPr>
          </a:p>
          <a:p>
            <a:pPr lvl="1" marL="789305" indent="-31940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789305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advertisement</a:t>
            </a:r>
            <a:endParaRPr sz="2600">
              <a:latin typeface="Arial"/>
              <a:cs typeface="Arial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FAs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their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presence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periodically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special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messages.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2" marL="1155700" marR="7620" indent="-228600">
              <a:lnSpc>
                <a:spcPts val="2810"/>
              </a:lnSpc>
              <a:buChar char="•"/>
              <a:tabLst>
                <a:tab pos="1155700" algn="l"/>
              </a:tabLst>
            </a:pPr>
            <a:r>
              <a:rPr dirty="0" sz="2600">
                <a:latin typeface="Arial MT"/>
                <a:cs typeface="Arial MT"/>
              </a:rPr>
              <a:t>These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messages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beacon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broadcast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into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 spc="-10">
                <a:latin typeface="Arial MT"/>
                <a:cs typeface="Arial MT"/>
              </a:rPr>
              <a:t>subnet.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2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2" marL="1155700" marR="5080" indent="-228600">
              <a:lnSpc>
                <a:spcPts val="2810"/>
              </a:lnSpc>
              <a:buChar char="•"/>
              <a:tabLst>
                <a:tab pos="1155700" algn="l"/>
                <a:tab pos="1851660" algn="l"/>
                <a:tab pos="2860675" algn="l"/>
                <a:tab pos="5396865" algn="l"/>
                <a:tab pos="6718300" algn="l"/>
                <a:tab pos="7912100" algn="l"/>
                <a:tab pos="9456420" algn="l"/>
              </a:tabLst>
            </a:pP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these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advertisements,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Internet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control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message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protocol </a:t>
            </a:r>
            <a:r>
              <a:rPr dirty="0" sz="2600">
                <a:latin typeface="Arial MT"/>
                <a:cs typeface="Arial MT"/>
              </a:rPr>
              <a:t>(ICMP)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used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extensions.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2" marL="1155700" marR="6985" indent="-228600">
              <a:lnSpc>
                <a:spcPts val="2810"/>
              </a:lnSpc>
              <a:buChar char="•"/>
              <a:tabLst>
                <a:tab pos="1155700" algn="l"/>
                <a:tab pos="2484755" algn="l"/>
                <a:tab pos="2912745" algn="l"/>
                <a:tab pos="3543935" algn="l"/>
                <a:tab pos="4413885" algn="l"/>
                <a:tab pos="5742940" algn="l"/>
                <a:tab pos="7880350" algn="l"/>
                <a:tab pos="8566150" algn="l"/>
                <a:tab pos="10024745" algn="l"/>
              </a:tabLst>
            </a:pPr>
            <a:r>
              <a:rPr dirty="0" sz="2600" spc="-10">
                <a:latin typeface="Arial MT"/>
                <a:cs typeface="Arial MT"/>
              </a:rPr>
              <a:t>Routers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fixed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network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implementing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this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standard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also </a:t>
            </a:r>
            <a:r>
              <a:rPr dirty="0" sz="2600">
                <a:latin typeface="Arial MT"/>
                <a:cs typeface="Arial MT"/>
              </a:rPr>
              <a:t>advertise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their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routing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service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periodically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attached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links.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350" y="474700"/>
            <a:ext cx="5427345" cy="491553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advertisement</a:t>
            </a:r>
            <a:endParaRPr sz="2600">
              <a:latin typeface="Arial"/>
              <a:cs typeface="Arial"/>
            </a:endParaRPr>
          </a:p>
          <a:p>
            <a:pPr algn="just" lvl="1" marL="698500" marR="5080" indent="-228600">
              <a:lnSpc>
                <a:spcPct val="90000"/>
              </a:lnSpc>
              <a:spcBef>
                <a:spcPts val="49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6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upper</a:t>
            </a:r>
            <a:r>
              <a:rPr dirty="0" sz="2600" spc="6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part</a:t>
            </a:r>
            <a:r>
              <a:rPr dirty="0" sz="2600" spc="6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represents</a:t>
            </a:r>
            <a:r>
              <a:rPr dirty="0" sz="2600" spc="64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ICMP</a:t>
            </a:r>
            <a:r>
              <a:rPr dirty="0" sz="2600" spc="1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15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1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6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lower </a:t>
            </a:r>
            <a:r>
              <a:rPr dirty="0" sz="2600">
                <a:latin typeface="Arial MT"/>
                <a:cs typeface="Arial MT"/>
              </a:rPr>
              <a:t>part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extension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needed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for </a:t>
            </a:r>
            <a:r>
              <a:rPr dirty="0" sz="2600" spc="-10">
                <a:latin typeface="Arial MT"/>
                <a:cs typeface="Arial MT"/>
              </a:rPr>
              <a:t>mobility.</a:t>
            </a:r>
            <a:endParaRPr sz="2600">
              <a:latin typeface="Arial MT"/>
              <a:cs typeface="Arial MT"/>
            </a:endParaRPr>
          </a:p>
          <a:p>
            <a:pPr algn="just" lvl="1" marL="698500" marR="9525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TTL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1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advertisements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to </a:t>
            </a:r>
            <a:r>
              <a:rPr dirty="0" sz="2600">
                <a:latin typeface="Arial MT"/>
                <a:cs typeface="Arial MT"/>
              </a:rPr>
              <a:t>avoid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forwarding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them.</a:t>
            </a:r>
            <a:endParaRPr sz="2600">
              <a:latin typeface="Arial MT"/>
              <a:cs typeface="Arial MT"/>
            </a:endParaRPr>
          </a:p>
          <a:p>
            <a:pPr algn="just" lvl="1" marL="698500" marR="508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6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6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64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address </a:t>
            </a:r>
            <a:r>
              <a:rPr dirty="0" sz="2600">
                <a:latin typeface="Arial MT"/>
                <a:cs typeface="Arial MT"/>
              </a:rPr>
              <a:t>according</a:t>
            </a:r>
            <a:r>
              <a:rPr dirty="0" sz="2600" spc="3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standard</a:t>
            </a:r>
            <a:r>
              <a:rPr dirty="0" sz="2600" spc="37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router </a:t>
            </a:r>
            <a:r>
              <a:rPr dirty="0" sz="2600">
                <a:latin typeface="Arial MT"/>
                <a:cs typeface="Arial MT"/>
              </a:rPr>
              <a:t>advertisements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either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224.0.0.1,</a:t>
            </a:r>
            <a:r>
              <a:rPr dirty="0" sz="2600" spc="3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30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multicast</a:t>
            </a:r>
            <a:r>
              <a:rPr dirty="0" sz="2600" spc="59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59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590">
                <a:latin typeface="Arial MT"/>
                <a:cs typeface="Arial MT"/>
              </a:rPr>
              <a:t>   </a:t>
            </a:r>
            <a:r>
              <a:rPr dirty="0" sz="2600" spc="-25">
                <a:latin typeface="Arial MT"/>
                <a:cs typeface="Arial MT"/>
              </a:rPr>
              <a:t>all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08779" y="5324347"/>
            <a:ext cx="15303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4195" algn="l"/>
                <a:tab pos="1056005" algn="l"/>
              </a:tabLst>
            </a:pPr>
            <a:r>
              <a:rPr dirty="0" sz="2600" spc="-25">
                <a:latin typeface="Arial MT"/>
                <a:cs typeface="Arial MT"/>
              </a:rPr>
              <a:t>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37964" y="5680964"/>
            <a:ext cx="120269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Arial MT"/>
                <a:cs typeface="Arial MT"/>
              </a:rPr>
              <a:t>address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00150" y="5324347"/>
            <a:ext cx="2997200" cy="113601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  <a:tabLst>
                <a:tab pos="1461770" algn="l"/>
                <a:tab pos="2066925" algn="l"/>
                <a:tab pos="2487930" algn="l"/>
              </a:tabLst>
            </a:pPr>
            <a:r>
              <a:rPr dirty="0" sz="2600" spc="-10">
                <a:latin typeface="Arial MT"/>
                <a:cs typeface="Arial MT"/>
              </a:rPr>
              <a:t>systems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link </a:t>
            </a:r>
            <a:r>
              <a:rPr dirty="0" sz="2600" spc="-10">
                <a:latin typeface="Arial MT"/>
                <a:cs typeface="Arial MT"/>
              </a:rPr>
              <a:t>broadcast 255.255.255.255.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4053" y="656505"/>
            <a:ext cx="5651941" cy="538624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609968" y="6203391"/>
            <a:ext cx="44710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Arial MT"/>
                <a:cs typeface="Arial MT"/>
              </a:rPr>
              <a:t>Figure:</a:t>
            </a:r>
            <a:r>
              <a:rPr dirty="0" sz="2200" spc="-14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Agent</a:t>
            </a:r>
            <a:r>
              <a:rPr dirty="0" sz="2200" spc="-1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Advertisement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Packet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670" y="513410"/>
            <a:ext cx="10784205" cy="5433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3055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4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advertisement</a:t>
            </a:r>
            <a:endParaRPr sz="2600">
              <a:latin typeface="Arial"/>
              <a:cs typeface="Arial"/>
            </a:endParaRPr>
          </a:p>
          <a:p>
            <a:pPr algn="just" lvl="1" marL="1155065" marR="5080" indent="-228600">
              <a:lnSpc>
                <a:spcPct val="80000"/>
              </a:lnSpc>
              <a:spcBef>
                <a:spcPts val="560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type</a:t>
            </a:r>
            <a:r>
              <a:rPr dirty="0" sz="2600" spc="18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9,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code</a:t>
            </a:r>
            <a:r>
              <a:rPr dirty="0" sz="2600" spc="15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0,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also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routes </a:t>
            </a:r>
            <a:r>
              <a:rPr dirty="0" sz="2600">
                <a:latin typeface="Arial MT"/>
                <a:cs typeface="Arial MT"/>
              </a:rPr>
              <a:t>traffic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non-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nodes,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16,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does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anything </a:t>
            </a:r>
            <a:r>
              <a:rPr dirty="0" sz="2600">
                <a:latin typeface="Arial MT"/>
                <a:cs typeface="Arial MT"/>
              </a:rPr>
              <a:t>other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traffic.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1" marL="1155065" marR="5080" indent="-228600">
              <a:lnSpc>
                <a:spcPct val="80000"/>
              </a:lnSpc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agents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least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required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1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node.</a:t>
            </a:r>
            <a:endParaRPr sz="2600">
              <a:latin typeface="Arial MT"/>
              <a:cs typeface="Arial MT"/>
            </a:endParaRPr>
          </a:p>
          <a:p>
            <a:pPr lvl="1" marL="1155065" indent="-228600">
              <a:lnSpc>
                <a:spcPts val="2810"/>
              </a:lnSpc>
              <a:spcBef>
                <a:spcPts val="2870"/>
              </a:spcBef>
              <a:buChar char="•"/>
              <a:tabLst>
                <a:tab pos="1155065" algn="l"/>
                <a:tab pos="1951355" algn="l"/>
                <a:tab pos="3295650" algn="l"/>
                <a:tab pos="3795395" algn="l"/>
                <a:tab pos="5546725" algn="l"/>
                <a:tab pos="7298055" algn="l"/>
                <a:tab pos="8110220" algn="l"/>
                <a:tab pos="8851265" algn="l"/>
                <a:tab pos="10048875" algn="l"/>
                <a:tab pos="1051242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number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addresses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advertised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with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this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packet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in</a:t>
            </a:r>
            <a:endParaRPr sz="2600">
              <a:latin typeface="Arial MT"/>
              <a:cs typeface="Arial MT"/>
            </a:endParaRPr>
          </a:p>
          <a:p>
            <a:pPr marL="1155065">
              <a:lnSpc>
                <a:spcPts val="2810"/>
              </a:lnSpc>
            </a:pPr>
            <a:r>
              <a:rPr dirty="0" sz="2600" b="1">
                <a:latin typeface="Arial"/>
                <a:cs typeface="Arial"/>
              </a:rPr>
              <a:t>#addresses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addresses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themselves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follow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shown.</a:t>
            </a:r>
            <a:endParaRPr sz="2600">
              <a:latin typeface="Arial MT"/>
              <a:cs typeface="Arial MT"/>
            </a:endParaRPr>
          </a:p>
          <a:p>
            <a:pPr lvl="1" marL="1155065" indent="-228600">
              <a:lnSpc>
                <a:spcPct val="100000"/>
              </a:lnSpc>
              <a:spcBef>
                <a:spcPts val="287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600" b="1">
                <a:latin typeface="Arial"/>
                <a:cs typeface="Arial"/>
              </a:rPr>
              <a:t>Lifetime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denotes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length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valid.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9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1" marL="1155065" marR="5715" indent="-228600">
              <a:lnSpc>
                <a:spcPts val="2500"/>
              </a:lnSpc>
              <a:buFont typeface="Arial MT"/>
              <a:buChar char="•"/>
              <a:tabLst>
                <a:tab pos="1155065" algn="l"/>
              </a:tabLst>
            </a:pPr>
            <a:r>
              <a:rPr dirty="0" sz="2600" b="1">
                <a:latin typeface="Arial"/>
                <a:cs typeface="Arial"/>
              </a:rPr>
              <a:t>Preference</a:t>
            </a:r>
            <a:r>
              <a:rPr dirty="0" sz="2600" spc="29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levels</a:t>
            </a:r>
            <a:r>
              <a:rPr dirty="0" sz="2600" spc="31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each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help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3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choose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router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most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eager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node.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7212" y="691133"/>
            <a:ext cx="10574655" cy="4013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advertisement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 MT"/>
              <a:buChar char="•"/>
            </a:pPr>
            <a:endParaRPr sz="2600">
              <a:latin typeface="Arial"/>
              <a:cs typeface="Arial"/>
            </a:endParaRPr>
          </a:p>
          <a:p>
            <a:pPr lvl="1" marL="698500" marR="7620" indent="-228600">
              <a:lnSpc>
                <a:spcPts val="281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 b="1">
                <a:latin typeface="Arial"/>
                <a:cs typeface="Arial"/>
              </a:rPr>
              <a:t>type</a:t>
            </a:r>
            <a:r>
              <a:rPr dirty="0" sz="2600" spc="5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16,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length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depends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number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COAs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provided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equals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6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+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4*(number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addresses).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ts val="2810"/>
              </a:lnSpc>
              <a:buChar char="•"/>
              <a:tabLst>
                <a:tab pos="698500" algn="l"/>
                <a:tab pos="1276985" algn="l"/>
                <a:tab pos="2280285" algn="l"/>
                <a:tab pos="3392804" algn="l"/>
                <a:tab pos="4026535" algn="l"/>
                <a:tab pos="4826000" algn="l"/>
                <a:tab pos="6123940" algn="l"/>
                <a:tab pos="6572250" algn="l"/>
                <a:tab pos="8989695" algn="l"/>
                <a:tab pos="9788525" algn="l"/>
              </a:tabLst>
            </a:pPr>
            <a:r>
              <a:rPr dirty="0" sz="2600" spc="-25">
                <a:latin typeface="Arial MT"/>
                <a:cs typeface="Arial MT"/>
              </a:rPr>
              <a:t>An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agent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shows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total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number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of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advertisements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sent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since </a:t>
            </a:r>
            <a:r>
              <a:rPr dirty="0" sz="2600">
                <a:latin typeface="Arial MT"/>
                <a:cs typeface="Arial MT"/>
              </a:rPr>
              <a:t>initialization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sequence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number.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19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715" indent="-228600">
              <a:lnSpc>
                <a:spcPts val="2810"/>
              </a:lnSpc>
              <a:spcBef>
                <a:spcPts val="5"/>
              </a:spcBef>
              <a:buChar char="•"/>
              <a:tabLst>
                <a:tab pos="698500" algn="l"/>
                <a:tab pos="1261745" algn="l"/>
                <a:tab pos="1899285" algn="l"/>
                <a:tab pos="3709670" algn="l"/>
                <a:tab pos="4933950" algn="l"/>
                <a:tab pos="5570855" algn="l"/>
                <a:tab pos="6577330" algn="l"/>
                <a:tab pos="7287259" algn="l"/>
                <a:tab pos="8492490" algn="l"/>
                <a:tab pos="9130030" algn="l"/>
              </a:tabLst>
            </a:pPr>
            <a:r>
              <a:rPr dirty="0" sz="2600" spc="-25">
                <a:latin typeface="Arial MT"/>
                <a:cs typeface="Arial MT"/>
              </a:rPr>
              <a:t>By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registration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lifetime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agent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can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specify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maximum </a:t>
            </a:r>
            <a:r>
              <a:rPr dirty="0" sz="2600">
                <a:latin typeface="Arial MT"/>
                <a:cs typeface="Arial MT"/>
              </a:rPr>
              <a:t>lifetime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seconds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request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during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registration.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1252" y="341167"/>
            <a:ext cx="10546715" cy="59461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following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bits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specify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characteristics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detail</a:t>
            </a:r>
            <a:endParaRPr sz="2600">
              <a:latin typeface="Arial MT"/>
              <a:cs typeface="Arial MT"/>
            </a:endParaRPr>
          </a:p>
          <a:p>
            <a:pPr algn="just" lvl="1" marL="697865" marR="5715" indent="-228600">
              <a:lnSpc>
                <a:spcPts val="2810"/>
              </a:lnSpc>
              <a:spcBef>
                <a:spcPts val="530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R</a:t>
            </a:r>
            <a:r>
              <a:rPr dirty="0" sz="2600" spc="39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bit</a:t>
            </a:r>
            <a:r>
              <a:rPr dirty="0" sz="2600" spc="37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(registration)</a:t>
            </a:r>
            <a:r>
              <a:rPr dirty="0" sz="2600" spc="3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shows,</a:t>
            </a:r>
            <a:r>
              <a:rPr dirty="0" sz="2600" spc="3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3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required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even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when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co-located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-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1" marL="697865" marR="5715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currently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too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busy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accept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registrations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can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B</a:t>
            </a:r>
            <a:r>
              <a:rPr dirty="0" sz="2600" spc="-15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bit</a:t>
            </a:r>
            <a:r>
              <a:rPr dirty="0" sz="2600" spc="-2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indent="-228600">
              <a:lnSpc>
                <a:spcPts val="2965"/>
              </a:lnSpc>
              <a:spcBef>
                <a:spcPts val="5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offers</a:t>
            </a:r>
            <a:r>
              <a:rPr dirty="0" sz="2600" spc="2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services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2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</a:t>
            </a:r>
            <a:r>
              <a:rPr dirty="0" sz="2600" b="1">
                <a:latin typeface="Arial"/>
                <a:cs typeface="Arial"/>
              </a:rPr>
              <a:t>H</a:t>
            </a:r>
            <a:r>
              <a:rPr dirty="0" sz="2600">
                <a:latin typeface="Arial MT"/>
                <a:cs typeface="Arial MT"/>
              </a:rPr>
              <a:t>)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agent</a:t>
            </a:r>
            <a:endParaRPr sz="2600">
              <a:latin typeface="Arial MT"/>
              <a:cs typeface="Arial MT"/>
            </a:endParaRPr>
          </a:p>
          <a:p>
            <a:pPr marL="697865">
              <a:lnSpc>
                <a:spcPts val="2965"/>
              </a:lnSpc>
            </a:pPr>
            <a:r>
              <a:rPr dirty="0" sz="2600">
                <a:latin typeface="Arial MT"/>
                <a:cs typeface="Arial MT"/>
              </a:rPr>
              <a:t>(</a:t>
            </a:r>
            <a:r>
              <a:rPr dirty="0" sz="2600" b="1">
                <a:latin typeface="Arial"/>
                <a:cs typeface="Arial"/>
              </a:rPr>
              <a:t>F</a:t>
            </a:r>
            <a:r>
              <a:rPr dirty="0" sz="2600">
                <a:latin typeface="Arial MT"/>
                <a:cs typeface="Arial MT"/>
              </a:rPr>
              <a:t>)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link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where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been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sent.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600">
              <a:latin typeface="Arial MT"/>
              <a:cs typeface="Arial MT"/>
            </a:endParaRPr>
          </a:p>
          <a:p>
            <a:pPr algn="just" lvl="1" marL="697865" marR="6985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Bits</a:t>
            </a:r>
            <a:r>
              <a:rPr dirty="0" sz="2600" spc="47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M</a:t>
            </a:r>
            <a:r>
              <a:rPr dirty="0" sz="2600" spc="47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G</a:t>
            </a:r>
            <a:r>
              <a:rPr dirty="0" sz="2600" spc="47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specify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method</a:t>
            </a:r>
            <a:r>
              <a:rPr dirty="0" sz="2600" spc="48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encapsulation</a:t>
            </a:r>
            <a:r>
              <a:rPr dirty="0" sz="2600" spc="4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used</a:t>
            </a:r>
            <a:r>
              <a:rPr dirty="0" sz="2600" spc="4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47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 spc="-10">
                <a:latin typeface="Arial MT"/>
                <a:cs typeface="Arial MT"/>
              </a:rPr>
              <a:t>tunnel.</a:t>
            </a:r>
            <a:endParaRPr sz="2600">
              <a:latin typeface="Arial MT"/>
              <a:cs typeface="Arial MT"/>
            </a:endParaRPr>
          </a:p>
          <a:p>
            <a:pPr algn="just" lvl="2" marL="1155065" marR="508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IP-</a:t>
            </a:r>
            <a:r>
              <a:rPr dirty="0" sz="2600" spc="-10">
                <a:latin typeface="Arial MT"/>
                <a:cs typeface="Arial MT"/>
              </a:rPr>
              <a:t>in-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encapsulation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mandatory</a:t>
            </a:r>
            <a:r>
              <a:rPr dirty="0" sz="2600" spc="1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standard,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can </a:t>
            </a:r>
            <a:r>
              <a:rPr dirty="0" sz="2600">
                <a:latin typeface="Arial MT"/>
                <a:cs typeface="Arial MT"/>
              </a:rPr>
              <a:t>specify</a:t>
            </a:r>
            <a:r>
              <a:rPr dirty="0" sz="2600" spc="254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minimal</a:t>
            </a:r>
            <a:r>
              <a:rPr dirty="0" sz="2600" spc="254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encapsulation</a:t>
            </a:r>
            <a:r>
              <a:rPr dirty="0" sz="2600" spc="254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26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G</a:t>
            </a:r>
            <a:r>
              <a:rPr dirty="0" sz="2600" spc="26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generic</a:t>
            </a:r>
            <a:r>
              <a:rPr dirty="0" sz="2600" spc="260">
                <a:latin typeface="Arial MT"/>
                <a:cs typeface="Arial MT"/>
              </a:rPr>
              <a:t>   </a:t>
            </a:r>
            <a:r>
              <a:rPr dirty="0" sz="2600" spc="-10">
                <a:latin typeface="Arial MT"/>
                <a:cs typeface="Arial MT"/>
              </a:rPr>
              <a:t>routing encapsulation.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1252" y="341167"/>
            <a:ext cx="10409555" cy="565277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following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bits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specify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characteristics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detail</a:t>
            </a:r>
            <a:endParaRPr sz="2600">
              <a:latin typeface="Arial MT"/>
              <a:cs typeface="Arial MT"/>
            </a:endParaRPr>
          </a:p>
          <a:p>
            <a:pPr lvl="1" marL="697865" marR="5080" indent="-228600">
              <a:lnSpc>
                <a:spcPts val="2810"/>
              </a:lnSpc>
              <a:spcBef>
                <a:spcPts val="530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2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first</a:t>
            </a:r>
            <a:r>
              <a:rPr dirty="0" sz="2600" spc="2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version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2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1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</a:t>
            </a:r>
            <a:r>
              <a:rPr dirty="0" sz="2600" spc="2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2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specified</a:t>
            </a:r>
            <a:r>
              <a:rPr dirty="0" sz="2600" spc="2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header compression.</a:t>
            </a:r>
            <a:endParaRPr sz="2600">
              <a:latin typeface="Arial MT"/>
              <a:cs typeface="Arial MT"/>
            </a:endParaRPr>
          </a:p>
          <a:p>
            <a:pPr lvl="2" marL="1155065" marR="6985" indent="-228600">
              <a:lnSpc>
                <a:spcPts val="2810"/>
              </a:lnSpc>
              <a:spcBef>
                <a:spcPts val="50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Now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position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zero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must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ignored.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marR="6350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indicates</a:t>
            </a:r>
            <a:r>
              <a:rPr dirty="0" sz="2600" spc="3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reverse</a:t>
            </a:r>
            <a:r>
              <a:rPr dirty="0" sz="2600" spc="3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tunneling</a:t>
            </a:r>
            <a:r>
              <a:rPr dirty="0" sz="2600" spc="3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3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supported</a:t>
            </a:r>
            <a:r>
              <a:rPr dirty="0" sz="2600" spc="31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by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FA.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setting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least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5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marR="7620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subnet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now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advertisements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either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agent.</a:t>
            </a:r>
            <a:endParaRPr sz="2600">
              <a:latin typeface="Arial MT"/>
              <a:cs typeface="Arial MT"/>
            </a:endParaRPr>
          </a:p>
          <a:p>
            <a:pPr lvl="2" marL="1155065" indent="-228600">
              <a:lnSpc>
                <a:spcPct val="100000"/>
              </a:lnSpc>
              <a:spcBef>
                <a:spcPts val="14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way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 discover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location.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8670" y="153461"/>
            <a:ext cx="10624185" cy="665924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solicitation</a:t>
            </a:r>
            <a:endParaRPr sz="2600">
              <a:latin typeface="Arial"/>
              <a:cs typeface="Arial"/>
            </a:endParaRPr>
          </a:p>
          <a:p>
            <a:pPr algn="just" lvl="1" marL="697865" marR="6350" indent="-228600">
              <a:lnSpc>
                <a:spcPct val="90000"/>
              </a:lnSpc>
              <a:spcBef>
                <a:spcPts val="490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3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advertisements</a:t>
            </a:r>
            <a:r>
              <a:rPr dirty="0" sz="2600" spc="3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present</a:t>
            </a:r>
            <a:r>
              <a:rPr dirty="0" sz="2600" spc="3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3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inter-</a:t>
            </a:r>
            <a:r>
              <a:rPr dirty="0" sz="2600">
                <a:latin typeface="Arial MT"/>
                <a:cs typeface="Arial MT"/>
              </a:rPr>
              <a:t>arrival</a:t>
            </a:r>
            <a:r>
              <a:rPr dirty="0" sz="2600" spc="3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too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high,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has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received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other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means,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e.g., </a:t>
            </a:r>
            <a:r>
              <a:rPr dirty="0" sz="2600" spc="-20">
                <a:latin typeface="Arial MT"/>
                <a:cs typeface="Arial MT"/>
              </a:rPr>
              <a:t>DHCP</a:t>
            </a:r>
            <a:endParaRPr sz="2600">
              <a:latin typeface="Arial MT"/>
              <a:cs typeface="Arial MT"/>
            </a:endParaRPr>
          </a:p>
          <a:p>
            <a:pPr lvl="2" marL="1155065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solicitations</a:t>
            </a:r>
            <a:r>
              <a:rPr dirty="0" sz="2600" spc="-1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5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1" marL="697865" marR="5715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Ensure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these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solicitation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messages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flood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network, </a:t>
            </a:r>
            <a:r>
              <a:rPr dirty="0" sz="2600">
                <a:latin typeface="Arial MT"/>
                <a:cs typeface="Arial MT"/>
              </a:rPr>
              <a:t>but</a:t>
            </a:r>
            <a:r>
              <a:rPr dirty="0" sz="2600" spc="3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basically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4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search</a:t>
            </a:r>
            <a:r>
              <a:rPr dirty="0" sz="2600" spc="4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3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endlessly</a:t>
            </a:r>
            <a:r>
              <a:rPr dirty="0" sz="2600" spc="4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sending</a:t>
            </a:r>
            <a:r>
              <a:rPr dirty="0" sz="2600" spc="409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out </a:t>
            </a:r>
            <a:r>
              <a:rPr dirty="0" sz="2600">
                <a:latin typeface="Arial MT"/>
                <a:cs typeface="Arial MT"/>
              </a:rPr>
              <a:t>solicitation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messages</a:t>
            </a:r>
            <a:endParaRPr sz="2600">
              <a:latin typeface="Arial MT"/>
              <a:cs typeface="Arial MT"/>
            </a:endParaRPr>
          </a:p>
          <a:p>
            <a:pPr algn="just" lvl="2" marL="1155065" marR="508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155065" algn="l"/>
              </a:tabLst>
            </a:pPr>
            <a:r>
              <a:rPr dirty="0" sz="2600" spc="-30">
                <a:latin typeface="Arial MT"/>
                <a:cs typeface="Arial MT"/>
              </a:rPr>
              <a:t>Typically,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node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out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three</a:t>
            </a:r>
            <a:r>
              <a:rPr dirty="0" sz="26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solicitations</a:t>
            </a:r>
            <a:r>
              <a:rPr dirty="0" sz="2600">
                <a:latin typeface="Arial MT"/>
                <a:cs typeface="Arial MT"/>
              </a:rPr>
              <a:t>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per </a:t>
            </a:r>
            <a:r>
              <a:rPr dirty="0" sz="2600" spc="-10">
                <a:latin typeface="Arial MT"/>
                <a:cs typeface="Arial MT"/>
              </a:rPr>
              <a:t>second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77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1" marL="697865" marR="6350" indent="-228600">
              <a:lnSpc>
                <a:spcPct val="9000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Moving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applications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requiring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continuous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streams </a:t>
            </a:r>
            <a:r>
              <a:rPr dirty="0" sz="2600">
                <a:latin typeface="Arial MT"/>
                <a:cs typeface="Arial MT"/>
              </a:rPr>
              <a:t>even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second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intervals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between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solicitation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messages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might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be </a:t>
            </a:r>
            <a:r>
              <a:rPr dirty="0" sz="2600">
                <a:latin typeface="Arial MT"/>
                <a:cs typeface="Arial MT"/>
              </a:rPr>
              <a:t>too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long.</a:t>
            </a:r>
            <a:endParaRPr sz="2600">
              <a:latin typeface="Arial MT"/>
              <a:cs typeface="Arial MT"/>
            </a:endParaRPr>
          </a:p>
          <a:p>
            <a:pPr algn="just" lvl="2" marL="1155065" marR="6985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Before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3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3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even</a:t>
            </a:r>
            <a:r>
              <a:rPr dirty="0" sz="2600" spc="3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gets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3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3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3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packets</a:t>
            </a:r>
            <a:r>
              <a:rPr dirty="0" sz="2600" spc="3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will</a:t>
            </a:r>
            <a:r>
              <a:rPr dirty="0" sz="2600" spc="32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be </a:t>
            </a:r>
            <a:r>
              <a:rPr dirty="0" sz="2600">
                <a:latin typeface="Arial MT"/>
                <a:cs typeface="Arial MT"/>
              </a:rPr>
              <a:t>lost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without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additional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mechanisms.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3054" y="153461"/>
            <a:ext cx="10535920" cy="516826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solicitation</a:t>
            </a:r>
            <a:endParaRPr sz="2600">
              <a:latin typeface="Arial"/>
              <a:cs typeface="Arial"/>
            </a:endParaRPr>
          </a:p>
          <a:p>
            <a:pPr algn="just" lvl="1" marL="697865" indent="-227965">
              <a:lnSpc>
                <a:spcPct val="100000"/>
              </a:lnSpc>
              <a:spcBef>
                <a:spcPts val="180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case</a:t>
            </a:r>
            <a:r>
              <a:rPr dirty="0" sz="2600" spc="-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answer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solicitations</a:t>
            </a:r>
            <a:endParaRPr sz="2600">
              <a:latin typeface="Arial MT"/>
              <a:cs typeface="Arial MT"/>
            </a:endParaRPr>
          </a:p>
          <a:p>
            <a:pPr algn="just" lvl="2" marL="1155065" marR="508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must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decrease</a:t>
            </a:r>
            <a:r>
              <a:rPr dirty="0" sz="2600" spc="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rate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solicitations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exponentially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1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avoid </a:t>
            </a:r>
            <a:r>
              <a:rPr dirty="0" sz="2600">
                <a:latin typeface="Arial MT"/>
                <a:cs typeface="Arial MT"/>
              </a:rPr>
              <a:t>flooding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until</a:t>
            </a:r>
            <a:r>
              <a:rPr dirty="0" sz="2600" spc="21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reaches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2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maximum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interval </a:t>
            </a:r>
            <a:r>
              <a:rPr dirty="0" sz="2600">
                <a:latin typeface="Arial MT"/>
                <a:cs typeface="Arial MT"/>
              </a:rPr>
              <a:t>between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solicitations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(typically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minute).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marR="6985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Discovering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 be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done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anytime,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just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not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connected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one.</a:t>
            </a:r>
            <a:endParaRPr sz="2600">
              <a:latin typeface="Arial MT"/>
              <a:cs typeface="Arial MT"/>
            </a:endParaRPr>
          </a:p>
          <a:p>
            <a:pPr algn="just" lvl="2" marL="1155065" marR="11430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Consider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case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looking</a:t>
            </a:r>
            <a:r>
              <a:rPr dirty="0" sz="2600" spc="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better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connection </a:t>
            </a: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still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sending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old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path.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lvl="2" marL="1155065" marR="7620" indent="-228600">
              <a:lnSpc>
                <a:spcPts val="2810"/>
              </a:lnSpc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case</a:t>
            </a:r>
            <a:r>
              <a:rPr dirty="0" sz="2600" spc="1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while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moving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through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several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cells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different </a:t>
            </a:r>
            <a:r>
              <a:rPr dirty="0" sz="2600">
                <a:latin typeface="Arial MT"/>
                <a:cs typeface="Arial MT"/>
              </a:rPr>
              <a:t>wireless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3054" y="153461"/>
            <a:ext cx="10535285" cy="403606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-2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solicitation</a:t>
            </a:r>
            <a:endParaRPr sz="260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180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After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these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steps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solicitations</a:t>
            </a:r>
            <a:endParaRPr sz="2600">
              <a:latin typeface="Arial MT"/>
              <a:cs typeface="Arial MT"/>
            </a:endParaRPr>
          </a:p>
          <a:p>
            <a:pPr lvl="2" marL="1155065" marR="5080" indent="-228600">
              <a:lnSpc>
                <a:spcPts val="2810"/>
              </a:lnSpc>
              <a:spcBef>
                <a:spcPts val="545"/>
              </a:spcBef>
              <a:buChar char="•"/>
              <a:tabLst>
                <a:tab pos="11550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now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</a:t>
            </a:r>
            <a:r>
              <a:rPr dirty="0" sz="2600" spc="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COA,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either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6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co- </a:t>
            </a:r>
            <a:r>
              <a:rPr dirty="0" sz="2600">
                <a:latin typeface="Arial MT"/>
                <a:cs typeface="Arial MT"/>
              </a:rPr>
              <a:t>located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marR="5080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knows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location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(home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1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network)</a:t>
            </a:r>
            <a:r>
              <a:rPr dirty="0" sz="2600" spc="1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and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capabilities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(if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needed).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19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7865" marR="6350" indent="-228600">
              <a:lnSpc>
                <a:spcPts val="2810"/>
              </a:lnSpc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next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step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 registration</a:t>
            </a:r>
            <a:r>
              <a:rPr dirty="0" sz="26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dirty="0" sz="260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260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HA</a:t>
            </a:r>
            <a:r>
              <a:rPr dirty="0" sz="2600" spc="-1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 the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foreign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described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following.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367" rIns="0" bIns="0" rtlCol="0" vert="horz">
            <a:spAutoFit/>
          </a:bodyPr>
          <a:lstStyle/>
          <a:p>
            <a:pPr marL="5130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Registration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56766" y="1164082"/>
            <a:ext cx="9050020" cy="7791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941069" marR="5080" indent="-928369">
              <a:lnSpc>
                <a:spcPts val="2810"/>
              </a:lnSpc>
              <a:spcBef>
                <a:spcPts val="455"/>
              </a:spcBef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main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purpose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inform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5">
                <a:latin typeface="Arial MT"/>
                <a:cs typeface="Arial MT"/>
              </a:rPr>
              <a:t> the </a:t>
            </a:r>
            <a:r>
              <a:rPr dirty="0" sz="2600">
                <a:latin typeface="Arial MT"/>
                <a:cs typeface="Arial MT"/>
              </a:rPr>
              <a:t>current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location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correct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forwarding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packets.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7726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Registration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30445" algn="l"/>
              </a:tabLst>
            </a:pPr>
            <a:r>
              <a:rPr dirty="0"/>
              <a:t>Registration</a:t>
            </a:r>
            <a:r>
              <a:rPr dirty="0" spc="-35"/>
              <a:t> </a:t>
            </a:r>
            <a:r>
              <a:rPr dirty="0"/>
              <a:t>can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/>
              <a:t>done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25"/>
              <a:t>two</a:t>
            </a:r>
            <a:r>
              <a:rPr dirty="0"/>
              <a:t>	</a:t>
            </a:r>
            <a:r>
              <a:rPr dirty="0" spc="-10"/>
              <a:t>ways:</a:t>
            </a:r>
          </a:p>
          <a:p>
            <a:pPr marL="527685" indent="-514984">
              <a:lnSpc>
                <a:spcPct val="100000"/>
              </a:lnSpc>
              <a:buAutoNum type="arabicPeriod"/>
              <a:tabLst>
                <a:tab pos="527685" algn="l"/>
              </a:tabLst>
            </a:pPr>
            <a:r>
              <a:rPr dirty="0"/>
              <a:t>If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COA</a:t>
            </a:r>
            <a:r>
              <a:rPr dirty="0" spc="-17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at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25"/>
              <a:t>FA</a:t>
            </a:r>
          </a:p>
          <a:p>
            <a:pPr algn="just" lvl="1" marL="927100" marR="5080" indent="-457200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58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sends</a:t>
            </a:r>
            <a:r>
              <a:rPr dirty="0" sz="2600" spc="5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its</a:t>
            </a:r>
            <a:r>
              <a:rPr dirty="0" sz="2600" spc="58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registration </a:t>
            </a:r>
            <a:r>
              <a:rPr dirty="0" sz="2600">
                <a:latin typeface="Arial MT"/>
                <a:cs typeface="Arial MT"/>
              </a:rPr>
              <a:t>request</a:t>
            </a:r>
            <a:r>
              <a:rPr dirty="0" sz="2600" spc="4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containing</a:t>
            </a:r>
            <a:r>
              <a:rPr dirty="0" sz="2600" spc="4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40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3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forwarding</a:t>
            </a:r>
            <a:r>
              <a:rPr dirty="0" sz="2600" spc="3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request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HA.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</a:p>
          <a:p>
            <a:pPr algn="just" lvl="1" marL="927100" marR="508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9271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HA  now</a:t>
            </a:r>
            <a:r>
              <a:rPr dirty="0" sz="2600" spc="7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sets</a:t>
            </a:r>
            <a:r>
              <a:rPr dirty="0" sz="2600" spc="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up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75">
                <a:latin typeface="Arial MT"/>
                <a:cs typeface="Arial MT"/>
              </a:rPr>
              <a:t>  </a:t>
            </a:r>
            <a:r>
              <a:rPr dirty="0" sz="2600" spc="-10" b="1">
                <a:latin typeface="Arial"/>
                <a:cs typeface="Arial"/>
              </a:rPr>
              <a:t>mobility </a:t>
            </a:r>
            <a:r>
              <a:rPr dirty="0" sz="2600" b="1">
                <a:latin typeface="Arial"/>
                <a:cs typeface="Arial"/>
              </a:rPr>
              <a:t>binding</a:t>
            </a:r>
            <a:r>
              <a:rPr dirty="0" sz="2600" spc="235" b="1">
                <a:latin typeface="Arial"/>
                <a:cs typeface="Arial"/>
              </a:rPr>
              <a:t>   </a:t>
            </a:r>
            <a:r>
              <a:rPr dirty="0" sz="2600">
                <a:latin typeface="Arial MT"/>
                <a:cs typeface="Arial MT"/>
              </a:rPr>
              <a:t>containing</a:t>
            </a:r>
            <a:r>
              <a:rPr dirty="0" sz="2600" spc="25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45">
                <a:latin typeface="Arial MT"/>
                <a:cs typeface="Arial MT"/>
              </a:rPr>
              <a:t>   </a:t>
            </a:r>
            <a:r>
              <a:rPr dirty="0" sz="2600" spc="-10">
                <a:latin typeface="Arial MT"/>
                <a:cs typeface="Arial MT"/>
              </a:rPr>
              <a:t>mobile </a:t>
            </a:r>
            <a:r>
              <a:rPr dirty="0" sz="2600">
                <a:latin typeface="Arial MT"/>
                <a:cs typeface="Arial MT"/>
              </a:rPr>
              <a:t>node’s</a:t>
            </a:r>
            <a:r>
              <a:rPr dirty="0" sz="2600" spc="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1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10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current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COA.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8511" y="1300982"/>
            <a:ext cx="4990501" cy="41231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1579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Registration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8396" y="1489663"/>
            <a:ext cx="4884001" cy="418378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2320" y="1256157"/>
            <a:ext cx="224091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har char="•"/>
              <a:tabLst>
                <a:tab pos="469265" algn="l"/>
              </a:tabLst>
            </a:pPr>
            <a:r>
              <a:rPr dirty="0" sz="2600" spc="-20">
                <a:latin typeface="Arial MT"/>
                <a:cs typeface="Arial MT"/>
              </a:rPr>
              <a:t>Additionally,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94786" y="1256157"/>
            <a:ext cx="3465829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9315" algn="l"/>
                <a:tab pos="238569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mobility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binding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2320" y="1652092"/>
            <a:ext cx="6079490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9900" marR="508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Arial MT"/>
                <a:cs typeface="Arial MT"/>
              </a:rPr>
              <a:t>contains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 lifetime</a:t>
            </a:r>
            <a:r>
              <a:rPr dirty="0" sz="26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26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the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registration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30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9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negotiated</a:t>
            </a:r>
            <a:r>
              <a:rPr dirty="0" sz="2600" spc="30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during</a:t>
            </a:r>
            <a:r>
              <a:rPr dirty="0" sz="2600" spc="300">
                <a:latin typeface="Arial MT"/>
                <a:cs typeface="Arial MT"/>
              </a:rPr>
              <a:t>  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process.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600">
              <a:latin typeface="Arial MT"/>
              <a:cs typeface="Arial MT"/>
            </a:endParaRPr>
          </a:p>
          <a:p>
            <a:pPr marL="927100" marR="5080" indent="-457834">
              <a:lnSpc>
                <a:spcPct val="100000"/>
              </a:lnSpc>
              <a:spcBef>
                <a:spcPts val="5"/>
              </a:spcBef>
              <a:buChar char="•"/>
              <a:tabLst>
                <a:tab pos="927100" algn="l"/>
                <a:tab pos="2880995" algn="l"/>
                <a:tab pos="4137025" algn="l"/>
              </a:tabLst>
            </a:pPr>
            <a:r>
              <a:rPr dirty="0" sz="2600" spc="-10">
                <a:latin typeface="Arial MT"/>
                <a:cs typeface="Arial MT"/>
              </a:rPr>
              <a:t>Registration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expires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automatically </a:t>
            </a:r>
            <a:r>
              <a:rPr dirty="0" sz="2600">
                <a:latin typeface="Arial MT"/>
                <a:cs typeface="Arial MT"/>
              </a:rPr>
              <a:t>after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lifetime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deleted.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600">
              <a:latin typeface="Arial MT"/>
              <a:cs typeface="Arial MT"/>
            </a:endParaRPr>
          </a:p>
          <a:p>
            <a:pPr algn="just" marL="469900" marR="508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2600">
                <a:latin typeface="Arial MT"/>
                <a:cs typeface="Arial MT"/>
              </a:rPr>
              <a:t>After</a:t>
            </a:r>
            <a:r>
              <a:rPr dirty="0" sz="2600" spc="50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setting</a:t>
            </a:r>
            <a:r>
              <a:rPr dirty="0" sz="2600" spc="5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up</a:t>
            </a:r>
            <a:r>
              <a:rPr dirty="0" sz="2600" spc="5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5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mobility</a:t>
            </a:r>
            <a:r>
              <a:rPr dirty="0" sz="2600" spc="5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binding,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2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sends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reply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message</a:t>
            </a:r>
            <a:r>
              <a:rPr dirty="0" sz="2600" spc="40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back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FA</a:t>
            </a:r>
            <a:r>
              <a:rPr dirty="0" sz="2600" spc="-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forwards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marL="3117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Registration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3748" y="858393"/>
            <a:ext cx="6122670" cy="21285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52768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co-</a:t>
            </a:r>
            <a:r>
              <a:rPr dirty="0" sz="2600" spc="-10">
                <a:latin typeface="Arial MT"/>
                <a:cs typeface="Arial MT"/>
              </a:rPr>
              <a:t>located</a:t>
            </a:r>
            <a:endParaRPr sz="2600">
              <a:latin typeface="Arial MT"/>
              <a:cs typeface="Arial MT"/>
            </a:endParaRPr>
          </a:p>
          <a:p>
            <a:pPr lvl="1" marL="698500" indent="-228600">
              <a:lnSpc>
                <a:spcPct val="100000"/>
              </a:lnSpc>
              <a:spcBef>
                <a:spcPts val="2745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simpler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lvl="1" marL="698500" marR="5080" indent="-228600">
              <a:lnSpc>
                <a:spcPct val="70000"/>
              </a:lnSpc>
              <a:buChar char="•"/>
              <a:tabLst>
                <a:tab pos="698500" algn="l"/>
                <a:tab pos="1553210" algn="l"/>
                <a:tab pos="2348865" algn="l"/>
                <a:tab pos="3258820" algn="l"/>
                <a:tab pos="4260215" algn="l"/>
                <a:tab pos="500443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may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send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request </a:t>
            </a:r>
            <a:r>
              <a:rPr dirty="0" sz="2600">
                <a:latin typeface="Arial MT"/>
                <a:cs typeface="Arial MT"/>
              </a:rPr>
              <a:t>directly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vice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versa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1252" y="3245357"/>
            <a:ext cx="1640839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  <a:tab pos="1276985" algn="l"/>
              </a:tabLst>
            </a:pPr>
            <a:r>
              <a:rPr dirty="0" sz="2600" spc="-10">
                <a:latin typeface="Arial MT"/>
                <a:cs typeface="Arial MT"/>
              </a:rPr>
              <a:t>This,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by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15157" y="3245357"/>
            <a:ext cx="48514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25">
                <a:latin typeface="Arial MT"/>
                <a:cs typeface="Arial MT"/>
              </a:rPr>
              <a:t>the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09852" y="3522421"/>
            <a:ext cx="166052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10">
                <a:latin typeface="Arial MT"/>
                <a:cs typeface="Arial MT"/>
              </a:rPr>
              <a:t>registration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52342" y="3522421"/>
            <a:ext cx="230949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9445" algn="l"/>
              </a:tabLst>
            </a:pPr>
            <a:r>
              <a:rPr dirty="0" sz="2600" spc="-10">
                <a:latin typeface="Arial MT"/>
                <a:cs typeface="Arial MT"/>
              </a:rPr>
              <a:t>procedure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95827" y="3245357"/>
            <a:ext cx="2951480" cy="699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650"/>
              </a:lnSpc>
              <a:spcBef>
                <a:spcPts val="105"/>
              </a:spcBef>
              <a:tabLst>
                <a:tab pos="989330" algn="l"/>
                <a:tab pos="1548765" algn="l"/>
                <a:tab pos="2475230" algn="l"/>
              </a:tabLst>
            </a:pPr>
            <a:r>
              <a:rPr dirty="0" sz="2600" spc="-20">
                <a:latin typeface="Arial MT"/>
                <a:cs typeface="Arial MT"/>
              </a:rPr>
              <a:t>way,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0">
                <a:latin typeface="Arial MT"/>
                <a:cs typeface="Arial MT"/>
              </a:rPr>
              <a:t>also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endParaRPr sz="2600">
              <a:latin typeface="Arial MT"/>
              <a:cs typeface="Arial MT"/>
            </a:endParaRPr>
          </a:p>
          <a:p>
            <a:pPr algn="r" marR="5080">
              <a:lnSpc>
                <a:spcPts val="2650"/>
              </a:lnSpc>
            </a:pPr>
            <a:r>
              <a:rPr dirty="0" sz="2600" spc="-25">
                <a:latin typeface="Arial MT"/>
                <a:cs typeface="Arial MT"/>
              </a:rPr>
              <a:t>MNs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09852" y="3800347"/>
            <a:ext cx="460438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Arial MT"/>
                <a:cs typeface="Arial MT"/>
              </a:rPr>
              <a:t>returning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their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38402" y="4481576"/>
            <a:ext cx="5214620" cy="1254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0"/>
              </a:spcBef>
              <a:buChar char="•"/>
              <a:tabLst>
                <a:tab pos="241300" algn="l"/>
                <a:tab pos="1781810" algn="l"/>
                <a:tab pos="2109470" algn="l"/>
                <a:tab pos="2734310" algn="l"/>
                <a:tab pos="3411220" algn="l"/>
                <a:tab pos="4824095" algn="l"/>
              </a:tabLst>
            </a:pPr>
            <a:r>
              <a:rPr dirty="0" sz="2600" spc="-10">
                <a:latin typeface="Arial MT"/>
                <a:cs typeface="Arial MT"/>
              </a:rPr>
              <a:t>However,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if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MN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received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an</a:t>
            </a:r>
            <a:endParaRPr sz="2600">
              <a:latin typeface="Arial MT"/>
              <a:cs typeface="Arial MT"/>
            </a:endParaRPr>
          </a:p>
          <a:p>
            <a:pPr marL="240665">
              <a:lnSpc>
                <a:spcPts val="2185"/>
              </a:lnSpc>
              <a:tabLst>
                <a:tab pos="4808855" algn="l"/>
              </a:tabLst>
            </a:pPr>
            <a:r>
              <a:rPr dirty="0" sz="2600">
                <a:latin typeface="Arial MT"/>
                <a:cs typeface="Arial MT"/>
              </a:rPr>
              <a:t>agent</a:t>
            </a:r>
            <a:r>
              <a:rPr dirty="0" sz="2600" spc="2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advertisement</a:t>
            </a:r>
            <a:r>
              <a:rPr dirty="0" sz="2600" spc="2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90">
                <a:latin typeface="Arial MT"/>
                <a:cs typeface="Arial MT"/>
              </a:rPr>
              <a:t>FA</a:t>
            </a:r>
            <a:endParaRPr sz="2600">
              <a:latin typeface="Arial MT"/>
              <a:cs typeface="Arial MT"/>
            </a:endParaRPr>
          </a:p>
          <a:p>
            <a:pPr marL="240665">
              <a:lnSpc>
                <a:spcPts val="2185"/>
              </a:lnSpc>
            </a:pP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register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via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</a:t>
            </a:r>
            <a:endParaRPr sz="2600">
              <a:latin typeface="Arial MT"/>
              <a:cs typeface="Arial MT"/>
            </a:endParaRPr>
          </a:p>
          <a:p>
            <a:pPr marL="240665">
              <a:lnSpc>
                <a:spcPts val="2655"/>
              </a:lnSpc>
            </a:pPr>
            <a:r>
              <a:rPr dirty="0" sz="2600" b="1">
                <a:latin typeface="Arial"/>
                <a:cs typeface="Arial"/>
              </a:rPr>
              <a:t>R</a:t>
            </a:r>
            <a:r>
              <a:rPr dirty="0" sz="2600" spc="-1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bit</a:t>
            </a:r>
            <a:r>
              <a:rPr dirty="0" sz="2600" spc="-1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 the</a:t>
            </a:r>
            <a:r>
              <a:rPr dirty="0" sz="2600" spc="-10">
                <a:latin typeface="Arial MT"/>
                <a:cs typeface="Arial MT"/>
              </a:rPr>
              <a:t> advertisement.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8473" y="723317"/>
            <a:ext cx="3553034" cy="416824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2029" y="511477"/>
            <a:ext cx="5649607" cy="318912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217156" y="3943603"/>
            <a:ext cx="34740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 MT"/>
                <a:cs typeface="Arial MT"/>
              </a:rPr>
              <a:t>Figure: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Registration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request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0667" y="513969"/>
            <a:ext cx="5095875" cy="398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520">
                <a:latin typeface="Calibri"/>
                <a:cs typeface="Calibri"/>
              </a:rPr>
              <a:t>  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530">
                <a:latin typeface="Calibri"/>
                <a:cs typeface="Calibri"/>
              </a:rPr>
              <a:t>  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520">
                <a:latin typeface="Calibri"/>
                <a:cs typeface="Calibri"/>
              </a:rPr>
              <a:t>  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520">
                <a:latin typeface="Calibri"/>
                <a:cs typeface="Calibri"/>
              </a:rPr>
              <a:t>   </a:t>
            </a:r>
            <a:r>
              <a:rPr dirty="0" sz="2600" spc="-25">
                <a:latin typeface="Calibri"/>
                <a:cs typeface="Calibri"/>
              </a:rPr>
              <a:t>for</a:t>
            </a:r>
            <a:endParaRPr sz="2600">
              <a:latin typeface="Calibri"/>
              <a:cs typeface="Calibri"/>
            </a:endParaRPr>
          </a:p>
          <a:p>
            <a:pPr algn="just" marL="299085">
              <a:lnSpc>
                <a:spcPct val="100000"/>
              </a:lnSpc>
            </a:pPr>
            <a:r>
              <a:rPr dirty="0" sz="2600" spc="-10" b="1">
                <a:latin typeface="Calibri"/>
                <a:cs typeface="Calibri"/>
              </a:rPr>
              <a:t>registration</a:t>
            </a:r>
            <a:r>
              <a:rPr dirty="0" sz="2600" spc="-1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requests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source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interface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MN,</a:t>
            </a:r>
            <a:endParaRPr sz="2600">
              <a:latin typeface="Calibri"/>
              <a:cs typeface="Calibri"/>
            </a:endParaRPr>
          </a:p>
          <a:p>
            <a:pPr algn="just" marL="299085" marR="57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destination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FA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(depending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location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COA).</a:t>
            </a:r>
            <a:endParaRPr sz="2600">
              <a:latin typeface="Calibri"/>
              <a:cs typeface="Calibri"/>
            </a:endParaRPr>
          </a:p>
          <a:p>
            <a:pPr algn="just" marL="299085" marR="95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destination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port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 spc="-20">
                <a:latin typeface="Calibri"/>
                <a:cs typeface="Calibri"/>
              </a:rPr>
              <a:t>434.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3766" y="4820158"/>
            <a:ext cx="11488420" cy="1611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889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2600">
                <a:latin typeface="Arial MT"/>
                <a:cs typeface="Arial MT"/>
              </a:rPr>
              <a:t>UDP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used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because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low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overheads</a:t>
            </a:r>
            <a:r>
              <a:rPr dirty="0" sz="2600" spc="20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better</a:t>
            </a:r>
            <a:r>
              <a:rPr dirty="0" sz="2600" spc="2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performance</a:t>
            </a:r>
            <a:r>
              <a:rPr dirty="0" sz="2600" spc="2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compared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TCP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wireless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environments.</a:t>
            </a:r>
            <a:endParaRPr sz="2600">
              <a:latin typeface="Arial MT"/>
              <a:cs typeface="Arial MT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  <a:tab pos="1501140" algn="l"/>
                <a:tab pos="2444750" algn="l"/>
                <a:tab pos="3795395" algn="l"/>
                <a:tab pos="4354830" algn="l"/>
                <a:tab pos="5502275" algn="l"/>
                <a:tab pos="5982335" algn="l"/>
                <a:tab pos="7793355" algn="l"/>
                <a:tab pos="9236710" algn="l"/>
                <a:tab pos="10254615" algn="l"/>
                <a:tab pos="10777855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fields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relevant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mobile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IP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registration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requests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follow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UDP </a:t>
            </a:r>
            <a:r>
              <a:rPr dirty="0" sz="2600" spc="-10">
                <a:latin typeface="Arial MT"/>
                <a:cs typeface="Arial MT"/>
              </a:rPr>
              <a:t>data.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9668" y="288797"/>
            <a:ext cx="5751195" cy="275272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1300" marR="635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60">
                <a:latin typeface="Arial MT"/>
                <a:cs typeface="Arial MT"/>
              </a:rPr>
              <a:t>  </a:t>
            </a:r>
            <a:r>
              <a:rPr dirty="0" sz="2600" b="1">
                <a:latin typeface="Arial"/>
                <a:cs typeface="Arial"/>
              </a:rPr>
              <a:t>type</a:t>
            </a:r>
            <a:r>
              <a:rPr dirty="0" sz="2600" spc="370" b="1">
                <a:latin typeface="Arial"/>
                <a:cs typeface="Arial"/>
              </a:rPr>
              <a:t>  </a:t>
            </a:r>
            <a:r>
              <a:rPr dirty="0" sz="2600" b="1">
                <a:latin typeface="Arial"/>
                <a:cs typeface="Arial"/>
              </a:rPr>
              <a:t>=</a:t>
            </a:r>
            <a:r>
              <a:rPr dirty="0" sz="2600" spc="365" b="1">
                <a:latin typeface="Arial"/>
                <a:cs typeface="Arial"/>
              </a:rPr>
              <a:t>  </a:t>
            </a:r>
            <a:r>
              <a:rPr dirty="0" sz="2600">
                <a:latin typeface="Arial MT"/>
                <a:cs typeface="Arial MT"/>
              </a:rPr>
              <a:t>1</a:t>
            </a:r>
            <a:r>
              <a:rPr dirty="0" sz="2600" spc="36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36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6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registration request.</a:t>
            </a:r>
            <a:endParaRPr sz="2600">
              <a:latin typeface="Arial MT"/>
              <a:cs typeface="Arial MT"/>
            </a:endParaRPr>
          </a:p>
          <a:p>
            <a:pPr algn="just" marL="241300" marR="5080" indent="-228600">
              <a:lnSpc>
                <a:spcPts val="281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S</a:t>
            </a:r>
            <a:r>
              <a:rPr dirty="0" sz="2600" spc="15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specify</a:t>
            </a:r>
            <a:r>
              <a:rPr dirty="0" sz="2600" spc="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it </a:t>
            </a:r>
            <a:r>
              <a:rPr dirty="0" sz="2600">
                <a:latin typeface="Arial MT"/>
                <a:cs typeface="Arial MT"/>
              </a:rPr>
              <a:t>wants</a:t>
            </a:r>
            <a:r>
              <a:rPr dirty="0" sz="2600" spc="3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</a:t>
            </a:r>
            <a:r>
              <a:rPr dirty="0" sz="2600" spc="2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retain</a:t>
            </a:r>
            <a:r>
              <a:rPr dirty="0" sz="2600" spc="3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prior</a:t>
            </a:r>
            <a:r>
              <a:rPr dirty="0" sz="2600" spc="3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mobility bindings.</a:t>
            </a:r>
            <a:endParaRPr sz="2600">
              <a:latin typeface="Arial MT"/>
              <a:cs typeface="Arial MT"/>
            </a:endParaRPr>
          </a:p>
          <a:p>
            <a:pPr algn="just" lvl="1" marL="697865" marR="5715" indent="-228600">
              <a:lnSpc>
                <a:spcPts val="2810"/>
              </a:lnSpc>
              <a:spcBef>
                <a:spcPts val="500"/>
              </a:spcBef>
              <a:buChar char="•"/>
              <a:tabLst>
                <a:tab pos="697865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28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allows</a:t>
            </a:r>
            <a:r>
              <a:rPr dirty="0" sz="2600" spc="29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290">
                <a:latin typeface="Arial MT"/>
                <a:cs typeface="Arial MT"/>
              </a:rPr>
              <a:t>   </a:t>
            </a:r>
            <a:r>
              <a:rPr dirty="0" sz="2600" spc="-10">
                <a:latin typeface="Arial MT"/>
                <a:cs typeface="Arial MT"/>
              </a:rPr>
              <a:t>simultaneous bindings.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99668" y="3585717"/>
            <a:ext cx="5768975" cy="149225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1300" marR="508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B</a:t>
            </a:r>
            <a:r>
              <a:rPr dirty="0" sz="2600" spc="4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indicates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also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wants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3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receive</a:t>
            </a:r>
            <a:r>
              <a:rPr dirty="0" sz="2600" spc="34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4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broadcast</a:t>
            </a:r>
            <a:r>
              <a:rPr dirty="0" sz="2600" spc="34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packets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been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received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HA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home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network.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9513" y="557235"/>
            <a:ext cx="5182359" cy="384880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217156" y="4574794"/>
            <a:ext cx="34740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 MT"/>
                <a:cs typeface="Arial MT"/>
              </a:rPr>
              <a:t>Figure: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Registration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request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4616" y="5443829"/>
            <a:ext cx="11160125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dirty="0" sz="2600">
                <a:latin typeface="Arial MT"/>
                <a:cs typeface="Arial MT"/>
              </a:rPr>
              <a:t>If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uses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co-</a:t>
            </a:r>
            <a:r>
              <a:rPr dirty="0" sz="2600">
                <a:latin typeface="Arial MT"/>
                <a:cs typeface="Arial MT"/>
              </a:rPr>
              <a:t>located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COA,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1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also</a:t>
            </a:r>
            <a:r>
              <a:rPr dirty="0" sz="2600" spc="1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takes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care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de-capsulation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endpoint.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D</a:t>
            </a:r>
            <a:r>
              <a:rPr dirty="0" sz="2600" spc="-3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indicates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behavior.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1043" y="579577"/>
            <a:ext cx="5966460" cy="245935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1300" marR="508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M</a:t>
            </a:r>
            <a:r>
              <a:rPr dirty="0" sz="2600" spc="60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61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G</a:t>
            </a:r>
            <a:r>
              <a:rPr dirty="0" sz="2600" spc="59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denote</a:t>
            </a:r>
            <a:r>
              <a:rPr dirty="0" sz="2600" spc="6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6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</a:t>
            </a:r>
            <a:r>
              <a:rPr dirty="0" sz="2600" spc="6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5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minimal </a:t>
            </a:r>
            <a:r>
              <a:rPr dirty="0" sz="2600">
                <a:latin typeface="Arial MT"/>
                <a:cs typeface="Arial MT"/>
              </a:rPr>
              <a:t>encapsulation</a:t>
            </a:r>
            <a:r>
              <a:rPr dirty="0" sz="2600" spc="37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37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generic</a:t>
            </a:r>
            <a:r>
              <a:rPr dirty="0" sz="2600" spc="370">
                <a:latin typeface="Arial MT"/>
                <a:cs typeface="Arial MT"/>
              </a:rPr>
              <a:t>   </a:t>
            </a:r>
            <a:r>
              <a:rPr dirty="0" sz="2600" spc="-10">
                <a:latin typeface="Arial MT"/>
                <a:cs typeface="Arial MT"/>
              </a:rPr>
              <a:t>routing </a:t>
            </a:r>
            <a:r>
              <a:rPr dirty="0" sz="2600">
                <a:latin typeface="Arial MT"/>
                <a:cs typeface="Arial MT"/>
              </a:rPr>
              <a:t>encapsulation,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respectively.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41300" indent="-228600">
              <a:lnSpc>
                <a:spcPts val="2965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T</a:t>
            </a:r>
            <a:r>
              <a:rPr dirty="0" sz="2600" spc="28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indicates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reverse</a:t>
            </a:r>
            <a:r>
              <a:rPr dirty="0" sz="2600" spc="3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tunneling,</a:t>
            </a:r>
            <a:r>
              <a:rPr dirty="0" sz="2600" spc="29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r</a:t>
            </a:r>
            <a:r>
              <a:rPr dirty="0" sz="2600" spc="29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285">
                <a:latin typeface="Arial MT"/>
                <a:cs typeface="Arial MT"/>
              </a:rPr>
              <a:t> </a:t>
            </a:r>
            <a:r>
              <a:rPr dirty="0" sz="2600" spc="-50" b="1">
                <a:latin typeface="Arial"/>
                <a:cs typeface="Arial"/>
              </a:rPr>
              <a:t>x</a:t>
            </a:r>
            <a:endParaRPr sz="2600">
              <a:latin typeface="Arial"/>
              <a:cs typeface="Arial"/>
            </a:endParaRPr>
          </a:p>
          <a:p>
            <a:pPr marL="241300">
              <a:lnSpc>
                <a:spcPts val="2965"/>
              </a:lnSpc>
            </a:pP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zero.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9513" y="557235"/>
            <a:ext cx="5182359" cy="38488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217156" y="4574794"/>
            <a:ext cx="34740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 MT"/>
                <a:cs typeface="Arial MT"/>
              </a:rPr>
              <a:t>Figure: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Registration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request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0440" y="666699"/>
            <a:ext cx="5060315" cy="323659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0665" marR="635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600" b="1">
                <a:latin typeface="Arial"/>
                <a:cs typeface="Arial"/>
              </a:rPr>
              <a:t>Lifetime</a:t>
            </a:r>
            <a:r>
              <a:rPr dirty="0" sz="2600" spc="45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denotes</a:t>
            </a:r>
            <a:r>
              <a:rPr dirty="0" sz="2600" spc="45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validity</a:t>
            </a:r>
            <a:r>
              <a:rPr dirty="0" sz="2600" spc="44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seconds.</a:t>
            </a:r>
            <a:endParaRPr sz="2600">
              <a:latin typeface="Arial MT"/>
              <a:cs typeface="Arial MT"/>
            </a:endParaRPr>
          </a:p>
          <a:p>
            <a:pPr algn="just" lvl="1" marL="698500" marR="5080" indent="-229235">
              <a:lnSpc>
                <a:spcPts val="2810"/>
              </a:lnSpc>
              <a:spcBef>
                <a:spcPts val="490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31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value</a:t>
            </a:r>
            <a:r>
              <a:rPr dirty="0" sz="2600" spc="37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38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zero</a:t>
            </a:r>
            <a:r>
              <a:rPr dirty="0" sz="2600" spc="385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indicates </a:t>
            </a:r>
            <a:r>
              <a:rPr dirty="0" sz="2600">
                <a:latin typeface="Arial MT"/>
                <a:cs typeface="Arial MT"/>
              </a:rPr>
              <a:t>deregistration;</a:t>
            </a:r>
            <a:r>
              <a:rPr dirty="0" sz="2600" spc="52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53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bits</a:t>
            </a:r>
            <a:r>
              <a:rPr dirty="0" sz="2600" spc="530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set </a:t>
            </a:r>
            <a:r>
              <a:rPr dirty="0" sz="2600">
                <a:latin typeface="Arial MT"/>
                <a:cs typeface="Arial MT"/>
              </a:rPr>
              <a:t>indicates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infinity.</a:t>
            </a:r>
            <a:endParaRPr sz="2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82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marL="240665" marR="7620" indent="-228600">
              <a:lnSpc>
                <a:spcPts val="2810"/>
              </a:lnSpc>
              <a:buChar char="•"/>
              <a:tabLst>
                <a:tab pos="240665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25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home</a:t>
            </a:r>
            <a:r>
              <a:rPr dirty="0" sz="2600" spc="34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address</a:t>
            </a:r>
            <a:r>
              <a:rPr dirty="0" sz="2600" spc="33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fixed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0440" y="4448936"/>
            <a:ext cx="5058410" cy="113601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0665" marR="508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600" b="1">
                <a:latin typeface="Arial"/>
                <a:cs typeface="Arial"/>
              </a:rPr>
              <a:t>home</a:t>
            </a:r>
            <a:r>
              <a:rPr dirty="0" sz="2600" spc="1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1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IP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HA,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COA</a:t>
            </a:r>
            <a:r>
              <a:rPr dirty="0" sz="2600" spc="-7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represents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tunnel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endpoint.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6623" y="796504"/>
            <a:ext cx="5359742" cy="324378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130033" y="4326382"/>
            <a:ext cx="337502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Figure: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Registration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reply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675" y="765428"/>
            <a:ext cx="5342890" cy="262509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241300" marR="508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6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64</a:t>
            </a:r>
            <a:r>
              <a:rPr dirty="0" sz="2600" spc="26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265">
                <a:latin typeface="Arial MT"/>
                <a:cs typeface="Arial MT"/>
              </a:rPr>
              <a:t>   </a:t>
            </a:r>
            <a:r>
              <a:rPr dirty="0" sz="2600" b="1">
                <a:latin typeface="Arial"/>
                <a:cs typeface="Arial"/>
              </a:rPr>
              <a:t>identification</a:t>
            </a:r>
            <a:r>
              <a:rPr dirty="0" sz="2600" spc="265" b="1">
                <a:latin typeface="Arial"/>
                <a:cs typeface="Arial"/>
              </a:rPr>
              <a:t>   </a:t>
            </a:r>
            <a:r>
              <a:rPr dirty="0" sz="2600" spc="-25">
                <a:latin typeface="Arial MT"/>
                <a:cs typeface="Arial MT"/>
              </a:rPr>
              <a:t>is </a:t>
            </a:r>
            <a:r>
              <a:rPr dirty="0" sz="2600">
                <a:latin typeface="Arial MT"/>
                <a:cs typeface="Arial MT"/>
              </a:rPr>
              <a:t>generated</a:t>
            </a:r>
            <a:r>
              <a:rPr dirty="0" sz="2600" spc="2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identify</a:t>
            </a:r>
            <a:r>
              <a:rPr dirty="0" sz="2600" spc="229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 </a:t>
            </a:r>
            <a:r>
              <a:rPr dirty="0" sz="2600">
                <a:latin typeface="Arial MT"/>
                <a:cs typeface="Arial MT"/>
              </a:rPr>
              <a:t>request</a:t>
            </a:r>
            <a:r>
              <a:rPr dirty="0" sz="2600" spc="430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434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match</a:t>
            </a:r>
            <a:r>
              <a:rPr dirty="0" sz="2600" spc="434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434">
                <a:latin typeface="Arial MT"/>
                <a:cs typeface="Arial MT"/>
              </a:rPr>
              <a:t>   </a:t>
            </a:r>
            <a:r>
              <a:rPr dirty="0" sz="2600" spc="-20">
                <a:latin typeface="Arial MT"/>
                <a:cs typeface="Arial MT"/>
              </a:rPr>
              <a:t>with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replies.</a:t>
            </a:r>
            <a:endParaRPr sz="2600">
              <a:latin typeface="Arial MT"/>
              <a:cs typeface="Arial MT"/>
            </a:endParaRPr>
          </a:p>
          <a:p>
            <a:pPr algn="just" lvl="1" marL="698500" marR="6350" indent="-228600">
              <a:lnSpc>
                <a:spcPts val="2810"/>
              </a:lnSpc>
              <a:spcBef>
                <a:spcPts val="484"/>
              </a:spcBef>
              <a:buChar char="•"/>
              <a:tabLst>
                <a:tab pos="698500" algn="l"/>
              </a:tabLst>
            </a:pP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2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2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used</a:t>
            </a:r>
            <a:r>
              <a:rPr dirty="0" sz="2600" spc="2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2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protection </a:t>
            </a:r>
            <a:r>
              <a:rPr dirty="0" sz="2600">
                <a:latin typeface="Arial MT"/>
                <a:cs typeface="Arial MT"/>
              </a:rPr>
              <a:t>against</a:t>
            </a:r>
            <a:r>
              <a:rPr dirty="0" sz="2600" spc="434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replay</a:t>
            </a:r>
            <a:r>
              <a:rPr dirty="0" sz="2600" spc="445">
                <a:latin typeface="Arial MT"/>
                <a:cs typeface="Arial MT"/>
              </a:rPr>
              <a:t>   </a:t>
            </a:r>
            <a:r>
              <a:rPr dirty="0" sz="2600">
                <a:latin typeface="Arial MT"/>
                <a:cs typeface="Arial MT"/>
              </a:rPr>
              <a:t>attacks</a:t>
            </a:r>
            <a:r>
              <a:rPr dirty="0" sz="2600" spc="445">
                <a:latin typeface="Arial MT"/>
                <a:cs typeface="Arial MT"/>
              </a:rPr>
              <a:t>  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 spc="-10">
                <a:latin typeface="Arial MT"/>
                <a:cs typeface="Arial MT"/>
              </a:rPr>
              <a:t>registrations.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3275" y="4292600"/>
            <a:ext cx="374586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0575" algn="l"/>
              </a:tabLst>
            </a:pPr>
            <a:r>
              <a:rPr dirty="0" sz="2600" spc="-10">
                <a:latin typeface="Arial MT"/>
                <a:cs typeface="Arial MT"/>
              </a:rPr>
              <a:t>contain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parameters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4675" y="3935984"/>
            <a:ext cx="5344160" cy="779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228600" marR="5080" indent="-228600">
              <a:lnSpc>
                <a:spcPts val="2965"/>
              </a:lnSpc>
              <a:spcBef>
                <a:spcPts val="100"/>
              </a:spcBef>
              <a:buChar char="•"/>
              <a:tabLst>
                <a:tab pos="228600" algn="l"/>
                <a:tab pos="1073785" algn="l"/>
                <a:tab pos="3075305" algn="l"/>
                <a:tab pos="4065904" algn="l"/>
                <a:tab pos="4617720" algn="l"/>
              </a:tabLst>
            </a:pP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 b="1">
                <a:latin typeface="Arial"/>
                <a:cs typeface="Arial"/>
              </a:rPr>
              <a:t>extensions</a:t>
            </a:r>
            <a:r>
              <a:rPr dirty="0" sz="2600" b="1">
                <a:latin typeface="Arial"/>
                <a:cs typeface="Arial"/>
              </a:rPr>
              <a:t>	</a:t>
            </a:r>
            <a:r>
              <a:rPr dirty="0" sz="2600" spc="-20">
                <a:latin typeface="Arial MT"/>
                <a:cs typeface="Arial MT"/>
              </a:rPr>
              <a:t>must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least</a:t>
            </a:r>
            <a:endParaRPr sz="2600">
              <a:latin typeface="Arial MT"/>
              <a:cs typeface="Arial MT"/>
            </a:endParaRPr>
          </a:p>
          <a:p>
            <a:pPr algn="r" marR="6350">
              <a:lnSpc>
                <a:spcPts val="2965"/>
              </a:lnSpc>
            </a:pPr>
            <a:r>
              <a:rPr dirty="0" sz="2600" spc="-25">
                <a:latin typeface="Arial MT"/>
                <a:cs typeface="Arial MT"/>
              </a:rPr>
              <a:t>for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3275" y="4649215"/>
            <a:ext cx="217995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>
                <a:latin typeface="Arial MT"/>
                <a:cs typeface="Arial MT"/>
              </a:rPr>
              <a:t>authentication.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818" y="796504"/>
            <a:ext cx="5201739" cy="324378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656068" y="4512690"/>
            <a:ext cx="237934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Calibri"/>
                <a:cs typeface="Calibri"/>
              </a:rPr>
              <a:t>Registration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reply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0059" y="746506"/>
            <a:ext cx="9985375" cy="11360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241300" marR="5080" indent="-228600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14">
                <a:latin typeface="Arial MT"/>
                <a:cs typeface="Arial MT"/>
              </a:rPr>
              <a:t>  </a:t>
            </a:r>
            <a:r>
              <a:rPr dirty="0" sz="2600" b="1">
                <a:latin typeface="Arial"/>
                <a:cs typeface="Arial"/>
              </a:rPr>
              <a:t>registration</a:t>
            </a:r>
            <a:r>
              <a:rPr dirty="0" sz="2600" spc="190" b="1">
                <a:latin typeface="Arial"/>
                <a:cs typeface="Arial"/>
              </a:rPr>
              <a:t>  </a:t>
            </a:r>
            <a:r>
              <a:rPr dirty="0" sz="2600" b="1">
                <a:latin typeface="Arial"/>
                <a:cs typeface="Arial"/>
              </a:rPr>
              <a:t>reply</a:t>
            </a:r>
            <a:r>
              <a:rPr dirty="0" sz="2600">
                <a:latin typeface="Arial MT"/>
                <a:cs typeface="Arial MT"/>
              </a:rPr>
              <a:t>,</a:t>
            </a:r>
            <a:r>
              <a:rPr dirty="0" sz="2600" spc="19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19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9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conveyed</a:t>
            </a:r>
            <a:r>
              <a:rPr dirty="0" sz="2600" spc="19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18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19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UDP</a:t>
            </a:r>
            <a:r>
              <a:rPr dirty="0" sz="2600" spc="170">
                <a:latin typeface="Arial MT"/>
                <a:cs typeface="Arial MT"/>
              </a:rPr>
              <a:t>  </a:t>
            </a:r>
            <a:r>
              <a:rPr dirty="0" sz="2600" spc="-10">
                <a:latin typeface="Arial MT"/>
                <a:cs typeface="Arial MT"/>
              </a:rPr>
              <a:t>packet, </a:t>
            </a:r>
            <a:r>
              <a:rPr dirty="0" sz="2600">
                <a:latin typeface="Arial MT"/>
                <a:cs typeface="Arial MT"/>
              </a:rPr>
              <a:t>contains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type</a:t>
            </a:r>
            <a:r>
              <a:rPr dirty="0" sz="2600" spc="26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2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2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3</a:t>
            </a:r>
            <a:r>
              <a:rPr dirty="0" sz="2600" spc="2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code</a:t>
            </a:r>
            <a:r>
              <a:rPr dirty="0" sz="2600" spc="26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indicating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result</a:t>
            </a:r>
            <a:r>
              <a:rPr dirty="0" sz="2600" spc="254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of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request.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587" y="353500"/>
            <a:ext cx="8302470" cy="603495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3826" y="590803"/>
            <a:ext cx="10673080" cy="510794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6985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lifetime</a:t>
            </a:r>
            <a:r>
              <a:rPr dirty="0" sz="2600" spc="114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indicates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how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seconds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1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11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valid </a:t>
            </a:r>
            <a:r>
              <a:rPr dirty="0" sz="2600">
                <a:latin typeface="Arial MT"/>
                <a:cs typeface="Arial MT"/>
              </a:rPr>
              <a:t>if it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was</a:t>
            </a:r>
            <a:r>
              <a:rPr dirty="0" sz="2600" spc="-10">
                <a:latin typeface="Arial MT"/>
                <a:cs typeface="Arial MT"/>
              </a:rPr>
              <a:t> successful.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41300" marR="6350" indent="-228600">
              <a:lnSpc>
                <a:spcPts val="281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Arial"/>
                <a:cs typeface="Arial"/>
              </a:rPr>
              <a:t>Home</a:t>
            </a:r>
            <a:r>
              <a:rPr dirty="0" sz="2600" spc="3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address</a:t>
            </a:r>
            <a:r>
              <a:rPr dirty="0" sz="2600" spc="2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home</a:t>
            </a:r>
            <a:r>
              <a:rPr dirty="0" sz="2600" spc="3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agent</a:t>
            </a:r>
            <a:r>
              <a:rPr dirty="0" sz="2600" spc="25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addresses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MN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HA,</a:t>
            </a:r>
            <a:r>
              <a:rPr dirty="0" sz="2600" spc="-10">
                <a:latin typeface="Arial MT"/>
                <a:cs typeface="Arial MT"/>
              </a:rPr>
              <a:t> respectively.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75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90000"/>
              </a:lnSpc>
              <a:buChar char="•"/>
              <a:tabLst>
                <a:tab pos="241300" algn="l"/>
              </a:tabLst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64-</a:t>
            </a:r>
            <a:r>
              <a:rPr dirty="0" sz="2600">
                <a:latin typeface="Arial MT"/>
                <a:cs typeface="Arial MT"/>
              </a:rPr>
              <a:t>bit</a:t>
            </a:r>
            <a:r>
              <a:rPr dirty="0" sz="2600" spc="409">
                <a:latin typeface="Arial MT"/>
                <a:cs typeface="Arial MT"/>
              </a:rPr>
              <a:t> </a:t>
            </a:r>
            <a:r>
              <a:rPr dirty="0" sz="2600" b="1">
                <a:latin typeface="Arial"/>
                <a:cs typeface="Arial"/>
              </a:rPr>
              <a:t>identification</a:t>
            </a:r>
            <a:r>
              <a:rPr dirty="0" sz="2600" spc="430" b="1">
                <a:latin typeface="Arial"/>
                <a:cs typeface="Arial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used</a:t>
            </a:r>
            <a:r>
              <a:rPr dirty="0" sz="2600" spc="4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match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requests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with </a:t>
            </a:r>
            <a:r>
              <a:rPr dirty="0" sz="2600">
                <a:latin typeface="Arial MT"/>
                <a:cs typeface="Arial MT"/>
              </a:rPr>
              <a:t>replies.</a:t>
            </a:r>
            <a:r>
              <a:rPr dirty="0" sz="2600" spc="21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value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235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identification</a:t>
            </a:r>
            <a:r>
              <a:rPr dirty="0" sz="2600" spc="220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field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229">
                <a:latin typeface="Arial MT"/>
                <a:cs typeface="Arial MT"/>
              </a:rPr>
              <a:t> 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registration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authentication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method.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60"/>
              </a:spcBef>
              <a:buFont typeface="Arial MT"/>
              <a:buChar char="•"/>
            </a:pPr>
            <a:endParaRPr sz="2600">
              <a:latin typeface="Arial MT"/>
              <a:cs typeface="Arial MT"/>
            </a:endParaRPr>
          </a:p>
          <a:p>
            <a:pPr marL="241300" marR="5080" indent="-228600">
              <a:lnSpc>
                <a:spcPts val="2810"/>
              </a:lnSpc>
              <a:spcBef>
                <a:spcPts val="5"/>
              </a:spcBef>
              <a:buChar char="•"/>
              <a:tabLst>
                <a:tab pos="241300" algn="l"/>
                <a:tab pos="1489710" algn="l"/>
                <a:tab pos="2259330" algn="l"/>
                <a:tab pos="4295140" algn="l"/>
                <a:tab pos="5321300" algn="l"/>
                <a:tab pos="5906770" algn="l"/>
                <a:tab pos="6915150" algn="l"/>
                <a:tab pos="8291830" algn="l"/>
                <a:tab pos="10273030" algn="l"/>
              </a:tabLst>
            </a:pPr>
            <a:r>
              <a:rPr dirty="0" sz="2600" spc="-10">
                <a:latin typeface="Arial MT"/>
                <a:cs typeface="Arial MT"/>
              </a:rPr>
              <a:t>Again,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the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 b="1">
                <a:latin typeface="Arial"/>
                <a:cs typeface="Arial"/>
              </a:rPr>
              <a:t>extensions</a:t>
            </a:r>
            <a:r>
              <a:rPr dirty="0" sz="2600" b="1">
                <a:latin typeface="Arial"/>
                <a:cs typeface="Arial"/>
              </a:rPr>
              <a:t>	</a:t>
            </a:r>
            <a:r>
              <a:rPr dirty="0" sz="2600" spc="-20">
                <a:latin typeface="Arial MT"/>
                <a:cs typeface="Arial MT"/>
              </a:rPr>
              <a:t>must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at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least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contain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parameters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25">
                <a:latin typeface="Arial MT"/>
                <a:cs typeface="Arial MT"/>
              </a:rPr>
              <a:t>for </a:t>
            </a:r>
            <a:r>
              <a:rPr dirty="0" sz="2600" spc="-10">
                <a:latin typeface="Arial MT"/>
                <a:cs typeface="Arial MT"/>
              </a:rPr>
              <a:t>authentication.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Judhistir</dc:creator>
  <dc:title>Mobile Network Layer</dc:title>
  <dcterms:created xsi:type="dcterms:W3CDTF">2026-04-16T17:25:14Z</dcterms:created>
  <dcterms:modified xsi:type="dcterms:W3CDTF">2026-04-16T17:25:14Z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2026-04-16T00:00:00Z</vt:filetime>
  </property>
  <property fmtid="{D5CDD505-2E9C-101B-9397-08002B2CF9AE}" pid="5" name="Producer">
    <vt:lpwstr>Microsoft® PowerPoint® 2021</vt:lpwstr>
  </property>
</Properties>
</file>