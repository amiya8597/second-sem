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Default Extension="jpg" ContentType="image/jpg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46736"/>
            <a:ext cx="89865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40" y="1069340"/>
            <a:ext cx="8684260" cy="405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16632" y="2481833"/>
            <a:ext cx="510921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Mobile</a:t>
            </a:r>
            <a:r>
              <a:rPr dirty="0" sz="4400" spc="-110"/>
              <a:t> </a:t>
            </a:r>
            <a:r>
              <a:rPr dirty="0" sz="4400" spc="-10"/>
              <a:t>transport</a:t>
            </a:r>
            <a:r>
              <a:rPr dirty="0" sz="4400" spc="-85"/>
              <a:t> </a:t>
            </a:r>
            <a:r>
              <a:rPr dirty="0" sz="4400" spc="-10"/>
              <a:t>layer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540" y="184149"/>
            <a:ext cx="25927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Introduction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72262" y="1075918"/>
            <a:ext cx="8239125" cy="3751579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Most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applications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rely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transport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layer</a:t>
            </a:r>
            <a:endParaRPr sz="26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-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(transmission</a:t>
            </a:r>
            <a:r>
              <a:rPr dirty="0" sz="2600" spc="-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protocol)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UDP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(user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datagram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protocol)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 spc="-20">
                <a:latin typeface="Calibri"/>
                <a:cs typeface="Calibri"/>
              </a:rPr>
              <a:t>Two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functions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transport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internet:</a:t>
            </a:r>
            <a:endParaRPr sz="26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checksumming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over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30"/>
              </a:spcBef>
              <a:buFont typeface="Arial MT"/>
              <a:buChar char="–"/>
              <a:tabLst>
                <a:tab pos="756285" algn="l"/>
                <a:tab pos="2731770" algn="l"/>
                <a:tab pos="3341370" algn="l"/>
                <a:tab pos="5654675" algn="l"/>
                <a:tab pos="6249670" algn="l"/>
                <a:tab pos="7165340" algn="l"/>
              </a:tabLst>
            </a:pPr>
            <a:r>
              <a:rPr dirty="0" sz="2600" spc="-10">
                <a:latin typeface="Calibri"/>
                <a:cs typeface="Calibri"/>
              </a:rPr>
              <a:t>multiplexing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demultiplexing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data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from/to </a:t>
            </a:r>
            <a:r>
              <a:rPr dirty="0" sz="2600" spc="-10">
                <a:latin typeface="Calibri"/>
                <a:cs typeface="Calibri"/>
              </a:rPr>
              <a:t>applications.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121208"/>
            <a:ext cx="25908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Introduction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7340" y="695676"/>
            <a:ext cx="8455025" cy="581152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While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addresses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host,</a:t>
            </a:r>
            <a:endParaRPr sz="2600">
              <a:latin typeface="Calibri"/>
              <a:cs typeface="Calibri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ports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UDP</a:t>
            </a:r>
            <a:r>
              <a:rPr dirty="0" sz="2600" spc="3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2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dedicated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applications</a:t>
            </a:r>
            <a:r>
              <a:rPr dirty="0" sz="2600" spc="3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be </a:t>
            </a:r>
            <a:r>
              <a:rPr dirty="0" sz="2600" spc="-10">
                <a:latin typeface="Calibri"/>
                <a:cs typeface="Calibri"/>
              </a:rPr>
              <a:t>addressed.</a:t>
            </a:r>
            <a:endParaRPr sz="26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connectionless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UDP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offer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much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this </a:t>
            </a:r>
            <a:r>
              <a:rPr dirty="0" sz="2600" spc="-10">
                <a:latin typeface="Calibri"/>
                <a:cs typeface="Calibri"/>
              </a:rPr>
              <a:t>addressing</a:t>
            </a: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following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focuses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TCP</a:t>
            </a:r>
            <a:endParaRPr sz="2600">
              <a:latin typeface="Calibri"/>
              <a:cs typeface="Calibri"/>
            </a:endParaRPr>
          </a:p>
          <a:p>
            <a:pPr lvl="1" marL="756285" marR="635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  <a:tab pos="1602105" algn="l"/>
                <a:tab pos="2066925" algn="l"/>
                <a:tab pos="4321175" algn="l"/>
                <a:tab pos="5085080" algn="l"/>
                <a:tab pos="5985510" algn="l"/>
                <a:tab pos="6705600" algn="l"/>
                <a:tab pos="7508875" algn="l"/>
              </a:tabLst>
            </a:pPr>
            <a:r>
              <a:rPr dirty="0" sz="2600" spc="-25">
                <a:latin typeface="Calibri"/>
                <a:cs typeface="Calibri"/>
              </a:rPr>
              <a:t>UDP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connectionless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and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does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not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give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certain </a:t>
            </a:r>
            <a:r>
              <a:rPr dirty="0" sz="2600" spc="-10">
                <a:latin typeface="Calibri"/>
                <a:cs typeface="Calibri"/>
              </a:rPr>
              <a:t>guarantees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about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reliable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delivery</a:t>
            </a:r>
            <a:endParaRPr sz="2600">
              <a:latin typeface="Calibri"/>
              <a:cs typeface="Calibri"/>
            </a:endParaRPr>
          </a:p>
          <a:p>
            <a:pPr lvl="1" marL="756285" marR="5715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  <a:tab pos="1555115" algn="l"/>
                <a:tab pos="2056130" algn="l"/>
                <a:tab pos="3105150" algn="l"/>
                <a:tab pos="4117340" algn="l"/>
                <a:tab pos="5541010" algn="l"/>
                <a:tab pos="6426200" algn="l"/>
                <a:tab pos="7525384" algn="l"/>
              </a:tabLst>
            </a:pPr>
            <a:r>
              <a:rPr dirty="0" sz="2600" spc="-25">
                <a:latin typeface="Calibri"/>
                <a:cs typeface="Calibri"/>
              </a:rPr>
              <a:t>TCP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much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more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complex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and,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needs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special </a:t>
            </a:r>
            <a:r>
              <a:rPr dirty="0" sz="2600">
                <a:latin typeface="Calibri"/>
                <a:cs typeface="Calibri"/>
              </a:rPr>
              <a:t>mechanisms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useful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environments.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Mobility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support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(such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IP)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already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enough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UDP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work.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Introduction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31140" y="771876"/>
            <a:ext cx="8684895" cy="493966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Within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connection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give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certain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guarantees</a:t>
            </a:r>
            <a:endParaRPr sz="26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such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in-</a:t>
            </a:r>
            <a:r>
              <a:rPr dirty="0" sz="2600">
                <a:latin typeface="Calibri"/>
                <a:cs typeface="Calibri"/>
              </a:rPr>
              <a:t>order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delivery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reliable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transmission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retransmission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techniques.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 </a:t>
            </a:r>
            <a:r>
              <a:rPr dirty="0" sz="2600" spc="-10">
                <a:latin typeface="Calibri"/>
                <a:cs typeface="Calibri"/>
              </a:rPr>
              <a:t>built-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mechanisms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behave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‘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r>
              <a:rPr dirty="0" sz="2600" spc="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friendly</a:t>
            </a:r>
            <a:r>
              <a:rPr dirty="0" sz="2600" spc="-10">
                <a:latin typeface="Calibri"/>
                <a:cs typeface="Calibri"/>
              </a:rPr>
              <a:t>’ manner.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If,</a:t>
            </a:r>
            <a:r>
              <a:rPr dirty="0" sz="2600" spc="5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example,</a:t>
            </a:r>
            <a:r>
              <a:rPr dirty="0" sz="2600" spc="5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encounters</a:t>
            </a:r>
            <a:r>
              <a:rPr dirty="0" sz="2600" spc="5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5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loss,</a:t>
            </a:r>
            <a:r>
              <a:rPr dirty="0" sz="2600" spc="5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5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assumes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5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internal</a:t>
            </a:r>
            <a:r>
              <a:rPr dirty="0" sz="2600" spc="58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congestion</a:t>
            </a:r>
            <a:r>
              <a:rPr dirty="0" sz="2600" spc="5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58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slows</a:t>
            </a:r>
            <a:r>
              <a:rPr dirty="0" sz="2600" spc="58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down</a:t>
            </a:r>
            <a:r>
              <a:rPr dirty="0" sz="2600" spc="58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transmission</a:t>
            </a:r>
            <a:r>
              <a:rPr dirty="0" sz="2600" spc="-1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rate.</a:t>
            </a:r>
            <a:endParaRPr sz="2600">
              <a:latin typeface="Calibri"/>
              <a:cs typeface="Calibri"/>
            </a:endParaRPr>
          </a:p>
          <a:p>
            <a:pPr algn="just" lvl="2" marL="1155700" marR="889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main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reasons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stay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protocols </a:t>
            </a:r>
            <a:r>
              <a:rPr dirty="0" sz="2600">
                <a:latin typeface="Calibri"/>
                <a:cs typeface="Calibri"/>
              </a:rPr>
              <a:t>like</a:t>
            </a:r>
            <a:r>
              <a:rPr dirty="0" sz="2600" spc="-12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TCP.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Introduction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31140" y="850138"/>
            <a:ext cx="8681720" cy="264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key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requirement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developments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internet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‘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TCP</a:t>
            </a:r>
            <a:r>
              <a:rPr dirty="0" sz="2600" spc="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friendliness</a:t>
            </a:r>
            <a:r>
              <a:rPr dirty="0" sz="2600" spc="-10">
                <a:latin typeface="Calibri"/>
                <a:cs typeface="Calibri"/>
              </a:rPr>
              <a:t>’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UDP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behave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friendly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manner,</a:t>
            </a:r>
            <a:endParaRPr sz="26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i.e.,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pull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back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case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congestion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continues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already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congested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Introduction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9740" y="850138"/>
            <a:ext cx="8455660" cy="2087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825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mechanisms</a:t>
            </a:r>
            <a:r>
              <a:rPr dirty="0" sz="2600" spc="6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within</a:t>
            </a:r>
            <a:r>
              <a:rPr dirty="0" sz="2600" spc="59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TCP</a:t>
            </a:r>
            <a:r>
              <a:rPr dirty="0" sz="2600" spc="6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6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play</a:t>
            </a:r>
            <a:r>
              <a:rPr dirty="0" sz="2600" spc="6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6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important</a:t>
            </a:r>
            <a:r>
              <a:rPr dirty="0" sz="2600" spc="60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role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mobility.</a:t>
            </a:r>
            <a:endParaRPr sz="26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main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problem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many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mechanisms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they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been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designed</a:t>
            </a:r>
            <a:r>
              <a:rPr dirty="0" sz="2600" spc="4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situations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completely different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those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079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100"/>
              </a:spcBef>
            </a:pPr>
            <a:r>
              <a:rPr dirty="0" spc="-20" b="1">
                <a:latin typeface="Calibri"/>
                <a:cs typeface="Calibri"/>
              </a:rPr>
              <a:t>Traditional</a:t>
            </a:r>
            <a:r>
              <a:rPr dirty="0" spc="-55" b="1">
                <a:latin typeface="Calibri"/>
                <a:cs typeface="Calibri"/>
              </a:rPr>
              <a:t> </a:t>
            </a:r>
            <a:r>
              <a:rPr dirty="0" spc="-25" b="1">
                <a:latin typeface="Calibri"/>
                <a:cs typeface="Calibri"/>
              </a:rPr>
              <a:t>TCP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27417"/>
            <a:ext cx="6997700" cy="287972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600">
                <a:latin typeface="Calibri"/>
                <a:cs typeface="Calibri"/>
              </a:rPr>
              <a:t>Mechanisms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influence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performance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TCP:</a:t>
            </a:r>
            <a:endParaRPr sz="2600">
              <a:latin typeface="Calibri"/>
              <a:cs typeface="Calibri"/>
            </a:endParaRPr>
          </a:p>
          <a:p>
            <a:pPr marL="756920" indent="-28702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756920" algn="l"/>
              </a:tabLst>
            </a:pPr>
            <a:r>
              <a:rPr dirty="0" sz="2600">
                <a:latin typeface="Calibri"/>
                <a:cs typeface="Calibri"/>
              </a:rPr>
              <a:t>Congestion</a:t>
            </a:r>
            <a:r>
              <a:rPr dirty="0" sz="2600" spc="-1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Control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75692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920" algn="l"/>
              </a:tabLst>
            </a:pP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start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756920" indent="-287020">
              <a:lnSpc>
                <a:spcPct val="100000"/>
              </a:lnSpc>
              <a:buFont typeface="Arial MT"/>
              <a:buChar char="•"/>
              <a:tabLst>
                <a:tab pos="756920" algn="l"/>
              </a:tabLst>
            </a:pPr>
            <a:r>
              <a:rPr dirty="0" sz="2600">
                <a:latin typeface="Calibri"/>
                <a:cs typeface="Calibri"/>
              </a:rPr>
              <a:t>Fast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retransmit/fast</a:t>
            </a:r>
            <a:r>
              <a:rPr dirty="0" sz="2600" spc="-1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recovery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197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dirty="0" sz="3900" b="1">
                <a:latin typeface="Calibri"/>
                <a:cs typeface="Calibri"/>
              </a:rPr>
              <a:t>Congestion</a:t>
            </a:r>
            <a:r>
              <a:rPr dirty="0" sz="3900" spc="-165" b="1">
                <a:latin typeface="Calibri"/>
                <a:cs typeface="Calibri"/>
              </a:rPr>
              <a:t> </a:t>
            </a:r>
            <a:r>
              <a:rPr dirty="0" sz="3900" spc="-10" b="1">
                <a:latin typeface="Calibri"/>
                <a:cs typeface="Calibri"/>
              </a:rPr>
              <a:t>Control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844" y="740410"/>
            <a:ext cx="7768590" cy="518985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39395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been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designed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fixed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networks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fixed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end-</a:t>
            </a:r>
            <a:r>
              <a:rPr dirty="0" sz="2800" spc="-10">
                <a:latin typeface="Calibri"/>
                <a:cs typeface="Calibri"/>
              </a:rPr>
              <a:t>systems.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39395" marR="6985" indent="-227329">
              <a:lnSpc>
                <a:spcPts val="302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transmission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takes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place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without</a:t>
            </a:r>
            <a:r>
              <a:rPr dirty="0" sz="2800" spc="3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introducing 	transmission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errors.</a:t>
            </a:r>
            <a:endParaRPr sz="2800">
              <a:latin typeface="Calibri"/>
              <a:cs typeface="Calibri"/>
            </a:endParaRPr>
          </a:p>
          <a:p>
            <a:pPr marL="697865" marR="5080" indent="-228600">
              <a:lnSpc>
                <a:spcPts val="3020"/>
              </a:lnSpc>
              <a:spcBef>
                <a:spcPts val="680"/>
              </a:spcBef>
            </a:pPr>
            <a:r>
              <a:rPr dirty="0" sz="2800" spc="-25">
                <a:latin typeface="Arial MT"/>
                <a:cs typeface="Arial MT"/>
              </a:rPr>
              <a:t>–</a:t>
            </a:r>
            <a:r>
              <a:rPr dirty="0" sz="2800" spc="-535">
                <a:latin typeface="Arial MT"/>
                <a:cs typeface="Arial MT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1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probable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reason</a:t>
            </a:r>
            <a:r>
              <a:rPr dirty="0" sz="2800" spc="2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1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loss</a:t>
            </a:r>
            <a:r>
              <a:rPr dirty="0" sz="2800" spc="1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20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fixed </a:t>
            </a:r>
            <a:r>
              <a:rPr dirty="0" sz="2800">
                <a:latin typeface="Calibri"/>
                <a:cs typeface="Calibri"/>
              </a:rPr>
              <a:t>network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state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congestion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node.</a:t>
            </a:r>
            <a:endParaRPr sz="28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00"/>
              </a:spcBef>
            </a:pPr>
            <a:r>
              <a:rPr dirty="0" sz="2800" spc="-25">
                <a:latin typeface="Arial MT"/>
                <a:cs typeface="Arial MT"/>
              </a:rPr>
              <a:t>»</a:t>
            </a:r>
            <a:r>
              <a:rPr dirty="0" sz="2800" spc="-535">
                <a:latin typeface="Arial MT"/>
                <a:cs typeface="Arial MT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router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drops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packets.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800">
              <a:latin typeface="Calibri"/>
              <a:cs typeface="Calibri"/>
            </a:endParaRPr>
          </a:p>
          <a:p>
            <a:pPr algn="just" marL="239395" marR="6985" indent="-227329">
              <a:lnSpc>
                <a:spcPct val="900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alibri"/>
                <a:cs typeface="Calibri"/>
              </a:rPr>
              <a:t>Retransmitting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missing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continuing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at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full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sending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rate</a:t>
            </a:r>
            <a:r>
              <a:rPr dirty="0" sz="2800" spc="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would</a:t>
            </a:r>
            <a:r>
              <a:rPr dirty="0" sz="2800" spc="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now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8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unwise,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80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this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might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increase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congestion.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8340" y="153670"/>
            <a:ext cx="3950970" cy="619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b="1">
                <a:latin typeface="Calibri"/>
                <a:cs typeface="Calibri"/>
              </a:rPr>
              <a:t>Congestion</a:t>
            </a:r>
            <a:r>
              <a:rPr dirty="0" sz="3900" spc="-165" b="1">
                <a:latin typeface="Calibri"/>
                <a:cs typeface="Calibri"/>
              </a:rPr>
              <a:t> </a:t>
            </a:r>
            <a:r>
              <a:rPr dirty="0" sz="3900" spc="-10" b="1">
                <a:latin typeface="Calibri"/>
                <a:cs typeface="Calibri"/>
              </a:rPr>
              <a:t>Control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844" y="842517"/>
            <a:ext cx="481965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9395" marR="5080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853440" algn="l"/>
                <a:tab pos="2321560" algn="l"/>
                <a:tab pos="4266565" algn="l"/>
              </a:tabLst>
            </a:pP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mitigate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congestion,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35">
                <a:latin typeface="Calibri"/>
                <a:cs typeface="Calibri"/>
              </a:rPr>
              <a:t>TCP </a:t>
            </a:r>
            <a:r>
              <a:rPr dirty="0" sz="2800" spc="-3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transmission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rate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dramatically.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4396" y="842517"/>
            <a:ext cx="26892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94740" algn="l"/>
                <a:tab pos="2192020" algn="l"/>
              </a:tabLst>
            </a:pPr>
            <a:r>
              <a:rPr dirty="0" sz="2800" spc="-10">
                <a:latin typeface="Calibri"/>
                <a:cs typeface="Calibri"/>
              </a:rPr>
              <a:t>slows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down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2293747"/>
            <a:ext cx="7768590" cy="2180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39395" marR="6350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5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other</a:t>
            </a:r>
            <a:r>
              <a:rPr dirty="0" sz="2800" spc="5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5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connections</a:t>
            </a:r>
            <a:r>
              <a:rPr dirty="0" sz="2800" spc="5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experiencing</a:t>
            </a:r>
            <a:r>
              <a:rPr dirty="0" sz="2800" spc="5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5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same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congestion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exactly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same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congestion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resolved.</a:t>
            </a:r>
            <a:endParaRPr sz="2800">
              <a:latin typeface="Calibri"/>
              <a:cs typeface="Calibri"/>
            </a:endParaRPr>
          </a:p>
          <a:p>
            <a:pPr algn="just" marL="697865" marR="5080" indent="-228600">
              <a:lnSpc>
                <a:spcPct val="100000"/>
              </a:lnSpc>
              <a:spcBef>
                <a:spcPts val="645"/>
              </a:spcBef>
            </a:pPr>
            <a:r>
              <a:rPr dirty="0" sz="2600" spc="-15">
                <a:latin typeface="Arial MT"/>
                <a:cs typeface="Arial MT"/>
              </a:rPr>
              <a:t>–</a:t>
            </a:r>
            <a:r>
              <a:rPr dirty="0" sz="2600" spc="-375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Th</a:t>
            </a:r>
            <a:r>
              <a:rPr dirty="0" sz="2600" spc="-10">
                <a:latin typeface="Calibri"/>
                <a:cs typeface="Calibri"/>
              </a:rPr>
              <a:t>i</a:t>
            </a:r>
            <a:r>
              <a:rPr dirty="0" sz="2600">
                <a:latin typeface="Calibri"/>
                <a:cs typeface="Calibri"/>
              </a:rPr>
              <a:t>s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cooperation</a:t>
            </a:r>
            <a:r>
              <a:rPr dirty="0" sz="2600" spc="4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</a:t>
            </a:r>
            <a:r>
              <a:rPr dirty="0" sz="2600">
                <a:latin typeface="Calibri"/>
                <a:cs typeface="Calibri"/>
              </a:rPr>
              <a:t>f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 spc="-60">
                <a:latin typeface="Calibri"/>
                <a:cs typeface="Calibri"/>
              </a:rPr>
              <a:t>T</a:t>
            </a:r>
            <a:r>
              <a:rPr dirty="0" sz="2600">
                <a:latin typeface="Calibri"/>
                <a:cs typeface="Calibri"/>
              </a:rPr>
              <a:t>CP</a:t>
            </a:r>
            <a:r>
              <a:rPr dirty="0" sz="2600" spc="45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connections</a:t>
            </a:r>
            <a:r>
              <a:rPr dirty="0" sz="2600" spc="45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4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</a:t>
            </a:r>
            <a:r>
              <a:rPr dirty="0" sz="2600">
                <a:latin typeface="Calibri"/>
                <a:cs typeface="Calibri"/>
              </a:rPr>
              <a:t>f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t</a:t>
            </a:r>
            <a:r>
              <a:rPr dirty="0" sz="2600" spc="-15">
                <a:latin typeface="Calibri"/>
                <a:cs typeface="Calibri"/>
              </a:rPr>
              <a:t>h</a:t>
            </a:r>
            <a:r>
              <a:rPr dirty="0" sz="2600">
                <a:latin typeface="Calibri"/>
                <a:cs typeface="Calibri"/>
              </a:rPr>
              <a:t>e </a:t>
            </a:r>
            <a:r>
              <a:rPr dirty="0" sz="2600" spc="-5">
                <a:latin typeface="Calibri"/>
                <a:cs typeface="Calibri"/>
              </a:rPr>
              <a:t>mai</a:t>
            </a:r>
            <a:r>
              <a:rPr dirty="0" sz="2600">
                <a:latin typeface="Calibri"/>
                <a:cs typeface="Calibri"/>
              </a:rPr>
              <a:t>n </a:t>
            </a:r>
            <a:r>
              <a:rPr dirty="0" sz="2600" spc="-10">
                <a:latin typeface="Calibri"/>
                <a:cs typeface="Calibri"/>
              </a:rPr>
              <a:t>reasons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for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it</a:t>
            </a:r>
            <a:r>
              <a:rPr dirty="0" sz="2600">
                <a:latin typeface="Calibri"/>
                <a:cs typeface="Calibri"/>
              </a:rPr>
              <a:t>s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survival.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456382"/>
            <a:ext cx="8224520" cy="391604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800" spc="-10" b="1">
                <a:latin typeface="Calibri"/>
                <a:cs typeface="Calibri"/>
              </a:rPr>
              <a:t>Congestion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Control</a:t>
            </a:r>
            <a:endParaRPr sz="28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700">
                <a:latin typeface="Calibri"/>
                <a:cs typeface="Calibri"/>
              </a:rPr>
              <a:t>Using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UDP is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not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solution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55"/>
              </a:spcBef>
            </a:pPr>
            <a:r>
              <a:rPr dirty="0" sz="2700">
                <a:latin typeface="Arial MT"/>
                <a:cs typeface="Arial MT"/>
              </a:rPr>
              <a:t>–</a:t>
            </a:r>
            <a:r>
              <a:rPr dirty="0" sz="2700" spc="-465">
                <a:latin typeface="Arial MT"/>
                <a:cs typeface="Arial MT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throughput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higher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just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at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beginning.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45"/>
              </a:spcBef>
            </a:pPr>
            <a:r>
              <a:rPr dirty="0" sz="2700">
                <a:latin typeface="Arial MT"/>
                <a:cs typeface="Arial MT"/>
              </a:rPr>
              <a:t>–</a:t>
            </a:r>
            <a:r>
              <a:rPr dirty="0" sz="2700" spc="-455">
                <a:latin typeface="Arial MT"/>
                <a:cs typeface="Arial MT"/>
              </a:rPr>
              <a:t> </a:t>
            </a:r>
            <a:r>
              <a:rPr dirty="0" sz="2700">
                <a:latin typeface="Calibri"/>
                <a:cs typeface="Calibri"/>
              </a:rPr>
              <a:t>everyone</a:t>
            </a:r>
            <a:r>
              <a:rPr dirty="0" sz="2700" spc="-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uses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80">
                <a:latin typeface="Calibri"/>
                <a:cs typeface="Calibri"/>
              </a:rPr>
              <a:t>UDP,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advantage</a:t>
            </a:r>
            <a:r>
              <a:rPr dirty="0" sz="2700" spc="-8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disappears.</a:t>
            </a:r>
            <a:endParaRPr sz="27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50"/>
              </a:spcBef>
            </a:pPr>
            <a:r>
              <a:rPr dirty="0" sz="2700">
                <a:latin typeface="Arial MT"/>
                <a:cs typeface="Arial MT"/>
              </a:rPr>
              <a:t>–</a:t>
            </a:r>
            <a:r>
              <a:rPr dirty="0" sz="2700" spc="-465">
                <a:latin typeface="Arial MT"/>
                <a:cs typeface="Arial MT"/>
              </a:rPr>
              <a:t> </a:t>
            </a:r>
            <a:r>
              <a:rPr dirty="0" sz="2700">
                <a:latin typeface="Calibri"/>
                <a:cs typeface="Calibri"/>
              </a:rPr>
              <a:t>data</a:t>
            </a:r>
            <a:r>
              <a:rPr dirty="0" sz="2700" spc="-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transmission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quality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unpredictable.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700">
              <a:latin typeface="Calibri"/>
              <a:cs typeface="Calibri"/>
            </a:endParaRPr>
          </a:p>
          <a:p>
            <a:pPr lvl="1" marL="698500" marR="5080" indent="-228600">
              <a:lnSpc>
                <a:spcPct val="100000"/>
              </a:lnSpc>
              <a:buFont typeface="Arial MT"/>
              <a:buChar char="•"/>
              <a:tabLst>
                <a:tab pos="698500" algn="l"/>
              </a:tabLst>
            </a:pPr>
            <a:r>
              <a:rPr dirty="0" sz="2700">
                <a:latin typeface="Calibri"/>
                <a:cs typeface="Calibri"/>
              </a:rPr>
              <a:t>Under</a:t>
            </a:r>
            <a:r>
              <a:rPr dirty="0" sz="2700" spc="1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heavy</a:t>
            </a:r>
            <a:r>
              <a:rPr dirty="0" sz="2700" spc="1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load,</a:t>
            </a:r>
            <a:r>
              <a:rPr dirty="0" sz="2700" spc="1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1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guarantees</a:t>
            </a:r>
            <a:r>
              <a:rPr dirty="0" sz="2700" spc="1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at</a:t>
            </a:r>
            <a:r>
              <a:rPr dirty="0" sz="2700" spc="1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least</a:t>
            </a:r>
            <a:r>
              <a:rPr dirty="0" sz="2700" spc="1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sharing</a:t>
            </a:r>
            <a:r>
              <a:rPr dirty="0" sz="2700" spc="15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of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bandwidth.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56509"/>
            <a:ext cx="7726045" cy="149352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3200" b="1">
                <a:latin typeface="Calibri"/>
                <a:cs typeface="Calibri"/>
              </a:rPr>
              <a:t>Slow</a:t>
            </a:r>
            <a:r>
              <a:rPr dirty="0" sz="3200" spc="-10" b="1">
                <a:latin typeface="Calibri"/>
                <a:cs typeface="Calibri"/>
              </a:rPr>
              <a:t> start</a:t>
            </a:r>
            <a:endParaRPr sz="3200">
              <a:latin typeface="Calibri"/>
              <a:cs typeface="Calibri"/>
            </a:endParaRPr>
          </a:p>
          <a:p>
            <a:pPr lvl="1" marL="698500" marR="508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Exponential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growth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congestion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window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mechanism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4394" y="2474798"/>
            <a:ext cx="671385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3564" algn="l"/>
                <a:tab pos="3600450" algn="l"/>
                <a:tab pos="4930775" algn="l"/>
                <a:tab pos="6426200" algn="l"/>
              </a:tabLst>
            </a:pPr>
            <a:r>
              <a:rPr dirty="0" sz="2600" spc="-10">
                <a:latin typeface="Calibri"/>
                <a:cs typeface="Calibri"/>
              </a:rPr>
              <a:t>congestion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threshold,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further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increase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of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2078863"/>
            <a:ext cx="7769859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L="228600" marR="508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28600" algn="l"/>
                <a:tab pos="804545" algn="l"/>
                <a:tab pos="1709420" algn="l"/>
                <a:tab pos="2254250" algn="l"/>
                <a:tab pos="2957830" algn="l"/>
                <a:tab pos="4674235" algn="l"/>
                <a:tab pos="5998845" algn="l"/>
                <a:tab pos="7294245" algn="l"/>
              </a:tabLst>
            </a:pPr>
            <a:r>
              <a:rPr dirty="0" sz="2600" spc="-25">
                <a:latin typeface="Calibri"/>
                <a:cs typeface="Calibri"/>
              </a:rPr>
              <a:t>As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soon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congestion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window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reaches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  <a:p>
            <a:pPr algn="r" marR="6350">
              <a:lnSpc>
                <a:spcPct val="100000"/>
              </a:lnSpc>
            </a:pPr>
            <a:r>
              <a:rPr dirty="0" sz="2600" spc="-25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394" y="2871597"/>
            <a:ext cx="7539990" cy="1215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Calibri"/>
                <a:cs typeface="Calibri"/>
              </a:rPr>
              <a:t>transmission</a:t>
            </a:r>
            <a:r>
              <a:rPr dirty="0" sz="2600" spc="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rate</a:t>
            </a:r>
            <a:r>
              <a:rPr dirty="0" sz="2600" spc="9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8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linear</a:t>
            </a:r>
            <a:r>
              <a:rPr dirty="0" sz="2600" spc="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adding</a:t>
            </a:r>
            <a:r>
              <a:rPr dirty="0" sz="2600" spc="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1</a:t>
            </a:r>
            <a:r>
              <a:rPr dirty="0" sz="2600" spc="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90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congestion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window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each</a:t>
            </a:r>
            <a:r>
              <a:rPr dirty="0" sz="2600" spc="4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acknowledgements </a:t>
            </a:r>
            <a:r>
              <a:rPr dirty="0" sz="2600">
                <a:latin typeface="Calibri"/>
                <a:cs typeface="Calibri"/>
              </a:rPr>
              <a:t>come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back.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56509"/>
            <a:ext cx="8225790" cy="403034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3200" b="1">
                <a:latin typeface="Calibri"/>
                <a:cs typeface="Calibri"/>
              </a:rPr>
              <a:t>Slow</a:t>
            </a:r>
            <a:r>
              <a:rPr dirty="0" sz="3200" spc="-10" b="1">
                <a:latin typeface="Calibri"/>
                <a:cs typeface="Calibri"/>
              </a:rPr>
              <a:t> start</a:t>
            </a:r>
            <a:endParaRPr sz="32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Linear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increase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continues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until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time-</a:t>
            </a:r>
            <a:r>
              <a:rPr dirty="0" sz="2600">
                <a:latin typeface="Calibri"/>
                <a:cs typeface="Calibri"/>
              </a:rPr>
              <a:t>out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sender </a:t>
            </a:r>
            <a:r>
              <a:rPr dirty="0" sz="2600">
                <a:latin typeface="Calibri"/>
                <a:cs typeface="Calibri"/>
              </a:rPr>
              <a:t>occurs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sender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sets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congestion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threshold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half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current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congestion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window.</a:t>
            </a:r>
            <a:endParaRPr sz="2600">
              <a:latin typeface="Calibri"/>
              <a:cs typeface="Calibri"/>
            </a:endParaRPr>
          </a:p>
          <a:p>
            <a:pPr algn="just" lvl="2" marL="1155700" marR="6350" indent="-228600">
              <a:lnSpc>
                <a:spcPct val="100000"/>
              </a:lnSpc>
              <a:spcBef>
                <a:spcPts val="630"/>
              </a:spcBef>
              <a:buFont typeface="Arial MT"/>
              <a:buChar char="–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congestion</a:t>
            </a:r>
            <a:r>
              <a:rPr dirty="0" sz="2600" spc="1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window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itself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segment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single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segment.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exponential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growth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starts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once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congestion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threshold,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window</a:t>
            </a:r>
            <a:r>
              <a:rPr dirty="0" sz="2600" spc="2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grows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linear</a:t>
            </a:r>
            <a:r>
              <a:rPr dirty="0" sz="2600" spc="-10">
                <a:latin typeface="Calibri"/>
                <a:cs typeface="Calibri"/>
              </a:rPr>
              <a:t> fashion.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52223"/>
            <a:ext cx="8223884" cy="229489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28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4300" b="1">
                <a:latin typeface="Calibri"/>
                <a:cs typeface="Calibri"/>
              </a:rPr>
              <a:t>Fast</a:t>
            </a:r>
            <a:r>
              <a:rPr dirty="0" sz="4300" spc="-190" b="1">
                <a:latin typeface="Calibri"/>
                <a:cs typeface="Calibri"/>
              </a:rPr>
              <a:t> </a:t>
            </a:r>
            <a:r>
              <a:rPr dirty="0" sz="4300" spc="-25" b="1">
                <a:latin typeface="Calibri"/>
                <a:cs typeface="Calibri"/>
              </a:rPr>
              <a:t>retransmit/fast</a:t>
            </a:r>
            <a:r>
              <a:rPr dirty="0" sz="4300" spc="-185" b="1">
                <a:latin typeface="Calibri"/>
                <a:cs typeface="Calibri"/>
              </a:rPr>
              <a:t> </a:t>
            </a:r>
            <a:r>
              <a:rPr dirty="0" sz="4300" spc="-10" b="1">
                <a:latin typeface="Calibri"/>
                <a:cs typeface="Calibri"/>
              </a:rPr>
              <a:t>recovery</a:t>
            </a:r>
            <a:endParaRPr sz="4300">
              <a:latin typeface="Calibri"/>
              <a:cs typeface="Calibri"/>
            </a:endParaRPr>
          </a:p>
          <a:p>
            <a:pPr lvl="1" marL="697230" marR="5080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800">
                <a:latin typeface="Calibri"/>
                <a:cs typeface="Calibri"/>
              </a:rPr>
              <a:t>When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sender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receiving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continuous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ACKs</a:t>
            </a:r>
            <a:r>
              <a:rPr dirty="0" sz="2800" spc="3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3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same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packet.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Informs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things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sender.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dirty="0" sz="2800" spc="-25">
                <a:latin typeface="Arial MT"/>
                <a:cs typeface="Arial MT"/>
              </a:rPr>
              <a:t>–</a:t>
            </a:r>
            <a:r>
              <a:rPr dirty="0" sz="2800" spc="-535">
                <a:latin typeface="Arial MT"/>
                <a:cs typeface="Arial MT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receiver</a:t>
            </a:r>
            <a:r>
              <a:rPr dirty="0" sz="2800" spc="6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got</a:t>
            </a:r>
            <a:r>
              <a:rPr dirty="0" sz="2800" spc="6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6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packets</a:t>
            </a:r>
            <a:r>
              <a:rPr dirty="0" sz="2800" spc="6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</a:t>
            </a:r>
            <a:r>
              <a:rPr dirty="0" sz="2800" spc="6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6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6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ACKed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3295" y="2421458"/>
            <a:ext cx="13931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Receiving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2421458"/>
            <a:ext cx="318833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200785" algn="l"/>
                <a:tab pos="1608455" algn="l"/>
                <a:tab pos="1704339" algn="l"/>
              </a:tabLst>
            </a:pPr>
            <a:r>
              <a:rPr dirty="0" sz="2800" spc="-10">
                <a:latin typeface="Calibri"/>
                <a:cs typeface="Calibri"/>
              </a:rPr>
              <a:t>packet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in</a:t>
            </a:r>
            <a:r>
              <a:rPr dirty="0" sz="2800">
                <a:latin typeface="Calibri"/>
                <a:cs typeface="Calibri"/>
              </a:rPr>
              <a:t>		</a:t>
            </a:r>
            <a:r>
              <a:rPr dirty="0" sz="2800" spc="-10">
                <a:latin typeface="Calibri"/>
                <a:cs typeface="Calibri"/>
              </a:rPr>
              <a:t>sequence. receiver</a:t>
            </a:r>
            <a:r>
              <a:rPr dirty="0" sz="2800">
                <a:latin typeface="Calibri"/>
                <a:cs typeface="Calibri"/>
              </a:rPr>
              <a:t>		</a:t>
            </a:r>
            <a:r>
              <a:rPr dirty="0" sz="2800" spc="-20">
                <a:latin typeface="Calibri"/>
                <a:cs typeface="Calibri"/>
              </a:rPr>
              <a:t>also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3863" y="2848736"/>
            <a:ext cx="9277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shows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2189" y="2848736"/>
            <a:ext cx="6184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Calibri"/>
                <a:cs typeface="Calibri"/>
              </a:rPr>
              <a:t>that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0889" y="2421458"/>
            <a:ext cx="210312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4130">
              <a:lnSpc>
                <a:spcPct val="100000"/>
              </a:lnSpc>
              <a:spcBef>
                <a:spcPts val="95"/>
              </a:spcBef>
              <a:tabLst>
                <a:tab pos="986790" algn="l"/>
                <a:tab pos="1918970" algn="l"/>
              </a:tabLst>
            </a:pPr>
            <a:r>
              <a:rPr dirty="0" sz="2800" spc="-20">
                <a:latin typeface="Calibri"/>
                <a:cs typeface="Calibri"/>
              </a:rPr>
              <a:t>ACKs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from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2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0242" y="2848736"/>
            <a:ext cx="11861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receiver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8197" y="3275457"/>
            <a:ext cx="15373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40765" algn="l"/>
              </a:tabLst>
            </a:pPr>
            <a:r>
              <a:rPr dirty="0" sz="2800" spc="-20">
                <a:latin typeface="Calibri"/>
                <a:cs typeface="Calibri"/>
              </a:rPr>
              <a:t>from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8834" y="3275457"/>
            <a:ext cx="1691639" cy="1391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receives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723900" algn="l"/>
              </a:tabLst>
            </a:pP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packet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1584" y="3275457"/>
            <a:ext cx="1684655" cy="1391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something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800">
              <a:latin typeface="Calibri"/>
              <a:cs typeface="Calibri"/>
            </a:endParaRPr>
          </a:p>
          <a:p>
            <a:pPr marL="222885">
              <a:lnSpc>
                <a:spcPct val="100000"/>
              </a:lnSpc>
              <a:tabLst>
                <a:tab pos="1452245" algn="l"/>
              </a:tabLst>
            </a:pPr>
            <a:r>
              <a:rPr dirty="0" sz="2800" spc="-10">
                <a:latin typeface="Calibri"/>
                <a:cs typeface="Calibri"/>
              </a:rPr>
              <a:t>stream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5844" y="3275457"/>
            <a:ext cx="2102485" cy="1818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continuously sender.</a:t>
            </a:r>
            <a:endParaRPr sz="2800">
              <a:latin typeface="Calibri"/>
              <a:cs typeface="Calibri"/>
            </a:endParaRPr>
          </a:p>
          <a:p>
            <a:pPr marL="240665" marR="23495" indent="-228600">
              <a:lnSpc>
                <a:spcPct val="100000"/>
              </a:lnSpc>
              <a:spcBef>
                <a:spcPts val="675"/>
              </a:spcBef>
              <a:tabLst>
                <a:tab pos="1004569" algn="l"/>
                <a:tab pos="1750060" algn="l"/>
              </a:tabLst>
            </a:pPr>
            <a:r>
              <a:rPr dirty="0" sz="2800" spc="-25">
                <a:latin typeface="Arial MT"/>
                <a:cs typeface="Arial MT"/>
              </a:rPr>
              <a:t>–</a:t>
            </a:r>
            <a:r>
              <a:rPr dirty="0" sz="2800" spc="-530">
                <a:latin typeface="Arial MT"/>
                <a:cs typeface="Arial MT"/>
              </a:rPr>
              <a:t> 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gap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transmission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54748" y="4214622"/>
            <a:ext cx="1702435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19685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due</a:t>
            </a:r>
            <a:r>
              <a:rPr dirty="0" sz="2800" spc="23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40">
                <a:latin typeface="Calibri"/>
                <a:cs typeface="Calibri"/>
              </a:rPr>
              <a:t> 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280">
                <a:latin typeface="Calibri"/>
                <a:cs typeface="Calibri"/>
              </a:rPr>
              <a:t>   </a:t>
            </a:r>
            <a:r>
              <a:rPr dirty="0" sz="2800" spc="-25">
                <a:latin typeface="Calibri"/>
                <a:cs typeface="Calibri"/>
              </a:rPr>
              <a:t>now </a:t>
            </a:r>
            <a:r>
              <a:rPr dirty="0" sz="2800">
                <a:latin typeface="Calibri"/>
                <a:cs typeface="Calibri"/>
              </a:rPr>
              <a:t>before</a:t>
            </a:r>
            <a:r>
              <a:rPr dirty="0" sz="2800" spc="280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called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 spc="-20">
                <a:latin typeface="Calibri"/>
                <a:cs typeface="Calibri"/>
              </a:rPr>
              <a:t>fast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61715" y="4641341"/>
            <a:ext cx="1703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3795" algn="l"/>
              </a:tabLst>
            </a:pPr>
            <a:r>
              <a:rPr dirty="0" sz="2800" spc="-10">
                <a:latin typeface="Calibri"/>
                <a:cs typeface="Calibri"/>
              </a:rPr>
              <a:t>error.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96509" y="4641341"/>
            <a:ext cx="1015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sender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66515" y="5067757"/>
            <a:ext cx="1106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missing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97221" y="5067757"/>
            <a:ext cx="13328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packet(s)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46703" y="5495035"/>
            <a:ext cx="26644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744" algn="l"/>
                <a:tab pos="2432685" algn="l"/>
              </a:tabLst>
            </a:pPr>
            <a:r>
              <a:rPr dirty="0" sz="2800" spc="-20">
                <a:latin typeface="Calibri"/>
                <a:cs typeface="Calibri"/>
              </a:rPr>
              <a:t>This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behavior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4394" y="5067757"/>
            <a:ext cx="226949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retransmit</a:t>
            </a:r>
            <a:r>
              <a:rPr dirty="0" sz="2800" spc="254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timer</a:t>
            </a:r>
            <a:r>
              <a:rPr dirty="0" sz="2800" spc="459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expires. retransmit.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48647"/>
            <a:ext cx="8226425" cy="481330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4300" b="1">
                <a:latin typeface="Calibri"/>
                <a:cs typeface="Calibri"/>
              </a:rPr>
              <a:t>Fast</a:t>
            </a:r>
            <a:r>
              <a:rPr dirty="0" sz="4300" spc="-190" b="1">
                <a:latin typeface="Calibri"/>
                <a:cs typeface="Calibri"/>
              </a:rPr>
              <a:t> </a:t>
            </a:r>
            <a:r>
              <a:rPr dirty="0" sz="4300" spc="-25" b="1">
                <a:latin typeface="Calibri"/>
                <a:cs typeface="Calibri"/>
              </a:rPr>
              <a:t>retransmit/fast</a:t>
            </a:r>
            <a:r>
              <a:rPr dirty="0" sz="4300" spc="-185" b="1">
                <a:latin typeface="Calibri"/>
                <a:cs typeface="Calibri"/>
              </a:rPr>
              <a:t> </a:t>
            </a:r>
            <a:r>
              <a:rPr dirty="0" sz="4300" spc="-10" b="1">
                <a:latin typeface="Calibri"/>
                <a:cs typeface="Calibri"/>
              </a:rPr>
              <a:t>recovery</a:t>
            </a:r>
            <a:endParaRPr sz="4300">
              <a:latin typeface="Calibri"/>
              <a:cs typeface="Calibri"/>
            </a:endParaRPr>
          </a:p>
          <a:p>
            <a:pPr algn="just" lvl="1" marL="698500" marR="5715" indent="-22923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After</a:t>
            </a:r>
            <a:r>
              <a:rPr dirty="0" sz="2600" spc="61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receipt</a:t>
            </a:r>
            <a:r>
              <a:rPr dirty="0" sz="2600" spc="62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6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acknowledgements,</a:t>
            </a:r>
            <a:r>
              <a:rPr dirty="0" sz="2600" spc="6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0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sender </a:t>
            </a:r>
            <a:r>
              <a:rPr dirty="0" sz="2600">
                <a:latin typeface="Calibri"/>
                <a:cs typeface="Calibri"/>
              </a:rPr>
              <a:t>performs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fast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recovery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loss.</a:t>
            </a:r>
            <a:endParaRPr sz="2600">
              <a:latin typeface="Calibri"/>
              <a:cs typeface="Calibri"/>
            </a:endParaRPr>
          </a:p>
          <a:p>
            <a:pPr lvl="2" marL="1155065" indent="-22796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1155065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improve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efficiency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dramatically.</a:t>
            </a:r>
            <a:endParaRPr sz="26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195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algn="just" lvl="1" marL="698500" marR="889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reason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activating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time-</a:t>
            </a:r>
            <a:r>
              <a:rPr dirty="0" sz="2600">
                <a:latin typeface="Calibri"/>
                <a:cs typeface="Calibri"/>
              </a:rPr>
              <a:t>out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due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missing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acknowledgement.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ct val="100000"/>
              </a:lnSpc>
              <a:spcBef>
                <a:spcPts val="620"/>
              </a:spcBef>
              <a:buFont typeface="Arial MT"/>
              <a:buChar char="–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fast</a:t>
            </a:r>
            <a:r>
              <a:rPr dirty="0" sz="2600" spc="6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retransmit/fast</a:t>
            </a:r>
            <a:r>
              <a:rPr dirty="0" sz="2600" spc="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recovery</a:t>
            </a:r>
            <a:r>
              <a:rPr dirty="0" sz="2600" spc="3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interprets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6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congestion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6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6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activates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mechanism.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740" y="235965"/>
            <a:ext cx="410908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Implications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on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mobility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807465"/>
            <a:ext cx="8074025" cy="4385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3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</a:t>
            </a:r>
            <a:r>
              <a:rPr dirty="0" sz="2600" spc="4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drastically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decreases</a:t>
            </a:r>
            <a:r>
              <a:rPr dirty="0" sz="2600" spc="3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efficiency</a:t>
            </a:r>
            <a:r>
              <a:rPr dirty="0" sz="2600" spc="3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if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together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receivers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senders.</a:t>
            </a:r>
            <a:endParaRPr sz="2600">
              <a:latin typeface="Calibri"/>
              <a:cs typeface="Calibri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reason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under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wrong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assumptions.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lvl="1" marL="756285" marR="5080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1652270" algn="l"/>
                <a:tab pos="2005964" algn="l"/>
                <a:tab pos="3204210" algn="l"/>
                <a:tab pos="4016375" algn="l"/>
                <a:tab pos="4712970" algn="l"/>
                <a:tab pos="6246495" algn="l"/>
                <a:tab pos="6600190" algn="l"/>
              </a:tabLst>
            </a:pPr>
            <a:r>
              <a:rPr dirty="0" sz="2600" spc="-20">
                <a:latin typeface="Calibri"/>
                <a:cs typeface="Calibri"/>
              </a:rPr>
              <a:t>From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50">
                <a:latin typeface="Calibri"/>
                <a:cs typeface="Calibri"/>
              </a:rPr>
              <a:t>a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missing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ACK,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TCP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concludes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50">
                <a:latin typeface="Calibri"/>
                <a:cs typeface="Calibri"/>
              </a:rPr>
              <a:t>a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congestion </a:t>
            </a:r>
            <a:r>
              <a:rPr dirty="0" sz="2600" spc="-10">
                <a:latin typeface="Calibri"/>
                <a:cs typeface="Calibri"/>
              </a:rPr>
              <a:t>situation.</a:t>
            </a:r>
            <a:endParaRPr sz="2600">
              <a:latin typeface="Calibri"/>
              <a:cs typeface="Calibri"/>
            </a:endParaRPr>
          </a:p>
          <a:p>
            <a:pPr lvl="2" marL="1155700" marR="508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happen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networks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end-systems</a:t>
            </a:r>
            <a:endParaRPr sz="26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625"/>
              </a:spcBef>
            </a:pPr>
            <a:r>
              <a:rPr dirty="0" sz="2600" spc="-20">
                <a:latin typeface="Arial MT"/>
                <a:cs typeface="Arial MT"/>
              </a:rPr>
              <a:t>–</a:t>
            </a:r>
            <a:r>
              <a:rPr dirty="0" sz="2600" spc="-385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reason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loss.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740" y="235965"/>
            <a:ext cx="410908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Implications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on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mobility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807465"/>
            <a:ext cx="8074025" cy="4782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71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Error</a:t>
            </a:r>
            <a:r>
              <a:rPr dirty="0" sz="2600" spc="6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rates</a:t>
            </a:r>
            <a:r>
              <a:rPr dirty="0" sz="2600" spc="6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links</a:t>
            </a:r>
            <a:r>
              <a:rPr dirty="0" sz="2600" spc="6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orders</a:t>
            </a:r>
            <a:r>
              <a:rPr dirty="0" sz="2600" spc="6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6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magnitude </a:t>
            </a:r>
            <a:r>
              <a:rPr dirty="0" sz="2600">
                <a:latin typeface="Calibri"/>
                <a:cs typeface="Calibri"/>
              </a:rPr>
              <a:t>higher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compared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fixed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fiber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copper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links.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762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loss</a:t>
            </a:r>
            <a:r>
              <a:rPr dirty="0" sz="2600" spc="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much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common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always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be </a:t>
            </a:r>
            <a:r>
              <a:rPr dirty="0" sz="2600">
                <a:latin typeface="Calibri"/>
                <a:cs typeface="Calibri"/>
              </a:rPr>
              <a:t>compensated</a:t>
            </a:r>
            <a:r>
              <a:rPr dirty="0" sz="2600" spc="6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6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6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2</a:t>
            </a:r>
            <a:r>
              <a:rPr dirty="0" sz="2600" spc="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retransmissions</a:t>
            </a:r>
            <a:r>
              <a:rPr dirty="0" sz="2600" spc="6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(ARQ)</a:t>
            </a:r>
            <a:r>
              <a:rPr dirty="0" sz="2600" spc="6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or </a:t>
            </a:r>
            <a:r>
              <a:rPr dirty="0" sz="2600">
                <a:latin typeface="Calibri"/>
                <a:cs typeface="Calibri"/>
              </a:rPr>
              <a:t>error</a:t>
            </a:r>
            <a:r>
              <a:rPr dirty="0" sz="2600" spc="-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correction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(FEC).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698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Trying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retransmit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could,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example,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trigger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retransmission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takes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long.</a:t>
            </a:r>
            <a:endParaRPr sz="26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30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Layer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</a:t>
            </a:r>
            <a:r>
              <a:rPr dirty="0" sz="2600" spc="5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faces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problem</a:t>
            </a:r>
            <a:r>
              <a:rPr dirty="0" sz="2600" spc="5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5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transmitting</a:t>
            </a:r>
            <a:r>
              <a:rPr dirty="0" sz="2600" spc="5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twice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over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link.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1140" y="313690"/>
            <a:ext cx="384682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Implications</a:t>
            </a:r>
            <a:r>
              <a:rPr dirty="0" spc="-9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on</a:t>
            </a:r>
            <a:r>
              <a:rPr dirty="0" spc="-9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mobility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70783"/>
            <a:ext cx="8683625" cy="521843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just" marL="354330" indent="-34163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2800">
                <a:latin typeface="Calibri"/>
                <a:cs typeface="Calibri"/>
              </a:rPr>
              <a:t>Mobility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itself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cause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packet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loss.</a:t>
            </a:r>
            <a:endParaRPr sz="2800">
              <a:latin typeface="Calibri"/>
              <a:cs typeface="Calibri"/>
            </a:endParaRPr>
          </a:p>
          <a:p>
            <a:pPr algn="just" lvl="1" marL="756285" marR="8890" indent="-287020">
              <a:lnSpc>
                <a:spcPct val="100000"/>
              </a:lnSpc>
              <a:spcBef>
                <a:spcPts val="64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situations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where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soft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handover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access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point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another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possible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system.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example,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mobile</a:t>
            </a:r>
            <a:r>
              <a:rPr dirty="0" sz="2600" spc="4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IP</a:t>
            </a:r>
            <a:r>
              <a:rPr dirty="0" sz="2600">
                <a:latin typeface="Calibri"/>
                <a:cs typeface="Calibri"/>
              </a:rPr>
              <a:t>,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could</a:t>
            </a:r>
            <a:r>
              <a:rPr dirty="0" sz="2600" spc="4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still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be </a:t>
            </a:r>
            <a:r>
              <a:rPr dirty="0" sz="2600">
                <a:latin typeface="Calibri"/>
                <a:cs typeface="Calibri"/>
              </a:rPr>
              <a:t>some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transit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agent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while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node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moves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agent.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agent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may</a:t>
            </a:r>
            <a:r>
              <a:rPr dirty="0" sz="2600" spc="3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dirty="0" sz="2600" spc="3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forward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3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agent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buffer</a:t>
            </a:r>
            <a:r>
              <a:rPr dirty="0" sz="2600" spc="3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disconnection</a:t>
            </a:r>
            <a:r>
              <a:rPr dirty="0" sz="2600" spc="3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mobile </a:t>
            </a:r>
            <a:r>
              <a:rPr dirty="0" sz="2600">
                <a:latin typeface="Calibri"/>
                <a:cs typeface="Calibri"/>
              </a:rPr>
              <a:t>node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takes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too</a:t>
            </a:r>
            <a:r>
              <a:rPr dirty="0" sz="26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FF0000"/>
                </a:solidFill>
                <a:latin typeface="Calibri"/>
                <a:cs typeface="Calibri"/>
              </a:rPr>
              <a:t>long</a:t>
            </a:r>
            <a:r>
              <a:rPr dirty="0" sz="2600" spc="-2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algn="just" marL="1612900" marR="5715" indent="-228600">
              <a:lnSpc>
                <a:spcPct val="100000"/>
              </a:lnSpc>
              <a:spcBef>
                <a:spcPts val="630"/>
              </a:spcBef>
            </a:pPr>
            <a:r>
              <a:rPr dirty="0" sz="2600" spc="-15">
                <a:latin typeface="Arial MT"/>
                <a:cs typeface="Arial MT"/>
              </a:rPr>
              <a:t>–</a:t>
            </a:r>
            <a:r>
              <a:rPr dirty="0" sz="2600" spc="-375">
                <a:latin typeface="Arial MT"/>
                <a:cs typeface="Arial MT"/>
              </a:rPr>
              <a:t> </a:t>
            </a:r>
            <a:r>
              <a:rPr dirty="0" sz="2600" spc="-5">
                <a:latin typeface="Calibri"/>
                <a:cs typeface="Calibri"/>
              </a:rPr>
              <a:t>Thi</a:t>
            </a:r>
            <a:r>
              <a:rPr dirty="0" sz="2600">
                <a:latin typeface="Calibri"/>
                <a:cs typeface="Calibri"/>
              </a:rPr>
              <a:t>s</a:t>
            </a:r>
            <a:r>
              <a:rPr dirty="0" sz="2600" spc="700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packet</a:t>
            </a:r>
            <a:r>
              <a:rPr dirty="0" sz="2600" spc="71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los</a:t>
            </a:r>
            <a:r>
              <a:rPr dirty="0" sz="2600">
                <a:latin typeface="Calibri"/>
                <a:cs typeface="Calibri"/>
              </a:rPr>
              <a:t>s</a:t>
            </a:r>
            <a:r>
              <a:rPr dirty="0" sz="2600" spc="7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</a:t>
            </a:r>
            <a:r>
              <a:rPr dirty="0" sz="2600" spc="-15">
                <a:latin typeface="Calibri"/>
                <a:cs typeface="Calibri"/>
              </a:rPr>
              <a:t>a</a:t>
            </a:r>
            <a:r>
              <a:rPr dirty="0" sz="2600">
                <a:latin typeface="Calibri"/>
                <a:cs typeface="Calibri"/>
              </a:rPr>
              <a:t>s</a:t>
            </a:r>
            <a:r>
              <a:rPr dirty="0" sz="2600" spc="695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nothing</a:t>
            </a:r>
            <a:r>
              <a:rPr dirty="0" sz="2600" spc="69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3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2600" spc="7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dirty="0" sz="2600" spc="7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dirty="0" sz="2600" spc="7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15">
                <a:solidFill>
                  <a:srgbClr val="FF0000"/>
                </a:solidFill>
                <a:latin typeface="Calibri"/>
                <a:cs typeface="Calibri"/>
              </a:rPr>
              <a:t>wireless</a:t>
            </a:r>
            <a:r>
              <a:rPr dirty="0" sz="26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acc</a:t>
            </a:r>
            <a:r>
              <a:rPr dirty="0" sz="2600" spc="-1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dirty="0" sz="2600" spc="-5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dirty="0" sz="2600" spc="4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b</a:t>
            </a:r>
            <a:r>
              <a:rPr dirty="0" sz="2600">
                <a:latin typeface="Calibri"/>
                <a:cs typeface="Calibri"/>
              </a:rPr>
              <a:t>ut</a:t>
            </a:r>
            <a:r>
              <a:rPr dirty="0" sz="2600" spc="4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caused</a:t>
            </a:r>
            <a:r>
              <a:rPr dirty="0" sz="2600" spc="4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</a:t>
            </a:r>
            <a:r>
              <a:rPr dirty="0" sz="2600">
                <a:latin typeface="Calibri"/>
                <a:cs typeface="Calibri"/>
              </a:rPr>
              <a:t>y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t</a:t>
            </a:r>
            <a:r>
              <a:rPr dirty="0" sz="2600" spc="-15">
                <a:latin typeface="Calibri"/>
                <a:cs typeface="Calibri"/>
              </a:rPr>
              <a:t>h</a:t>
            </a:r>
            <a:r>
              <a:rPr dirty="0" sz="2600">
                <a:latin typeface="Calibri"/>
                <a:cs typeface="Calibri"/>
              </a:rPr>
              <a:t>e</a:t>
            </a:r>
            <a:r>
              <a:rPr dirty="0" sz="2600" spc="43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problems</a:t>
            </a:r>
            <a:r>
              <a:rPr dirty="0" sz="2600" spc="4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</a:t>
            </a:r>
            <a:r>
              <a:rPr dirty="0" sz="2600">
                <a:latin typeface="Calibri"/>
                <a:cs typeface="Calibri"/>
              </a:rPr>
              <a:t>f</a:t>
            </a:r>
            <a:r>
              <a:rPr dirty="0" sz="2600" spc="434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rerouting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traffic.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1140" y="388365"/>
            <a:ext cx="4107179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Calibri"/>
                <a:cs typeface="Calibri"/>
              </a:rPr>
              <a:t>Implications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on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mobility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959865"/>
            <a:ext cx="8606790" cy="4782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5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mechanism</a:t>
            </a:r>
            <a:r>
              <a:rPr dirty="0" sz="2600" spc="5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detecting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missing</a:t>
            </a:r>
            <a:r>
              <a:rPr dirty="0" sz="2600" spc="5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ACKs</a:t>
            </a:r>
            <a:r>
              <a:rPr dirty="0" sz="2600" spc="5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via</a:t>
            </a:r>
            <a:r>
              <a:rPr dirty="0" sz="2600" spc="6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time-</a:t>
            </a:r>
            <a:r>
              <a:rPr dirty="0" sz="2600" spc="-20">
                <a:latin typeface="Calibri"/>
                <a:cs typeface="Calibri"/>
              </a:rPr>
              <a:t>outs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concluding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loss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congestion</a:t>
            </a:r>
            <a:endParaRPr sz="26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distinguish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different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causes.</a:t>
            </a:r>
            <a:endParaRPr sz="26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0">
                <a:latin typeface="Calibri"/>
                <a:cs typeface="Calibri"/>
              </a:rPr>
              <a:t> fundamental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design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problem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TCP</a:t>
            </a:r>
            <a:endParaRPr sz="2600">
              <a:latin typeface="Calibri"/>
              <a:cs typeface="Calibri"/>
            </a:endParaRPr>
          </a:p>
          <a:p>
            <a:pPr algn="just" lvl="2" marL="1155700" marR="508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1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error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mechanism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1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misused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congestion control.</a:t>
            </a:r>
            <a:endParaRPr sz="26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1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both</a:t>
            </a:r>
            <a:r>
              <a:rPr dirty="0" sz="2600" spc="3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cases</a:t>
            </a:r>
            <a:r>
              <a:rPr dirty="0" sz="2600" spc="3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31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31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lost</a:t>
            </a:r>
            <a:r>
              <a:rPr dirty="0" sz="2600" spc="3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(either</a:t>
            </a:r>
            <a:r>
              <a:rPr dirty="0" sz="2600" spc="3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due</a:t>
            </a:r>
            <a:r>
              <a:rPr dirty="0" sz="2600" spc="31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31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invalid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checksums</a:t>
            </a:r>
            <a:r>
              <a:rPr dirty="0" sz="2600" spc="1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dirty="0" sz="2600" spc="1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2600" spc="1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dropping</a:t>
            </a:r>
            <a:r>
              <a:rPr dirty="0" sz="2600" spc="1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2600" spc="1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0000"/>
                </a:solidFill>
                <a:latin typeface="Calibri"/>
                <a:cs typeface="Calibri"/>
              </a:rPr>
              <a:t>routers</a:t>
            </a:r>
            <a:r>
              <a:rPr dirty="0" sz="2600">
                <a:latin typeface="Calibri"/>
                <a:cs typeface="Calibri"/>
              </a:rPr>
              <a:t>).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However,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reasons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completely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different.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2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2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distinguish</a:t>
            </a:r>
            <a:r>
              <a:rPr dirty="0" sz="2600" spc="27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27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these</a:t>
            </a:r>
            <a:r>
              <a:rPr dirty="0" sz="2600" spc="28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27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different reasons.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1140" y="388365"/>
            <a:ext cx="4107179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Calibri"/>
                <a:cs typeface="Calibri"/>
              </a:rPr>
              <a:t>Implications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on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mobility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959865"/>
            <a:ext cx="8606790" cy="2879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Standard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reacts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start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ACKs</a:t>
            </a:r>
            <a:r>
              <a:rPr dirty="0" sz="2600" spc="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missing,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help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case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transmission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errors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over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3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links</a:t>
            </a:r>
            <a:r>
              <a:rPr dirty="0" sz="2600" spc="3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35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3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3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3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really</a:t>
            </a:r>
            <a:r>
              <a:rPr dirty="0" sz="2600" spc="3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help</a:t>
            </a:r>
            <a:r>
              <a:rPr dirty="0" sz="2600" spc="35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during handover.</a:t>
            </a:r>
            <a:endParaRPr sz="26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This behavior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results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severe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performance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degradation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unchanged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together</a:t>
            </a:r>
            <a:r>
              <a:rPr dirty="0" sz="2600" spc="229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links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nodes.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806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Calibri"/>
                <a:cs typeface="Calibri"/>
              </a:rPr>
              <a:t>Implications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on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mobility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731265"/>
            <a:ext cx="8226425" cy="4385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change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completely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just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support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mobile </a:t>
            </a:r>
            <a:r>
              <a:rPr dirty="0" sz="2600">
                <a:latin typeface="Calibri"/>
                <a:cs typeface="Calibri"/>
              </a:rPr>
              <a:t>users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links.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0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4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arguments</a:t>
            </a:r>
            <a:r>
              <a:rPr dirty="0" sz="2600" spc="41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409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were</a:t>
            </a:r>
            <a:r>
              <a:rPr dirty="0" sz="2600" spc="41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given</a:t>
            </a:r>
            <a:r>
              <a:rPr dirty="0" sz="2600" spc="40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09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keep</a:t>
            </a:r>
            <a:r>
              <a:rPr dirty="0" sz="2600" spc="40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IP </a:t>
            </a:r>
            <a:r>
              <a:rPr dirty="0" sz="2600">
                <a:latin typeface="Calibri"/>
                <a:cs typeface="Calibri"/>
              </a:rPr>
              <a:t>unchanged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apply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TCP.</a:t>
            </a:r>
            <a:endParaRPr sz="26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installed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base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computers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2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too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large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changed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and,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important,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mechanisms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such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start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keep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internet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operable.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  <a:tab pos="1288415" algn="l"/>
                <a:tab pos="3342640" algn="l"/>
                <a:tab pos="3827779" algn="l"/>
                <a:tab pos="4571365" algn="l"/>
                <a:tab pos="6118225" algn="l"/>
                <a:tab pos="6781800" algn="l"/>
                <a:tab pos="7266305" algn="l"/>
              </a:tabLst>
            </a:pPr>
            <a:r>
              <a:rPr dirty="0" sz="2600" spc="-10">
                <a:latin typeface="Calibri"/>
                <a:cs typeface="Calibri"/>
              </a:rPr>
              <a:t>Every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enhancement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to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TCP,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therefore,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has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to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remain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640" y="5090617"/>
            <a:ext cx="460946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01495" algn="l"/>
                <a:tab pos="2684780" algn="l"/>
                <a:tab pos="3414395" algn="l"/>
              </a:tabLst>
            </a:pPr>
            <a:r>
              <a:rPr dirty="0" sz="2600" spc="-10">
                <a:latin typeface="Calibri"/>
                <a:cs typeface="Calibri"/>
              </a:rPr>
              <a:t>compatible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with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standard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9660" y="5090617"/>
            <a:ext cx="2514600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8830" algn="l"/>
              </a:tabLst>
            </a:pPr>
            <a:r>
              <a:rPr dirty="0" sz="2600" spc="-25">
                <a:latin typeface="Calibri"/>
                <a:cs typeface="Calibri"/>
              </a:rPr>
              <a:t>TCP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and</a:t>
            </a:r>
            <a:endParaRPr sz="2600">
              <a:latin typeface="Calibri"/>
              <a:cs typeface="Calibri"/>
            </a:endParaRPr>
          </a:p>
          <a:p>
            <a:pPr marL="207645">
              <a:lnSpc>
                <a:spcPct val="100000"/>
              </a:lnSpc>
              <a:tabLst>
                <a:tab pos="708660" algn="l"/>
                <a:tab pos="1437640" algn="l"/>
                <a:tab pos="1913255" algn="l"/>
              </a:tabLst>
            </a:pPr>
            <a:r>
              <a:rPr dirty="0" sz="2600" spc="-25">
                <a:latin typeface="Calibri"/>
                <a:cs typeface="Calibri"/>
              </a:rPr>
              <a:t>of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TCP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in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case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45857" y="5090617"/>
            <a:ext cx="1440815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L="1150620" marR="5080" indent="-1138555">
              <a:lnSpc>
                <a:spcPct val="100000"/>
              </a:lnSpc>
              <a:spcBef>
                <a:spcPts val="105"/>
              </a:spcBef>
              <a:tabLst>
                <a:tab pos="967740" algn="l"/>
              </a:tabLst>
            </a:pPr>
            <a:r>
              <a:rPr dirty="0" sz="2600" spc="-20">
                <a:latin typeface="Calibri"/>
                <a:cs typeface="Calibri"/>
              </a:rPr>
              <a:t>must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not of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640" y="5487416"/>
            <a:ext cx="4860925" cy="81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635760" algn="l"/>
                <a:tab pos="2311400" algn="l"/>
                <a:tab pos="3670300" algn="l"/>
              </a:tabLst>
            </a:pPr>
            <a:r>
              <a:rPr dirty="0" sz="2600" spc="-10">
                <a:latin typeface="Calibri"/>
                <a:cs typeface="Calibri"/>
              </a:rPr>
              <a:t>jeopardize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cautious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behavior </a:t>
            </a:r>
            <a:r>
              <a:rPr dirty="0" sz="2600" spc="-10">
                <a:latin typeface="Calibri"/>
                <a:cs typeface="Calibri"/>
              </a:rPr>
              <a:t>congestion.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1724" y="-32258"/>
            <a:ext cx="43053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Classical</a:t>
            </a:r>
            <a:r>
              <a:rPr dirty="0" spc="-7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TCP</a:t>
            </a:r>
            <a:r>
              <a:rPr dirty="0" spc="-75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improvements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3245357"/>
            <a:ext cx="20986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 sz="2800">
                <a:latin typeface="Calibri"/>
                <a:cs typeface="Calibri"/>
              </a:rPr>
              <a:t>Indirect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TCP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714750"/>
            <a:ext cx="259207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1097915" algn="l"/>
              </a:tabLst>
            </a:pPr>
            <a:r>
              <a:rPr dirty="0" sz="2700" spc="-25">
                <a:latin typeface="Calibri"/>
                <a:cs typeface="Calibri"/>
              </a:rPr>
              <a:t>Two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competing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3971" y="3714750"/>
            <a:ext cx="55143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2225" algn="l"/>
                <a:tab pos="1945005" algn="l"/>
                <a:tab pos="2459990" algn="l"/>
                <a:tab pos="3147695" algn="l"/>
                <a:tab pos="5214620" algn="l"/>
              </a:tabLst>
            </a:pPr>
            <a:r>
              <a:rPr dirty="0" sz="2700" spc="-10">
                <a:latin typeface="Calibri"/>
                <a:cs typeface="Calibri"/>
              </a:rPr>
              <a:t>insights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led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to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the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development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of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452" y="3970818"/>
            <a:ext cx="7378700" cy="158496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700">
                <a:latin typeface="Calibri"/>
                <a:cs typeface="Calibri"/>
              </a:rPr>
              <a:t>indirect</a:t>
            </a:r>
            <a:r>
              <a:rPr dirty="0" sz="2700" spc="-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(I-</a:t>
            </a:r>
            <a:r>
              <a:rPr dirty="0" sz="2700" spc="-20">
                <a:latin typeface="Calibri"/>
                <a:cs typeface="Calibri"/>
              </a:rPr>
              <a:t>TCP):</a:t>
            </a:r>
            <a:endParaRPr sz="2700">
              <a:latin typeface="Calibri"/>
              <a:cs typeface="Calibri"/>
            </a:endParaRPr>
          </a:p>
          <a:p>
            <a:pPr marL="640715" indent="-4572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640715" algn="l"/>
              </a:tabLst>
            </a:pP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performs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poorly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together</a:t>
            </a:r>
            <a:r>
              <a:rPr dirty="0" sz="2700" spc="-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with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wireless</a:t>
            </a:r>
            <a:r>
              <a:rPr dirty="0" sz="2700" spc="-9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links</a:t>
            </a:r>
            <a:endParaRPr sz="2700">
              <a:latin typeface="Calibri"/>
              <a:cs typeface="Calibri"/>
            </a:endParaRPr>
          </a:p>
          <a:p>
            <a:pPr marL="626745" indent="-4572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626745" algn="l"/>
              </a:tabLst>
            </a:pP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within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fixed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network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cannot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changed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136" y="5728208"/>
            <a:ext cx="848804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I-TCP</a:t>
            </a:r>
            <a:r>
              <a:rPr dirty="0" sz="2700" spc="25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segments</a:t>
            </a:r>
            <a:r>
              <a:rPr dirty="0" sz="2700" spc="2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2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2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connection</a:t>
            </a:r>
            <a:r>
              <a:rPr dirty="0" sz="2700" spc="2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into</a:t>
            </a:r>
            <a:r>
              <a:rPr dirty="0" sz="2700" spc="2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2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fixed</a:t>
            </a:r>
            <a:r>
              <a:rPr dirty="0" sz="2700" spc="2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part</a:t>
            </a:r>
            <a:r>
              <a:rPr dirty="0" sz="2700" spc="2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260">
                <a:latin typeface="Calibri"/>
                <a:cs typeface="Calibri"/>
              </a:rPr>
              <a:t> </a:t>
            </a:r>
            <a:r>
              <a:rPr dirty="0" sz="2700" spc="-50">
                <a:latin typeface="Calibri"/>
                <a:cs typeface="Calibri"/>
              </a:rPr>
              <a:t>a </a:t>
            </a:r>
            <a:r>
              <a:rPr dirty="0" sz="2700">
                <a:latin typeface="Calibri"/>
                <a:cs typeface="Calibri"/>
              </a:rPr>
              <a:t>wireless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part.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586" y="469300"/>
            <a:ext cx="7832809" cy="27108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19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Indirect</a:t>
            </a:r>
            <a:r>
              <a:rPr dirty="0" spc="-90"/>
              <a:t> </a:t>
            </a:r>
            <a:r>
              <a:rPr dirty="0" spc="-25"/>
              <a:t>TCP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804164"/>
            <a:ext cx="8684260" cy="5046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Standard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used</a:t>
            </a:r>
            <a:r>
              <a:rPr dirty="0" sz="2700" spc="1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between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fixed</a:t>
            </a:r>
            <a:r>
              <a:rPr dirty="0" sz="2700" spc="1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computer</a:t>
            </a:r>
            <a:r>
              <a:rPr dirty="0" sz="2700" spc="1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17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the </a:t>
            </a:r>
            <a:r>
              <a:rPr dirty="0" sz="2700">
                <a:latin typeface="Calibri"/>
                <a:cs typeface="Calibri"/>
              </a:rPr>
              <a:t>access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point.</a:t>
            </a:r>
            <a:endParaRPr sz="27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7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access</a:t>
            </a:r>
            <a:r>
              <a:rPr dirty="0" sz="2700" spc="18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point</a:t>
            </a:r>
            <a:r>
              <a:rPr dirty="0" sz="2700" spc="18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now</a:t>
            </a:r>
            <a:r>
              <a:rPr dirty="0" sz="2700" spc="17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terminates</a:t>
            </a:r>
            <a:r>
              <a:rPr dirty="0" sz="2700" spc="18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7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standard</a:t>
            </a:r>
            <a:r>
              <a:rPr dirty="0" sz="2700" spc="175">
                <a:latin typeface="Calibri"/>
                <a:cs typeface="Calibri"/>
              </a:rPr>
              <a:t>  </a:t>
            </a:r>
            <a:r>
              <a:rPr dirty="0" sz="2700" spc="-25">
                <a:latin typeface="Calibri"/>
                <a:cs typeface="Calibri"/>
              </a:rPr>
              <a:t>TCP </a:t>
            </a:r>
            <a:r>
              <a:rPr dirty="0" sz="2700" spc="-25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connection.</a:t>
            </a:r>
            <a:endParaRPr sz="27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40"/>
              </a:spcBef>
              <a:buFont typeface="Arial MT"/>
              <a:buChar char="–"/>
            </a:pPr>
            <a:endParaRPr sz="2700">
              <a:latin typeface="Calibri"/>
              <a:cs typeface="Calibri"/>
            </a:endParaRPr>
          </a:p>
          <a:p>
            <a:pPr algn="just"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700">
                <a:latin typeface="Calibri"/>
                <a:cs typeface="Calibri"/>
              </a:rPr>
              <a:t>Between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access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point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mobile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host,</a:t>
            </a:r>
            <a:endParaRPr sz="2700">
              <a:latin typeface="Calibri"/>
              <a:cs typeface="Calibri"/>
            </a:endParaRPr>
          </a:p>
          <a:p>
            <a:pPr algn="just" lvl="1" marL="755650" indent="-28575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5650" algn="l"/>
              </a:tabLst>
            </a:pP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special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85">
                <a:latin typeface="Calibri"/>
                <a:cs typeface="Calibri"/>
              </a:rPr>
              <a:t>TCP,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adapted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wireless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links,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used.</a:t>
            </a:r>
            <a:endParaRPr sz="2700">
              <a:latin typeface="Calibri"/>
              <a:cs typeface="Calibri"/>
            </a:endParaRPr>
          </a:p>
          <a:p>
            <a:pPr algn="just" lvl="1" marL="755650" indent="-28575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5650" algn="l"/>
              </a:tabLst>
            </a:pPr>
            <a:r>
              <a:rPr dirty="0" sz="2700">
                <a:latin typeface="Calibri"/>
                <a:cs typeface="Calibri"/>
              </a:rPr>
              <a:t>changing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wireless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link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not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requirement.</a:t>
            </a:r>
            <a:endParaRPr sz="2700">
              <a:latin typeface="Calibri"/>
              <a:cs typeface="Calibri"/>
            </a:endParaRPr>
          </a:p>
          <a:p>
            <a:pPr algn="just" lvl="1" marL="755015" marR="5080" indent="-28575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700">
                <a:latin typeface="Calibri"/>
                <a:cs typeface="Calibri"/>
              </a:rPr>
              <a:t>Even</a:t>
            </a:r>
            <a:r>
              <a:rPr dirty="0" sz="2700" spc="7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an</a:t>
            </a:r>
            <a:r>
              <a:rPr dirty="0" sz="2700" spc="8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unchanged</a:t>
            </a:r>
            <a:r>
              <a:rPr dirty="0" sz="2700" spc="7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TCP</a:t>
            </a:r>
            <a:r>
              <a:rPr dirty="0" sz="2700" spc="7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can</a:t>
            </a:r>
            <a:r>
              <a:rPr dirty="0" sz="2700" spc="8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benefit</a:t>
            </a:r>
            <a:r>
              <a:rPr dirty="0" sz="2700" spc="7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from</a:t>
            </a:r>
            <a:r>
              <a:rPr dirty="0" sz="2700" spc="8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75">
                <a:latin typeface="Calibri"/>
                <a:cs typeface="Calibri"/>
              </a:rPr>
              <a:t>  </a:t>
            </a:r>
            <a:r>
              <a:rPr dirty="0" sz="2700" spc="-20">
                <a:latin typeface="Calibri"/>
                <a:cs typeface="Calibri"/>
              </a:rPr>
              <a:t>much </a:t>
            </a:r>
            <a:r>
              <a:rPr dirty="0" sz="2700" spc="-20">
                <a:latin typeface="Calibri"/>
                <a:cs typeface="Calibri"/>
              </a:rPr>
              <a:t>	</a:t>
            </a:r>
            <a:r>
              <a:rPr dirty="0" sz="2700">
                <a:latin typeface="Calibri"/>
                <a:cs typeface="Calibri"/>
              </a:rPr>
              <a:t>shorter</a:t>
            </a:r>
            <a:r>
              <a:rPr dirty="0" sz="2700" spc="5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round</a:t>
            </a:r>
            <a:r>
              <a:rPr dirty="0" sz="2700" spc="5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trip</a:t>
            </a:r>
            <a:r>
              <a:rPr dirty="0" sz="2700" spc="5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time,</a:t>
            </a:r>
            <a:r>
              <a:rPr dirty="0" sz="2700" spc="5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starting</a:t>
            </a:r>
            <a:r>
              <a:rPr dirty="0" sz="2700" spc="5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retransmission</a:t>
            </a:r>
            <a:r>
              <a:rPr dirty="0" sz="2700" spc="59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much </a:t>
            </a:r>
            <a:r>
              <a:rPr dirty="0" sz="2700" spc="-20">
                <a:latin typeface="Calibri"/>
                <a:cs typeface="Calibri"/>
              </a:rPr>
              <a:t>	</a:t>
            </a:r>
            <a:r>
              <a:rPr dirty="0" sz="2700" spc="-10">
                <a:latin typeface="Calibri"/>
                <a:cs typeface="Calibri"/>
              </a:rPr>
              <a:t>faster.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19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/>
              <a:t>Indirect</a:t>
            </a:r>
            <a:r>
              <a:rPr dirty="0" spc="-90"/>
              <a:t> </a:t>
            </a:r>
            <a:r>
              <a:rPr dirty="0" spc="-25"/>
              <a:t>TCP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926338"/>
            <a:ext cx="8684260" cy="3647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98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22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good</a:t>
            </a:r>
            <a:r>
              <a:rPr dirty="0" sz="2700" spc="2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place</a:t>
            </a:r>
            <a:r>
              <a:rPr dirty="0" sz="2700" spc="22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</a:t>
            </a:r>
            <a:r>
              <a:rPr dirty="0" sz="2700" spc="22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segmenting</a:t>
            </a:r>
            <a:r>
              <a:rPr dirty="0" sz="2700" spc="22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2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connection</a:t>
            </a:r>
            <a:r>
              <a:rPr dirty="0" sz="2700" spc="2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between</a:t>
            </a:r>
            <a:r>
              <a:rPr dirty="0" sz="2700" spc="22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MN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CN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dirty="0" sz="27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7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foreign</a:t>
            </a:r>
            <a:r>
              <a:rPr dirty="0" sz="27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FF0000"/>
                </a:solidFill>
                <a:latin typeface="Calibri"/>
                <a:cs typeface="Calibri"/>
              </a:rPr>
              <a:t>agent</a:t>
            </a:r>
            <a:r>
              <a:rPr dirty="0" sz="27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mobile</a:t>
            </a:r>
            <a:r>
              <a:rPr dirty="0" sz="2700" spc="-25">
                <a:latin typeface="Calibri"/>
                <a:cs typeface="Calibri"/>
              </a:rPr>
              <a:t> IP.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Font typeface="Arial MT"/>
              <a:buChar char="•"/>
            </a:pPr>
            <a:endParaRPr sz="2700">
              <a:latin typeface="Calibri"/>
              <a:cs typeface="Calibri"/>
            </a:endParaRPr>
          </a:p>
          <a:p>
            <a:pPr marL="355600" marR="571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3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CN</a:t>
            </a:r>
            <a:r>
              <a:rPr dirty="0" sz="2700" spc="3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3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3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fixed</a:t>
            </a:r>
            <a:r>
              <a:rPr dirty="0" sz="2700" spc="3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network</a:t>
            </a:r>
            <a:r>
              <a:rPr dirty="0" sz="2700" spc="3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does</a:t>
            </a:r>
            <a:r>
              <a:rPr dirty="0" sz="2700" spc="3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not</a:t>
            </a:r>
            <a:r>
              <a:rPr dirty="0" sz="2700" spc="3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notice</a:t>
            </a:r>
            <a:r>
              <a:rPr dirty="0" sz="2700" spc="3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33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wireless </a:t>
            </a:r>
            <a:r>
              <a:rPr dirty="0" sz="2700">
                <a:latin typeface="Calibri"/>
                <a:cs typeface="Calibri"/>
              </a:rPr>
              <a:t>link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or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segmentation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connection.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Font typeface="Arial MT"/>
              <a:buChar char="•"/>
            </a:pPr>
            <a:endParaRPr sz="27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foreign</a:t>
            </a:r>
            <a:r>
              <a:rPr dirty="0" sz="2700" spc="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agent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acts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as</a:t>
            </a:r>
            <a:r>
              <a:rPr dirty="0" sz="2700" spc="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proxy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relays</a:t>
            </a:r>
            <a:r>
              <a:rPr dirty="0" sz="2700" spc="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all</a:t>
            </a:r>
            <a:r>
              <a:rPr dirty="0" sz="2700" spc="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data</a:t>
            </a:r>
            <a:r>
              <a:rPr dirty="0" sz="2700" spc="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2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both </a:t>
            </a:r>
            <a:r>
              <a:rPr dirty="0" sz="2700" spc="-10">
                <a:latin typeface="Calibri"/>
                <a:cs typeface="Calibri"/>
              </a:rPr>
              <a:t>directions.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03" y="-59943"/>
            <a:ext cx="18776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Indirect</a:t>
            </a:r>
            <a:r>
              <a:rPr dirty="0" spc="-90"/>
              <a:t> </a:t>
            </a:r>
            <a:r>
              <a:rPr dirty="0" spc="-25"/>
              <a:t>TCP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575564"/>
            <a:ext cx="8685530" cy="4634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889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If</a:t>
            </a:r>
            <a:r>
              <a:rPr dirty="0" sz="2700" spc="3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2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CN</a:t>
            </a:r>
            <a:r>
              <a:rPr dirty="0" sz="2700" spc="2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sends</a:t>
            </a:r>
            <a:r>
              <a:rPr dirty="0" sz="2700" spc="30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3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packet,</a:t>
            </a:r>
            <a:r>
              <a:rPr dirty="0" sz="2700" spc="3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3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foreign</a:t>
            </a:r>
            <a:r>
              <a:rPr dirty="0" sz="2700" spc="3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agent</a:t>
            </a:r>
            <a:r>
              <a:rPr dirty="0" sz="2700" spc="31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acknowledges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</a:t>
            </a:r>
            <a:r>
              <a:rPr dirty="0" sz="2700" spc="-7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tries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forward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MN.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Font typeface="Arial MT"/>
              <a:buChar char="•"/>
            </a:pPr>
            <a:endParaRPr sz="2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700">
                <a:latin typeface="Calibri"/>
                <a:cs typeface="Calibri"/>
              </a:rPr>
              <a:t>If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MN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receives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packet,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it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acknowledges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packet.</a:t>
            </a:r>
            <a:endParaRPr sz="2700">
              <a:latin typeface="Calibri"/>
              <a:cs typeface="Calibri"/>
            </a:endParaRPr>
          </a:p>
          <a:p>
            <a:pPr lvl="1" marL="756285" indent="-286385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ACK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only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used</a:t>
            </a:r>
            <a:r>
              <a:rPr dirty="0" sz="2700" spc="-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by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foreign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agent.</a:t>
            </a:r>
            <a:endParaRPr sz="27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40"/>
              </a:spcBef>
              <a:buFont typeface="Arial MT"/>
              <a:buChar char="–"/>
            </a:pPr>
            <a:endParaRPr sz="27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If</a:t>
            </a:r>
            <a:r>
              <a:rPr dirty="0" sz="2700" spc="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10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packet</a:t>
            </a:r>
            <a:r>
              <a:rPr dirty="0" sz="2700" spc="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10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lost</a:t>
            </a:r>
            <a:r>
              <a:rPr dirty="0" sz="2700" spc="10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on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wireless</a:t>
            </a:r>
            <a:r>
              <a:rPr dirty="0" sz="2700" spc="10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link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due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1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10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transmission </a:t>
            </a:r>
            <a:r>
              <a:rPr dirty="0" sz="2700" spc="-35">
                <a:latin typeface="Calibri"/>
                <a:cs typeface="Calibri"/>
              </a:rPr>
              <a:t>error,</a:t>
            </a:r>
            <a:r>
              <a:rPr dirty="0" sz="2700" spc="-3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CN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would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not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notice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this.</a:t>
            </a:r>
            <a:endParaRPr sz="2700">
              <a:latin typeface="Calibri"/>
              <a:cs typeface="Calibri"/>
            </a:endParaRPr>
          </a:p>
          <a:p>
            <a:pPr lvl="1" marL="756285" marR="6985" indent="-28702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50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50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case,</a:t>
            </a:r>
            <a:r>
              <a:rPr dirty="0" sz="2700" spc="50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509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foreign</a:t>
            </a:r>
            <a:r>
              <a:rPr dirty="0" sz="2700" spc="5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agent</a:t>
            </a:r>
            <a:r>
              <a:rPr dirty="0" sz="2700" spc="5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tries</a:t>
            </a:r>
            <a:r>
              <a:rPr dirty="0" sz="2700" spc="5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5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retransmit</a:t>
            </a:r>
            <a:r>
              <a:rPr dirty="0" sz="2700" spc="50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this </a:t>
            </a:r>
            <a:r>
              <a:rPr dirty="0" sz="2700">
                <a:latin typeface="Calibri"/>
                <a:cs typeface="Calibri"/>
              </a:rPr>
              <a:t>packet</a:t>
            </a:r>
            <a:r>
              <a:rPr dirty="0" sz="2700" spc="-1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locally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maintain</a:t>
            </a:r>
            <a:r>
              <a:rPr dirty="0" sz="2700" spc="-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reliable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data</a:t>
            </a:r>
            <a:r>
              <a:rPr dirty="0" sz="2700" spc="-10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transport.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19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/>
              <a:t>Indirect</a:t>
            </a:r>
            <a:r>
              <a:rPr dirty="0" spc="-90"/>
              <a:t> </a:t>
            </a:r>
            <a:r>
              <a:rPr dirty="0" spc="-25"/>
              <a:t>TCP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55600" marR="571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Similarly,</a:t>
            </a:r>
            <a:r>
              <a:rPr dirty="0" spc="100"/>
              <a:t>  </a:t>
            </a:r>
            <a:r>
              <a:rPr dirty="0"/>
              <a:t>if</a:t>
            </a:r>
            <a:r>
              <a:rPr dirty="0" spc="110"/>
              <a:t>  </a:t>
            </a:r>
            <a:r>
              <a:rPr dirty="0"/>
              <a:t>the</a:t>
            </a:r>
            <a:r>
              <a:rPr dirty="0" spc="105"/>
              <a:t>  </a:t>
            </a:r>
            <a:r>
              <a:rPr dirty="0"/>
              <a:t>MN</a:t>
            </a:r>
            <a:r>
              <a:rPr dirty="0" spc="95"/>
              <a:t>  </a:t>
            </a:r>
            <a:r>
              <a:rPr dirty="0"/>
              <a:t>sends</a:t>
            </a:r>
            <a:r>
              <a:rPr dirty="0" spc="95"/>
              <a:t>  </a:t>
            </a:r>
            <a:r>
              <a:rPr dirty="0"/>
              <a:t>a</a:t>
            </a:r>
            <a:r>
              <a:rPr dirty="0" spc="105"/>
              <a:t>  </a:t>
            </a:r>
            <a:r>
              <a:rPr dirty="0"/>
              <a:t>packet,</a:t>
            </a:r>
            <a:r>
              <a:rPr dirty="0" spc="100"/>
              <a:t>  </a:t>
            </a:r>
            <a:r>
              <a:rPr dirty="0"/>
              <a:t>the</a:t>
            </a:r>
            <a:r>
              <a:rPr dirty="0" spc="105"/>
              <a:t>  </a:t>
            </a:r>
            <a:r>
              <a:rPr dirty="0"/>
              <a:t>foreign</a:t>
            </a:r>
            <a:r>
              <a:rPr dirty="0" spc="100"/>
              <a:t>  </a:t>
            </a:r>
            <a:r>
              <a:rPr dirty="0" spc="-10"/>
              <a:t>agent </a:t>
            </a:r>
            <a:r>
              <a:rPr dirty="0"/>
              <a:t>acknowledges</a:t>
            </a:r>
            <a:r>
              <a:rPr dirty="0" spc="-70"/>
              <a:t> </a:t>
            </a:r>
            <a:r>
              <a:rPr dirty="0"/>
              <a:t>this</a:t>
            </a:r>
            <a:r>
              <a:rPr dirty="0" spc="-50"/>
              <a:t> </a:t>
            </a:r>
            <a:r>
              <a:rPr dirty="0"/>
              <a:t>packet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tries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10"/>
              <a:t>forward</a:t>
            </a:r>
            <a:r>
              <a:rPr dirty="0" spc="-55"/>
              <a:t> </a:t>
            </a:r>
            <a:r>
              <a:rPr dirty="0"/>
              <a:t>it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25"/>
              <a:t>CN.</a:t>
            </a:r>
          </a:p>
          <a:p>
            <a:pPr>
              <a:lnSpc>
                <a:spcPct val="100000"/>
              </a:lnSpc>
              <a:spcBef>
                <a:spcPts val="1240"/>
              </a:spcBef>
              <a:buFont typeface="Arial MT"/>
              <a:buChar char="•"/>
            </a:pPr>
          </a:p>
          <a:p>
            <a:pPr algn="just" marL="355600" marR="571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/>
              <a:t>If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packet</a:t>
            </a:r>
            <a:r>
              <a:rPr dirty="0" spc="20"/>
              <a:t> </a:t>
            </a:r>
            <a:r>
              <a:rPr dirty="0"/>
              <a:t>is</a:t>
            </a:r>
            <a:r>
              <a:rPr dirty="0" spc="25"/>
              <a:t> </a:t>
            </a:r>
            <a:r>
              <a:rPr dirty="0"/>
              <a:t>lost</a:t>
            </a:r>
            <a:r>
              <a:rPr dirty="0" spc="25"/>
              <a:t> </a:t>
            </a:r>
            <a:r>
              <a:rPr dirty="0"/>
              <a:t>on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wireless</a:t>
            </a:r>
            <a:r>
              <a:rPr dirty="0" spc="25"/>
              <a:t> </a:t>
            </a:r>
            <a:r>
              <a:rPr dirty="0"/>
              <a:t>link,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MNs</a:t>
            </a:r>
            <a:r>
              <a:rPr dirty="0" spc="25"/>
              <a:t> </a:t>
            </a:r>
            <a:r>
              <a:rPr dirty="0"/>
              <a:t>notice</a:t>
            </a:r>
            <a:r>
              <a:rPr dirty="0" spc="15"/>
              <a:t> </a:t>
            </a:r>
            <a:r>
              <a:rPr dirty="0" spc="-20"/>
              <a:t>this </a:t>
            </a:r>
            <a:r>
              <a:rPr dirty="0"/>
              <a:t>much</a:t>
            </a:r>
            <a:r>
              <a:rPr dirty="0" spc="670"/>
              <a:t> </a:t>
            </a:r>
            <a:r>
              <a:rPr dirty="0"/>
              <a:t>faster</a:t>
            </a:r>
            <a:r>
              <a:rPr dirty="0" spc="670"/>
              <a:t> </a:t>
            </a:r>
            <a:r>
              <a:rPr dirty="0"/>
              <a:t>due</a:t>
            </a:r>
            <a:r>
              <a:rPr dirty="0" spc="675"/>
              <a:t> </a:t>
            </a:r>
            <a:r>
              <a:rPr dirty="0"/>
              <a:t>to</a:t>
            </a:r>
            <a:r>
              <a:rPr dirty="0" spc="30"/>
              <a:t>  </a:t>
            </a:r>
            <a:r>
              <a:rPr dirty="0"/>
              <a:t>the</a:t>
            </a:r>
            <a:r>
              <a:rPr dirty="0" spc="665"/>
              <a:t> </a:t>
            </a:r>
            <a:r>
              <a:rPr dirty="0"/>
              <a:t>lower</a:t>
            </a:r>
            <a:r>
              <a:rPr dirty="0" spc="30"/>
              <a:t>  </a:t>
            </a:r>
            <a:r>
              <a:rPr dirty="0"/>
              <a:t>round</a:t>
            </a:r>
            <a:r>
              <a:rPr dirty="0" spc="40"/>
              <a:t>  </a:t>
            </a:r>
            <a:r>
              <a:rPr dirty="0"/>
              <a:t>trip</a:t>
            </a:r>
            <a:r>
              <a:rPr dirty="0" spc="35"/>
              <a:t>  </a:t>
            </a:r>
            <a:r>
              <a:rPr dirty="0"/>
              <a:t>time</a:t>
            </a:r>
            <a:r>
              <a:rPr dirty="0" spc="30"/>
              <a:t>  </a:t>
            </a:r>
            <a:r>
              <a:rPr dirty="0"/>
              <a:t>and</a:t>
            </a:r>
            <a:r>
              <a:rPr dirty="0" spc="35"/>
              <a:t>  </a:t>
            </a:r>
            <a:r>
              <a:rPr dirty="0" spc="-25"/>
              <a:t>can </a:t>
            </a:r>
            <a:r>
              <a:rPr dirty="0"/>
              <a:t>directly</a:t>
            </a:r>
            <a:r>
              <a:rPr dirty="0" spc="-85"/>
              <a:t> </a:t>
            </a:r>
            <a:r>
              <a:rPr dirty="0"/>
              <a:t>retransmit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 spc="-10"/>
              <a:t>packet.</a:t>
            </a:r>
          </a:p>
          <a:p>
            <a:pPr>
              <a:lnSpc>
                <a:spcPct val="100000"/>
              </a:lnSpc>
              <a:spcBef>
                <a:spcPts val="1245"/>
              </a:spcBef>
              <a:buFont typeface="Arial MT"/>
              <a:buChar char="•"/>
            </a:p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/>
              <a:t>Packet</a:t>
            </a:r>
            <a:r>
              <a:rPr dirty="0" spc="495"/>
              <a:t> </a:t>
            </a:r>
            <a:r>
              <a:rPr dirty="0"/>
              <a:t>loss</a:t>
            </a:r>
            <a:r>
              <a:rPr dirty="0" spc="505"/>
              <a:t> </a:t>
            </a:r>
            <a:r>
              <a:rPr dirty="0"/>
              <a:t>in</a:t>
            </a:r>
            <a:r>
              <a:rPr dirty="0" spc="500"/>
              <a:t> </a:t>
            </a:r>
            <a:r>
              <a:rPr dirty="0"/>
              <a:t>the</a:t>
            </a:r>
            <a:r>
              <a:rPr dirty="0" spc="495"/>
              <a:t> </a:t>
            </a:r>
            <a:r>
              <a:rPr dirty="0"/>
              <a:t>wired</a:t>
            </a:r>
            <a:r>
              <a:rPr dirty="0" spc="495"/>
              <a:t> </a:t>
            </a:r>
            <a:r>
              <a:rPr dirty="0"/>
              <a:t>network</a:t>
            </a:r>
            <a:r>
              <a:rPr dirty="0" spc="490"/>
              <a:t> </a:t>
            </a:r>
            <a:r>
              <a:rPr dirty="0"/>
              <a:t>is</a:t>
            </a:r>
            <a:r>
              <a:rPr dirty="0" spc="500"/>
              <a:t> </a:t>
            </a:r>
            <a:r>
              <a:rPr dirty="0"/>
              <a:t>now</a:t>
            </a:r>
            <a:r>
              <a:rPr dirty="0" spc="500"/>
              <a:t> </a:t>
            </a:r>
            <a:r>
              <a:rPr dirty="0"/>
              <a:t>handled</a:t>
            </a:r>
            <a:r>
              <a:rPr dirty="0" spc="465"/>
              <a:t> </a:t>
            </a:r>
            <a:r>
              <a:rPr dirty="0"/>
              <a:t>by</a:t>
            </a:r>
            <a:r>
              <a:rPr dirty="0" spc="495"/>
              <a:t> </a:t>
            </a:r>
            <a:r>
              <a:rPr dirty="0" spc="-25"/>
              <a:t>the </a:t>
            </a:r>
            <a:r>
              <a:rPr dirty="0"/>
              <a:t>foreign</a:t>
            </a:r>
            <a:r>
              <a:rPr dirty="0" spc="-130"/>
              <a:t> </a:t>
            </a:r>
            <a:r>
              <a:rPr dirty="0" spc="-10"/>
              <a:t>agent.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83" y="741989"/>
            <a:ext cx="7849984" cy="4779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9740" y="5705957"/>
            <a:ext cx="859536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Arial MT"/>
                <a:cs typeface="Arial MT"/>
              </a:rPr>
              <a:t>Socket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state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migration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after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handover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mobile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host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03" y="-59943"/>
            <a:ext cx="18776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Indirect</a:t>
            </a:r>
            <a:r>
              <a:rPr dirty="0" spc="-90"/>
              <a:t> </a:t>
            </a:r>
            <a:r>
              <a:rPr dirty="0" spc="-25"/>
              <a:t>TCP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501883"/>
            <a:ext cx="8683625" cy="60706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356870" indent="-34417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500" spc="-10">
                <a:latin typeface="Calibri"/>
                <a:cs typeface="Calibri"/>
              </a:rPr>
              <a:t>I-</a:t>
            </a:r>
            <a:r>
              <a:rPr dirty="0" sz="2500">
                <a:latin typeface="Calibri"/>
                <a:cs typeface="Calibri"/>
              </a:rPr>
              <a:t>TCP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requires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several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actions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as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soon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as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handover</a:t>
            </a:r>
            <a:r>
              <a:rPr dirty="0" sz="2500" spc="-5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takes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place.</a:t>
            </a:r>
            <a:endParaRPr sz="25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31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redirected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using,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e.g.,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mobile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IP.</a:t>
            </a:r>
            <a:endParaRPr sz="26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ts val="2810"/>
              </a:lnSpc>
              <a:spcBef>
                <a:spcPts val="66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access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point</a:t>
            </a:r>
            <a:r>
              <a:rPr dirty="0" sz="2600" spc="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acts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proxy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buffering</a:t>
            </a:r>
            <a:r>
              <a:rPr dirty="0" sz="2600" spc="4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10">
                <a:latin typeface="Calibri"/>
                <a:cs typeface="Calibri"/>
              </a:rPr>
              <a:t>retransmission.</a:t>
            </a:r>
            <a:endParaRPr sz="2600">
              <a:latin typeface="Calibri"/>
              <a:cs typeface="Calibri"/>
            </a:endParaRPr>
          </a:p>
          <a:p>
            <a:pPr algn="just" marL="1213485" marR="5080" indent="-342900">
              <a:lnSpc>
                <a:spcPts val="2810"/>
              </a:lnSpc>
              <a:spcBef>
                <a:spcPts val="620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430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proxy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2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forward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buffered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2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new </a:t>
            </a:r>
            <a:r>
              <a:rPr dirty="0" sz="2600">
                <a:latin typeface="Calibri"/>
                <a:cs typeface="Calibri"/>
              </a:rPr>
              <a:t>proxy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because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already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acknowledged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ts val="281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Besides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buffer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content,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sockets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proxy,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too,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must </a:t>
            </a:r>
            <a:r>
              <a:rPr dirty="0" sz="2600">
                <a:latin typeface="Calibri"/>
                <a:cs typeface="Calibri"/>
              </a:rPr>
              <a:t>migrate</a:t>
            </a:r>
            <a:r>
              <a:rPr dirty="0" sz="2600" spc="48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agent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located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access point.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75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ts val="2810"/>
              </a:lnSpc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socket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reflects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current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connection, </a:t>
            </a:r>
            <a:r>
              <a:rPr dirty="0" sz="2600">
                <a:latin typeface="Calibri"/>
                <a:cs typeface="Calibri"/>
              </a:rPr>
              <a:t>i.e.,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sequence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number,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addresses,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ports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etc.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80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ts val="281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No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connection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established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3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MN,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changes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connection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697738"/>
            <a:ext cx="8380095" cy="4702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635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 spc="-10">
                <a:latin typeface="Calibri"/>
                <a:cs typeface="Calibri"/>
              </a:rPr>
              <a:t>I-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does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require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changes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2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2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protocol</a:t>
            </a:r>
            <a:r>
              <a:rPr dirty="0" sz="2600" spc="204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as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hosts</a:t>
            </a:r>
            <a:r>
              <a:rPr dirty="0" sz="2600" spc="1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fixed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network,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hosts</a:t>
            </a:r>
            <a:r>
              <a:rPr dirty="0" sz="2600" spc="1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network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optimization.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current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optimizations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still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work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agent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correspondent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host.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95"/>
              </a:spcBef>
              <a:buFont typeface="Arial MT"/>
              <a:buChar char="–"/>
            </a:pPr>
            <a:endParaRPr sz="26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Due</a:t>
            </a:r>
            <a:r>
              <a:rPr dirty="0" sz="2600" spc="3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3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strict</a:t>
            </a:r>
            <a:r>
              <a:rPr dirty="0" sz="2600" spc="3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partitioning</a:t>
            </a:r>
            <a:r>
              <a:rPr dirty="0" sz="2600" spc="3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36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360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connections, </a:t>
            </a:r>
            <a:r>
              <a:rPr dirty="0" sz="2600">
                <a:latin typeface="Calibri"/>
                <a:cs typeface="Calibri"/>
              </a:rPr>
              <a:t>transmission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errors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wireless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link,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i.e.,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lost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packets, </a:t>
            </a:r>
            <a:r>
              <a:rPr dirty="0" sz="2600">
                <a:latin typeface="Calibri"/>
                <a:cs typeface="Calibri"/>
              </a:rPr>
              <a:t>cannot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propagate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fixed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network.</a:t>
            </a:r>
            <a:endParaRPr sz="26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3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3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packets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sequence,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without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gaps</a:t>
            </a:r>
            <a:r>
              <a:rPr dirty="0" sz="2600" spc="3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leave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-1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agent.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1140" y="84531"/>
            <a:ext cx="181419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Advantages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772413"/>
            <a:ext cx="8301990" cy="5290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08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always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dangerous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introduce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mechanisms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huge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network,</a:t>
            </a:r>
            <a:r>
              <a:rPr dirty="0" sz="2800" spc="3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3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I-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3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only</a:t>
            </a:r>
            <a:r>
              <a:rPr dirty="0" sz="2800" spc="3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MN</a:t>
            </a:r>
            <a:r>
              <a:rPr dirty="0" sz="2800" spc="3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FA.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4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Different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solutions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tested</a:t>
            </a:r>
            <a:r>
              <a:rPr dirty="0" sz="2600" spc="3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3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3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2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same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without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jeopardizing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stability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internet.</a:t>
            </a:r>
            <a:endParaRPr sz="26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optimizing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6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these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new</a:t>
            </a:r>
            <a:r>
              <a:rPr dirty="0" sz="2600" spc="6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mechanisms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6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quite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simple </a:t>
            </a:r>
            <a:r>
              <a:rPr dirty="0" sz="2600">
                <a:latin typeface="Calibri"/>
                <a:cs typeface="Calibri"/>
              </a:rPr>
              <a:t>because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cover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single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hop.</a:t>
            </a:r>
            <a:endParaRPr sz="2600">
              <a:latin typeface="Calibri"/>
              <a:cs typeface="Calibri"/>
            </a:endParaRPr>
          </a:p>
          <a:p>
            <a:pPr algn="just" marL="353695" marR="5080" indent="-340995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Due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short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delay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MN</a:t>
            </a:r>
            <a:r>
              <a:rPr dirty="0" sz="2800" spc="4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FA,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optimized</a:t>
            </a:r>
            <a:r>
              <a:rPr dirty="0" sz="2800" spc="5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TCP</a:t>
            </a:r>
            <a:r>
              <a:rPr dirty="0" sz="2800" spc="59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could</a:t>
            </a:r>
            <a:r>
              <a:rPr dirty="0" sz="2800" spc="5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59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precise</a:t>
            </a:r>
            <a:r>
              <a:rPr dirty="0" sz="2800" spc="58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time-</a:t>
            </a:r>
            <a:r>
              <a:rPr dirty="0" sz="2800">
                <a:latin typeface="Calibri"/>
                <a:cs typeface="Calibri"/>
              </a:rPr>
              <a:t>outs</a:t>
            </a:r>
            <a:r>
              <a:rPr dirty="0" sz="2800" spc="595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guarantee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retransmission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fast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possible.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600">
                <a:latin typeface="Calibri"/>
                <a:cs typeface="Calibri"/>
              </a:rPr>
              <a:t>Even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standard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could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benefit</a:t>
            </a:r>
            <a:r>
              <a:rPr dirty="0" sz="2600" spc="2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2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short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round </a:t>
            </a:r>
            <a:r>
              <a:rPr dirty="0" sz="2600">
                <a:latin typeface="Calibri"/>
                <a:cs typeface="Calibri"/>
              </a:rPr>
              <a:t>trip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recovering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faster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loss.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7340" y="160731"/>
            <a:ext cx="181419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Advantages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1140" y="185419"/>
            <a:ext cx="1691639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Advantages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07340" y="684352"/>
            <a:ext cx="8607425" cy="2180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3695" marR="5080" indent="-34099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800">
                <a:latin typeface="Calibri"/>
                <a:cs typeface="Calibri"/>
              </a:rPr>
              <a:t>Partitioning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connections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also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different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transport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layer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protocol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between</a:t>
            </a:r>
            <a:r>
              <a:rPr dirty="0" sz="2800" spc="4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4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compressed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headers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50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agent</a:t>
            </a:r>
            <a:r>
              <a:rPr dirty="0" sz="2600" spc="2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2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25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gateway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2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translate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different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protocols.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47319"/>
            <a:ext cx="19558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Disadvantage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07340" y="697738"/>
            <a:ext cx="8531225" cy="38309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loss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end-</a:t>
            </a:r>
            <a:r>
              <a:rPr dirty="0" sz="2600" spc="-35">
                <a:latin typeface="Calibri"/>
                <a:cs typeface="Calibri"/>
              </a:rPr>
              <a:t>to-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5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semantics</a:t>
            </a:r>
            <a:r>
              <a:rPr dirty="0" sz="2600" spc="5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4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TCP</a:t>
            </a:r>
            <a:r>
              <a:rPr dirty="0" sz="2600" spc="5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might</a:t>
            </a:r>
            <a:r>
              <a:rPr dirty="0" sz="2600" spc="4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cause </a:t>
            </a:r>
            <a:r>
              <a:rPr dirty="0" sz="2600">
                <a:latin typeface="Calibri"/>
                <a:cs typeface="Calibri"/>
              </a:rPr>
              <a:t>problems</a:t>
            </a:r>
            <a:r>
              <a:rPr dirty="0" sz="2600" spc="52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5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foreign</a:t>
            </a:r>
            <a:r>
              <a:rPr dirty="0" sz="2600" spc="53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agent</a:t>
            </a:r>
            <a:r>
              <a:rPr dirty="0" sz="2600" spc="5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partitioning</a:t>
            </a:r>
            <a:r>
              <a:rPr dirty="0" sz="2600" spc="5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525">
                <a:latin typeface="Calibri"/>
                <a:cs typeface="Calibri"/>
              </a:rPr>
              <a:t>  </a:t>
            </a:r>
            <a:r>
              <a:rPr dirty="0" sz="2600" spc="-25">
                <a:latin typeface="Calibri"/>
                <a:cs typeface="Calibri"/>
              </a:rPr>
              <a:t>TCP </a:t>
            </a:r>
            <a:r>
              <a:rPr dirty="0" sz="2600">
                <a:latin typeface="Calibri"/>
                <a:cs typeface="Calibri"/>
              </a:rPr>
              <a:t>connection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crashes.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sender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receives</a:t>
            </a:r>
            <a:r>
              <a:rPr dirty="0" sz="2600" spc="3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acknowledgement,</a:t>
            </a:r>
            <a:r>
              <a:rPr dirty="0" sz="2600" spc="3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assumes</a:t>
            </a:r>
            <a:r>
              <a:rPr dirty="0" sz="2600" spc="3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that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receiver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got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packet.</a:t>
            </a:r>
            <a:endParaRPr sz="26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latin typeface="Arial MT"/>
                <a:cs typeface="Arial MT"/>
              </a:rPr>
              <a:t>–</a:t>
            </a:r>
            <a:r>
              <a:rPr dirty="0" sz="2600" spc="55">
                <a:latin typeface="Arial MT"/>
                <a:cs typeface="Arial MT"/>
              </a:rPr>
              <a:t> </a:t>
            </a:r>
            <a:r>
              <a:rPr dirty="0" sz="2600">
                <a:latin typeface="Calibri"/>
                <a:cs typeface="Calibri"/>
              </a:rPr>
              <a:t>Receiving</a:t>
            </a:r>
            <a:r>
              <a:rPr dirty="0" sz="2600" spc="3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Ack</a:t>
            </a:r>
            <a:r>
              <a:rPr dirty="0" sz="2600" spc="4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now</a:t>
            </a:r>
            <a:r>
              <a:rPr dirty="0" sz="2600" spc="4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only</a:t>
            </a:r>
            <a:r>
              <a:rPr dirty="0" sz="2600" spc="4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means</a:t>
            </a:r>
            <a:r>
              <a:rPr dirty="0" sz="2600" spc="3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3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3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</a:t>
            </a:r>
            <a:r>
              <a:rPr dirty="0" sz="2600" spc="3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received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packet.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may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also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crash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applications</a:t>
            </a:r>
            <a:r>
              <a:rPr dirty="0" sz="2600" spc="1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running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12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CN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assuming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reliable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end-</a:t>
            </a:r>
            <a:r>
              <a:rPr dirty="0" sz="2600" spc="-30">
                <a:latin typeface="Calibri"/>
                <a:cs typeface="Calibri"/>
              </a:rPr>
              <a:t>to-</a:t>
            </a:r>
            <a:r>
              <a:rPr dirty="0" sz="2600">
                <a:latin typeface="Calibri"/>
                <a:cs typeface="Calibri"/>
              </a:rPr>
              <a:t>end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delivery.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47319"/>
            <a:ext cx="19558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Disadvantage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07340" y="623061"/>
            <a:ext cx="8530590" cy="49403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355600" marR="6350" indent="-342900">
              <a:lnSpc>
                <a:spcPts val="259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8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practical</a:t>
            </a:r>
            <a:r>
              <a:rPr dirty="0" sz="2700" spc="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use,</a:t>
            </a:r>
            <a:r>
              <a:rPr dirty="0" sz="2700" spc="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increased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handover</a:t>
            </a:r>
            <a:r>
              <a:rPr dirty="0" sz="2700" spc="9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latency</a:t>
            </a:r>
            <a:r>
              <a:rPr dirty="0" sz="2700" spc="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may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</a:t>
            </a:r>
            <a:r>
              <a:rPr dirty="0" sz="2700" spc="8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much </a:t>
            </a:r>
            <a:r>
              <a:rPr dirty="0" sz="2700">
                <a:latin typeface="Calibri"/>
                <a:cs typeface="Calibri"/>
              </a:rPr>
              <a:t>more</a:t>
            </a:r>
            <a:r>
              <a:rPr dirty="0" sz="2700" spc="-8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problematic.</a:t>
            </a:r>
            <a:endParaRPr sz="2700">
              <a:latin typeface="Calibri"/>
              <a:cs typeface="Calibri"/>
            </a:endParaRPr>
          </a:p>
          <a:p>
            <a:pPr algn="just" lvl="1" marL="756285" indent="-286385">
              <a:lnSpc>
                <a:spcPct val="100000"/>
              </a:lnSpc>
              <a:spcBef>
                <a:spcPts val="35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500" spc="-30">
                <a:latin typeface="Calibri"/>
                <a:cs typeface="Calibri"/>
              </a:rPr>
              <a:t>FA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buffers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packets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sent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by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CN.</a:t>
            </a:r>
            <a:endParaRPr sz="2500">
              <a:latin typeface="Calibri"/>
              <a:cs typeface="Calibri"/>
            </a:endParaRPr>
          </a:p>
          <a:p>
            <a:pPr algn="just" lvl="1" marL="756920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500" spc="-30">
                <a:latin typeface="Calibri"/>
                <a:cs typeface="Calibri"/>
              </a:rPr>
              <a:t>FA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removes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packet</a:t>
            </a:r>
            <a:r>
              <a:rPr dirty="0" sz="2500" spc="-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after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receiving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Acks</a:t>
            </a:r>
            <a:r>
              <a:rPr dirty="0" sz="2500" spc="-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from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MN.</a:t>
            </a:r>
            <a:endParaRPr sz="25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8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dirty="0" sz="2500">
                <a:latin typeface="Calibri"/>
                <a:cs typeface="Calibri"/>
              </a:rPr>
              <a:t>Due</a:t>
            </a:r>
            <a:r>
              <a:rPr dirty="0" sz="2500" spc="1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1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handover</a:t>
            </a:r>
            <a:r>
              <a:rPr dirty="0" sz="2500" spc="1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by</a:t>
            </a:r>
            <a:r>
              <a:rPr dirty="0" sz="2500" spc="1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MN,</a:t>
            </a:r>
            <a:r>
              <a:rPr dirty="0" sz="2500" spc="1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it</a:t>
            </a:r>
            <a:r>
              <a:rPr dirty="0" sz="2500" spc="1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takes</a:t>
            </a:r>
            <a:r>
              <a:rPr dirty="0" sz="2500" spc="1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</a:t>
            </a:r>
            <a:r>
              <a:rPr dirty="0" sz="2500" spc="1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while</a:t>
            </a:r>
            <a:r>
              <a:rPr dirty="0" sz="2500" spc="1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before</a:t>
            </a:r>
            <a:r>
              <a:rPr dirty="0" sz="2500" spc="15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1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old</a:t>
            </a:r>
            <a:r>
              <a:rPr dirty="0" sz="2500" spc="15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FA </a:t>
            </a:r>
            <a:r>
              <a:rPr dirty="0" sz="2500">
                <a:latin typeface="Calibri"/>
                <a:cs typeface="Calibri"/>
              </a:rPr>
              <a:t>can</a:t>
            </a:r>
            <a:r>
              <a:rPr dirty="0" sz="2500" spc="2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forward</a:t>
            </a:r>
            <a:r>
              <a:rPr dirty="0" sz="2500" spc="2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29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buffered</a:t>
            </a:r>
            <a:r>
              <a:rPr dirty="0" sz="2500" spc="2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data</a:t>
            </a:r>
            <a:r>
              <a:rPr dirty="0" sz="2500" spc="2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29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2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new</a:t>
            </a:r>
            <a:r>
              <a:rPr dirty="0" sz="2500" spc="2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FA.</a:t>
            </a:r>
            <a:r>
              <a:rPr dirty="0" sz="2500" spc="29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During</a:t>
            </a:r>
            <a:r>
              <a:rPr dirty="0" sz="2500" spc="280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this </a:t>
            </a:r>
            <a:r>
              <a:rPr dirty="0" sz="2500">
                <a:latin typeface="Calibri"/>
                <a:cs typeface="Calibri"/>
              </a:rPr>
              <a:t>time</a:t>
            </a:r>
            <a:r>
              <a:rPr dirty="0" sz="2500" spc="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more</a:t>
            </a:r>
            <a:r>
              <a:rPr dirty="0" sz="2500" spc="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packets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may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arrive.</a:t>
            </a:r>
            <a:r>
              <a:rPr dirty="0" sz="2500" spc="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All</a:t>
            </a:r>
            <a:r>
              <a:rPr dirty="0" sz="2500" spc="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these</a:t>
            </a:r>
            <a:r>
              <a:rPr dirty="0" sz="2500" spc="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packets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have</a:t>
            </a:r>
            <a:r>
              <a:rPr dirty="0" sz="2500" spc="8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6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be </a:t>
            </a:r>
            <a:r>
              <a:rPr dirty="0" sz="2500">
                <a:latin typeface="Calibri"/>
                <a:cs typeface="Calibri"/>
              </a:rPr>
              <a:t>forwarded</a:t>
            </a:r>
            <a:r>
              <a:rPr dirty="0" sz="2500" spc="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new</a:t>
            </a:r>
            <a:r>
              <a:rPr dirty="0" sz="2500" spc="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foreign</a:t>
            </a:r>
            <a:r>
              <a:rPr dirty="0" sz="2500" spc="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agent</a:t>
            </a:r>
            <a:r>
              <a:rPr dirty="0" sz="2500" spc="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first,</a:t>
            </a:r>
            <a:r>
              <a:rPr dirty="0" sz="2500" spc="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before</a:t>
            </a:r>
            <a:r>
              <a:rPr dirty="0" sz="2500" spc="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it</a:t>
            </a:r>
            <a:r>
              <a:rPr dirty="0" sz="2500" spc="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can</a:t>
            </a:r>
            <a:r>
              <a:rPr dirty="0" sz="2500" spc="4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start forwarding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the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new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packets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redirected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it.</a:t>
            </a:r>
            <a:endParaRPr sz="25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10"/>
              </a:spcBef>
              <a:buFont typeface="Arial MT"/>
              <a:buChar char="–"/>
            </a:pPr>
            <a:endParaRPr sz="2500">
              <a:latin typeface="Calibri"/>
              <a:cs typeface="Calibri"/>
            </a:endParaRPr>
          </a:p>
          <a:p>
            <a:pPr algn="just" marL="355600" marR="5080" indent="-342900">
              <a:lnSpc>
                <a:spcPts val="259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  <a:tab pos="433070" algn="l"/>
              </a:tabLst>
            </a:pPr>
            <a:r>
              <a:rPr dirty="0" sz="2700">
                <a:latin typeface="Calibri"/>
                <a:cs typeface="Calibri"/>
              </a:rPr>
              <a:t>	The</a:t>
            </a:r>
            <a:r>
              <a:rPr dirty="0" sz="2700" spc="27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FA</a:t>
            </a:r>
            <a:r>
              <a:rPr dirty="0" sz="2700" spc="27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must</a:t>
            </a:r>
            <a:r>
              <a:rPr dirty="0" sz="2700" spc="28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be</a:t>
            </a:r>
            <a:r>
              <a:rPr dirty="0" sz="2700" spc="26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28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trusted</a:t>
            </a:r>
            <a:r>
              <a:rPr dirty="0" sz="2700" spc="27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entity</a:t>
            </a:r>
            <a:r>
              <a:rPr dirty="0" sz="2700" spc="275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because</a:t>
            </a:r>
            <a:r>
              <a:rPr dirty="0" sz="2700" spc="280">
                <a:latin typeface="Calibri"/>
                <a:cs typeface="Calibri"/>
              </a:rPr>
              <a:t> 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280">
                <a:latin typeface="Calibri"/>
                <a:cs typeface="Calibri"/>
              </a:rPr>
              <a:t>  </a:t>
            </a:r>
            <a:r>
              <a:rPr dirty="0" sz="2700" spc="-25">
                <a:latin typeface="Calibri"/>
                <a:cs typeface="Calibri"/>
              </a:rPr>
              <a:t>TCP </a:t>
            </a:r>
            <a:r>
              <a:rPr dirty="0" sz="2700">
                <a:latin typeface="Calibri"/>
                <a:cs typeface="Calibri"/>
              </a:rPr>
              <a:t>connections</a:t>
            </a:r>
            <a:r>
              <a:rPr dirty="0" sz="2700" spc="4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end</a:t>
            </a:r>
            <a:r>
              <a:rPr dirty="0" sz="2700" spc="4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at</a:t>
            </a:r>
            <a:r>
              <a:rPr dirty="0" sz="2700" spc="4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4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point.</a:t>
            </a:r>
            <a:r>
              <a:rPr dirty="0" sz="2700" spc="43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If</a:t>
            </a:r>
            <a:r>
              <a:rPr dirty="0" sz="2700" spc="45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users</a:t>
            </a:r>
            <a:r>
              <a:rPr dirty="0" sz="2700" spc="43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apply</a:t>
            </a:r>
            <a:r>
              <a:rPr dirty="0" sz="2700" spc="45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end-</a:t>
            </a:r>
            <a:r>
              <a:rPr dirty="0" sz="2700" spc="-25">
                <a:latin typeface="Calibri"/>
                <a:cs typeface="Calibri"/>
              </a:rPr>
              <a:t>to-end </a:t>
            </a:r>
            <a:r>
              <a:rPr dirty="0" sz="2700">
                <a:latin typeface="Calibri"/>
                <a:cs typeface="Calibri"/>
              </a:rPr>
              <a:t>encryption,</a:t>
            </a:r>
            <a:r>
              <a:rPr dirty="0" sz="2700" spc="1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1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foreign</a:t>
            </a:r>
            <a:r>
              <a:rPr dirty="0" sz="2700" spc="1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agent</a:t>
            </a:r>
            <a:r>
              <a:rPr dirty="0" sz="2700" spc="11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has</a:t>
            </a:r>
            <a:r>
              <a:rPr dirty="0" sz="2700" spc="1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1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be</a:t>
            </a:r>
            <a:r>
              <a:rPr dirty="0" sz="2700" spc="114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integrated</a:t>
            </a:r>
            <a:r>
              <a:rPr dirty="0" sz="2700" spc="1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into</a:t>
            </a:r>
            <a:r>
              <a:rPr dirty="0" sz="2700" spc="12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all </a:t>
            </a:r>
            <a:r>
              <a:rPr dirty="0" sz="2700">
                <a:latin typeface="Calibri"/>
                <a:cs typeface="Calibri"/>
              </a:rPr>
              <a:t>security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mechanisms.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judhistir</dc:creator>
  <dc:title>Mobile transport layer</dc:title>
  <dcterms:created xsi:type="dcterms:W3CDTF">2026-04-18T09:29:15Z</dcterms:created>
  <dcterms:modified xsi:type="dcterms:W3CDTF">2026-04-18T09:29:15Z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2026-04-18T00:00:00Z</vt:filetime>
  </property>
  <property fmtid="{D5CDD505-2E9C-101B-9397-08002B2CF9AE}" pid="6" name="Producer">
    <vt:lpwstr>Microsoft® PowerPoint® 2016</vt:lpwstr>
  </property>
</Properties>
</file>