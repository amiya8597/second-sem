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Default Extension="jpg" ContentType="image/jpg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Relationship Id="rId87" Type="http://schemas.openxmlformats.org/officeDocument/2006/relationships/slide" Target="slides/slide82.xml"/><Relationship Id="rId88" Type="http://schemas.openxmlformats.org/officeDocument/2006/relationships/slide" Target="slides/slide83.xml"/><Relationship Id="rId89" Type="http://schemas.openxmlformats.org/officeDocument/2006/relationships/slide" Target="slides/slide84.xml"/><Relationship Id="rId90" Type="http://schemas.openxmlformats.org/officeDocument/2006/relationships/slide" Target="slides/slide85.xml"/><Relationship Id="rId91" Type="http://schemas.openxmlformats.org/officeDocument/2006/relationships/slide" Target="slides/slide86.xml"/><Relationship Id="rId92" Type="http://schemas.openxmlformats.org/officeDocument/2006/relationships/slide" Target="slides/slide87.xml"/><Relationship Id="rId93" Type="http://schemas.openxmlformats.org/officeDocument/2006/relationships/slide" Target="slides/slide8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9028" y="1741257"/>
            <a:ext cx="8221957" cy="367708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07340" y="22351"/>
            <a:ext cx="2614295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746" y="-84074"/>
            <a:ext cx="8213318" cy="10358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154938"/>
            <a:ext cx="8289925" cy="39103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jp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png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.png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.png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png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png"/></Relationships>
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/Relationships>

</file>

<file path=ppt/slides/_rels/slide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4.png"/></Relationships>

</file>

<file path=ppt/slides/_rels/slide7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/Relationships>

</file>

<file path=ppt/slides/_rels/slide8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png"/></Relationships>

</file>

<file path=ppt/slides/_rels/slide8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85494" y="2146173"/>
            <a:ext cx="6970395" cy="13677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472690" marR="5080" indent="-2460625">
              <a:lnSpc>
                <a:spcPct val="100000"/>
              </a:lnSpc>
              <a:spcBef>
                <a:spcPts val="105"/>
              </a:spcBef>
            </a:pPr>
            <a:r>
              <a:rPr dirty="0" sz="4400" i="0">
                <a:latin typeface="Calibri"/>
                <a:cs typeface="Calibri"/>
              </a:rPr>
              <a:t>Advanced</a:t>
            </a:r>
            <a:r>
              <a:rPr dirty="0" sz="4400" spc="-90" i="0">
                <a:latin typeface="Calibri"/>
                <a:cs typeface="Calibri"/>
              </a:rPr>
              <a:t> </a:t>
            </a:r>
            <a:r>
              <a:rPr dirty="0" sz="4400" i="0">
                <a:latin typeface="Calibri"/>
                <a:cs typeface="Calibri"/>
              </a:rPr>
              <a:t>Computer</a:t>
            </a:r>
            <a:r>
              <a:rPr dirty="0" sz="4400" spc="-90" i="0">
                <a:latin typeface="Calibri"/>
                <a:cs typeface="Calibri"/>
              </a:rPr>
              <a:t> </a:t>
            </a:r>
            <a:r>
              <a:rPr dirty="0" sz="4400" spc="-10" i="0">
                <a:latin typeface="Calibri"/>
                <a:cs typeface="Calibri"/>
              </a:rPr>
              <a:t>Networks (CS6302)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4657953"/>
            <a:ext cx="6758940" cy="1452880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dirty="0" sz="2600" spc="-70">
                <a:solidFill>
                  <a:srgbClr val="888888"/>
                </a:solidFill>
                <a:latin typeface="Calibri"/>
                <a:cs typeface="Calibri"/>
              </a:rPr>
              <a:t>Dr. </a:t>
            </a:r>
            <a:r>
              <a:rPr dirty="0" sz="2600">
                <a:solidFill>
                  <a:srgbClr val="888888"/>
                </a:solidFill>
                <a:latin typeface="Calibri"/>
                <a:cs typeface="Calibri"/>
              </a:rPr>
              <a:t>Judhistir</a:t>
            </a:r>
            <a:r>
              <a:rPr dirty="0" sz="2600" spc="-9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888888"/>
                </a:solidFill>
                <a:latin typeface="Calibri"/>
                <a:cs typeface="Calibri"/>
              </a:rPr>
              <a:t>Mahapatro</a:t>
            </a:r>
            <a:endParaRPr sz="2600">
              <a:latin typeface="Calibri"/>
              <a:cs typeface="Calibri"/>
            </a:endParaRPr>
          </a:p>
          <a:p>
            <a:pPr marL="12700" marR="5080">
              <a:lnSpc>
                <a:spcPct val="120000"/>
              </a:lnSpc>
              <a:spcBef>
                <a:spcPts val="5"/>
              </a:spcBef>
            </a:pPr>
            <a:r>
              <a:rPr dirty="0" sz="2600">
                <a:solidFill>
                  <a:srgbClr val="888888"/>
                </a:solidFill>
                <a:latin typeface="Calibri"/>
                <a:cs typeface="Calibri"/>
              </a:rPr>
              <a:t>Department</a:t>
            </a:r>
            <a:r>
              <a:rPr dirty="0" sz="2600" spc="-6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888888"/>
                </a:solidFill>
                <a:latin typeface="Calibri"/>
                <a:cs typeface="Calibri"/>
              </a:rPr>
              <a:t>of</a:t>
            </a:r>
            <a:r>
              <a:rPr dirty="0" sz="2600" spc="-2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888888"/>
                </a:solidFill>
                <a:latin typeface="Calibri"/>
                <a:cs typeface="Calibri"/>
              </a:rPr>
              <a:t>Computer</a:t>
            </a:r>
            <a:r>
              <a:rPr dirty="0" sz="2600" spc="-4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888888"/>
                </a:solidFill>
                <a:latin typeface="Calibri"/>
                <a:cs typeface="Calibri"/>
              </a:rPr>
              <a:t>Science</a:t>
            </a:r>
            <a:r>
              <a:rPr dirty="0" sz="2600" spc="-5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888888"/>
                </a:solidFill>
                <a:latin typeface="Calibri"/>
                <a:cs typeface="Calibri"/>
              </a:rPr>
              <a:t>and</a:t>
            </a:r>
            <a:r>
              <a:rPr dirty="0" sz="2600" spc="-4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888888"/>
                </a:solidFill>
                <a:latin typeface="Calibri"/>
                <a:cs typeface="Calibri"/>
              </a:rPr>
              <a:t>Engineering </a:t>
            </a:r>
            <a:r>
              <a:rPr dirty="0" sz="2600">
                <a:solidFill>
                  <a:srgbClr val="888888"/>
                </a:solidFill>
                <a:latin typeface="Calibri"/>
                <a:cs typeface="Calibri"/>
              </a:rPr>
              <a:t>National</a:t>
            </a:r>
            <a:r>
              <a:rPr dirty="0" sz="2600" spc="-5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888888"/>
                </a:solidFill>
                <a:latin typeface="Calibri"/>
                <a:cs typeface="Calibri"/>
              </a:rPr>
              <a:t>Institute</a:t>
            </a:r>
            <a:r>
              <a:rPr dirty="0" sz="2600" spc="-9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888888"/>
                </a:solidFill>
                <a:latin typeface="Calibri"/>
                <a:cs typeface="Calibri"/>
              </a:rPr>
              <a:t>of</a:t>
            </a:r>
            <a:r>
              <a:rPr dirty="0" sz="2600" spc="-5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2600" spc="-20">
                <a:solidFill>
                  <a:srgbClr val="888888"/>
                </a:solidFill>
                <a:latin typeface="Calibri"/>
                <a:cs typeface="Calibri"/>
              </a:rPr>
              <a:t>Technology</a:t>
            </a:r>
            <a:r>
              <a:rPr dirty="0" sz="2600" spc="-8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888888"/>
                </a:solidFill>
                <a:latin typeface="Calibri"/>
                <a:cs typeface="Calibri"/>
              </a:rPr>
              <a:t>Rourkela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58845" y="2481452"/>
            <a:ext cx="3226435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i="0">
                <a:latin typeface="Calibri"/>
                <a:cs typeface="Calibri"/>
              </a:rPr>
              <a:t>Wireless</a:t>
            </a:r>
            <a:r>
              <a:rPr dirty="0" sz="4400" spc="-80" i="0">
                <a:latin typeface="Calibri"/>
                <a:cs typeface="Calibri"/>
              </a:rPr>
              <a:t> </a:t>
            </a:r>
            <a:r>
              <a:rPr dirty="0" sz="4400" spc="-20" i="0">
                <a:latin typeface="Calibri"/>
                <a:cs typeface="Calibri"/>
              </a:rPr>
              <a:t>LANs</a:t>
            </a:r>
            <a:endParaRPr sz="4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54939" y="151892"/>
            <a:ext cx="4088129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 i="0">
                <a:latin typeface="Calibri"/>
                <a:cs typeface="Calibri"/>
              </a:rPr>
              <a:t>IEEE</a:t>
            </a:r>
            <a:r>
              <a:rPr dirty="0" sz="3200" spc="-30" b="1" i="0">
                <a:latin typeface="Calibri"/>
                <a:cs typeface="Calibri"/>
              </a:rPr>
              <a:t> </a:t>
            </a:r>
            <a:r>
              <a:rPr dirty="0" sz="3200" b="1" i="0">
                <a:latin typeface="Calibri"/>
                <a:cs typeface="Calibri"/>
              </a:rPr>
              <a:t>802</a:t>
            </a:r>
            <a:r>
              <a:rPr dirty="0" sz="3200" spc="-25" b="1" i="0">
                <a:latin typeface="Calibri"/>
                <a:cs typeface="Calibri"/>
              </a:rPr>
              <a:t> </a:t>
            </a:r>
            <a:r>
              <a:rPr dirty="0" sz="3200" spc="-10" b="1" i="0">
                <a:latin typeface="Calibri"/>
                <a:cs typeface="Calibri"/>
              </a:rPr>
              <a:t>ARCHITECTURE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8655" y="743458"/>
            <a:ext cx="8758555" cy="2671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354330" marR="5080" indent="-34163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800">
                <a:latin typeface="Calibri"/>
                <a:cs typeface="Calibri"/>
              </a:rPr>
              <a:t>standardized</a:t>
            </a:r>
            <a:r>
              <a:rPr dirty="0" sz="2800" spc="459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protocol</a:t>
            </a:r>
            <a:r>
              <a:rPr dirty="0" sz="2800" spc="459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architecture</a:t>
            </a:r>
            <a:r>
              <a:rPr dirty="0" sz="2800" spc="459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for</a:t>
            </a:r>
            <a:r>
              <a:rPr dirty="0" sz="2800" spc="46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LANs,</a:t>
            </a:r>
            <a:r>
              <a:rPr dirty="0" sz="2800" spc="465">
                <a:latin typeface="Calibri"/>
                <a:cs typeface="Calibri"/>
              </a:rPr>
              <a:t>  </a:t>
            </a:r>
            <a:r>
              <a:rPr dirty="0" sz="2800" spc="-10">
                <a:latin typeface="Calibri"/>
                <a:cs typeface="Calibri"/>
              </a:rPr>
              <a:t>which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encompasses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physical,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medium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access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control,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logical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link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control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layers</a:t>
            </a:r>
            <a:endParaRPr sz="2800">
              <a:latin typeface="Calibri"/>
              <a:cs typeface="Calibri"/>
            </a:endParaRPr>
          </a:p>
          <a:p>
            <a:pPr algn="just" marL="354330" marR="5080" indent="-341630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6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OSI</a:t>
            </a:r>
            <a:r>
              <a:rPr dirty="0" sz="2800" spc="3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terms,</a:t>
            </a:r>
            <a:r>
              <a:rPr dirty="0" sz="2800" spc="35">
                <a:latin typeface="Calibri"/>
                <a:cs typeface="Calibri"/>
              </a:rPr>
              <a:t>  </a:t>
            </a:r>
            <a:r>
              <a:rPr dirty="0" sz="2800" spc="-10">
                <a:latin typeface="Calibri"/>
                <a:cs typeface="Calibri"/>
              </a:rPr>
              <a:t>higher-</a:t>
            </a:r>
            <a:r>
              <a:rPr dirty="0" sz="2800">
                <a:latin typeface="Calibri"/>
                <a:cs typeface="Calibri"/>
              </a:rPr>
              <a:t>layer</a:t>
            </a:r>
            <a:r>
              <a:rPr dirty="0" sz="2800" spc="6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protocols</a:t>
            </a:r>
            <a:r>
              <a:rPr dirty="0" sz="2800" spc="6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(layer</a:t>
            </a:r>
            <a:r>
              <a:rPr dirty="0" sz="2800" spc="6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3</a:t>
            </a:r>
            <a:r>
              <a:rPr dirty="0" sz="2800" spc="6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or</a:t>
            </a:r>
            <a:r>
              <a:rPr dirty="0" sz="2800" spc="6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4</a:t>
            </a:r>
            <a:r>
              <a:rPr dirty="0" sz="2800" spc="69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and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above)</a:t>
            </a:r>
            <a:r>
              <a:rPr dirty="0" sz="2800" spc="1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are</a:t>
            </a:r>
            <a:r>
              <a:rPr dirty="0" sz="2800" spc="1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independent</a:t>
            </a:r>
            <a:r>
              <a:rPr dirty="0" sz="2800" spc="20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1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network</a:t>
            </a:r>
            <a:r>
              <a:rPr dirty="0" sz="2800" spc="1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architecture</a:t>
            </a:r>
            <a:r>
              <a:rPr dirty="0" sz="2800" spc="2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18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are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applicable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LANs,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MANs,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WANs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8655" y="3474542"/>
            <a:ext cx="44970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3695" algn="l"/>
                <a:tab pos="1122045" algn="l"/>
                <a:tab pos="1960245" algn="l"/>
                <a:tab pos="2731135" algn="l"/>
              </a:tabLst>
            </a:pPr>
            <a:r>
              <a:rPr dirty="0" sz="2800" spc="-25">
                <a:latin typeface="Calibri"/>
                <a:cs typeface="Calibri"/>
              </a:rPr>
              <a:t>The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0">
                <a:latin typeface="Calibri"/>
                <a:cs typeface="Calibri"/>
              </a:rPr>
              <a:t>IEEE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5">
                <a:latin typeface="Calibri"/>
                <a:cs typeface="Calibri"/>
              </a:rPr>
              <a:t>802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architecture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1555" y="3474542"/>
            <a:ext cx="8416925" cy="878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4359275">
              <a:lnSpc>
                <a:spcPct val="100000"/>
              </a:lnSpc>
              <a:spcBef>
                <a:spcPts val="95"/>
              </a:spcBef>
              <a:tabLst>
                <a:tab pos="2223770" algn="l"/>
                <a:tab pos="3676650" algn="l"/>
                <a:tab pos="4344035" algn="l"/>
                <a:tab pos="5099050" algn="l"/>
                <a:tab pos="5121910" algn="l"/>
                <a:tab pos="6055995" algn="l"/>
                <a:tab pos="7226934" algn="l"/>
                <a:tab pos="7494905" algn="l"/>
                <a:tab pos="7816215" algn="l"/>
                <a:tab pos="8069580" algn="l"/>
              </a:tabLst>
            </a:pPr>
            <a:r>
              <a:rPr dirty="0" sz="2800" spc="-25">
                <a:latin typeface="Calibri"/>
                <a:cs typeface="Calibri"/>
              </a:rPr>
              <a:t>has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0">
                <a:latin typeface="Calibri"/>
                <a:cs typeface="Calibri"/>
              </a:rPr>
              <a:t>been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adopted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5">
                <a:latin typeface="Calibri"/>
                <a:cs typeface="Calibri"/>
              </a:rPr>
              <a:t>by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5">
                <a:latin typeface="Calibri"/>
                <a:cs typeface="Calibri"/>
              </a:rPr>
              <a:t>all </a:t>
            </a:r>
            <a:r>
              <a:rPr dirty="0" sz="2800" spc="-10">
                <a:latin typeface="Calibri"/>
                <a:cs typeface="Calibri"/>
              </a:rPr>
              <a:t>organizations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working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5">
                <a:latin typeface="Calibri"/>
                <a:cs typeface="Calibri"/>
              </a:rPr>
              <a:t>on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5">
                <a:latin typeface="Calibri"/>
                <a:cs typeface="Calibri"/>
              </a:rPr>
              <a:t>the</a:t>
            </a:r>
            <a:r>
              <a:rPr dirty="0" sz="2800">
                <a:latin typeface="Calibri"/>
                <a:cs typeface="Calibri"/>
              </a:rPr>
              <a:t>		</a:t>
            </a:r>
            <a:r>
              <a:rPr dirty="0" sz="2800" spc="-10">
                <a:latin typeface="Calibri"/>
                <a:cs typeface="Calibri"/>
              </a:rPr>
              <a:t>specification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5">
                <a:latin typeface="Calibri"/>
                <a:cs typeface="Calibri"/>
              </a:rPr>
              <a:t>of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5">
                <a:latin typeface="Calibri"/>
                <a:cs typeface="Calibri"/>
              </a:rPr>
              <a:t>LAN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1555" y="4328540"/>
            <a:ext cx="8413115" cy="878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Calibri"/>
                <a:cs typeface="Calibri"/>
              </a:rPr>
              <a:t>standards.</a:t>
            </a:r>
            <a:r>
              <a:rPr dirty="0" sz="2800" spc="8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It</a:t>
            </a:r>
            <a:r>
              <a:rPr dirty="0" sz="2800" spc="8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8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generally</a:t>
            </a:r>
            <a:r>
              <a:rPr dirty="0" sz="2800" spc="7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referred</a:t>
            </a:r>
            <a:r>
              <a:rPr dirty="0" sz="2800" spc="8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8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as</a:t>
            </a:r>
            <a:r>
              <a:rPr dirty="0" sz="2800" spc="7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80">
                <a:latin typeface="Calibri"/>
                <a:cs typeface="Calibri"/>
              </a:rPr>
              <a:t>  </a:t>
            </a:r>
            <a:r>
              <a:rPr dirty="0" sz="2800">
                <a:solidFill>
                  <a:srgbClr val="FF0000"/>
                </a:solidFill>
                <a:latin typeface="Calibri"/>
                <a:cs typeface="Calibri"/>
              </a:rPr>
              <a:t>IEEE</a:t>
            </a:r>
            <a:r>
              <a:rPr dirty="0" sz="2800" spc="75">
                <a:solidFill>
                  <a:srgbClr val="FF0000"/>
                </a:solidFill>
                <a:latin typeface="Calibri"/>
                <a:cs typeface="Calibri"/>
              </a:rPr>
              <a:t>  </a:t>
            </a:r>
            <a:r>
              <a:rPr dirty="0" sz="2800" spc="-25">
                <a:solidFill>
                  <a:srgbClr val="FF0000"/>
                </a:solidFill>
                <a:latin typeface="Calibri"/>
                <a:cs typeface="Calibri"/>
              </a:rPr>
              <a:t>802 </a:t>
            </a:r>
            <a:r>
              <a:rPr dirty="0" sz="2800" spc="-10">
                <a:solidFill>
                  <a:srgbClr val="FF0000"/>
                </a:solidFill>
                <a:latin typeface="Calibri"/>
                <a:cs typeface="Calibri"/>
              </a:rPr>
              <a:t>reference</a:t>
            </a:r>
            <a:r>
              <a:rPr dirty="0" sz="2800" spc="-10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FF0000"/>
                </a:solidFill>
                <a:latin typeface="Calibri"/>
                <a:cs typeface="Calibri"/>
              </a:rPr>
              <a:t>model</a:t>
            </a:r>
            <a:r>
              <a:rPr dirty="0" sz="2800" spc="-1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939" y="848613"/>
            <a:ext cx="8758555" cy="49269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354330" marR="6350" indent="-34163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32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lowest</a:t>
            </a:r>
            <a:r>
              <a:rPr dirty="0" sz="2800" spc="33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layer</a:t>
            </a:r>
            <a:r>
              <a:rPr dirty="0" sz="2800" spc="33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33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33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IEEE</a:t>
            </a:r>
            <a:r>
              <a:rPr dirty="0" sz="2800" spc="33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802</a:t>
            </a:r>
            <a:r>
              <a:rPr dirty="0" sz="2800" spc="33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reference</a:t>
            </a:r>
            <a:r>
              <a:rPr dirty="0" sz="2800" spc="325">
                <a:latin typeface="Calibri"/>
                <a:cs typeface="Calibri"/>
              </a:rPr>
              <a:t>  </a:t>
            </a:r>
            <a:r>
              <a:rPr dirty="0" sz="2800" spc="-10">
                <a:latin typeface="Calibri"/>
                <a:cs typeface="Calibri"/>
              </a:rPr>
              <a:t>model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corresponds</a:t>
            </a:r>
            <a:r>
              <a:rPr dirty="0" sz="2800" spc="3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3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3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physical</a:t>
            </a:r>
            <a:r>
              <a:rPr dirty="0" sz="2800" spc="3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layer</a:t>
            </a:r>
            <a:r>
              <a:rPr dirty="0" sz="2800" spc="3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3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3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OSI</a:t>
            </a:r>
            <a:r>
              <a:rPr dirty="0" sz="2800" spc="3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model</a:t>
            </a:r>
            <a:r>
              <a:rPr dirty="0" sz="2800" spc="38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and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includes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such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functions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as</a:t>
            </a:r>
            <a:endParaRPr sz="2800">
              <a:latin typeface="Calibri"/>
              <a:cs typeface="Calibri"/>
            </a:endParaRPr>
          </a:p>
          <a:p>
            <a:pPr lvl="1" marL="633095" indent="-219710">
              <a:lnSpc>
                <a:spcPct val="100000"/>
              </a:lnSpc>
              <a:spcBef>
                <a:spcPts val="605"/>
              </a:spcBef>
              <a:buChar char="•"/>
              <a:tabLst>
                <a:tab pos="633095" algn="l"/>
              </a:tabLst>
            </a:pPr>
            <a:r>
              <a:rPr dirty="0" sz="2400">
                <a:latin typeface="Calibri"/>
                <a:cs typeface="Calibri"/>
              </a:rPr>
              <a:t>Encoding/decoding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signals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(e.g.,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PSK,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QAM,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etc.)</a:t>
            </a:r>
            <a:endParaRPr sz="2400">
              <a:latin typeface="Calibri"/>
              <a:cs typeface="Calibri"/>
            </a:endParaRPr>
          </a:p>
          <a:p>
            <a:pPr lvl="1" marL="633095" indent="-219710">
              <a:lnSpc>
                <a:spcPct val="100000"/>
              </a:lnSpc>
              <a:spcBef>
                <a:spcPts val="575"/>
              </a:spcBef>
              <a:buChar char="•"/>
              <a:tabLst>
                <a:tab pos="633095" algn="l"/>
              </a:tabLst>
            </a:pPr>
            <a:r>
              <a:rPr dirty="0" sz="2400">
                <a:latin typeface="Calibri"/>
                <a:cs typeface="Calibri"/>
              </a:rPr>
              <a:t>Preamble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generation/removal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(for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synchronization)</a:t>
            </a:r>
            <a:endParaRPr sz="2400">
              <a:latin typeface="Calibri"/>
              <a:cs typeface="Calibri"/>
            </a:endParaRPr>
          </a:p>
          <a:p>
            <a:pPr lvl="1" marL="633095" indent="-219710">
              <a:lnSpc>
                <a:spcPct val="100000"/>
              </a:lnSpc>
              <a:spcBef>
                <a:spcPts val="580"/>
              </a:spcBef>
              <a:buChar char="•"/>
              <a:tabLst>
                <a:tab pos="633095" algn="l"/>
              </a:tabLst>
            </a:pPr>
            <a:r>
              <a:rPr dirty="0" sz="2400">
                <a:latin typeface="Calibri"/>
                <a:cs typeface="Calibri"/>
              </a:rPr>
              <a:t>Bit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transmission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or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reception</a:t>
            </a:r>
            <a:endParaRPr sz="2400">
              <a:latin typeface="Calibri"/>
              <a:cs typeface="Calibri"/>
            </a:endParaRPr>
          </a:p>
          <a:p>
            <a:pPr algn="just" marL="354330" marR="5080" indent="-341630">
              <a:lnSpc>
                <a:spcPct val="100000"/>
              </a:lnSpc>
              <a:spcBef>
                <a:spcPts val="64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addition,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physical</a:t>
            </a:r>
            <a:r>
              <a:rPr dirty="0" sz="2800" spc="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layer</a:t>
            </a:r>
            <a:r>
              <a:rPr dirty="0" sz="2800" spc="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 802</a:t>
            </a:r>
            <a:r>
              <a:rPr dirty="0" sz="2800" spc="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model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includes</a:t>
            </a:r>
            <a:r>
              <a:rPr dirty="0" sz="2800" spc="10">
                <a:latin typeface="Calibri"/>
                <a:cs typeface="Calibri"/>
              </a:rPr>
              <a:t> </a:t>
            </a:r>
            <a:r>
              <a:rPr dirty="0" sz="2800" spc="-50">
                <a:latin typeface="Calibri"/>
                <a:cs typeface="Calibri"/>
              </a:rPr>
              <a:t>a </a:t>
            </a:r>
            <a:r>
              <a:rPr dirty="0" sz="2800" spc="-5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specification</a:t>
            </a:r>
            <a:r>
              <a:rPr dirty="0" sz="2800" spc="459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46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47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transmission</a:t>
            </a:r>
            <a:r>
              <a:rPr dirty="0" sz="2800" spc="47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medium</a:t>
            </a:r>
            <a:r>
              <a:rPr dirty="0" sz="2800" spc="46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465">
                <a:latin typeface="Calibri"/>
                <a:cs typeface="Calibri"/>
              </a:rPr>
              <a:t>  </a:t>
            </a:r>
            <a:r>
              <a:rPr dirty="0" sz="2800" spc="-25">
                <a:latin typeface="Calibri"/>
                <a:cs typeface="Calibri"/>
              </a:rPr>
              <a:t>the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topology</a:t>
            </a:r>
            <a:endParaRPr sz="2800">
              <a:latin typeface="Calibri"/>
              <a:cs typeface="Calibri"/>
            </a:endParaRPr>
          </a:p>
          <a:p>
            <a:pPr algn="just" marL="353695" marR="5080" indent="-340995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800">
                <a:latin typeface="Calibri"/>
                <a:cs typeface="Calibri"/>
              </a:rPr>
              <a:t>Generally,</a:t>
            </a:r>
            <a:r>
              <a:rPr dirty="0" sz="2800" spc="2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this</a:t>
            </a:r>
            <a:r>
              <a:rPr dirty="0" sz="2800" spc="2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2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considered</a:t>
            </a:r>
            <a:r>
              <a:rPr dirty="0" sz="2800" spc="2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"below"</a:t>
            </a:r>
            <a:r>
              <a:rPr dirty="0" sz="2800" spc="2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2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lowest</a:t>
            </a:r>
            <a:r>
              <a:rPr dirty="0" sz="2800" spc="2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layer</a:t>
            </a:r>
            <a:r>
              <a:rPr dirty="0" sz="2800" spc="26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of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OSI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model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54939" y="151892"/>
            <a:ext cx="4088129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 i="0">
                <a:latin typeface="Calibri"/>
                <a:cs typeface="Calibri"/>
              </a:rPr>
              <a:t>IEEE</a:t>
            </a:r>
            <a:r>
              <a:rPr dirty="0" sz="3200" spc="-30" b="1" i="0">
                <a:latin typeface="Calibri"/>
                <a:cs typeface="Calibri"/>
              </a:rPr>
              <a:t> </a:t>
            </a:r>
            <a:r>
              <a:rPr dirty="0" sz="3200" b="1" i="0">
                <a:latin typeface="Calibri"/>
                <a:cs typeface="Calibri"/>
              </a:rPr>
              <a:t>802</a:t>
            </a:r>
            <a:r>
              <a:rPr dirty="0" sz="3200" spc="-25" b="1" i="0">
                <a:latin typeface="Calibri"/>
                <a:cs typeface="Calibri"/>
              </a:rPr>
              <a:t> </a:t>
            </a:r>
            <a:r>
              <a:rPr dirty="0" sz="3200" spc="-10" b="1" i="0">
                <a:latin typeface="Calibri"/>
                <a:cs typeface="Calibri"/>
              </a:rPr>
              <a:t>ARCHITECTURE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1140" y="726440"/>
            <a:ext cx="8682990" cy="53174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354330" marR="276225" indent="-34163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800">
                <a:latin typeface="Calibri"/>
                <a:cs typeface="Calibri"/>
              </a:rPr>
              <a:t>For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some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IEEE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802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standards,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physical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layer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is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further</a:t>
            </a:r>
            <a:r>
              <a:rPr dirty="0" sz="2800" spc="-1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subdivided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into</a:t>
            </a:r>
            <a:r>
              <a:rPr dirty="0" sz="2800" spc="-114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sublayers</a:t>
            </a:r>
            <a:endParaRPr sz="2800">
              <a:latin typeface="Calibri"/>
              <a:cs typeface="Calibri"/>
            </a:endParaRPr>
          </a:p>
          <a:p>
            <a:pPr algn="just" lvl="1" marL="755015" marR="5080" indent="-285750">
              <a:lnSpc>
                <a:spcPct val="100000"/>
              </a:lnSpc>
              <a:spcBef>
                <a:spcPts val="67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800" b="1">
                <a:latin typeface="Calibri"/>
                <a:cs typeface="Calibri"/>
              </a:rPr>
              <a:t>Physical</a:t>
            </a:r>
            <a:r>
              <a:rPr dirty="0" sz="2800" spc="5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layer</a:t>
            </a:r>
            <a:r>
              <a:rPr dirty="0" sz="2800" spc="2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convergence</a:t>
            </a:r>
            <a:r>
              <a:rPr dirty="0" sz="2800" spc="15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procedure (PLCP):</a:t>
            </a:r>
            <a:r>
              <a:rPr dirty="0" sz="2800" spc="25" b="1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Defines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method</a:t>
            </a:r>
            <a:r>
              <a:rPr dirty="0" sz="2800" spc="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mapping</a:t>
            </a:r>
            <a:r>
              <a:rPr dirty="0" sz="2800" spc="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802.11</a:t>
            </a:r>
            <a:r>
              <a:rPr dirty="0" sz="2800" spc="1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MAC</a:t>
            </a:r>
            <a:r>
              <a:rPr dirty="0" sz="2800" spc="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layer</a:t>
            </a:r>
            <a:r>
              <a:rPr dirty="0" sz="2800" spc="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protocol</a:t>
            </a:r>
            <a:r>
              <a:rPr dirty="0" sz="2800" spc="8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data </a:t>
            </a:r>
            <a:r>
              <a:rPr dirty="0" sz="2800" spc="-2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units</a:t>
            </a:r>
            <a:r>
              <a:rPr dirty="0" sz="2800" spc="18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(MPDUs)</a:t>
            </a:r>
            <a:r>
              <a:rPr dirty="0" sz="2800" spc="19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into</a:t>
            </a:r>
            <a:r>
              <a:rPr dirty="0" sz="2800" spc="18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18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framing</a:t>
            </a:r>
            <a:r>
              <a:rPr dirty="0" sz="2800" spc="16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format</a:t>
            </a:r>
            <a:r>
              <a:rPr dirty="0" sz="2800" spc="17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suitable</a:t>
            </a:r>
            <a:r>
              <a:rPr dirty="0" sz="2800" spc="180">
                <a:latin typeface="Calibri"/>
                <a:cs typeface="Calibri"/>
              </a:rPr>
              <a:t>  </a:t>
            </a:r>
            <a:r>
              <a:rPr dirty="0" sz="2800" spc="-25">
                <a:latin typeface="Calibri"/>
                <a:cs typeface="Calibri"/>
              </a:rPr>
              <a:t>for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sending</a:t>
            </a:r>
            <a:r>
              <a:rPr dirty="0" sz="2800" spc="13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13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receiving</a:t>
            </a:r>
            <a:r>
              <a:rPr dirty="0" sz="2800" spc="13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user</a:t>
            </a:r>
            <a:r>
              <a:rPr dirty="0" sz="2800" spc="14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data</a:t>
            </a:r>
            <a:r>
              <a:rPr dirty="0" sz="2800" spc="13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140">
                <a:latin typeface="Calibri"/>
                <a:cs typeface="Calibri"/>
              </a:rPr>
              <a:t>  </a:t>
            </a:r>
            <a:r>
              <a:rPr dirty="0" sz="2800" spc="-10">
                <a:latin typeface="Calibri"/>
                <a:cs typeface="Calibri"/>
              </a:rPr>
              <a:t>management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information</a:t>
            </a:r>
            <a:r>
              <a:rPr dirty="0" sz="2800" spc="3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between</a:t>
            </a:r>
            <a:r>
              <a:rPr dirty="0" sz="2800" spc="3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two</a:t>
            </a:r>
            <a:r>
              <a:rPr dirty="0" sz="2800" spc="3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or</a:t>
            </a:r>
            <a:r>
              <a:rPr dirty="0" sz="2800" spc="3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more</a:t>
            </a:r>
            <a:r>
              <a:rPr dirty="0" sz="2800" spc="3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stations</a:t>
            </a:r>
            <a:r>
              <a:rPr dirty="0" sz="2800" spc="3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using</a:t>
            </a:r>
            <a:r>
              <a:rPr dirty="0" sz="2800" spc="30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the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associated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PMD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sublayer.</a:t>
            </a:r>
            <a:endParaRPr sz="2800">
              <a:latin typeface="Calibri"/>
              <a:cs typeface="Calibri"/>
            </a:endParaRPr>
          </a:p>
          <a:p>
            <a:pPr algn="just" lvl="1" marL="756285" marR="6350" indent="-287020">
              <a:lnSpc>
                <a:spcPct val="100000"/>
              </a:lnSpc>
              <a:spcBef>
                <a:spcPts val="68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800" b="1">
                <a:latin typeface="Calibri"/>
                <a:cs typeface="Calibri"/>
              </a:rPr>
              <a:t>Physical</a:t>
            </a:r>
            <a:r>
              <a:rPr dirty="0" sz="2800" spc="4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medium</a:t>
            </a:r>
            <a:r>
              <a:rPr dirty="0" sz="2800" spc="6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dependent</a:t>
            </a:r>
            <a:r>
              <a:rPr dirty="0" sz="2800" spc="55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sublayer</a:t>
            </a:r>
            <a:r>
              <a:rPr dirty="0" sz="2800" spc="5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(PMD):</a:t>
            </a:r>
            <a:r>
              <a:rPr dirty="0" sz="2800" spc="45" b="1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Defines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characteristics</a:t>
            </a:r>
            <a:r>
              <a:rPr dirty="0" sz="2800" spc="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of,</a:t>
            </a:r>
            <a:r>
              <a:rPr dirty="0" sz="2800" spc="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method</a:t>
            </a:r>
            <a:r>
              <a:rPr dirty="0" sz="2800" spc="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transmitting</a:t>
            </a:r>
            <a:r>
              <a:rPr dirty="0" sz="2800" spc="6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and </a:t>
            </a:r>
            <a:r>
              <a:rPr dirty="0" sz="2800">
                <a:latin typeface="Calibri"/>
                <a:cs typeface="Calibri"/>
              </a:rPr>
              <a:t>receiving,</a:t>
            </a:r>
            <a:r>
              <a:rPr dirty="0" sz="2800" spc="35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user</a:t>
            </a:r>
            <a:r>
              <a:rPr dirty="0" sz="2800" spc="36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data</a:t>
            </a:r>
            <a:r>
              <a:rPr dirty="0" sz="2800" spc="36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through</a:t>
            </a:r>
            <a:r>
              <a:rPr dirty="0" sz="2800" spc="35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36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wireless</a:t>
            </a:r>
            <a:r>
              <a:rPr dirty="0" sz="2800" spc="370">
                <a:latin typeface="Calibri"/>
                <a:cs typeface="Calibri"/>
              </a:rPr>
              <a:t>  </a:t>
            </a:r>
            <a:r>
              <a:rPr dirty="0" sz="2800" spc="-10">
                <a:latin typeface="Calibri"/>
                <a:cs typeface="Calibri"/>
              </a:rPr>
              <a:t>medium </a:t>
            </a:r>
            <a:r>
              <a:rPr dirty="0" sz="2800">
                <a:latin typeface="Calibri"/>
                <a:cs typeface="Calibri"/>
              </a:rPr>
              <a:t>between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two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or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more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stations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54939" y="151892"/>
            <a:ext cx="4088129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 i="0">
                <a:latin typeface="Calibri"/>
                <a:cs typeface="Calibri"/>
              </a:rPr>
              <a:t>IEEE</a:t>
            </a:r>
            <a:r>
              <a:rPr dirty="0" sz="3200" spc="-30" b="1" i="0">
                <a:latin typeface="Calibri"/>
                <a:cs typeface="Calibri"/>
              </a:rPr>
              <a:t> </a:t>
            </a:r>
            <a:r>
              <a:rPr dirty="0" sz="3200" b="1" i="0">
                <a:latin typeface="Calibri"/>
                <a:cs typeface="Calibri"/>
              </a:rPr>
              <a:t>802</a:t>
            </a:r>
            <a:r>
              <a:rPr dirty="0" sz="3200" spc="-25" b="1" i="0">
                <a:latin typeface="Calibri"/>
                <a:cs typeface="Calibri"/>
              </a:rPr>
              <a:t> </a:t>
            </a:r>
            <a:r>
              <a:rPr dirty="0" sz="3200" spc="-10" b="1" i="0">
                <a:latin typeface="Calibri"/>
                <a:cs typeface="Calibri"/>
              </a:rPr>
              <a:t>ARCHITECTURE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8666" rIns="0" bIns="0" rtlCol="0" vert="horz">
            <a:spAutoFit/>
          </a:bodyPr>
          <a:lstStyle/>
          <a:p>
            <a:pPr marL="113664">
              <a:lnSpc>
                <a:spcPct val="100000"/>
              </a:lnSpc>
              <a:spcBef>
                <a:spcPts val="100"/>
              </a:spcBef>
            </a:pPr>
            <a:r>
              <a:rPr dirty="0" sz="3200" b="1" i="0">
                <a:latin typeface="Calibri"/>
                <a:cs typeface="Calibri"/>
              </a:rPr>
              <a:t>IEEE</a:t>
            </a:r>
            <a:r>
              <a:rPr dirty="0" sz="3200" spc="-30" b="1" i="0">
                <a:latin typeface="Calibri"/>
                <a:cs typeface="Calibri"/>
              </a:rPr>
              <a:t> </a:t>
            </a:r>
            <a:r>
              <a:rPr dirty="0" sz="3200" b="1" i="0">
                <a:latin typeface="Calibri"/>
                <a:cs typeface="Calibri"/>
              </a:rPr>
              <a:t>802</a:t>
            </a:r>
            <a:r>
              <a:rPr dirty="0" sz="3200" spc="-25" b="1" i="0">
                <a:latin typeface="Calibri"/>
                <a:cs typeface="Calibri"/>
              </a:rPr>
              <a:t> </a:t>
            </a:r>
            <a:r>
              <a:rPr dirty="0" sz="3200" spc="-10" b="1" i="0">
                <a:latin typeface="Calibri"/>
                <a:cs typeface="Calibri"/>
              </a:rPr>
              <a:t>ARCHITECTURE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3201" y="868786"/>
            <a:ext cx="7403300" cy="567269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001013"/>
            <a:ext cx="8301990" cy="397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330" marR="308610" indent="-34163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800">
                <a:latin typeface="Calibri"/>
                <a:cs typeface="Calibri"/>
              </a:rPr>
              <a:t>Above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physical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layer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are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functions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associated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with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providing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service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LAN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users.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These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include</a:t>
            </a:r>
            <a:endParaRPr sz="2800">
              <a:latin typeface="Calibri"/>
              <a:cs typeface="Calibri"/>
            </a:endParaRPr>
          </a:p>
          <a:p>
            <a:pPr lvl="1" marL="870585" marR="5080" indent="284480">
              <a:lnSpc>
                <a:spcPct val="100000"/>
              </a:lnSpc>
              <a:spcBef>
                <a:spcPts val="645"/>
              </a:spcBef>
              <a:buSzPct val="92307"/>
              <a:buChar char="•"/>
              <a:tabLst>
                <a:tab pos="1155065" algn="l"/>
              </a:tabLst>
            </a:pPr>
            <a:r>
              <a:rPr dirty="0" sz="2600">
                <a:latin typeface="Calibri"/>
                <a:cs typeface="Calibri"/>
              </a:rPr>
              <a:t>On</a:t>
            </a:r>
            <a:r>
              <a:rPr dirty="0" sz="2600" spc="4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transmission,</a:t>
            </a:r>
            <a:r>
              <a:rPr dirty="0" sz="2600" spc="4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assemble</a:t>
            </a:r>
            <a:r>
              <a:rPr dirty="0" sz="2600" spc="4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data</a:t>
            </a:r>
            <a:r>
              <a:rPr dirty="0" sz="2600" spc="4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into</a:t>
            </a:r>
            <a:r>
              <a:rPr dirty="0" sz="2600" spc="4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4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frame</a:t>
            </a:r>
            <a:r>
              <a:rPr dirty="0" sz="2600" spc="484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with </a:t>
            </a:r>
            <a:r>
              <a:rPr dirty="0" sz="2600">
                <a:latin typeface="Calibri"/>
                <a:cs typeface="Calibri"/>
              </a:rPr>
              <a:t>address</a:t>
            </a:r>
            <a:r>
              <a:rPr dirty="0" sz="2600" spc="-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error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detection</a:t>
            </a:r>
            <a:r>
              <a:rPr dirty="0" sz="2600" spc="-8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fields.</a:t>
            </a:r>
            <a:endParaRPr sz="2600">
              <a:latin typeface="Calibri"/>
              <a:cs typeface="Calibri"/>
            </a:endParaRPr>
          </a:p>
          <a:p>
            <a:pPr lvl="1" marL="870585" marR="5715" indent="394970">
              <a:lnSpc>
                <a:spcPct val="100000"/>
              </a:lnSpc>
              <a:spcBef>
                <a:spcPts val="625"/>
              </a:spcBef>
              <a:buChar char="•"/>
              <a:tabLst>
                <a:tab pos="1265555" algn="l"/>
                <a:tab pos="1888489" algn="l"/>
                <a:tab pos="3484879" algn="l"/>
                <a:tab pos="5347335" algn="l"/>
                <a:tab pos="6455410" algn="l"/>
                <a:tab pos="7188834" algn="l"/>
              </a:tabLst>
            </a:pPr>
            <a:r>
              <a:rPr dirty="0" sz="2600" spc="-25">
                <a:latin typeface="Calibri"/>
                <a:cs typeface="Calibri"/>
              </a:rPr>
              <a:t>On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reception,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disassemble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frame,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and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0">
                <a:latin typeface="Calibri"/>
                <a:cs typeface="Calibri"/>
              </a:rPr>
              <a:t>perform </a:t>
            </a:r>
            <a:r>
              <a:rPr dirty="0" sz="2600">
                <a:latin typeface="Calibri"/>
                <a:cs typeface="Calibri"/>
              </a:rPr>
              <a:t>address</a:t>
            </a:r>
            <a:r>
              <a:rPr dirty="0" sz="2600" spc="-1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recognition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error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detection.</a:t>
            </a:r>
            <a:endParaRPr sz="2600">
              <a:latin typeface="Calibri"/>
              <a:cs typeface="Calibri"/>
            </a:endParaRPr>
          </a:p>
          <a:p>
            <a:pPr lvl="1" marL="1108710" indent="-238125">
              <a:lnSpc>
                <a:spcPct val="100000"/>
              </a:lnSpc>
              <a:spcBef>
                <a:spcPts val="625"/>
              </a:spcBef>
              <a:buChar char="•"/>
              <a:tabLst>
                <a:tab pos="1108710" algn="l"/>
              </a:tabLst>
            </a:pPr>
            <a:r>
              <a:rPr dirty="0" sz="2600">
                <a:latin typeface="Calibri"/>
                <a:cs typeface="Calibri"/>
              </a:rPr>
              <a:t>Govern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access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LAN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transmission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medium.</a:t>
            </a:r>
            <a:endParaRPr sz="2600">
              <a:latin typeface="Calibri"/>
              <a:cs typeface="Calibri"/>
            </a:endParaRPr>
          </a:p>
          <a:p>
            <a:pPr lvl="1" marL="870585" marR="5715" indent="313055">
              <a:lnSpc>
                <a:spcPct val="100000"/>
              </a:lnSpc>
              <a:spcBef>
                <a:spcPts val="625"/>
              </a:spcBef>
              <a:buChar char="•"/>
              <a:tabLst>
                <a:tab pos="1183640" algn="l"/>
              </a:tabLst>
            </a:pPr>
            <a:r>
              <a:rPr dirty="0" sz="2600">
                <a:latin typeface="Calibri"/>
                <a:cs typeface="Calibri"/>
              </a:rPr>
              <a:t>Provide</a:t>
            </a:r>
            <a:r>
              <a:rPr dirty="0" sz="2600" spc="4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</a:t>
            </a:r>
            <a:r>
              <a:rPr dirty="0" sz="2600" spc="5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interface</a:t>
            </a:r>
            <a:r>
              <a:rPr dirty="0" sz="2600" spc="509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509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higher</a:t>
            </a:r>
            <a:r>
              <a:rPr dirty="0" sz="2600" spc="5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layers</a:t>
            </a:r>
            <a:r>
              <a:rPr dirty="0" sz="2600" spc="5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50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perform </a:t>
            </a:r>
            <a:r>
              <a:rPr dirty="0" sz="2600">
                <a:latin typeface="Calibri"/>
                <a:cs typeface="Calibri"/>
              </a:rPr>
              <a:t>flow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error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control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8666" rIns="0" bIns="0" rtlCol="0" vert="horz">
            <a:spAutoFit/>
          </a:bodyPr>
          <a:lstStyle/>
          <a:p>
            <a:pPr marL="113664">
              <a:lnSpc>
                <a:spcPct val="100000"/>
              </a:lnSpc>
              <a:spcBef>
                <a:spcPts val="100"/>
              </a:spcBef>
            </a:pPr>
            <a:r>
              <a:rPr dirty="0" sz="3200" b="1" i="0">
                <a:latin typeface="Calibri"/>
                <a:cs typeface="Calibri"/>
              </a:rPr>
              <a:t>IEEE</a:t>
            </a:r>
            <a:r>
              <a:rPr dirty="0" sz="3200" spc="-30" b="1" i="0">
                <a:latin typeface="Calibri"/>
                <a:cs typeface="Calibri"/>
              </a:rPr>
              <a:t> </a:t>
            </a:r>
            <a:r>
              <a:rPr dirty="0" sz="3200" b="1" i="0">
                <a:latin typeface="Calibri"/>
                <a:cs typeface="Calibri"/>
              </a:rPr>
              <a:t>802</a:t>
            </a:r>
            <a:r>
              <a:rPr dirty="0" sz="3200" spc="-25" b="1" i="0">
                <a:latin typeface="Calibri"/>
                <a:cs typeface="Calibri"/>
              </a:rPr>
              <a:t> </a:t>
            </a:r>
            <a:r>
              <a:rPr dirty="0" sz="3200" spc="-10" b="1" i="0">
                <a:latin typeface="Calibri"/>
                <a:cs typeface="Calibri"/>
              </a:rPr>
              <a:t>ARCHITECTURE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09600" y="2057400"/>
            <a:ext cx="609600" cy="1905000"/>
          </a:xfrm>
          <a:custGeom>
            <a:avLst/>
            <a:gdLst/>
            <a:ahLst/>
            <a:cxnLst/>
            <a:rect l="l" t="t" r="r" b="b"/>
            <a:pathLst>
              <a:path w="609600" h="1905000">
                <a:moveTo>
                  <a:pt x="609600" y="1905000"/>
                </a:moveTo>
                <a:lnTo>
                  <a:pt x="539711" y="1903658"/>
                </a:lnTo>
                <a:lnTo>
                  <a:pt x="475555" y="1899838"/>
                </a:lnTo>
                <a:lnTo>
                  <a:pt x="418962" y="1893843"/>
                </a:lnTo>
                <a:lnTo>
                  <a:pt x="371760" y="1885977"/>
                </a:lnTo>
                <a:lnTo>
                  <a:pt x="312849" y="1865851"/>
                </a:lnTo>
                <a:lnTo>
                  <a:pt x="304800" y="1854200"/>
                </a:lnTo>
                <a:lnTo>
                  <a:pt x="304800" y="1003300"/>
                </a:lnTo>
                <a:lnTo>
                  <a:pt x="296750" y="991648"/>
                </a:lnTo>
                <a:lnTo>
                  <a:pt x="237839" y="971522"/>
                </a:lnTo>
                <a:lnTo>
                  <a:pt x="190637" y="963656"/>
                </a:lnTo>
                <a:lnTo>
                  <a:pt x="134044" y="957661"/>
                </a:lnTo>
                <a:lnTo>
                  <a:pt x="69888" y="953841"/>
                </a:lnTo>
                <a:lnTo>
                  <a:pt x="0" y="952500"/>
                </a:lnTo>
                <a:lnTo>
                  <a:pt x="69888" y="951158"/>
                </a:lnTo>
                <a:lnTo>
                  <a:pt x="134044" y="947338"/>
                </a:lnTo>
                <a:lnTo>
                  <a:pt x="190637" y="941343"/>
                </a:lnTo>
                <a:lnTo>
                  <a:pt x="237839" y="933477"/>
                </a:lnTo>
                <a:lnTo>
                  <a:pt x="296750" y="913351"/>
                </a:lnTo>
                <a:lnTo>
                  <a:pt x="304800" y="901700"/>
                </a:lnTo>
                <a:lnTo>
                  <a:pt x="304800" y="50800"/>
                </a:lnTo>
                <a:lnTo>
                  <a:pt x="312849" y="39148"/>
                </a:lnTo>
                <a:lnTo>
                  <a:pt x="371760" y="19022"/>
                </a:lnTo>
                <a:lnTo>
                  <a:pt x="418962" y="11156"/>
                </a:lnTo>
                <a:lnTo>
                  <a:pt x="475555" y="5161"/>
                </a:lnTo>
                <a:lnTo>
                  <a:pt x="539711" y="1341"/>
                </a:lnTo>
                <a:lnTo>
                  <a:pt x="609600" y="0"/>
                </a:lnTo>
              </a:path>
            </a:pathLst>
          </a:custGeom>
          <a:ln w="9525">
            <a:solidFill>
              <a:srgbClr val="497DB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2000" y="4237101"/>
            <a:ext cx="304800" cy="762000"/>
          </a:xfrm>
          <a:custGeom>
            <a:avLst/>
            <a:gdLst/>
            <a:ahLst/>
            <a:cxnLst/>
            <a:rect l="l" t="t" r="r" b="b"/>
            <a:pathLst>
              <a:path w="304800" h="762000">
                <a:moveTo>
                  <a:pt x="304800" y="762000"/>
                </a:moveTo>
                <a:lnTo>
                  <a:pt x="245481" y="759995"/>
                </a:lnTo>
                <a:lnTo>
                  <a:pt x="197038" y="754538"/>
                </a:lnTo>
                <a:lnTo>
                  <a:pt x="164377" y="746462"/>
                </a:lnTo>
                <a:lnTo>
                  <a:pt x="152400" y="736600"/>
                </a:lnTo>
                <a:lnTo>
                  <a:pt x="152400" y="406273"/>
                </a:lnTo>
                <a:lnTo>
                  <a:pt x="140422" y="396430"/>
                </a:lnTo>
                <a:lnTo>
                  <a:pt x="107761" y="388397"/>
                </a:lnTo>
                <a:lnTo>
                  <a:pt x="59318" y="382984"/>
                </a:lnTo>
                <a:lnTo>
                  <a:pt x="0" y="381000"/>
                </a:lnTo>
                <a:lnTo>
                  <a:pt x="59318" y="378995"/>
                </a:lnTo>
                <a:lnTo>
                  <a:pt x="107761" y="373538"/>
                </a:lnTo>
                <a:lnTo>
                  <a:pt x="140422" y="365462"/>
                </a:lnTo>
                <a:lnTo>
                  <a:pt x="152400" y="355600"/>
                </a:lnTo>
                <a:lnTo>
                  <a:pt x="152400" y="25273"/>
                </a:lnTo>
                <a:lnTo>
                  <a:pt x="164377" y="15430"/>
                </a:lnTo>
                <a:lnTo>
                  <a:pt x="197038" y="7397"/>
                </a:lnTo>
                <a:lnTo>
                  <a:pt x="245481" y="1984"/>
                </a:lnTo>
                <a:lnTo>
                  <a:pt x="304800" y="0"/>
                </a:lnTo>
              </a:path>
            </a:pathLst>
          </a:custGeom>
          <a:ln w="9525">
            <a:solidFill>
              <a:srgbClr val="497DB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85038" y="2576848"/>
            <a:ext cx="432434" cy="82169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3145"/>
              </a:lnSpc>
            </a:pPr>
            <a:r>
              <a:rPr dirty="0" sz="3200" spc="-25">
                <a:latin typeface="Calibri"/>
                <a:cs typeface="Calibri"/>
              </a:rPr>
              <a:t>MAC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6679" y="4247731"/>
            <a:ext cx="432434" cy="57975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3145"/>
              </a:lnSpc>
            </a:pPr>
            <a:r>
              <a:rPr dirty="0" sz="3200" spc="-25">
                <a:latin typeface="Calibri"/>
                <a:cs typeface="Calibri"/>
              </a:rPr>
              <a:t>LLC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939" y="1077213"/>
            <a:ext cx="8682990" cy="31832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354330" marR="6350" indent="-34163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27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separation</a:t>
            </a:r>
            <a:r>
              <a:rPr dirty="0" sz="2800" spc="27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27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layer2</a:t>
            </a:r>
            <a:r>
              <a:rPr dirty="0" sz="2800" spc="27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27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done</a:t>
            </a:r>
            <a:r>
              <a:rPr dirty="0" sz="2800" spc="27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for</a:t>
            </a:r>
            <a:r>
              <a:rPr dirty="0" sz="2800" spc="27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275">
                <a:latin typeface="Calibri"/>
                <a:cs typeface="Calibri"/>
              </a:rPr>
              <a:t>  </a:t>
            </a:r>
            <a:r>
              <a:rPr dirty="0" sz="2800" spc="-10">
                <a:latin typeface="Calibri"/>
                <a:cs typeface="Calibri"/>
              </a:rPr>
              <a:t>following 	reasons:</a:t>
            </a:r>
            <a:endParaRPr sz="2800">
              <a:latin typeface="Calibri"/>
              <a:cs typeface="Calibri"/>
            </a:endParaRPr>
          </a:p>
          <a:p>
            <a:pPr algn="just" lvl="1" marL="755015" marR="5080" indent="-28575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800">
                <a:latin typeface="Calibri"/>
                <a:cs typeface="Calibri"/>
              </a:rPr>
              <a:t>The logic required to manage access to a </a:t>
            </a:r>
            <a:r>
              <a:rPr dirty="0" sz="2800" spc="-10">
                <a:latin typeface="Calibri"/>
                <a:cs typeface="Calibri"/>
              </a:rPr>
              <a:t>shared-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access</a:t>
            </a:r>
            <a:r>
              <a:rPr dirty="0" sz="2800" spc="1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medium</a:t>
            </a:r>
            <a:r>
              <a:rPr dirty="0" sz="2800" spc="1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1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not</a:t>
            </a:r>
            <a:r>
              <a:rPr dirty="0" sz="2800" spc="1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found</a:t>
            </a:r>
            <a:r>
              <a:rPr dirty="0" sz="2800" spc="1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1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traditional</a:t>
            </a:r>
            <a:r>
              <a:rPr dirty="0" sz="2800" spc="1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layer</a:t>
            </a:r>
            <a:r>
              <a:rPr dirty="0" sz="2800" spc="1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2</a:t>
            </a:r>
            <a:r>
              <a:rPr dirty="0" sz="2800" spc="114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data </a:t>
            </a:r>
            <a:r>
              <a:rPr dirty="0" sz="2800" spc="-2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link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control.</a:t>
            </a:r>
            <a:endParaRPr sz="2800">
              <a:latin typeface="Calibri"/>
              <a:cs typeface="Calibri"/>
            </a:endParaRPr>
          </a:p>
          <a:p>
            <a:pPr algn="just" lvl="1" marL="755015" marR="5715" indent="-285750">
              <a:lnSpc>
                <a:spcPct val="100000"/>
              </a:lnSpc>
              <a:spcBef>
                <a:spcPts val="67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800">
                <a:latin typeface="Calibri"/>
                <a:cs typeface="Calibri"/>
              </a:rPr>
              <a:t>For</a:t>
            </a:r>
            <a:r>
              <a:rPr dirty="0" sz="2800" spc="24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24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same</a:t>
            </a:r>
            <a:r>
              <a:rPr dirty="0" sz="2800" spc="24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LLC,</a:t>
            </a:r>
            <a:r>
              <a:rPr dirty="0" sz="2800" spc="24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several</a:t>
            </a:r>
            <a:r>
              <a:rPr dirty="0" sz="2800" spc="25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MAC</a:t>
            </a:r>
            <a:r>
              <a:rPr dirty="0" sz="2800" spc="24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options</a:t>
            </a:r>
            <a:r>
              <a:rPr dirty="0" sz="2800" spc="254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may</a:t>
            </a:r>
            <a:r>
              <a:rPr dirty="0" sz="2800" spc="245">
                <a:latin typeface="Calibri"/>
                <a:cs typeface="Calibri"/>
              </a:rPr>
              <a:t>  </a:t>
            </a:r>
            <a:r>
              <a:rPr dirty="0" sz="2800" spc="-25">
                <a:latin typeface="Calibri"/>
                <a:cs typeface="Calibri"/>
              </a:rPr>
              <a:t>be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provided.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8666" rIns="0" bIns="0" rtlCol="0" vert="horz">
            <a:spAutoFit/>
          </a:bodyPr>
          <a:lstStyle/>
          <a:p>
            <a:pPr marL="113664">
              <a:lnSpc>
                <a:spcPct val="100000"/>
              </a:lnSpc>
              <a:spcBef>
                <a:spcPts val="100"/>
              </a:spcBef>
            </a:pPr>
            <a:r>
              <a:rPr dirty="0" sz="3200" b="1" i="0">
                <a:latin typeface="Calibri"/>
                <a:cs typeface="Calibri"/>
              </a:rPr>
              <a:t>IEEE</a:t>
            </a:r>
            <a:r>
              <a:rPr dirty="0" sz="3200" spc="-30" b="1" i="0">
                <a:latin typeface="Calibri"/>
                <a:cs typeface="Calibri"/>
              </a:rPr>
              <a:t> </a:t>
            </a:r>
            <a:r>
              <a:rPr dirty="0" sz="3200" b="1" i="0">
                <a:latin typeface="Calibri"/>
                <a:cs typeface="Calibri"/>
              </a:rPr>
              <a:t>802</a:t>
            </a:r>
            <a:r>
              <a:rPr dirty="0" sz="3200" spc="-25" b="1" i="0">
                <a:latin typeface="Calibri"/>
                <a:cs typeface="Calibri"/>
              </a:rPr>
              <a:t> </a:t>
            </a:r>
            <a:r>
              <a:rPr dirty="0" sz="3200" spc="-10" b="1" i="0">
                <a:latin typeface="Calibri"/>
                <a:cs typeface="Calibri"/>
              </a:rPr>
              <a:t>ARCHITECTURE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078738"/>
            <a:ext cx="8303895" cy="42271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5600" marR="635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600" spc="-10">
                <a:latin typeface="Calibri"/>
                <a:cs typeface="Calibri"/>
              </a:rPr>
              <a:t>Higher-</a:t>
            </a:r>
            <a:r>
              <a:rPr dirty="0" sz="2600">
                <a:latin typeface="Calibri"/>
                <a:cs typeface="Calibri"/>
              </a:rPr>
              <a:t>level</a:t>
            </a:r>
            <a:r>
              <a:rPr dirty="0" sz="2600" spc="2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data</a:t>
            </a:r>
            <a:r>
              <a:rPr dirty="0" sz="2600" spc="20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are</a:t>
            </a:r>
            <a:r>
              <a:rPr dirty="0" sz="2600" spc="1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passed</a:t>
            </a:r>
            <a:r>
              <a:rPr dirty="0" sz="2600" spc="2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down</a:t>
            </a:r>
            <a:r>
              <a:rPr dirty="0" sz="2600" spc="20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2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LLC,</a:t>
            </a:r>
            <a:r>
              <a:rPr dirty="0" sz="2600" spc="1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which</a:t>
            </a:r>
            <a:r>
              <a:rPr dirty="0" sz="2600" spc="21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appends </a:t>
            </a:r>
            <a:r>
              <a:rPr dirty="0" sz="2600">
                <a:latin typeface="Calibri"/>
                <a:cs typeface="Calibri"/>
              </a:rPr>
              <a:t>control</a:t>
            </a:r>
            <a:r>
              <a:rPr dirty="0" sz="2600" spc="2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information</a:t>
            </a:r>
            <a:r>
              <a:rPr dirty="0" sz="2600" spc="25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as</a:t>
            </a:r>
            <a:r>
              <a:rPr dirty="0" sz="2600" spc="2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2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header,</a:t>
            </a:r>
            <a:r>
              <a:rPr dirty="0" sz="2600" spc="2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creating</a:t>
            </a:r>
            <a:r>
              <a:rPr dirty="0" sz="2600" spc="2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</a:t>
            </a:r>
            <a:r>
              <a:rPr dirty="0" sz="2600" spc="2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LLC</a:t>
            </a:r>
            <a:r>
              <a:rPr dirty="0" sz="2600" spc="24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protocol </a:t>
            </a:r>
            <a:r>
              <a:rPr dirty="0" sz="2600">
                <a:latin typeface="Calibri"/>
                <a:cs typeface="Calibri"/>
              </a:rPr>
              <a:t>data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unit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(PDU).</a:t>
            </a:r>
            <a:endParaRPr sz="2600">
              <a:latin typeface="Calibri"/>
              <a:cs typeface="Calibri"/>
            </a:endParaRPr>
          </a:p>
          <a:p>
            <a:pPr algn="just" marL="355600" marR="6350" indent="-342900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600">
                <a:latin typeface="Calibri"/>
                <a:cs typeface="Calibri"/>
              </a:rPr>
              <a:t>This</a:t>
            </a:r>
            <a:r>
              <a:rPr dirty="0" sz="2600" spc="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control</a:t>
            </a:r>
            <a:r>
              <a:rPr dirty="0" sz="2600" spc="1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information</a:t>
            </a:r>
            <a:r>
              <a:rPr dirty="0" sz="2600" spc="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used</a:t>
            </a:r>
            <a:r>
              <a:rPr dirty="0" sz="2600" spc="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 operation</a:t>
            </a:r>
            <a:r>
              <a:rPr dirty="0" sz="2600" spc="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 </a:t>
            </a:r>
            <a:r>
              <a:rPr dirty="0" sz="2600" spc="-25">
                <a:latin typeface="Calibri"/>
                <a:cs typeface="Calibri"/>
              </a:rPr>
              <a:t>LLC </a:t>
            </a:r>
            <a:r>
              <a:rPr dirty="0" sz="2600" spc="-10">
                <a:latin typeface="Calibri"/>
                <a:cs typeface="Calibri"/>
              </a:rPr>
              <a:t>protocol.</a:t>
            </a:r>
            <a:endParaRPr sz="2600">
              <a:latin typeface="Calibri"/>
              <a:cs typeface="Calibri"/>
            </a:endParaRPr>
          </a:p>
          <a:p>
            <a:pPr algn="just" marL="355600" marR="8255" indent="-342900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entire</a:t>
            </a:r>
            <a:r>
              <a:rPr dirty="0" sz="2600" spc="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LLC</a:t>
            </a:r>
            <a:r>
              <a:rPr dirty="0" sz="2600" spc="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PDU</a:t>
            </a:r>
            <a:r>
              <a:rPr dirty="0" sz="2600" spc="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1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then</a:t>
            </a:r>
            <a:r>
              <a:rPr dirty="0" sz="2600" spc="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passed</a:t>
            </a:r>
            <a:r>
              <a:rPr dirty="0" sz="2600" spc="1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down</a:t>
            </a:r>
            <a:r>
              <a:rPr dirty="0" sz="2600" spc="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10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1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MAC</a:t>
            </a:r>
            <a:r>
              <a:rPr dirty="0" sz="2600" spc="9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layer, </a:t>
            </a:r>
            <a:r>
              <a:rPr dirty="0" sz="2600">
                <a:latin typeface="Calibri"/>
                <a:cs typeface="Calibri"/>
              </a:rPr>
              <a:t>which</a:t>
            </a:r>
            <a:r>
              <a:rPr dirty="0" sz="2600" spc="2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appends</a:t>
            </a:r>
            <a:r>
              <a:rPr dirty="0" sz="2600" spc="2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control</a:t>
            </a:r>
            <a:r>
              <a:rPr dirty="0" sz="2600" spc="2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information</a:t>
            </a:r>
            <a:r>
              <a:rPr dirty="0" sz="2600" spc="2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at</a:t>
            </a:r>
            <a:r>
              <a:rPr dirty="0" sz="2600" spc="2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2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front</a:t>
            </a:r>
            <a:r>
              <a:rPr dirty="0" sz="2600" spc="2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254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back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packet,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forming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MAC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frame.</a:t>
            </a:r>
            <a:endParaRPr sz="2600">
              <a:latin typeface="Calibri"/>
              <a:cs typeface="Calibri"/>
            </a:endParaRPr>
          </a:p>
          <a:p>
            <a:pPr algn="just" marL="355600" marR="5080" indent="-342900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5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control</a:t>
            </a:r>
            <a:r>
              <a:rPr dirty="0" sz="2600" spc="5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information</a:t>
            </a:r>
            <a:r>
              <a:rPr dirty="0" sz="2600" spc="5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5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5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frame</a:t>
            </a:r>
            <a:r>
              <a:rPr dirty="0" sz="2600" spc="5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5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needed</a:t>
            </a:r>
            <a:r>
              <a:rPr dirty="0" sz="2600" spc="5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56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the </a:t>
            </a:r>
            <a:r>
              <a:rPr dirty="0" sz="2600">
                <a:latin typeface="Calibri"/>
                <a:cs typeface="Calibri"/>
              </a:rPr>
              <a:t>operation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MAC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protocol.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8666" rIns="0" bIns="0" rtlCol="0" vert="horz">
            <a:spAutoFit/>
          </a:bodyPr>
          <a:lstStyle/>
          <a:p>
            <a:pPr marL="113664">
              <a:lnSpc>
                <a:spcPct val="100000"/>
              </a:lnSpc>
              <a:spcBef>
                <a:spcPts val="100"/>
              </a:spcBef>
            </a:pPr>
            <a:r>
              <a:rPr dirty="0" sz="3200" b="1" i="0">
                <a:latin typeface="Calibri"/>
                <a:cs typeface="Calibri"/>
              </a:rPr>
              <a:t>IEEE</a:t>
            </a:r>
            <a:r>
              <a:rPr dirty="0" sz="3200" spc="-30" b="1" i="0">
                <a:latin typeface="Calibri"/>
                <a:cs typeface="Calibri"/>
              </a:rPr>
              <a:t> </a:t>
            </a:r>
            <a:r>
              <a:rPr dirty="0" sz="3200" b="1" i="0">
                <a:latin typeface="Calibri"/>
                <a:cs typeface="Calibri"/>
              </a:rPr>
              <a:t>802</a:t>
            </a:r>
            <a:r>
              <a:rPr dirty="0" sz="3200" spc="-25" b="1" i="0">
                <a:latin typeface="Calibri"/>
                <a:cs typeface="Calibri"/>
              </a:rPr>
              <a:t> </a:t>
            </a:r>
            <a:r>
              <a:rPr dirty="0" sz="3200" spc="-10" b="1" i="0">
                <a:latin typeface="Calibri"/>
                <a:cs typeface="Calibri"/>
              </a:rPr>
              <a:t>ARCHITECTURE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7858" y="815085"/>
            <a:ext cx="8728075" cy="5183505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355600" marR="6350" indent="-343535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400">
                <a:latin typeface="Calibri"/>
                <a:cs typeface="Calibri"/>
              </a:rPr>
              <a:t>IEEE</a:t>
            </a:r>
            <a:r>
              <a:rPr dirty="0" sz="2400" spc="2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has</a:t>
            </a:r>
            <a:r>
              <a:rPr dirty="0" sz="2400" spc="204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defined</a:t>
            </a:r>
            <a:r>
              <a:rPr dirty="0" sz="2400" spc="2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2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specifications</a:t>
            </a:r>
            <a:r>
              <a:rPr dirty="0" sz="2400" spc="1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204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2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wireless</a:t>
            </a:r>
            <a:r>
              <a:rPr dirty="0" sz="2400" spc="204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LAN,</a:t>
            </a:r>
            <a:r>
              <a:rPr dirty="0" sz="2400" spc="2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called</a:t>
            </a:r>
            <a:r>
              <a:rPr dirty="0" sz="2400" spc="21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IEEE </a:t>
            </a:r>
            <a:r>
              <a:rPr dirty="0" sz="2400">
                <a:latin typeface="Calibri"/>
                <a:cs typeface="Calibri"/>
              </a:rPr>
              <a:t>802.11,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which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covers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physical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data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link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layers.</a:t>
            </a:r>
            <a:endParaRPr sz="2400">
              <a:latin typeface="Calibri"/>
              <a:cs typeface="Calibri"/>
            </a:endParaRPr>
          </a:p>
          <a:p>
            <a:pPr marL="356235" indent="-343535">
              <a:lnSpc>
                <a:spcPct val="100000"/>
              </a:lnSpc>
              <a:spcBef>
                <a:spcPts val="270"/>
              </a:spcBef>
              <a:buFont typeface="Arial MT"/>
              <a:buChar char="•"/>
              <a:tabLst>
                <a:tab pos="356235" algn="l"/>
              </a:tabLst>
            </a:pPr>
            <a:r>
              <a:rPr dirty="0" sz="2600" b="1" i="1">
                <a:latin typeface="Calibri"/>
                <a:cs typeface="Calibri"/>
              </a:rPr>
              <a:t>Basic</a:t>
            </a:r>
            <a:r>
              <a:rPr dirty="0" sz="2600" spc="-45" b="1" i="1">
                <a:latin typeface="Calibri"/>
                <a:cs typeface="Calibri"/>
              </a:rPr>
              <a:t> </a:t>
            </a:r>
            <a:r>
              <a:rPr dirty="0" sz="2600" b="1" i="1">
                <a:latin typeface="Calibri"/>
                <a:cs typeface="Calibri"/>
              </a:rPr>
              <a:t>Service</a:t>
            </a:r>
            <a:r>
              <a:rPr dirty="0" sz="2600" spc="-40" b="1" i="1">
                <a:latin typeface="Calibri"/>
                <a:cs typeface="Calibri"/>
              </a:rPr>
              <a:t> </a:t>
            </a:r>
            <a:r>
              <a:rPr dirty="0" sz="2600" spc="-25" b="1" i="1">
                <a:latin typeface="Calibri"/>
                <a:cs typeface="Calibri"/>
              </a:rPr>
              <a:t>Set</a:t>
            </a:r>
            <a:endParaRPr sz="2600">
              <a:latin typeface="Calibri"/>
              <a:cs typeface="Calibri"/>
            </a:endParaRPr>
          </a:p>
          <a:p>
            <a:pPr lvl="1" marL="756285" indent="-286385">
              <a:lnSpc>
                <a:spcPts val="2510"/>
              </a:lnSpc>
              <a:spcBef>
                <a:spcPts val="29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200">
                <a:latin typeface="Calibri"/>
                <a:cs typeface="Calibri"/>
              </a:rPr>
              <a:t>IEEE</a:t>
            </a:r>
            <a:r>
              <a:rPr dirty="0" sz="2200" spc="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802.11</a:t>
            </a:r>
            <a:r>
              <a:rPr dirty="0" sz="2200" spc="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defines</a:t>
            </a:r>
            <a:r>
              <a:rPr dirty="0" sz="2200" spc="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basic</a:t>
            </a:r>
            <a:r>
              <a:rPr dirty="0" sz="2200" spc="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service</a:t>
            </a:r>
            <a:r>
              <a:rPr dirty="0" sz="2200" spc="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set</a:t>
            </a:r>
            <a:r>
              <a:rPr dirty="0" sz="2200" spc="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(BSS)</a:t>
            </a:r>
            <a:r>
              <a:rPr dirty="0" sz="2200" spc="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</a:t>
            </a:r>
            <a:r>
              <a:rPr dirty="0" sz="2200" spc="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building</a:t>
            </a:r>
            <a:r>
              <a:rPr dirty="0" sz="2200" spc="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block</a:t>
            </a:r>
            <a:r>
              <a:rPr dirty="0" sz="2200" spc="1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of</a:t>
            </a:r>
            <a:endParaRPr sz="2200">
              <a:latin typeface="Calibri"/>
              <a:cs typeface="Calibri"/>
            </a:endParaRPr>
          </a:p>
          <a:p>
            <a:pPr marL="756285">
              <a:lnSpc>
                <a:spcPts val="2510"/>
              </a:lnSpc>
            </a:pP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wireless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LAN.</a:t>
            </a:r>
            <a:endParaRPr sz="2200">
              <a:latin typeface="Calibri"/>
              <a:cs typeface="Calibri"/>
            </a:endParaRPr>
          </a:p>
          <a:p>
            <a:pPr lvl="1" marL="756285" marR="6350" indent="-287020">
              <a:lnSpc>
                <a:spcPts val="2380"/>
              </a:lnSpc>
              <a:spcBef>
                <a:spcPts val="56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2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basic</a:t>
            </a:r>
            <a:r>
              <a:rPr dirty="0" sz="2200" spc="2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service</a:t>
            </a:r>
            <a:r>
              <a:rPr dirty="0" sz="2200" spc="2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set</a:t>
            </a:r>
            <a:r>
              <a:rPr dirty="0" sz="2200" spc="229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2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made</a:t>
            </a:r>
            <a:r>
              <a:rPr dirty="0" sz="2200" spc="2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229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stationary</a:t>
            </a:r>
            <a:r>
              <a:rPr dirty="0" sz="2200" spc="2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or</a:t>
            </a:r>
            <a:r>
              <a:rPr dirty="0" sz="2200" spc="2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mobile</a:t>
            </a:r>
            <a:r>
              <a:rPr dirty="0" sz="2200" spc="2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wireless</a:t>
            </a:r>
            <a:r>
              <a:rPr dirty="0" sz="2200" spc="229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stations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optional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central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base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station,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known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access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point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(AP).</a:t>
            </a:r>
            <a:endParaRPr sz="2200">
              <a:latin typeface="Calibri"/>
              <a:cs typeface="Calibri"/>
            </a:endParaRPr>
          </a:p>
          <a:p>
            <a:pPr lvl="1" marL="756285" indent="-286385">
              <a:lnSpc>
                <a:spcPts val="2510"/>
              </a:lnSpc>
              <a:spcBef>
                <a:spcPts val="22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200">
                <a:latin typeface="Calibri"/>
                <a:cs typeface="Calibri"/>
              </a:rPr>
              <a:t>The BSS</a:t>
            </a:r>
            <a:r>
              <a:rPr dirty="0" sz="2200" spc="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without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</a:t>
            </a:r>
            <a:r>
              <a:rPr dirty="0" sz="2200" spc="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AP</a:t>
            </a:r>
            <a:r>
              <a:rPr dirty="0" sz="2200" spc="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 </a:t>
            </a:r>
            <a:r>
              <a:rPr dirty="0" sz="2200" spc="-20">
                <a:latin typeface="Calibri"/>
                <a:cs typeface="Calibri"/>
              </a:rPr>
              <a:t>stand-</a:t>
            </a:r>
            <a:r>
              <a:rPr dirty="0" sz="2200">
                <a:latin typeface="Calibri"/>
                <a:cs typeface="Calibri"/>
              </a:rPr>
              <a:t>alone network</a:t>
            </a:r>
            <a:r>
              <a:rPr dirty="0" sz="2200" spc="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cannot</a:t>
            </a:r>
            <a:r>
              <a:rPr dirty="0" sz="2200" spc="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send</a:t>
            </a:r>
            <a:r>
              <a:rPr dirty="0" sz="2200" spc="1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data</a:t>
            </a:r>
            <a:endParaRPr sz="2200">
              <a:latin typeface="Calibri"/>
              <a:cs typeface="Calibri"/>
            </a:endParaRPr>
          </a:p>
          <a:p>
            <a:pPr marL="756285">
              <a:lnSpc>
                <a:spcPts val="2510"/>
              </a:lnSpc>
            </a:pP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other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BSSs.</a:t>
            </a:r>
            <a:endParaRPr sz="2200">
              <a:latin typeface="Calibri"/>
              <a:cs typeface="Calibri"/>
            </a:endParaRPr>
          </a:p>
          <a:p>
            <a:pPr lvl="1" marL="756285" marR="7620" indent="-287020">
              <a:lnSpc>
                <a:spcPts val="2380"/>
              </a:lnSpc>
              <a:spcBef>
                <a:spcPts val="56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200">
                <a:latin typeface="Calibri"/>
                <a:cs typeface="Calibri"/>
              </a:rPr>
              <a:t>It</a:t>
            </a:r>
            <a:r>
              <a:rPr dirty="0" sz="2200" spc="3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3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called</a:t>
            </a:r>
            <a:r>
              <a:rPr dirty="0" sz="2200" spc="3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</a:t>
            </a:r>
            <a:r>
              <a:rPr dirty="0" sz="2200" spc="320">
                <a:latin typeface="Calibri"/>
                <a:cs typeface="Calibri"/>
              </a:rPr>
              <a:t> </a:t>
            </a:r>
            <a:r>
              <a:rPr dirty="0" sz="2200" i="1">
                <a:latin typeface="Calibri"/>
                <a:cs typeface="Calibri"/>
              </a:rPr>
              <a:t>ad</a:t>
            </a:r>
            <a:r>
              <a:rPr dirty="0" sz="2200" spc="315" i="1">
                <a:latin typeface="Calibri"/>
                <a:cs typeface="Calibri"/>
              </a:rPr>
              <a:t> </a:t>
            </a:r>
            <a:r>
              <a:rPr dirty="0" sz="2200" i="1">
                <a:latin typeface="Calibri"/>
                <a:cs typeface="Calibri"/>
              </a:rPr>
              <a:t>hoc</a:t>
            </a:r>
            <a:r>
              <a:rPr dirty="0" sz="2200" spc="315" i="1">
                <a:latin typeface="Calibri"/>
                <a:cs typeface="Calibri"/>
              </a:rPr>
              <a:t> </a:t>
            </a:r>
            <a:r>
              <a:rPr dirty="0" sz="2200" i="1">
                <a:latin typeface="Calibri"/>
                <a:cs typeface="Calibri"/>
              </a:rPr>
              <a:t>architecture.</a:t>
            </a:r>
            <a:r>
              <a:rPr dirty="0" sz="2200" spc="315" i="1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3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this</a:t>
            </a:r>
            <a:r>
              <a:rPr dirty="0" sz="2200" spc="3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architecture,</a:t>
            </a:r>
            <a:r>
              <a:rPr dirty="0" sz="2200" spc="3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stations</a:t>
            </a:r>
            <a:r>
              <a:rPr dirty="0" sz="2200" spc="32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can </a:t>
            </a:r>
            <a:r>
              <a:rPr dirty="0" sz="2200">
                <a:latin typeface="Calibri"/>
                <a:cs typeface="Calibri"/>
              </a:rPr>
              <a:t>form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network</a:t>
            </a:r>
            <a:endParaRPr sz="2200">
              <a:latin typeface="Calibri"/>
              <a:cs typeface="Calibri"/>
            </a:endParaRPr>
          </a:p>
          <a:p>
            <a:pPr lvl="1" marL="756285" indent="-286385">
              <a:lnSpc>
                <a:spcPts val="2510"/>
              </a:lnSpc>
              <a:spcBef>
                <a:spcPts val="22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200">
                <a:latin typeface="Calibri"/>
                <a:cs typeface="Calibri"/>
              </a:rPr>
              <a:t>without</a:t>
            </a:r>
            <a:r>
              <a:rPr dirty="0" sz="2200" spc="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8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need</a:t>
            </a:r>
            <a:r>
              <a:rPr dirty="0" sz="2200" spc="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7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</a:t>
            </a:r>
            <a:r>
              <a:rPr dirty="0" sz="2200" spc="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AP;</a:t>
            </a:r>
            <a:r>
              <a:rPr dirty="0" sz="2200" spc="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they</a:t>
            </a:r>
            <a:r>
              <a:rPr dirty="0" sz="2200" spc="7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can</a:t>
            </a:r>
            <a:r>
              <a:rPr dirty="0" sz="2200" spc="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locate</a:t>
            </a:r>
            <a:r>
              <a:rPr dirty="0" sz="2200" spc="7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one</a:t>
            </a:r>
            <a:r>
              <a:rPr dirty="0" sz="2200" spc="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another</a:t>
            </a:r>
            <a:r>
              <a:rPr dirty="0" sz="2200" spc="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agree</a:t>
            </a:r>
            <a:r>
              <a:rPr dirty="0" sz="2200" spc="7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to</a:t>
            </a:r>
            <a:endParaRPr sz="2200">
              <a:latin typeface="Calibri"/>
              <a:cs typeface="Calibri"/>
            </a:endParaRPr>
          </a:p>
          <a:p>
            <a:pPr marL="756285">
              <a:lnSpc>
                <a:spcPts val="2510"/>
              </a:lnSpc>
            </a:pP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part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BSS.</a:t>
            </a:r>
            <a:endParaRPr sz="2200">
              <a:latin typeface="Calibri"/>
              <a:cs typeface="Calibri"/>
            </a:endParaRPr>
          </a:p>
          <a:p>
            <a:pPr lvl="1" marL="756285" indent="-286385">
              <a:lnSpc>
                <a:spcPts val="2510"/>
              </a:lnSpc>
              <a:spcBef>
                <a:spcPts val="26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65">
                <a:latin typeface="Calibri"/>
                <a:cs typeface="Calibri"/>
              </a:rPr>
              <a:t>  </a:t>
            </a:r>
            <a:r>
              <a:rPr dirty="0" sz="2200">
                <a:latin typeface="Calibri"/>
                <a:cs typeface="Calibri"/>
              </a:rPr>
              <a:t>BSS</a:t>
            </a:r>
            <a:r>
              <a:rPr dirty="0" sz="2200" spc="70">
                <a:latin typeface="Calibri"/>
                <a:cs typeface="Calibri"/>
              </a:rPr>
              <a:t>  </a:t>
            </a:r>
            <a:r>
              <a:rPr dirty="0" sz="2200">
                <a:latin typeface="Calibri"/>
                <a:cs typeface="Calibri"/>
              </a:rPr>
              <a:t>with</a:t>
            </a:r>
            <a:r>
              <a:rPr dirty="0" sz="2200" spc="75">
                <a:latin typeface="Calibri"/>
                <a:cs typeface="Calibri"/>
              </a:rPr>
              <a:t>  </a:t>
            </a:r>
            <a:r>
              <a:rPr dirty="0" sz="2200">
                <a:latin typeface="Calibri"/>
                <a:cs typeface="Calibri"/>
              </a:rPr>
              <a:t>an</a:t>
            </a:r>
            <a:r>
              <a:rPr dirty="0" sz="2200" spc="65">
                <a:latin typeface="Calibri"/>
                <a:cs typeface="Calibri"/>
              </a:rPr>
              <a:t>  </a:t>
            </a:r>
            <a:r>
              <a:rPr dirty="0" sz="2200">
                <a:latin typeface="Calibri"/>
                <a:cs typeface="Calibri"/>
              </a:rPr>
              <a:t>AP</a:t>
            </a:r>
            <a:r>
              <a:rPr dirty="0" sz="2200" spc="65">
                <a:latin typeface="Calibri"/>
                <a:cs typeface="Calibri"/>
              </a:rPr>
              <a:t> 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70">
                <a:latin typeface="Calibri"/>
                <a:cs typeface="Calibri"/>
              </a:rPr>
              <a:t>  </a:t>
            </a:r>
            <a:r>
              <a:rPr dirty="0" sz="2200">
                <a:latin typeface="Calibri"/>
                <a:cs typeface="Calibri"/>
              </a:rPr>
              <a:t>sometimes</a:t>
            </a:r>
            <a:r>
              <a:rPr dirty="0" sz="2200" spc="75">
                <a:latin typeface="Calibri"/>
                <a:cs typeface="Calibri"/>
              </a:rPr>
              <a:t>  </a:t>
            </a:r>
            <a:r>
              <a:rPr dirty="0" sz="2200">
                <a:latin typeface="Calibri"/>
                <a:cs typeface="Calibri"/>
              </a:rPr>
              <a:t>referred</a:t>
            </a:r>
            <a:r>
              <a:rPr dirty="0" sz="2200" spc="60">
                <a:latin typeface="Calibri"/>
                <a:cs typeface="Calibri"/>
              </a:rPr>
              <a:t> 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75">
                <a:latin typeface="Calibri"/>
                <a:cs typeface="Calibri"/>
              </a:rPr>
              <a:t>  </a:t>
            </a:r>
            <a:r>
              <a:rPr dirty="0" sz="2200">
                <a:latin typeface="Calibri"/>
                <a:cs typeface="Calibri"/>
              </a:rPr>
              <a:t>as</a:t>
            </a:r>
            <a:r>
              <a:rPr dirty="0" sz="2200" spc="75">
                <a:latin typeface="Calibri"/>
                <a:cs typeface="Calibri"/>
              </a:rPr>
              <a:t>  </a:t>
            </a:r>
            <a:r>
              <a:rPr dirty="0" sz="2200">
                <a:latin typeface="Calibri"/>
                <a:cs typeface="Calibri"/>
              </a:rPr>
              <a:t>an</a:t>
            </a:r>
            <a:r>
              <a:rPr dirty="0" sz="2200" spc="65">
                <a:latin typeface="Calibri"/>
                <a:cs typeface="Calibri"/>
              </a:rPr>
              <a:t>  </a:t>
            </a:r>
            <a:r>
              <a:rPr dirty="0" sz="2200" spc="-10" i="1">
                <a:latin typeface="Calibri"/>
                <a:cs typeface="Calibri"/>
              </a:rPr>
              <a:t>infrastructure</a:t>
            </a:r>
            <a:endParaRPr sz="2200">
              <a:latin typeface="Calibri"/>
              <a:cs typeface="Calibri"/>
            </a:endParaRPr>
          </a:p>
          <a:p>
            <a:pPr marL="756285">
              <a:lnSpc>
                <a:spcPts val="2510"/>
              </a:lnSpc>
            </a:pPr>
            <a:r>
              <a:rPr dirty="0" sz="2200" spc="-10">
                <a:latin typeface="Calibri"/>
                <a:cs typeface="Calibri"/>
              </a:rPr>
              <a:t>network.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8739" y="60147"/>
            <a:ext cx="4608830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0">
                <a:latin typeface="Calibri"/>
                <a:cs typeface="Calibri"/>
              </a:rPr>
              <a:t>IEEE</a:t>
            </a:r>
            <a:r>
              <a:rPr dirty="0" sz="3200" spc="-15" b="1" i="0">
                <a:latin typeface="Calibri"/>
                <a:cs typeface="Calibri"/>
              </a:rPr>
              <a:t> </a:t>
            </a:r>
            <a:r>
              <a:rPr dirty="0" sz="3200" b="1" i="0">
                <a:latin typeface="Calibri"/>
                <a:cs typeface="Calibri"/>
              </a:rPr>
              <a:t>802.11</a:t>
            </a:r>
            <a:r>
              <a:rPr dirty="0" sz="3200" spc="-15" b="1" i="0">
                <a:latin typeface="Calibri"/>
                <a:cs typeface="Calibri"/>
              </a:rPr>
              <a:t> </a:t>
            </a:r>
            <a:r>
              <a:rPr dirty="0" sz="3200" spc="-10" b="1" i="0">
                <a:latin typeface="Calibri"/>
                <a:cs typeface="Calibri"/>
              </a:rPr>
              <a:t>ARCHITECTURE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7858" y="848613"/>
            <a:ext cx="279082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330" indent="-34163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330" algn="l"/>
              </a:tabLst>
            </a:pPr>
            <a:r>
              <a:rPr dirty="0" sz="2800" b="1" i="1">
                <a:latin typeface="Calibri"/>
                <a:cs typeface="Calibri"/>
              </a:rPr>
              <a:t>Basic</a:t>
            </a:r>
            <a:r>
              <a:rPr dirty="0" sz="2800" spc="-85" b="1" i="1">
                <a:latin typeface="Calibri"/>
                <a:cs typeface="Calibri"/>
              </a:rPr>
              <a:t> </a:t>
            </a:r>
            <a:r>
              <a:rPr dirty="0" sz="2800" b="1" i="1">
                <a:latin typeface="Calibri"/>
                <a:cs typeface="Calibri"/>
              </a:rPr>
              <a:t>Service</a:t>
            </a:r>
            <a:r>
              <a:rPr dirty="0" sz="2800" spc="-55" b="1" i="1">
                <a:latin typeface="Calibri"/>
                <a:cs typeface="Calibri"/>
              </a:rPr>
              <a:t> </a:t>
            </a:r>
            <a:r>
              <a:rPr dirty="0" sz="2800" spc="-25" b="1" i="1">
                <a:latin typeface="Calibri"/>
                <a:cs typeface="Calibri"/>
              </a:rPr>
              <a:t>Set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8739" y="60147"/>
            <a:ext cx="4608830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0">
                <a:latin typeface="Calibri"/>
                <a:cs typeface="Calibri"/>
              </a:rPr>
              <a:t>IEEE</a:t>
            </a:r>
            <a:r>
              <a:rPr dirty="0" sz="3200" spc="-15" b="1" i="0">
                <a:latin typeface="Calibri"/>
                <a:cs typeface="Calibri"/>
              </a:rPr>
              <a:t> </a:t>
            </a:r>
            <a:r>
              <a:rPr dirty="0" sz="3200" b="1" i="0">
                <a:latin typeface="Calibri"/>
                <a:cs typeface="Calibri"/>
              </a:rPr>
              <a:t>802.11</a:t>
            </a:r>
            <a:r>
              <a:rPr dirty="0" sz="3200" spc="-15" b="1" i="0">
                <a:latin typeface="Calibri"/>
                <a:cs typeface="Calibri"/>
              </a:rPr>
              <a:t> </a:t>
            </a:r>
            <a:r>
              <a:rPr dirty="0" sz="3200" spc="-10" b="1" i="0">
                <a:latin typeface="Calibri"/>
                <a:cs typeface="Calibri"/>
              </a:rPr>
              <a:t>ARCHITECTURE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9329" y="1643629"/>
            <a:ext cx="8078159" cy="311896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7858" y="759130"/>
            <a:ext cx="8728075" cy="4935220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 marL="354330" indent="-341630">
              <a:lnSpc>
                <a:spcPct val="100000"/>
              </a:lnSpc>
              <a:spcBef>
                <a:spcPts val="800"/>
              </a:spcBef>
              <a:buFont typeface="Arial MT"/>
              <a:buChar char="•"/>
              <a:tabLst>
                <a:tab pos="354330" algn="l"/>
              </a:tabLst>
            </a:pPr>
            <a:r>
              <a:rPr dirty="0" sz="2800" i="1">
                <a:latin typeface="Calibri"/>
                <a:cs typeface="Calibri"/>
              </a:rPr>
              <a:t>Extended</a:t>
            </a:r>
            <a:r>
              <a:rPr dirty="0" sz="2800" spc="-95" i="1">
                <a:latin typeface="Calibri"/>
                <a:cs typeface="Calibri"/>
              </a:rPr>
              <a:t> </a:t>
            </a:r>
            <a:r>
              <a:rPr dirty="0" sz="2800" i="1">
                <a:latin typeface="Calibri"/>
                <a:cs typeface="Calibri"/>
              </a:rPr>
              <a:t>Service</a:t>
            </a:r>
            <a:r>
              <a:rPr dirty="0" sz="2800" spc="-80" i="1">
                <a:latin typeface="Calibri"/>
                <a:cs typeface="Calibri"/>
              </a:rPr>
              <a:t> </a:t>
            </a:r>
            <a:r>
              <a:rPr dirty="0" sz="2800" spc="-25" i="1">
                <a:latin typeface="Calibri"/>
                <a:cs typeface="Calibri"/>
              </a:rPr>
              <a:t>Set</a:t>
            </a:r>
            <a:endParaRPr sz="2800">
              <a:latin typeface="Calibri"/>
              <a:cs typeface="Calibri"/>
            </a:endParaRPr>
          </a:p>
          <a:p>
            <a:pPr algn="just" lvl="1" marL="754380" marR="5080" indent="-285115">
              <a:lnSpc>
                <a:spcPct val="100000"/>
              </a:lnSpc>
              <a:spcBef>
                <a:spcPts val="60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400">
                <a:latin typeface="Calibri"/>
                <a:cs typeface="Calibri"/>
              </a:rPr>
              <a:t>An</a:t>
            </a:r>
            <a:r>
              <a:rPr dirty="0" sz="2400" spc="1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extended</a:t>
            </a:r>
            <a:r>
              <a:rPr dirty="0" sz="2400" spc="1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service</a:t>
            </a:r>
            <a:r>
              <a:rPr dirty="0" sz="2400" spc="1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set</a:t>
            </a:r>
            <a:r>
              <a:rPr dirty="0" sz="2400" spc="1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(ESS)</a:t>
            </a:r>
            <a:r>
              <a:rPr dirty="0" sz="2400" spc="1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1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made</a:t>
            </a:r>
            <a:r>
              <a:rPr dirty="0" sz="2400" spc="1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up</a:t>
            </a:r>
            <a:r>
              <a:rPr dirty="0" sz="2400" spc="1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1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two</a:t>
            </a:r>
            <a:r>
              <a:rPr dirty="0" sz="2400" spc="1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or</a:t>
            </a:r>
            <a:r>
              <a:rPr dirty="0" sz="2400" spc="1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more</a:t>
            </a:r>
            <a:r>
              <a:rPr dirty="0" sz="2400" spc="18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BSSs </a:t>
            </a:r>
            <a:r>
              <a:rPr dirty="0" sz="2400" spc="-2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with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APs.</a:t>
            </a:r>
            <a:endParaRPr sz="2400">
              <a:latin typeface="Calibri"/>
              <a:cs typeface="Calibri"/>
            </a:endParaRPr>
          </a:p>
          <a:p>
            <a:pPr algn="just" lvl="1" marL="754380" marR="5080" indent="-285115">
              <a:lnSpc>
                <a:spcPct val="100000"/>
              </a:lnSpc>
              <a:spcBef>
                <a:spcPts val="57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1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BSSs</a:t>
            </a:r>
            <a:r>
              <a:rPr dirty="0" sz="2400" spc="1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are</a:t>
            </a:r>
            <a:r>
              <a:rPr dirty="0" sz="2400" spc="1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connected</a:t>
            </a:r>
            <a:r>
              <a:rPr dirty="0" sz="2400" spc="1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through</a:t>
            </a:r>
            <a:r>
              <a:rPr dirty="0" sz="2400" spc="1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145">
                <a:latin typeface="Calibri"/>
                <a:cs typeface="Calibri"/>
              </a:rPr>
              <a:t> </a:t>
            </a:r>
            <a:r>
              <a:rPr dirty="0" sz="2400" i="1">
                <a:latin typeface="Calibri"/>
                <a:cs typeface="Calibri"/>
              </a:rPr>
              <a:t>distribution</a:t>
            </a:r>
            <a:r>
              <a:rPr dirty="0" sz="2400" spc="160" i="1">
                <a:latin typeface="Calibri"/>
                <a:cs typeface="Calibri"/>
              </a:rPr>
              <a:t> </a:t>
            </a:r>
            <a:r>
              <a:rPr dirty="0" sz="2400" i="1">
                <a:latin typeface="Calibri"/>
                <a:cs typeface="Calibri"/>
              </a:rPr>
              <a:t>system,</a:t>
            </a:r>
            <a:r>
              <a:rPr dirty="0" sz="2400" spc="155" i="1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which</a:t>
            </a:r>
            <a:r>
              <a:rPr dirty="0" sz="2400" spc="15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is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usually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wired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LAN.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distribution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system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connects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APs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in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BSSs.</a:t>
            </a:r>
            <a:endParaRPr sz="2400">
              <a:latin typeface="Calibri"/>
              <a:cs typeface="Calibri"/>
            </a:endParaRPr>
          </a:p>
          <a:p>
            <a:pPr lvl="1" marL="755015" indent="-285115">
              <a:lnSpc>
                <a:spcPct val="100000"/>
              </a:lnSpc>
              <a:spcBef>
                <a:spcPts val="580"/>
              </a:spcBef>
              <a:buFont typeface="Arial MT"/>
              <a:buChar char="–"/>
              <a:tabLst>
                <a:tab pos="755015" algn="l"/>
              </a:tabLst>
            </a:pPr>
            <a:r>
              <a:rPr dirty="0" sz="2400">
                <a:latin typeface="Calibri"/>
                <a:cs typeface="Calibri"/>
              </a:rPr>
              <a:t>IEEE</a:t>
            </a:r>
            <a:r>
              <a:rPr dirty="0" sz="2400" spc="1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802.11</a:t>
            </a:r>
            <a:r>
              <a:rPr dirty="0" sz="2400" spc="1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does</a:t>
            </a:r>
            <a:r>
              <a:rPr dirty="0" sz="2400" spc="1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not</a:t>
            </a:r>
            <a:r>
              <a:rPr dirty="0" sz="2400" spc="1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restrict</a:t>
            </a:r>
            <a:r>
              <a:rPr dirty="0" sz="2400" spc="1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1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distribution</a:t>
            </a:r>
            <a:r>
              <a:rPr dirty="0" sz="2400" spc="1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system;</a:t>
            </a:r>
            <a:r>
              <a:rPr dirty="0" sz="2400" spc="1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it</a:t>
            </a:r>
            <a:r>
              <a:rPr dirty="0" sz="2400" spc="1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can</a:t>
            </a:r>
            <a:r>
              <a:rPr dirty="0" sz="2400" spc="17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be</a:t>
            </a:r>
            <a:endParaRPr sz="2400">
              <a:latin typeface="Calibri"/>
              <a:cs typeface="Calibri"/>
            </a:endParaRPr>
          </a:p>
          <a:p>
            <a:pPr marL="756285">
              <a:lnSpc>
                <a:spcPct val="100000"/>
              </a:lnSpc>
            </a:pPr>
            <a:r>
              <a:rPr dirty="0" sz="2400">
                <a:latin typeface="Calibri"/>
                <a:cs typeface="Calibri"/>
              </a:rPr>
              <a:t>any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IEEE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LAN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such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Ethernet.</a:t>
            </a:r>
            <a:endParaRPr sz="2400">
              <a:latin typeface="Calibri"/>
              <a:cs typeface="Calibri"/>
            </a:endParaRPr>
          </a:p>
          <a:p>
            <a:pPr lvl="1" marL="754380" marR="5715" indent="-285115">
              <a:lnSpc>
                <a:spcPct val="100000"/>
              </a:lnSpc>
              <a:spcBef>
                <a:spcPts val="57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400">
                <a:latin typeface="Calibri"/>
                <a:cs typeface="Calibri"/>
              </a:rPr>
              <a:t>Note</a:t>
            </a:r>
            <a:r>
              <a:rPr dirty="0" sz="2400" spc="2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that</a:t>
            </a:r>
            <a:r>
              <a:rPr dirty="0" sz="2400" spc="2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2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extended</a:t>
            </a:r>
            <a:r>
              <a:rPr dirty="0" sz="2400" spc="2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service</a:t>
            </a:r>
            <a:r>
              <a:rPr dirty="0" sz="2400" spc="2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set</a:t>
            </a:r>
            <a:r>
              <a:rPr dirty="0" sz="2400" spc="2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uses</a:t>
            </a:r>
            <a:r>
              <a:rPr dirty="0" sz="2400" spc="2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two</a:t>
            </a:r>
            <a:r>
              <a:rPr dirty="0" sz="2400" spc="204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types</a:t>
            </a:r>
            <a:r>
              <a:rPr dirty="0" sz="2400" spc="2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21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stations: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mobile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stationary.</a:t>
            </a:r>
            <a:endParaRPr sz="2400">
              <a:latin typeface="Calibri"/>
              <a:cs typeface="Calibri"/>
            </a:endParaRPr>
          </a:p>
          <a:p>
            <a:pPr lvl="1" marL="755015" indent="-285115">
              <a:lnSpc>
                <a:spcPct val="100000"/>
              </a:lnSpc>
              <a:spcBef>
                <a:spcPts val="575"/>
              </a:spcBef>
              <a:buFont typeface="Arial MT"/>
              <a:buChar char="–"/>
              <a:tabLst>
                <a:tab pos="755015" algn="l"/>
                <a:tab pos="1390650" algn="l"/>
                <a:tab pos="2420620" algn="l"/>
                <a:tab pos="3562350" algn="l"/>
                <a:tab pos="4135120" algn="l"/>
                <a:tab pos="7240270" algn="l"/>
                <a:tab pos="7559040" algn="l"/>
              </a:tabLst>
            </a:pPr>
            <a:r>
              <a:rPr dirty="0" sz="2400" spc="-25">
                <a:latin typeface="Calibri"/>
                <a:cs typeface="Calibri"/>
              </a:rPr>
              <a:t>The</a:t>
            </a:r>
            <a:r>
              <a:rPr dirty="0" sz="2400">
                <a:latin typeface="Calibri"/>
                <a:cs typeface="Calibri"/>
              </a:rPr>
              <a:t>	</a:t>
            </a:r>
            <a:r>
              <a:rPr dirty="0" sz="2400" spc="-10">
                <a:latin typeface="Calibri"/>
                <a:cs typeface="Calibri"/>
              </a:rPr>
              <a:t>mobile</a:t>
            </a:r>
            <a:r>
              <a:rPr dirty="0" sz="2400">
                <a:latin typeface="Calibri"/>
                <a:cs typeface="Calibri"/>
              </a:rPr>
              <a:t>	</a:t>
            </a:r>
            <a:r>
              <a:rPr dirty="0" sz="2400" spc="-10">
                <a:latin typeface="Calibri"/>
                <a:cs typeface="Calibri"/>
              </a:rPr>
              <a:t>stations</a:t>
            </a:r>
            <a:r>
              <a:rPr dirty="0" sz="2400">
                <a:latin typeface="Calibri"/>
                <a:cs typeface="Calibri"/>
              </a:rPr>
              <a:t>	</a:t>
            </a:r>
            <a:r>
              <a:rPr dirty="0" sz="2400" spc="-25">
                <a:latin typeface="Calibri"/>
                <a:cs typeface="Calibri"/>
              </a:rPr>
              <a:t>are</a:t>
            </a:r>
            <a:r>
              <a:rPr dirty="0" sz="2400">
                <a:latin typeface="Calibri"/>
                <a:cs typeface="Calibri"/>
              </a:rPr>
              <a:t>	normal</a:t>
            </a:r>
            <a:r>
              <a:rPr dirty="0" sz="2400" spc="85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stations</a:t>
            </a:r>
            <a:r>
              <a:rPr dirty="0" sz="2400" spc="105">
                <a:latin typeface="Calibri"/>
                <a:cs typeface="Calibri"/>
              </a:rPr>
              <a:t>  </a:t>
            </a:r>
            <a:r>
              <a:rPr dirty="0" sz="2400" spc="-10">
                <a:latin typeface="Calibri"/>
                <a:cs typeface="Calibri"/>
              </a:rPr>
              <a:t>inside</a:t>
            </a:r>
            <a:r>
              <a:rPr dirty="0" sz="2400">
                <a:latin typeface="Calibri"/>
                <a:cs typeface="Calibri"/>
              </a:rPr>
              <a:t>	</a:t>
            </a:r>
            <a:r>
              <a:rPr dirty="0" sz="2400" spc="-50">
                <a:latin typeface="Calibri"/>
                <a:cs typeface="Calibri"/>
              </a:rPr>
              <a:t>a</a:t>
            </a:r>
            <a:r>
              <a:rPr dirty="0" sz="2400">
                <a:latin typeface="Calibri"/>
                <a:cs typeface="Calibri"/>
              </a:rPr>
              <a:t>	BSS.</a:t>
            </a:r>
            <a:r>
              <a:rPr dirty="0" sz="2400" spc="120">
                <a:latin typeface="Calibri"/>
                <a:cs typeface="Calibri"/>
              </a:rPr>
              <a:t>  </a:t>
            </a:r>
            <a:r>
              <a:rPr dirty="0" sz="2400" spc="-25">
                <a:latin typeface="Calibri"/>
                <a:cs typeface="Calibri"/>
              </a:rPr>
              <a:t>The</a:t>
            </a:r>
            <a:endParaRPr sz="2400">
              <a:latin typeface="Calibri"/>
              <a:cs typeface="Calibri"/>
            </a:endParaRPr>
          </a:p>
          <a:p>
            <a:pPr marL="756285">
              <a:lnSpc>
                <a:spcPct val="100000"/>
              </a:lnSpc>
              <a:spcBef>
                <a:spcPts val="5"/>
              </a:spcBef>
            </a:pPr>
            <a:r>
              <a:rPr dirty="0" sz="2400">
                <a:latin typeface="Calibri"/>
                <a:cs typeface="Calibri"/>
              </a:rPr>
              <a:t>stationary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stations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are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AP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stations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that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are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part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wired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LAN.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8739" y="60147"/>
            <a:ext cx="4608830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0">
                <a:latin typeface="Calibri"/>
                <a:cs typeface="Calibri"/>
              </a:rPr>
              <a:t>IEEE</a:t>
            </a:r>
            <a:r>
              <a:rPr dirty="0" sz="3200" spc="-15" b="1" i="0">
                <a:latin typeface="Calibri"/>
                <a:cs typeface="Calibri"/>
              </a:rPr>
              <a:t> </a:t>
            </a:r>
            <a:r>
              <a:rPr dirty="0" sz="3200" b="1" i="0">
                <a:latin typeface="Calibri"/>
                <a:cs typeface="Calibri"/>
              </a:rPr>
              <a:t>802.11</a:t>
            </a:r>
            <a:r>
              <a:rPr dirty="0" sz="3200" spc="-15" b="1" i="0">
                <a:latin typeface="Calibri"/>
                <a:cs typeface="Calibri"/>
              </a:rPr>
              <a:t> </a:t>
            </a:r>
            <a:r>
              <a:rPr dirty="0" sz="3200" spc="-10" b="1" i="0">
                <a:latin typeface="Calibri"/>
                <a:cs typeface="Calibri"/>
              </a:rPr>
              <a:t>ARCHITECTURE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7858" y="848613"/>
            <a:ext cx="3319779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330" indent="-34163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330" algn="l"/>
              </a:tabLst>
            </a:pPr>
            <a:r>
              <a:rPr dirty="0" sz="2800" i="1">
                <a:latin typeface="Calibri"/>
                <a:cs typeface="Calibri"/>
              </a:rPr>
              <a:t>Extended</a:t>
            </a:r>
            <a:r>
              <a:rPr dirty="0" sz="2800" spc="-95" i="1">
                <a:latin typeface="Calibri"/>
                <a:cs typeface="Calibri"/>
              </a:rPr>
              <a:t> </a:t>
            </a:r>
            <a:r>
              <a:rPr dirty="0" sz="2800" i="1">
                <a:latin typeface="Calibri"/>
                <a:cs typeface="Calibri"/>
              </a:rPr>
              <a:t>Service</a:t>
            </a:r>
            <a:r>
              <a:rPr dirty="0" sz="2800" spc="-60" i="1">
                <a:latin typeface="Calibri"/>
                <a:cs typeface="Calibri"/>
              </a:rPr>
              <a:t> </a:t>
            </a:r>
            <a:r>
              <a:rPr dirty="0" sz="2800" spc="-25" i="1">
                <a:latin typeface="Calibri"/>
                <a:cs typeface="Calibri"/>
              </a:rPr>
              <a:t>Set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8739" y="60147"/>
            <a:ext cx="4608830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0">
                <a:latin typeface="Calibri"/>
                <a:cs typeface="Calibri"/>
              </a:rPr>
              <a:t>IEEE</a:t>
            </a:r>
            <a:r>
              <a:rPr dirty="0" sz="3200" spc="-15" b="1" i="0">
                <a:latin typeface="Calibri"/>
                <a:cs typeface="Calibri"/>
              </a:rPr>
              <a:t> </a:t>
            </a:r>
            <a:r>
              <a:rPr dirty="0" sz="3200" b="1" i="0">
                <a:latin typeface="Calibri"/>
                <a:cs typeface="Calibri"/>
              </a:rPr>
              <a:t>802.11</a:t>
            </a:r>
            <a:r>
              <a:rPr dirty="0" sz="3200" spc="-15" b="1" i="0">
                <a:latin typeface="Calibri"/>
                <a:cs typeface="Calibri"/>
              </a:rPr>
              <a:t> </a:t>
            </a:r>
            <a:r>
              <a:rPr dirty="0" sz="3200" spc="-10" b="1" i="0">
                <a:latin typeface="Calibri"/>
                <a:cs typeface="Calibri"/>
              </a:rPr>
              <a:t>ARCHITECTURE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097" y="1295394"/>
            <a:ext cx="8585560" cy="475010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1140" y="850138"/>
            <a:ext cx="8684260" cy="383095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5600" marR="5715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600">
                <a:latin typeface="Calibri"/>
                <a:cs typeface="Calibri"/>
              </a:rPr>
              <a:t>When</a:t>
            </a:r>
            <a:r>
              <a:rPr dirty="0" sz="2600" spc="3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BSSs</a:t>
            </a:r>
            <a:r>
              <a:rPr dirty="0" sz="2600" spc="3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are</a:t>
            </a:r>
            <a:r>
              <a:rPr dirty="0" sz="2600" spc="3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connected,</a:t>
            </a:r>
            <a:r>
              <a:rPr dirty="0" sz="2600" spc="3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3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stations</a:t>
            </a:r>
            <a:r>
              <a:rPr dirty="0" sz="2600" spc="3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within</a:t>
            </a:r>
            <a:r>
              <a:rPr dirty="0" sz="2600" spc="3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reach</a:t>
            </a:r>
            <a:r>
              <a:rPr dirty="0" sz="2600" spc="30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31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one </a:t>
            </a:r>
            <a:r>
              <a:rPr dirty="0" sz="2600">
                <a:latin typeface="Calibri"/>
                <a:cs typeface="Calibri"/>
              </a:rPr>
              <a:t>another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can</a:t>
            </a:r>
            <a:r>
              <a:rPr dirty="0" sz="2600" spc="-10">
                <a:latin typeface="Calibri"/>
                <a:cs typeface="Calibri"/>
              </a:rPr>
              <a:t> communicate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without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use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 an</a:t>
            </a:r>
            <a:r>
              <a:rPr dirty="0" sz="2600" spc="-25">
                <a:latin typeface="Calibri"/>
                <a:cs typeface="Calibri"/>
              </a:rPr>
              <a:t> AP.</a:t>
            </a:r>
            <a:endParaRPr sz="2600">
              <a:latin typeface="Calibri"/>
              <a:cs typeface="Calibri"/>
            </a:endParaRPr>
          </a:p>
          <a:p>
            <a:pPr algn="just" marL="355600" marR="6350" indent="-342900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600">
                <a:latin typeface="Calibri"/>
                <a:cs typeface="Calibri"/>
              </a:rPr>
              <a:t>communication</a:t>
            </a:r>
            <a:r>
              <a:rPr dirty="0" sz="2600" spc="3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between</a:t>
            </a:r>
            <a:r>
              <a:rPr dirty="0" sz="2600" spc="3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two</a:t>
            </a:r>
            <a:r>
              <a:rPr dirty="0" sz="2600" spc="3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stations</a:t>
            </a:r>
            <a:r>
              <a:rPr dirty="0" sz="2600" spc="3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3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two</a:t>
            </a:r>
            <a:r>
              <a:rPr dirty="0" sz="2600" spc="3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different</a:t>
            </a:r>
            <a:r>
              <a:rPr dirty="0" sz="2600" spc="355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BSSs </a:t>
            </a:r>
            <a:r>
              <a:rPr dirty="0" sz="2600">
                <a:latin typeface="Calibri"/>
                <a:cs typeface="Calibri"/>
              </a:rPr>
              <a:t>usually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occurs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via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two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APs.</a:t>
            </a:r>
            <a:endParaRPr sz="2600">
              <a:latin typeface="Calibri"/>
              <a:cs typeface="Calibri"/>
            </a:endParaRPr>
          </a:p>
          <a:p>
            <a:pPr algn="just" marL="355600" marR="5080" indent="-342900">
              <a:lnSpc>
                <a:spcPct val="100000"/>
              </a:lnSpc>
              <a:spcBef>
                <a:spcPts val="63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2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idea</a:t>
            </a:r>
            <a:r>
              <a:rPr dirty="0" sz="2600" spc="2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20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similar</a:t>
            </a:r>
            <a:r>
              <a:rPr dirty="0" sz="2600" spc="2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2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communication</a:t>
            </a:r>
            <a:r>
              <a:rPr dirty="0" sz="2600" spc="2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2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2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cellular</a:t>
            </a:r>
            <a:r>
              <a:rPr dirty="0" sz="2600" spc="2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network</a:t>
            </a:r>
            <a:r>
              <a:rPr dirty="0" sz="2600" spc="21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if </a:t>
            </a:r>
            <a:r>
              <a:rPr dirty="0" sz="2600">
                <a:latin typeface="Calibri"/>
                <a:cs typeface="Calibri"/>
              </a:rPr>
              <a:t>we</a:t>
            </a:r>
            <a:r>
              <a:rPr dirty="0" sz="2600" spc="2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consider</a:t>
            </a:r>
            <a:r>
              <a:rPr dirty="0" sz="2600" spc="2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each</a:t>
            </a:r>
            <a:r>
              <a:rPr dirty="0" sz="2600" spc="2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BSS</a:t>
            </a:r>
            <a:r>
              <a:rPr dirty="0" sz="2600" spc="2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2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be</a:t>
            </a:r>
            <a:r>
              <a:rPr dirty="0" sz="2600" spc="2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2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cell</a:t>
            </a:r>
            <a:r>
              <a:rPr dirty="0" sz="2600" spc="2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2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each</a:t>
            </a:r>
            <a:r>
              <a:rPr dirty="0" sz="2600" spc="2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AP</a:t>
            </a:r>
            <a:r>
              <a:rPr dirty="0" sz="2600" spc="2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2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be</a:t>
            </a:r>
            <a:r>
              <a:rPr dirty="0" sz="2600" spc="229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235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base </a:t>
            </a:r>
            <a:r>
              <a:rPr dirty="0" sz="2600" spc="-10">
                <a:latin typeface="Calibri"/>
                <a:cs typeface="Calibri"/>
              </a:rPr>
              <a:t>station.</a:t>
            </a:r>
            <a:endParaRPr sz="2600">
              <a:latin typeface="Calibri"/>
              <a:cs typeface="Calibri"/>
            </a:endParaRPr>
          </a:p>
          <a:p>
            <a:pPr algn="just" marL="355600" marR="8255" indent="-342900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600">
                <a:latin typeface="Calibri"/>
                <a:cs typeface="Calibri"/>
              </a:rPr>
              <a:t>Note</a:t>
            </a:r>
            <a:r>
              <a:rPr dirty="0" sz="2600" spc="1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that</a:t>
            </a:r>
            <a:r>
              <a:rPr dirty="0" sz="2600" spc="1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1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mobile</a:t>
            </a:r>
            <a:r>
              <a:rPr dirty="0" sz="2600" spc="1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station</a:t>
            </a:r>
            <a:r>
              <a:rPr dirty="0" sz="2600" spc="1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can</a:t>
            </a:r>
            <a:r>
              <a:rPr dirty="0" sz="2600" spc="1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belong</a:t>
            </a:r>
            <a:r>
              <a:rPr dirty="0" sz="2600" spc="1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1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more</a:t>
            </a:r>
            <a:r>
              <a:rPr dirty="0" sz="2600" spc="1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than</a:t>
            </a:r>
            <a:r>
              <a:rPr dirty="0" sz="2600" spc="1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one</a:t>
            </a:r>
            <a:r>
              <a:rPr dirty="0" sz="2600" spc="14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BSS </a:t>
            </a:r>
            <a:r>
              <a:rPr dirty="0" sz="2600">
                <a:latin typeface="Calibri"/>
                <a:cs typeface="Calibri"/>
              </a:rPr>
              <a:t>at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same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time.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8739" y="60147"/>
            <a:ext cx="4608830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0">
                <a:latin typeface="Calibri"/>
                <a:cs typeface="Calibri"/>
              </a:rPr>
              <a:t>IEEE</a:t>
            </a:r>
            <a:r>
              <a:rPr dirty="0" sz="3200" spc="-15" b="1" i="0">
                <a:latin typeface="Calibri"/>
                <a:cs typeface="Calibri"/>
              </a:rPr>
              <a:t> </a:t>
            </a:r>
            <a:r>
              <a:rPr dirty="0" sz="3200" b="1" i="0">
                <a:latin typeface="Calibri"/>
                <a:cs typeface="Calibri"/>
              </a:rPr>
              <a:t>802.11</a:t>
            </a:r>
            <a:r>
              <a:rPr dirty="0" sz="3200" spc="-15" b="1" i="0">
                <a:latin typeface="Calibri"/>
                <a:cs typeface="Calibri"/>
              </a:rPr>
              <a:t> </a:t>
            </a:r>
            <a:r>
              <a:rPr dirty="0" sz="3200" spc="-10" b="1" i="0">
                <a:latin typeface="Calibri"/>
                <a:cs typeface="Calibri"/>
              </a:rPr>
              <a:t>ARCHITECTURE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752279"/>
            <a:ext cx="8074025" cy="5654040"/>
          </a:xfrm>
          <a:prstGeom prst="rect">
            <a:avLst/>
          </a:prstGeom>
        </p:spPr>
        <p:txBody>
          <a:bodyPr wrap="square" lIns="0" tIns="107314" rIns="0" bIns="0" rtlCol="0" vert="horz">
            <a:spAutoFit/>
          </a:bodyPr>
          <a:lstStyle/>
          <a:p>
            <a:pPr marL="356235" indent="-343535">
              <a:lnSpc>
                <a:spcPct val="100000"/>
              </a:lnSpc>
              <a:spcBef>
                <a:spcPts val="844"/>
              </a:spcBef>
              <a:buFont typeface="Arial MT"/>
              <a:buChar char="•"/>
              <a:tabLst>
                <a:tab pos="356235" algn="l"/>
              </a:tabLst>
            </a:pPr>
            <a:r>
              <a:rPr dirty="0" sz="3000" i="1">
                <a:latin typeface="Calibri"/>
                <a:cs typeface="Calibri"/>
              </a:rPr>
              <a:t>Station</a:t>
            </a:r>
            <a:r>
              <a:rPr dirty="0" sz="3000" spc="-80" i="1">
                <a:latin typeface="Calibri"/>
                <a:cs typeface="Calibri"/>
              </a:rPr>
              <a:t> </a:t>
            </a:r>
            <a:r>
              <a:rPr dirty="0" sz="3000" spc="-20" i="1">
                <a:latin typeface="Calibri"/>
                <a:cs typeface="Calibri"/>
              </a:rPr>
              <a:t>Types</a:t>
            </a:r>
            <a:endParaRPr sz="3000">
              <a:latin typeface="Calibri"/>
              <a:cs typeface="Calibri"/>
            </a:endParaRPr>
          </a:p>
          <a:p>
            <a:pPr algn="just" lvl="1" marL="756285" marR="5715" indent="-287020">
              <a:lnSpc>
                <a:spcPct val="100000"/>
              </a:lnSpc>
              <a:spcBef>
                <a:spcPts val="65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600">
                <a:latin typeface="Calibri"/>
                <a:cs typeface="Calibri"/>
              </a:rPr>
              <a:t>IEEE</a:t>
            </a:r>
            <a:r>
              <a:rPr dirty="0" sz="2600" spc="2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802.11</a:t>
            </a:r>
            <a:r>
              <a:rPr dirty="0" sz="2600" spc="2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defines</a:t>
            </a:r>
            <a:r>
              <a:rPr dirty="0" sz="2600" spc="2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three</a:t>
            </a:r>
            <a:r>
              <a:rPr dirty="0" sz="2600" spc="25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types</a:t>
            </a:r>
            <a:r>
              <a:rPr dirty="0" sz="2600" spc="2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25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stations</a:t>
            </a:r>
            <a:r>
              <a:rPr dirty="0" sz="2600" spc="2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based</a:t>
            </a:r>
            <a:r>
              <a:rPr dirty="0" sz="2600" spc="24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on </a:t>
            </a:r>
            <a:r>
              <a:rPr dirty="0" sz="2600">
                <a:latin typeface="Calibri"/>
                <a:cs typeface="Calibri"/>
              </a:rPr>
              <a:t>their mobility in a wireless LAN: </a:t>
            </a:r>
            <a:r>
              <a:rPr dirty="0" sz="2600" spc="-20">
                <a:solidFill>
                  <a:srgbClr val="FF0000"/>
                </a:solidFill>
                <a:latin typeface="Calibri"/>
                <a:cs typeface="Calibri"/>
              </a:rPr>
              <a:t>no-</a:t>
            </a:r>
            <a:r>
              <a:rPr dirty="0" sz="2600">
                <a:solidFill>
                  <a:srgbClr val="FF0000"/>
                </a:solidFill>
                <a:latin typeface="Calibri"/>
                <a:cs typeface="Calibri"/>
              </a:rPr>
              <a:t>transition</a:t>
            </a:r>
            <a:r>
              <a:rPr dirty="0" sz="2600">
                <a:latin typeface="Calibri"/>
                <a:cs typeface="Calibri"/>
              </a:rPr>
              <a:t>, </a:t>
            </a:r>
            <a:r>
              <a:rPr dirty="0" sz="2600" spc="-20">
                <a:solidFill>
                  <a:srgbClr val="FF0000"/>
                </a:solidFill>
                <a:latin typeface="Calibri"/>
                <a:cs typeface="Calibri"/>
              </a:rPr>
              <a:t>BSS-</a:t>
            </a:r>
            <a:r>
              <a:rPr dirty="0" sz="2600">
                <a:solidFill>
                  <a:srgbClr val="FF0000"/>
                </a:solidFill>
                <a:latin typeface="Calibri"/>
                <a:cs typeface="Calibri"/>
              </a:rPr>
              <a:t>transition</a:t>
            </a:r>
            <a:r>
              <a:rPr dirty="0" sz="2600">
                <a:latin typeface="Calibri"/>
                <a:cs typeface="Calibri"/>
              </a:rPr>
              <a:t>,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 spc="-25">
                <a:solidFill>
                  <a:srgbClr val="FF0000"/>
                </a:solidFill>
                <a:latin typeface="Calibri"/>
                <a:cs typeface="Calibri"/>
              </a:rPr>
              <a:t>ESS-</a:t>
            </a:r>
            <a:r>
              <a:rPr dirty="0" sz="2600">
                <a:solidFill>
                  <a:srgbClr val="FF0000"/>
                </a:solidFill>
                <a:latin typeface="Calibri"/>
                <a:cs typeface="Calibri"/>
              </a:rPr>
              <a:t>transition</a:t>
            </a:r>
            <a:r>
              <a:rPr dirty="0" sz="2600" spc="-5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FF0000"/>
                </a:solidFill>
                <a:latin typeface="Calibri"/>
                <a:cs typeface="Calibri"/>
              </a:rPr>
              <a:t>mobility</a:t>
            </a:r>
            <a:r>
              <a:rPr dirty="0" sz="2600" spc="-10">
                <a:latin typeface="Calibri"/>
                <a:cs typeface="Calibri"/>
              </a:rPr>
              <a:t>.</a:t>
            </a:r>
            <a:endParaRPr sz="2600">
              <a:latin typeface="Calibri"/>
              <a:cs typeface="Calibri"/>
            </a:endParaRPr>
          </a:p>
          <a:p>
            <a:pPr algn="just" lvl="1" marL="756285" marR="7620" indent="-287020">
              <a:lnSpc>
                <a:spcPct val="100000"/>
              </a:lnSpc>
              <a:spcBef>
                <a:spcPts val="63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52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station</a:t>
            </a:r>
            <a:r>
              <a:rPr dirty="0" sz="2600" spc="52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with</a:t>
            </a:r>
            <a:r>
              <a:rPr dirty="0" sz="2600" spc="525">
                <a:latin typeface="Calibri"/>
                <a:cs typeface="Calibri"/>
              </a:rPr>
              <a:t>  </a:t>
            </a:r>
            <a:r>
              <a:rPr dirty="0" sz="2600" spc="-10">
                <a:latin typeface="Calibri"/>
                <a:cs typeface="Calibri"/>
              </a:rPr>
              <a:t>no-</a:t>
            </a:r>
            <a:r>
              <a:rPr dirty="0" sz="2600">
                <a:latin typeface="Calibri"/>
                <a:cs typeface="Calibri"/>
              </a:rPr>
              <a:t>transition</a:t>
            </a:r>
            <a:r>
              <a:rPr dirty="0" sz="2600" spc="52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mobility</a:t>
            </a:r>
            <a:r>
              <a:rPr dirty="0" sz="2600" spc="53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525">
                <a:latin typeface="Calibri"/>
                <a:cs typeface="Calibri"/>
              </a:rPr>
              <a:t>  </a:t>
            </a:r>
            <a:r>
              <a:rPr dirty="0" sz="2600" spc="-10">
                <a:latin typeface="Calibri"/>
                <a:cs typeface="Calibri"/>
              </a:rPr>
              <a:t>either stationary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(not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moving)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or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moving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only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inside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BSS.</a:t>
            </a:r>
            <a:endParaRPr sz="2600">
              <a:latin typeface="Calibri"/>
              <a:cs typeface="Calibri"/>
            </a:endParaRPr>
          </a:p>
          <a:p>
            <a:pPr algn="just" lvl="1" marL="756285" marR="5080" indent="-287020">
              <a:lnSpc>
                <a:spcPct val="100000"/>
              </a:lnSpc>
              <a:spcBef>
                <a:spcPts val="62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1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station</a:t>
            </a:r>
            <a:r>
              <a:rPr dirty="0" sz="2600" spc="1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with</a:t>
            </a:r>
            <a:r>
              <a:rPr dirty="0" sz="2600" spc="19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BSS-</a:t>
            </a:r>
            <a:r>
              <a:rPr dirty="0" sz="2600">
                <a:latin typeface="Calibri"/>
                <a:cs typeface="Calibri"/>
              </a:rPr>
              <a:t>transition</a:t>
            </a:r>
            <a:r>
              <a:rPr dirty="0" sz="2600" spc="1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mobility</a:t>
            </a:r>
            <a:r>
              <a:rPr dirty="0" sz="2600" spc="1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can</a:t>
            </a:r>
            <a:r>
              <a:rPr dirty="0" sz="2600" spc="1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move</a:t>
            </a:r>
            <a:r>
              <a:rPr dirty="0" sz="2600" spc="19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from </a:t>
            </a:r>
            <a:r>
              <a:rPr dirty="0" sz="2600">
                <a:latin typeface="Calibri"/>
                <a:cs typeface="Calibri"/>
              </a:rPr>
              <a:t>one</a:t>
            </a:r>
            <a:r>
              <a:rPr dirty="0" sz="2600" spc="48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BSS</a:t>
            </a:r>
            <a:r>
              <a:rPr dirty="0" sz="2600" spc="4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4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another,</a:t>
            </a:r>
            <a:r>
              <a:rPr dirty="0" sz="2600" spc="48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but</a:t>
            </a:r>
            <a:r>
              <a:rPr dirty="0" sz="2600" spc="48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4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movement</a:t>
            </a:r>
            <a:r>
              <a:rPr dirty="0" sz="2600" spc="4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50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confined </a:t>
            </a:r>
            <a:r>
              <a:rPr dirty="0" sz="2600">
                <a:latin typeface="Calibri"/>
                <a:cs typeface="Calibri"/>
              </a:rPr>
              <a:t>inside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one</a:t>
            </a:r>
            <a:r>
              <a:rPr dirty="0" sz="2600" spc="-20">
                <a:latin typeface="Calibri"/>
                <a:cs typeface="Calibri"/>
              </a:rPr>
              <a:t> ESS.</a:t>
            </a:r>
            <a:endParaRPr sz="2600">
              <a:latin typeface="Calibri"/>
              <a:cs typeface="Calibri"/>
            </a:endParaRPr>
          </a:p>
          <a:p>
            <a:pPr algn="just" lvl="1" marL="755015" marR="5080" indent="-285750">
              <a:lnSpc>
                <a:spcPct val="100000"/>
              </a:lnSpc>
              <a:spcBef>
                <a:spcPts val="62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2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station</a:t>
            </a:r>
            <a:r>
              <a:rPr dirty="0" sz="2600" spc="229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with</a:t>
            </a:r>
            <a:r>
              <a:rPr dirty="0" sz="2600" spc="23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ESS-</a:t>
            </a:r>
            <a:r>
              <a:rPr dirty="0" sz="2600">
                <a:latin typeface="Calibri"/>
                <a:cs typeface="Calibri"/>
              </a:rPr>
              <a:t>transition</a:t>
            </a:r>
            <a:r>
              <a:rPr dirty="0" sz="2600" spc="2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mobility</a:t>
            </a:r>
            <a:r>
              <a:rPr dirty="0" sz="2600" spc="2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can</a:t>
            </a:r>
            <a:r>
              <a:rPr dirty="0" sz="2600" spc="229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move</a:t>
            </a:r>
            <a:r>
              <a:rPr dirty="0" sz="2600" spc="225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from </a:t>
            </a:r>
            <a:r>
              <a:rPr dirty="0" sz="2600" spc="-20">
                <a:latin typeface="Calibri"/>
                <a:cs typeface="Calibri"/>
              </a:rPr>
              <a:t>	</a:t>
            </a:r>
            <a:r>
              <a:rPr dirty="0" sz="2600">
                <a:latin typeface="Calibri"/>
                <a:cs typeface="Calibri"/>
              </a:rPr>
              <a:t>one</a:t>
            </a:r>
            <a:r>
              <a:rPr dirty="0" sz="2600" spc="3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ESS</a:t>
            </a:r>
            <a:r>
              <a:rPr dirty="0" sz="2600" spc="3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3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another.</a:t>
            </a:r>
            <a:r>
              <a:rPr dirty="0" sz="2600" spc="3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However,</a:t>
            </a:r>
            <a:r>
              <a:rPr dirty="0" sz="2600" spc="3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IEEE</a:t>
            </a:r>
            <a:r>
              <a:rPr dirty="0" sz="2600" spc="3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802.11</a:t>
            </a:r>
            <a:r>
              <a:rPr dirty="0" sz="2600" spc="3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does</a:t>
            </a:r>
            <a:r>
              <a:rPr dirty="0" sz="2600" spc="34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not </a:t>
            </a:r>
            <a:r>
              <a:rPr dirty="0" sz="2600" spc="-25">
                <a:latin typeface="Calibri"/>
                <a:cs typeface="Calibri"/>
              </a:rPr>
              <a:t>	</a:t>
            </a:r>
            <a:r>
              <a:rPr dirty="0" sz="2600">
                <a:latin typeface="Calibri"/>
                <a:cs typeface="Calibri"/>
              </a:rPr>
              <a:t>guarantee</a:t>
            </a:r>
            <a:r>
              <a:rPr dirty="0" sz="2600" spc="459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that</a:t>
            </a:r>
            <a:r>
              <a:rPr dirty="0" sz="2600" spc="4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communication</a:t>
            </a:r>
            <a:r>
              <a:rPr dirty="0" sz="2600" spc="4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4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continuous</a:t>
            </a:r>
            <a:r>
              <a:rPr dirty="0" sz="2600" spc="484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during </a:t>
            </a:r>
            <a:r>
              <a:rPr dirty="0" sz="2600" spc="-10">
                <a:latin typeface="Calibri"/>
                <a:cs typeface="Calibri"/>
              </a:rPr>
              <a:t>	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move.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8739" y="60147"/>
            <a:ext cx="4608830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0">
                <a:latin typeface="Calibri"/>
                <a:cs typeface="Calibri"/>
              </a:rPr>
              <a:t>IEEE</a:t>
            </a:r>
            <a:r>
              <a:rPr dirty="0" sz="3200" spc="-15" b="1" i="0">
                <a:latin typeface="Calibri"/>
                <a:cs typeface="Calibri"/>
              </a:rPr>
              <a:t> </a:t>
            </a:r>
            <a:r>
              <a:rPr dirty="0" sz="3200" b="1" i="0">
                <a:latin typeface="Calibri"/>
                <a:cs typeface="Calibri"/>
              </a:rPr>
              <a:t>802.11</a:t>
            </a:r>
            <a:r>
              <a:rPr dirty="0" sz="3200" spc="-15" b="1" i="0">
                <a:latin typeface="Calibri"/>
                <a:cs typeface="Calibri"/>
              </a:rPr>
              <a:t> </a:t>
            </a:r>
            <a:r>
              <a:rPr dirty="0" sz="3200" spc="-10" b="1" i="0">
                <a:latin typeface="Calibri"/>
                <a:cs typeface="Calibri"/>
              </a:rPr>
              <a:t>ARCHITECTURE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709929"/>
            <a:ext cx="8455025" cy="5659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station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must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maintain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association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with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AP</a:t>
            </a:r>
            <a:endParaRPr sz="2400">
              <a:latin typeface="Calibri"/>
              <a:cs typeface="Calibri"/>
            </a:endParaRPr>
          </a:p>
          <a:p>
            <a:pPr algn="just" marL="353060" indent="-340360">
              <a:lnSpc>
                <a:spcPct val="100000"/>
              </a:lnSpc>
              <a:buFont typeface="Arial MT"/>
              <a:buChar char="•"/>
              <a:tabLst>
                <a:tab pos="353060" algn="l"/>
              </a:tabLst>
            </a:pPr>
            <a:r>
              <a:rPr dirty="0" sz="2400" spc="-10" b="1">
                <a:latin typeface="Calibri"/>
                <a:cs typeface="Calibri"/>
              </a:rPr>
              <a:t>Association:</a:t>
            </a:r>
            <a:endParaRPr sz="2400">
              <a:latin typeface="Calibri"/>
              <a:cs typeface="Calibri"/>
            </a:endParaRPr>
          </a:p>
          <a:p>
            <a:pPr algn="just" lvl="1" marL="755015" marR="5080" indent="-285750">
              <a:lnSpc>
                <a:spcPct val="80100"/>
              </a:lnSpc>
              <a:spcBef>
                <a:spcPts val="57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400">
                <a:latin typeface="Calibri"/>
                <a:cs typeface="Calibri"/>
              </a:rPr>
              <a:t>Establishes</a:t>
            </a:r>
            <a:r>
              <a:rPr dirty="0" sz="2400" spc="2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</a:t>
            </a:r>
            <a:r>
              <a:rPr dirty="0" sz="2400" spc="2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initial</a:t>
            </a:r>
            <a:r>
              <a:rPr dirty="0" sz="2400" spc="2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association</a:t>
            </a:r>
            <a:r>
              <a:rPr dirty="0" sz="2400" spc="229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with</a:t>
            </a:r>
            <a:r>
              <a:rPr dirty="0" sz="2400" spc="229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</a:t>
            </a:r>
            <a:r>
              <a:rPr dirty="0" sz="2400" spc="229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AP</a:t>
            </a:r>
            <a:r>
              <a:rPr dirty="0" sz="2400" spc="229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before</a:t>
            </a:r>
            <a:r>
              <a:rPr dirty="0" sz="2400" spc="2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2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station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can</a:t>
            </a:r>
            <a:r>
              <a:rPr dirty="0" sz="2400" spc="4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transmit/receive</a:t>
            </a:r>
            <a:r>
              <a:rPr dirty="0" sz="2400" spc="4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frames</a:t>
            </a:r>
            <a:r>
              <a:rPr dirty="0" sz="2400" spc="434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</a:t>
            </a:r>
            <a:r>
              <a:rPr dirty="0" sz="2400" spc="434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409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wireless</a:t>
            </a:r>
            <a:r>
              <a:rPr dirty="0" sz="2400" spc="4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LAN,</a:t>
            </a:r>
            <a:r>
              <a:rPr dirty="0" sz="2400" spc="4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its</a:t>
            </a:r>
            <a:r>
              <a:rPr dirty="0" sz="2400" spc="4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identity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address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must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known.</a:t>
            </a:r>
            <a:endParaRPr sz="2400">
              <a:latin typeface="Calibri"/>
              <a:cs typeface="Calibri"/>
            </a:endParaRPr>
          </a:p>
          <a:p>
            <a:pPr algn="just" lvl="1" marL="755015" marR="5080" indent="-285750">
              <a:lnSpc>
                <a:spcPts val="2300"/>
              </a:lnSpc>
              <a:spcBef>
                <a:spcPts val="56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1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AP</a:t>
            </a:r>
            <a:r>
              <a:rPr dirty="0" sz="2400" spc="1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can</a:t>
            </a:r>
            <a:r>
              <a:rPr dirty="0" sz="2400" spc="1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then</a:t>
            </a:r>
            <a:r>
              <a:rPr dirty="0" sz="2400" spc="1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communicate</a:t>
            </a:r>
            <a:r>
              <a:rPr dirty="0" sz="2400" spc="1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this</a:t>
            </a:r>
            <a:r>
              <a:rPr dirty="0" sz="2400" spc="1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information</a:t>
            </a:r>
            <a:r>
              <a:rPr dirty="0" sz="2400" spc="1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1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other</a:t>
            </a:r>
            <a:r>
              <a:rPr dirty="0" sz="2400" spc="17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APs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within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ESS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facilitate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routing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delivery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frames.</a:t>
            </a:r>
            <a:endParaRPr sz="2400">
              <a:latin typeface="Calibri"/>
              <a:cs typeface="Calibri"/>
            </a:endParaRPr>
          </a:p>
          <a:p>
            <a:pPr algn="just" marL="353060" indent="-340360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353060" algn="l"/>
              </a:tabLst>
            </a:pPr>
            <a:r>
              <a:rPr dirty="0" sz="2400" spc="-10" b="1">
                <a:latin typeface="Calibri"/>
                <a:cs typeface="Calibri"/>
              </a:rPr>
              <a:t>Reassociation:</a:t>
            </a:r>
            <a:endParaRPr sz="2400">
              <a:latin typeface="Calibri"/>
              <a:cs typeface="Calibri"/>
            </a:endParaRPr>
          </a:p>
          <a:p>
            <a:pPr algn="just" lvl="1" marL="755015" marR="7620" indent="-285750">
              <a:lnSpc>
                <a:spcPct val="80000"/>
              </a:lnSpc>
              <a:spcBef>
                <a:spcPts val="57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400">
                <a:latin typeface="Calibri"/>
                <a:cs typeface="Calibri"/>
              </a:rPr>
              <a:t>Enables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established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association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</a:t>
            </a:r>
            <a:r>
              <a:rPr dirty="0" sz="2400" spc="-10">
                <a:latin typeface="Calibri"/>
                <a:cs typeface="Calibri"/>
              </a:rPr>
              <a:t> transferred</a:t>
            </a:r>
            <a:r>
              <a:rPr dirty="0" sz="2400" spc="-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from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one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AP</a:t>
            </a:r>
            <a:r>
              <a:rPr dirty="0" sz="2400" spc="2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2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another,</a:t>
            </a:r>
            <a:r>
              <a:rPr dirty="0" sz="2400" spc="3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allowing</a:t>
            </a:r>
            <a:r>
              <a:rPr dirty="0" sz="2400" spc="2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2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mobile</a:t>
            </a:r>
            <a:r>
              <a:rPr dirty="0" sz="2400" spc="2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station</a:t>
            </a:r>
            <a:r>
              <a:rPr dirty="0" sz="2400" spc="2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2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move</a:t>
            </a:r>
            <a:r>
              <a:rPr dirty="0" sz="2400" spc="3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from</a:t>
            </a:r>
            <a:r>
              <a:rPr dirty="0" sz="2400" spc="29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one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BSS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another.</a:t>
            </a:r>
            <a:endParaRPr sz="2400">
              <a:latin typeface="Calibri"/>
              <a:cs typeface="Calibri"/>
            </a:endParaRPr>
          </a:p>
          <a:p>
            <a:pPr algn="just" marL="353060" indent="-340360">
              <a:lnSpc>
                <a:spcPct val="100000"/>
              </a:lnSpc>
              <a:buFont typeface="Arial MT"/>
              <a:buChar char="•"/>
              <a:tabLst>
                <a:tab pos="353060" algn="l"/>
              </a:tabLst>
            </a:pPr>
            <a:r>
              <a:rPr dirty="0" sz="2400" spc="-10" b="1">
                <a:latin typeface="Calibri"/>
                <a:cs typeface="Calibri"/>
              </a:rPr>
              <a:t>Disassociation:</a:t>
            </a:r>
            <a:endParaRPr sz="2400">
              <a:latin typeface="Calibri"/>
              <a:cs typeface="Calibri"/>
            </a:endParaRPr>
          </a:p>
          <a:p>
            <a:pPr algn="just" lvl="1" marL="755015" marR="6985" indent="-285750">
              <a:lnSpc>
                <a:spcPts val="2300"/>
              </a:lnSpc>
              <a:spcBef>
                <a:spcPts val="56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2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notification</a:t>
            </a:r>
            <a:r>
              <a:rPr dirty="0" sz="2400" spc="2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from</a:t>
            </a:r>
            <a:r>
              <a:rPr dirty="0" sz="2400" spc="1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either</a:t>
            </a:r>
            <a:r>
              <a:rPr dirty="0" sz="2400" spc="2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2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station</a:t>
            </a:r>
            <a:r>
              <a:rPr dirty="0" sz="2400" spc="1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or</a:t>
            </a:r>
            <a:r>
              <a:rPr dirty="0" sz="2400" spc="2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</a:t>
            </a:r>
            <a:r>
              <a:rPr dirty="0" sz="2400" spc="1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AP</a:t>
            </a:r>
            <a:r>
              <a:rPr dirty="0" sz="2400" spc="1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that</a:t>
            </a:r>
            <a:r>
              <a:rPr dirty="0" sz="2400" spc="2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</a:t>
            </a:r>
            <a:r>
              <a:rPr dirty="0" sz="2400" spc="20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existing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association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terminated.</a:t>
            </a:r>
            <a:endParaRPr sz="2400">
              <a:latin typeface="Calibri"/>
              <a:cs typeface="Calibri"/>
            </a:endParaRPr>
          </a:p>
          <a:p>
            <a:pPr algn="just" lvl="1" marL="755015" marR="5080" indent="-285750">
              <a:lnSpc>
                <a:spcPts val="2300"/>
              </a:lnSpc>
              <a:spcBef>
                <a:spcPts val="59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station</a:t>
            </a:r>
            <a:r>
              <a:rPr dirty="0" sz="2400" spc="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should</a:t>
            </a:r>
            <a:r>
              <a:rPr dirty="0" sz="2400" spc="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give</a:t>
            </a:r>
            <a:r>
              <a:rPr dirty="0" sz="2400" spc="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this</a:t>
            </a:r>
            <a:r>
              <a:rPr dirty="0" sz="2400" spc="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notification</a:t>
            </a:r>
            <a:r>
              <a:rPr dirty="0" sz="2400" spc="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before</a:t>
            </a:r>
            <a:r>
              <a:rPr dirty="0" sz="2400" spc="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leaving</a:t>
            </a:r>
            <a:r>
              <a:rPr dirty="0" sz="2400" spc="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</a:t>
            </a:r>
            <a:r>
              <a:rPr dirty="0" sz="2400" spc="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ESS </a:t>
            </a:r>
            <a:r>
              <a:rPr dirty="0" sz="2400" spc="-25">
                <a:latin typeface="Calibri"/>
                <a:cs typeface="Calibri"/>
              </a:rPr>
              <a:t>or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shutting</a:t>
            </a:r>
            <a:r>
              <a:rPr dirty="0" sz="2400" spc="100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down.</a:t>
            </a:r>
            <a:r>
              <a:rPr dirty="0" sz="2400" spc="100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However,</a:t>
            </a:r>
            <a:r>
              <a:rPr dirty="0" sz="2400" spc="105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100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MAC</a:t>
            </a:r>
            <a:r>
              <a:rPr dirty="0" sz="2400" spc="100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management</a:t>
            </a:r>
            <a:r>
              <a:rPr dirty="0" sz="2400" spc="105">
                <a:latin typeface="Calibri"/>
                <a:cs typeface="Calibri"/>
              </a:rPr>
              <a:t>  </a:t>
            </a:r>
            <a:r>
              <a:rPr dirty="0" sz="2400" spc="-10">
                <a:latin typeface="Calibri"/>
                <a:cs typeface="Calibri"/>
              </a:rPr>
              <a:t>protects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itself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against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stations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that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disappear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without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notification.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31140" y="212547"/>
            <a:ext cx="4608830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0">
                <a:latin typeface="Calibri"/>
                <a:cs typeface="Calibri"/>
              </a:rPr>
              <a:t>IEEE</a:t>
            </a:r>
            <a:r>
              <a:rPr dirty="0" sz="3200" spc="-20" b="1" i="0">
                <a:latin typeface="Calibri"/>
                <a:cs typeface="Calibri"/>
              </a:rPr>
              <a:t> </a:t>
            </a:r>
            <a:r>
              <a:rPr dirty="0" sz="3200" b="1" i="0">
                <a:latin typeface="Calibri"/>
                <a:cs typeface="Calibri"/>
              </a:rPr>
              <a:t>802.11</a:t>
            </a:r>
            <a:r>
              <a:rPr dirty="0" sz="3200" spc="-10" b="1" i="0">
                <a:latin typeface="Calibri"/>
                <a:cs typeface="Calibri"/>
              </a:rPr>
              <a:t> ARCHITECTURE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1140" y="456431"/>
            <a:ext cx="8609330" cy="1809750"/>
          </a:xfrm>
          <a:prstGeom prst="rect">
            <a:avLst/>
          </a:prstGeom>
        </p:spPr>
        <p:txBody>
          <a:bodyPr wrap="square" lIns="0" tIns="99695" rIns="0" bIns="0" rtlCol="0" vert="horz">
            <a:spAutoFit/>
          </a:bodyPr>
          <a:lstStyle/>
          <a:p>
            <a:pPr marL="354330" indent="-341630">
              <a:lnSpc>
                <a:spcPct val="100000"/>
              </a:lnSpc>
              <a:spcBef>
                <a:spcPts val="785"/>
              </a:spcBef>
              <a:buFont typeface="Arial MT"/>
              <a:buChar char="•"/>
              <a:tabLst>
                <a:tab pos="354330" algn="l"/>
              </a:tabLst>
            </a:pPr>
            <a:r>
              <a:rPr dirty="0" sz="2800">
                <a:latin typeface="Calibri"/>
                <a:cs typeface="Calibri"/>
              </a:rPr>
              <a:t>MAC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Sublayer</a:t>
            </a:r>
            <a:endParaRPr sz="2800">
              <a:latin typeface="Calibri"/>
              <a:cs typeface="Calibri"/>
            </a:endParaRPr>
          </a:p>
          <a:p>
            <a:pPr algn="just" marL="756285" marR="5080" indent="-287020">
              <a:lnSpc>
                <a:spcPct val="100000"/>
              </a:lnSpc>
              <a:spcBef>
                <a:spcPts val="640"/>
              </a:spcBef>
            </a:pPr>
            <a:r>
              <a:rPr dirty="0" sz="2600">
                <a:latin typeface="Arial MT"/>
                <a:cs typeface="Arial MT"/>
              </a:rPr>
              <a:t>–</a:t>
            </a:r>
            <a:r>
              <a:rPr dirty="0" sz="2600" spc="40">
                <a:latin typeface="Arial MT"/>
                <a:cs typeface="Arial MT"/>
              </a:rPr>
              <a:t> </a:t>
            </a:r>
            <a:r>
              <a:rPr dirty="0" sz="2600">
                <a:latin typeface="Calibri"/>
                <a:cs typeface="Calibri"/>
              </a:rPr>
              <a:t>IEEE</a:t>
            </a:r>
            <a:r>
              <a:rPr dirty="0" sz="2600" spc="4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802.11</a:t>
            </a:r>
            <a:r>
              <a:rPr dirty="0" sz="2600" spc="4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defines</a:t>
            </a:r>
            <a:r>
              <a:rPr dirty="0" sz="2600" spc="4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two</a:t>
            </a:r>
            <a:r>
              <a:rPr dirty="0" sz="2600" spc="4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MAC</a:t>
            </a:r>
            <a:r>
              <a:rPr dirty="0" sz="2600" spc="4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sublayers:</a:t>
            </a:r>
            <a:r>
              <a:rPr dirty="0" sz="2600" spc="4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42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distributed </a:t>
            </a:r>
            <a:r>
              <a:rPr dirty="0" sz="2600">
                <a:latin typeface="Calibri"/>
                <a:cs typeface="Calibri"/>
              </a:rPr>
              <a:t>coordination</a:t>
            </a:r>
            <a:r>
              <a:rPr dirty="0" sz="2600" spc="45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function</a:t>
            </a:r>
            <a:r>
              <a:rPr dirty="0" sz="2600" spc="44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(DCF)</a:t>
            </a:r>
            <a:r>
              <a:rPr dirty="0" sz="2600" spc="44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44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point</a:t>
            </a:r>
            <a:r>
              <a:rPr dirty="0" sz="2600" spc="440">
                <a:latin typeface="Calibri"/>
                <a:cs typeface="Calibri"/>
              </a:rPr>
              <a:t>  </a:t>
            </a:r>
            <a:r>
              <a:rPr dirty="0" sz="2600" spc="-10">
                <a:latin typeface="Calibri"/>
                <a:cs typeface="Calibri"/>
              </a:rPr>
              <a:t>coordination </a:t>
            </a:r>
            <a:r>
              <a:rPr dirty="0" sz="2600">
                <a:latin typeface="Calibri"/>
                <a:cs typeface="Calibri"/>
              </a:rPr>
              <a:t>function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(PCF).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8739" y="60147"/>
            <a:ext cx="4608830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0">
                <a:latin typeface="Calibri"/>
                <a:cs typeface="Calibri"/>
              </a:rPr>
              <a:t>IEEE</a:t>
            </a:r>
            <a:r>
              <a:rPr dirty="0" sz="3200" spc="-15" b="1" i="0">
                <a:latin typeface="Calibri"/>
                <a:cs typeface="Calibri"/>
              </a:rPr>
              <a:t> </a:t>
            </a:r>
            <a:r>
              <a:rPr dirty="0" sz="3200" b="1" i="0">
                <a:latin typeface="Calibri"/>
                <a:cs typeface="Calibri"/>
              </a:rPr>
              <a:t>802.11</a:t>
            </a:r>
            <a:r>
              <a:rPr dirty="0" sz="3200" spc="-15" b="1" i="0">
                <a:latin typeface="Calibri"/>
                <a:cs typeface="Calibri"/>
              </a:rPr>
              <a:t> </a:t>
            </a:r>
            <a:r>
              <a:rPr dirty="0" sz="3200" spc="-10" b="1" i="0">
                <a:latin typeface="Calibri"/>
                <a:cs typeface="Calibri"/>
              </a:rPr>
              <a:t>ARCHITECTURE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5245" y="2371998"/>
            <a:ext cx="8114652" cy="416524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0040" rIns="0" bIns="0" rtlCol="0" vert="horz">
            <a:spAutoFit/>
          </a:bodyPr>
          <a:lstStyle/>
          <a:p>
            <a:pPr marL="258445">
              <a:lnSpc>
                <a:spcPct val="100000"/>
              </a:lnSpc>
              <a:spcBef>
                <a:spcPts val="105"/>
              </a:spcBef>
            </a:pPr>
            <a:r>
              <a:rPr dirty="0" sz="2900" i="0">
                <a:latin typeface="Calibri"/>
                <a:cs typeface="Calibri"/>
              </a:rPr>
              <a:t>IEEE</a:t>
            </a:r>
            <a:r>
              <a:rPr dirty="0" sz="2900" spc="-80" i="0">
                <a:latin typeface="Calibri"/>
                <a:cs typeface="Calibri"/>
              </a:rPr>
              <a:t> </a:t>
            </a:r>
            <a:r>
              <a:rPr dirty="0" sz="2900" i="0">
                <a:latin typeface="Calibri"/>
                <a:cs typeface="Calibri"/>
              </a:rPr>
              <a:t>802.11</a:t>
            </a:r>
            <a:r>
              <a:rPr dirty="0" sz="2900" spc="-50" i="0">
                <a:latin typeface="Calibri"/>
                <a:cs typeface="Calibri"/>
              </a:rPr>
              <a:t> </a:t>
            </a:r>
            <a:r>
              <a:rPr dirty="0" sz="2900" i="0">
                <a:latin typeface="Calibri"/>
                <a:cs typeface="Calibri"/>
              </a:rPr>
              <a:t>Medium</a:t>
            </a:r>
            <a:r>
              <a:rPr dirty="0" sz="2900" spc="-85" i="0">
                <a:latin typeface="Calibri"/>
                <a:cs typeface="Calibri"/>
              </a:rPr>
              <a:t> </a:t>
            </a:r>
            <a:r>
              <a:rPr dirty="0" sz="2900" i="0">
                <a:latin typeface="Calibri"/>
                <a:cs typeface="Calibri"/>
              </a:rPr>
              <a:t>Access</a:t>
            </a:r>
            <a:r>
              <a:rPr dirty="0" sz="2900" spc="-60" i="0">
                <a:latin typeface="Calibri"/>
                <a:cs typeface="Calibri"/>
              </a:rPr>
              <a:t> </a:t>
            </a:r>
            <a:r>
              <a:rPr dirty="0" sz="2900" i="0">
                <a:latin typeface="Calibri"/>
                <a:cs typeface="Calibri"/>
              </a:rPr>
              <a:t>Control</a:t>
            </a:r>
            <a:r>
              <a:rPr dirty="0" sz="2900" spc="-75" i="0">
                <a:latin typeface="Calibri"/>
                <a:cs typeface="Calibri"/>
              </a:rPr>
              <a:t> </a:t>
            </a:r>
            <a:r>
              <a:rPr dirty="0" sz="2900" spc="-10" i="0">
                <a:latin typeface="Calibri"/>
                <a:cs typeface="Calibri"/>
              </a:rPr>
              <a:t>Logic</a:t>
            </a:r>
            <a:endParaRPr sz="29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9073" y="616699"/>
            <a:ext cx="4895760" cy="570080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1140" y="456431"/>
            <a:ext cx="8608060" cy="5218430"/>
          </a:xfrm>
          <a:prstGeom prst="rect">
            <a:avLst/>
          </a:prstGeom>
        </p:spPr>
        <p:txBody>
          <a:bodyPr wrap="square" lIns="0" tIns="99695" rIns="0" bIns="0" rtlCol="0" vert="horz">
            <a:spAutoFit/>
          </a:bodyPr>
          <a:lstStyle/>
          <a:p>
            <a:pPr marL="354330" indent="-341630">
              <a:lnSpc>
                <a:spcPct val="100000"/>
              </a:lnSpc>
              <a:spcBef>
                <a:spcPts val="785"/>
              </a:spcBef>
              <a:buFont typeface="Arial MT"/>
              <a:buChar char="•"/>
              <a:tabLst>
                <a:tab pos="354330" algn="l"/>
              </a:tabLst>
            </a:pPr>
            <a:r>
              <a:rPr dirty="0" sz="2800" spc="-10" i="1">
                <a:latin typeface="Calibri"/>
                <a:cs typeface="Calibri"/>
              </a:rPr>
              <a:t>Distributed</a:t>
            </a:r>
            <a:r>
              <a:rPr dirty="0" sz="2800" spc="-95" i="1">
                <a:latin typeface="Calibri"/>
                <a:cs typeface="Calibri"/>
              </a:rPr>
              <a:t> </a:t>
            </a:r>
            <a:r>
              <a:rPr dirty="0" sz="2800" i="1">
                <a:latin typeface="Calibri"/>
                <a:cs typeface="Calibri"/>
              </a:rPr>
              <a:t>Coordination</a:t>
            </a:r>
            <a:r>
              <a:rPr dirty="0" sz="2800" spc="-100" i="1">
                <a:latin typeface="Calibri"/>
                <a:cs typeface="Calibri"/>
              </a:rPr>
              <a:t> </a:t>
            </a:r>
            <a:r>
              <a:rPr dirty="0" sz="2800" spc="-10" i="1">
                <a:latin typeface="Calibri"/>
                <a:cs typeface="Calibri"/>
              </a:rPr>
              <a:t>Function</a:t>
            </a:r>
            <a:endParaRPr sz="2800">
              <a:latin typeface="Calibri"/>
              <a:cs typeface="Calibri"/>
            </a:endParaRPr>
          </a:p>
          <a:p>
            <a:pPr algn="just" lvl="1" marL="756285" marR="328930" indent="-287020">
              <a:lnSpc>
                <a:spcPct val="100000"/>
              </a:lnSpc>
              <a:spcBef>
                <a:spcPts val="64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600">
                <a:latin typeface="Calibri"/>
                <a:cs typeface="Calibri"/>
              </a:rPr>
              <a:t>DCF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uses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 i="1">
                <a:latin typeface="Calibri"/>
                <a:cs typeface="Calibri"/>
              </a:rPr>
              <a:t>CSMAICA</a:t>
            </a:r>
            <a:r>
              <a:rPr dirty="0" sz="2600" spc="-45" i="1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as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access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method.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Wireless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LANs </a:t>
            </a:r>
            <a:r>
              <a:rPr dirty="0" sz="2600">
                <a:latin typeface="Calibri"/>
                <a:cs typeface="Calibri"/>
              </a:rPr>
              <a:t>cannot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implement</a:t>
            </a:r>
            <a:r>
              <a:rPr dirty="0" sz="2600" spc="-80">
                <a:latin typeface="Calibri"/>
                <a:cs typeface="Calibri"/>
              </a:rPr>
              <a:t> </a:t>
            </a:r>
            <a:r>
              <a:rPr dirty="0" sz="2600" i="1">
                <a:latin typeface="Calibri"/>
                <a:cs typeface="Calibri"/>
              </a:rPr>
              <a:t>CSMAlCD</a:t>
            </a:r>
            <a:r>
              <a:rPr dirty="0" sz="2600" spc="-55" i="1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three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reasons:</a:t>
            </a:r>
            <a:endParaRPr sz="2600">
              <a:latin typeface="Calibri"/>
              <a:cs typeface="Calibri"/>
            </a:endParaRPr>
          </a:p>
          <a:p>
            <a:pPr algn="just" lvl="2" marL="1155700" marR="6350" indent="-228600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1155700" algn="l"/>
              </a:tabLst>
            </a:pP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25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collision</a:t>
            </a:r>
            <a:r>
              <a:rPr dirty="0" sz="2600" spc="2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detection</a:t>
            </a:r>
            <a:r>
              <a:rPr dirty="0" sz="2600" spc="2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2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station</a:t>
            </a:r>
            <a:r>
              <a:rPr dirty="0" sz="2600" spc="2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must</a:t>
            </a:r>
            <a:r>
              <a:rPr dirty="0" sz="2600" spc="2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be</a:t>
            </a:r>
            <a:r>
              <a:rPr dirty="0" sz="2600" spc="25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able</a:t>
            </a:r>
            <a:r>
              <a:rPr dirty="0" sz="2600" spc="2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24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send </a:t>
            </a:r>
            <a:r>
              <a:rPr dirty="0" sz="2600">
                <a:latin typeface="Calibri"/>
                <a:cs typeface="Calibri"/>
              </a:rPr>
              <a:t>data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receive</a:t>
            </a:r>
            <a:r>
              <a:rPr dirty="0" sz="2600" spc="-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collision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signals at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same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time.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This </a:t>
            </a:r>
            <a:r>
              <a:rPr dirty="0" sz="2600">
                <a:latin typeface="Calibri"/>
                <a:cs typeface="Calibri"/>
              </a:rPr>
              <a:t>can</a:t>
            </a:r>
            <a:r>
              <a:rPr dirty="0" sz="2600" spc="13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mean</a:t>
            </a:r>
            <a:r>
              <a:rPr dirty="0" sz="2600" spc="12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costly</a:t>
            </a:r>
            <a:r>
              <a:rPr dirty="0" sz="2600" spc="12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stations</a:t>
            </a:r>
            <a:r>
              <a:rPr dirty="0" sz="2600" spc="14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13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increased</a:t>
            </a:r>
            <a:r>
              <a:rPr dirty="0" sz="2600" spc="130">
                <a:latin typeface="Calibri"/>
                <a:cs typeface="Calibri"/>
              </a:rPr>
              <a:t>  </a:t>
            </a:r>
            <a:r>
              <a:rPr dirty="0" sz="2600" spc="-10">
                <a:latin typeface="Calibri"/>
                <a:cs typeface="Calibri"/>
              </a:rPr>
              <a:t>bandwidth requirements.</a:t>
            </a:r>
            <a:endParaRPr sz="2600">
              <a:latin typeface="Calibri"/>
              <a:cs typeface="Calibri"/>
            </a:endParaRPr>
          </a:p>
          <a:p>
            <a:pPr algn="just" lvl="2" marL="1155700" marR="7620" indent="-228600">
              <a:lnSpc>
                <a:spcPct val="100000"/>
              </a:lnSpc>
              <a:spcBef>
                <a:spcPts val="630"/>
              </a:spcBef>
              <a:buFont typeface="Arial MT"/>
              <a:buChar char="•"/>
              <a:tabLst>
                <a:tab pos="1155700" algn="l"/>
              </a:tabLst>
            </a:pPr>
            <a:r>
              <a:rPr dirty="0" sz="2600">
                <a:latin typeface="Calibri"/>
                <a:cs typeface="Calibri"/>
              </a:rPr>
              <a:t>Collision</a:t>
            </a:r>
            <a:r>
              <a:rPr dirty="0" sz="2600" spc="3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may</a:t>
            </a:r>
            <a:r>
              <a:rPr dirty="0" sz="2600" spc="3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not</a:t>
            </a:r>
            <a:r>
              <a:rPr dirty="0" sz="2600" spc="3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be</a:t>
            </a:r>
            <a:r>
              <a:rPr dirty="0" sz="2600" spc="3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detected</a:t>
            </a:r>
            <a:r>
              <a:rPr dirty="0" sz="2600" spc="3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because</a:t>
            </a:r>
            <a:r>
              <a:rPr dirty="0" sz="2600" spc="3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3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34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hidden station</a:t>
            </a:r>
            <a:r>
              <a:rPr dirty="0" sz="2600" spc="-10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problem.</a:t>
            </a:r>
            <a:endParaRPr sz="2600">
              <a:latin typeface="Calibri"/>
              <a:cs typeface="Calibri"/>
            </a:endParaRPr>
          </a:p>
          <a:p>
            <a:pPr algn="just" lvl="2" marL="1155700" marR="5080" indent="-228600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1155700" algn="l"/>
              </a:tabLst>
            </a:pP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4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distance</a:t>
            </a:r>
            <a:r>
              <a:rPr dirty="0" sz="2600" spc="5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between</a:t>
            </a:r>
            <a:r>
              <a:rPr dirty="0" sz="2600" spc="5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stations</a:t>
            </a:r>
            <a:r>
              <a:rPr dirty="0" sz="2600" spc="6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can</a:t>
            </a:r>
            <a:r>
              <a:rPr dirty="0" sz="2600" spc="5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be</a:t>
            </a:r>
            <a:r>
              <a:rPr dirty="0" sz="2600" spc="5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great.</a:t>
            </a:r>
            <a:r>
              <a:rPr dirty="0" sz="2600" spc="60">
                <a:latin typeface="Calibri"/>
                <a:cs typeface="Calibri"/>
              </a:rPr>
              <a:t>  </a:t>
            </a:r>
            <a:r>
              <a:rPr dirty="0" sz="2600" spc="-10">
                <a:latin typeface="Calibri"/>
                <a:cs typeface="Calibri"/>
              </a:rPr>
              <a:t>Signal </a:t>
            </a:r>
            <a:r>
              <a:rPr dirty="0" sz="2600">
                <a:latin typeface="Calibri"/>
                <a:cs typeface="Calibri"/>
              </a:rPr>
              <a:t>fading</a:t>
            </a:r>
            <a:r>
              <a:rPr dirty="0" sz="2600" spc="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could</a:t>
            </a:r>
            <a:r>
              <a:rPr dirty="0" sz="2600" spc="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prevent</a:t>
            </a:r>
            <a:r>
              <a:rPr dirty="0" sz="2600" spc="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station</a:t>
            </a:r>
            <a:r>
              <a:rPr dirty="0" sz="2600" spc="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at</a:t>
            </a:r>
            <a:r>
              <a:rPr dirty="0" sz="2600" spc="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one</a:t>
            </a:r>
            <a:r>
              <a:rPr dirty="0" sz="2600" spc="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end</a:t>
            </a:r>
            <a:r>
              <a:rPr dirty="0" sz="2600" spc="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from</a:t>
            </a:r>
            <a:r>
              <a:rPr dirty="0" sz="2600" spc="3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hearing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collision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at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other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end.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8739" y="60147"/>
            <a:ext cx="4608830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0">
                <a:latin typeface="Calibri"/>
                <a:cs typeface="Calibri"/>
              </a:rPr>
              <a:t>IEEE</a:t>
            </a:r>
            <a:r>
              <a:rPr dirty="0" sz="3200" spc="-15" b="1" i="0">
                <a:latin typeface="Calibri"/>
                <a:cs typeface="Calibri"/>
              </a:rPr>
              <a:t> </a:t>
            </a:r>
            <a:r>
              <a:rPr dirty="0" sz="3200" b="1" i="0">
                <a:latin typeface="Calibri"/>
                <a:cs typeface="Calibri"/>
              </a:rPr>
              <a:t>802.11</a:t>
            </a:r>
            <a:r>
              <a:rPr dirty="0" sz="3200" spc="-15" b="1" i="0">
                <a:latin typeface="Calibri"/>
                <a:cs typeface="Calibri"/>
              </a:rPr>
              <a:t> </a:t>
            </a:r>
            <a:r>
              <a:rPr dirty="0" sz="3200" spc="-10" b="1" i="0">
                <a:latin typeface="Calibri"/>
                <a:cs typeface="Calibri"/>
              </a:rPr>
              <a:t>ARCHITECTURE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1140" y="267080"/>
            <a:ext cx="8705850" cy="47707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i="1">
                <a:latin typeface="Calibri"/>
                <a:cs typeface="Calibri"/>
              </a:rPr>
              <a:t>CSMAICA</a:t>
            </a:r>
            <a:endParaRPr sz="2800">
              <a:latin typeface="Calibri"/>
              <a:cs typeface="Calibri"/>
            </a:endParaRPr>
          </a:p>
          <a:p>
            <a:pPr algn="just" marL="35560" marR="5715" indent="415925">
              <a:lnSpc>
                <a:spcPct val="100000"/>
              </a:lnSpc>
              <a:spcBef>
                <a:spcPts val="2420"/>
              </a:spcBef>
              <a:buAutoNum type="arabicPeriod"/>
              <a:tabLst>
                <a:tab pos="451484" algn="l"/>
              </a:tabLst>
            </a:pPr>
            <a:r>
              <a:rPr dirty="0" sz="2800">
                <a:latin typeface="Calibri"/>
                <a:cs typeface="Calibri"/>
              </a:rPr>
              <a:t>Before</a:t>
            </a:r>
            <a:r>
              <a:rPr dirty="0" sz="2800" spc="4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sending</a:t>
            </a:r>
            <a:r>
              <a:rPr dirty="0" sz="2800" spc="4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4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frame,</a:t>
            </a:r>
            <a:r>
              <a:rPr dirty="0" sz="2800" spc="4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4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source</a:t>
            </a:r>
            <a:r>
              <a:rPr dirty="0" sz="2800" spc="4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station</a:t>
            </a:r>
            <a:r>
              <a:rPr dirty="0" sz="2800" spc="43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senses</a:t>
            </a:r>
            <a:r>
              <a:rPr dirty="0" sz="2800" spc="42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the </a:t>
            </a:r>
            <a:r>
              <a:rPr dirty="0" sz="2800">
                <a:latin typeface="Calibri"/>
                <a:cs typeface="Calibri"/>
              </a:rPr>
              <a:t>medium</a:t>
            </a:r>
            <a:r>
              <a:rPr dirty="0" sz="2800" spc="32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by</a:t>
            </a:r>
            <a:r>
              <a:rPr dirty="0" sz="2800" spc="32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checking</a:t>
            </a:r>
            <a:r>
              <a:rPr dirty="0" sz="2800" spc="31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31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energy</a:t>
            </a:r>
            <a:r>
              <a:rPr dirty="0" sz="2800" spc="32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level</a:t>
            </a:r>
            <a:r>
              <a:rPr dirty="0" sz="2800" spc="31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at</a:t>
            </a:r>
            <a:r>
              <a:rPr dirty="0" sz="2800" spc="32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320">
                <a:latin typeface="Calibri"/>
                <a:cs typeface="Calibri"/>
              </a:rPr>
              <a:t>  </a:t>
            </a:r>
            <a:r>
              <a:rPr dirty="0" sz="2800" spc="-10">
                <a:latin typeface="Calibri"/>
                <a:cs typeface="Calibri"/>
              </a:rPr>
              <a:t>carrier frequency.</a:t>
            </a:r>
            <a:endParaRPr sz="2800">
              <a:latin typeface="Calibri"/>
              <a:cs typeface="Calibri"/>
            </a:endParaRPr>
          </a:p>
          <a:p>
            <a:pPr algn="just" lvl="1" marL="492759" marR="5715" indent="363855">
              <a:lnSpc>
                <a:spcPct val="100000"/>
              </a:lnSpc>
              <a:spcBef>
                <a:spcPts val="675"/>
              </a:spcBef>
              <a:buAutoNum type="alphaLcPeriod"/>
              <a:tabLst>
                <a:tab pos="856615" algn="l"/>
              </a:tabLst>
            </a:pP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channel</a:t>
            </a:r>
            <a:r>
              <a:rPr dirty="0" sz="2800" spc="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uses</a:t>
            </a:r>
            <a:r>
              <a:rPr dirty="0" sz="2800" spc="1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1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persistence</a:t>
            </a:r>
            <a:r>
              <a:rPr dirty="0" sz="2800" spc="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strategy</a:t>
            </a:r>
            <a:r>
              <a:rPr dirty="0" sz="2800" spc="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with</a:t>
            </a:r>
            <a:r>
              <a:rPr dirty="0" sz="2800" spc="9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back-</a:t>
            </a:r>
            <a:r>
              <a:rPr dirty="0" sz="2800" spc="-25">
                <a:latin typeface="Calibri"/>
                <a:cs typeface="Calibri"/>
              </a:rPr>
              <a:t>off </a:t>
            </a:r>
            <a:r>
              <a:rPr dirty="0" sz="2800">
                <a:latin typeface="Calibri"/>
                <a:cs typeface="Calibri"/>
              </a:rPr>
              <a:t>until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channel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idle.</a:t>
            </a:r>
            <a:endParaRPr sz="2800">
              <a:latin typeface="Calibri"/>
              <a:cs typeface="Calibri"/>
            </a:endParaRPr>
          </a:p>
          <a:p>
            <a:pPr algn="just" lvl="1" marL="492759" marR="5080" indent="379095">
              <a:lnSpc>
                <a:spcPct val="100000"/>
              </a:lnSpc>
              <a:spcBef>
                <a:spcPts val="670"/>
              </a:spcBef>
              <a:buAutoNum type="alphaLcPeriod"/>
              <a:tabLst>
                <a:tab pos="871855" algn="l"/>
              </a:tabLst>
            </a:pPr>
            <a:r>
              <a:rPr dirty="0" sz="2800">
                <a:latin typeface="Calibri"/>
                <a:cs typeface="Calibri"/>
              </a:rPr>
              <a:t>After</a:t>
            </a:r>
            <a:r>
              <a:rPr dirty="0" sz="2800" spc="1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1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station</a:t>
            </a:r>
            <a:r>
              <a:rPr dirty="0" sz="2800" spc="11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1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found</a:t>
            </a:r>
            <a:r>
              <a:rPr dirty="0" sz="2800" spc="11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1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be</a:t>
            </a:r>
            <a:r>
              <a:rPr dirty="0" sz="2800" spc="1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idle,</a:t>
            </a:r>
            <a:r>
              <a:rPr dirty="0" sz="2800" spc="1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1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station</a:t>
            </a:r>
            <a:r>
              <a:rPr dirty="0" sz="2800" spc="12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waits </a:t>
            </a:r>
            <a:r>
              <a:rPr dirty="0" sz="2800">
                <a:latin typeface="Calibri"/>
                <a:cs typeface="Calibri"/>
              </a:rPr>
              <a:t>for</a:t>
            </a:r>
            <a:r>
              <a:rPr dirty="0" sz="2800" spc="5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5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period</a:t>
            </a:r>
            <a:r>
              <a:rPr dirty="0" sz="2800" spc="5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5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time</a:t>
            </a:r>
            <a:r>
              <a:rPr dirty="0" sz="2800" spc="5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called</a:t>
            </a:r>
            <a:r>
              <a:rPr dirty="0" sz="2800" spc="5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5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distributed</a:t>
            </a:r>
            <a:r>
              <a:rPr dirty="0" sz="2800" spc="5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interframe </a:t>
            </a:r>
            <a:r>
              <a:rPr dirty="0" sz="2800">
                <a:latin typeface="Calibri"/>
                <a:cs typeface="Calibri"/>
              </a:rPr>
              <a:t>space</a:t>
            </a:r>
            <a:r>
              <a:rPr dirty="0" sz="2800" spc="509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(DIFS);</a:t>
            </a:r>
            <a:r>
              <a:rPr dirty="0" sz="2800" spc="509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then</a:t>
            </a:r>
            <a:r>
              <a:rPr dirty="0" sz="2800" spc="5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5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station</a:t>
            </a:r>
            <a:r>
              <a:rPr dirty="0" sz="2800" spc="5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sends</a:t>
            </a:r>
            <a:r>
              <a:rPr dirty="0" sz="2800" spc="5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5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5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request</a:t>
            </a:r>
            <a:r>
              <a:rPr dirty="0" sz="2800" spc="51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to </a:t>
            </a:r>
            <a:r>
              <a:rPr dirty="0" sz="2800">
                <a:latin typeface="Calibri"/>
                <a:cs typeface="Calibri"/>
              </a:rPr>
              <a:t>send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(RTS).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1140" y="162255"/>
            <a:ext cx="8759190" cy="36626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i="1">
                <a:latin typeface="Calibri"/>
                <a:cs typeface="Calibri"/>
              </a:rPr>
              <a:t>CSMAICA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25"/>
              </a:spcBef>
            </a:pPr>
            <a:endParaRPr sz="2800">
              <a:latin typeface="Calibri"/>
              <a:cs typeface="Calibri"/>
            </a:endParaRPr>
          </a:p>
          <a:p>
            <a:pPr algn="just" marL="88900" marR="5080" indent="438784">
              <a:lnSpc>
                <a:spcPct val="100000"/>
              </a:lnSpc>
              <a:buAutoNum type="arabicPeriod" startAt="2"/>
              <a:tabLst>
                <a:tab pos="527685" algn="l"/>
              </a:tabLst>
            </a:pPr>
            <a:r>
              <a:rPr dirty="0" sz="2800">
                <a:latin typeface="Calibri"/>
                <a:cs typeface="Calibri"/>
              </a:rPr>
              <a:t>After</a:t>
            </a:r>
            <a:r>
              <a:rPr dirty="0" sz="2800" spc="6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receiving</a:t>
            </a:r>
            <a:r>
              <a:rPr dirty="0" sz="2800" spc="6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6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RTS</a:t>
            </a:r>
            <a:r>
              <a:rPr dirty="0" sz="2800" spc="6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6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waiting</a:t>
            </a:r>
            <a:r>
              <a:rPr dirty="0" sz="2800" spc="6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6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period</a:t>
            </a:r>
            <a:r>
              <a:rPr dirty="0" sz="2800" spc="6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64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time </a:t>
            </a:r>
            <a:r>
              <a:rPr dirty="0" sz="2800">
                <a:latin typeface="Calibri"/>
                <a:cs typeface="Calibri"/>
              </a:rPr>
              <a:t>called</a:t>
            </a:r>
            <a:r>
              <a:rPr dirty="0" sz="2800" spc="6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6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short</a:t>
            </a:r>
            <a:r>
              <a:rPr dirty="0" sz="2800" spc="6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interframe</a:t>
            </a:r>
            <a:r>
              <a:rPr dirty="0" sz="2800" spc="6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space</a:t>
            </a:r>
            <a:r>
              <a:rPr dirty="0" sz="2800" spc="6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(SIFS),</a:t>
            </a:r>
            <a:r>
              <a:rPr dirty="0" sz="2800" spc="6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68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destination </a:t>
            </a:r>
            <a:r>
              <a:rPr dirty="0" sz="2800">
                <a:latin typeface="Calibri"/>
                <a:cs typeface="Calibri"/>
              </a:rPr>
              <a:t>station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sends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control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frame,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called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clear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send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(CTS),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source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station.</a:t>
            </a:r>
            <a:endParaRPr sz="2800">
              <a:latin typeface="Calibri"/>
              <a:cs typeface="Calibri"/>
            </a:endParaRPr>
          </a:p>
          <a:p>
            <a:pPr algn="just" lvl="1" marL="830580" marR="5715" indent="-341630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832485" algn="l"/>
              </a:tabLst>
            </a:pPr>
            <a:r>
              <a:rPr dirty="0" sz="2800">
                <a:latin typeface="Calibri"/>
                <a:cs typeface="Calibri"/>
              </a:rPr>
              <a:t>This</a:t>
            </a:r>
            <a:r>
              <a:rPr dirty="0" sz="2800" spc="28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control</a:t>
            </a:r>
            <a:r>
              <a:rPr dirty="0" sz="2800" spc="28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frame</a:t>
            </a:r>
            <a:r>
              <a:rPr dirty="0" sz="2800" spc="28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indicates</a:t>
            </a:r>
            <a:r>
              <a:rPr dirty="0" sz="2800" spc="28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that</a:t>
            </a:r>
            <a:r>
              <a:rPr dirty="0" sz="2800" spc="28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285">
                <a:latin typeface="Calibri"/>
                <a:cs typeface="Calibri"/>
              </a:rPr>
              <a:t>  </a:t>
            </a:r>
            <a:r>
              <a:rPr dirty="0" sz="2800" spc="-10">
                <a:latin typeface="Calibri"/>
                <a:cs typeface="Calibri"/>
              </a:rPr>
              <a:t>destination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station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ready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receive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data.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9740" y="851661"/>
            <a:ext cx="8267065" cy="4403725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marL="12700" marR="5080" indent="336550">
              <a:lnSpc>
                <a:spcPts val="2590"/>
              </a:lnSpc>
              <a:spcBef>
                <a:spcPts val="725"/>
              </a:spcBef>
              <a:buFont typeface="Calibri"/>
              <a:buAutoNum type="arabicPeriod" startAt="3"/>
              <a:tabLst>
                <a:tab pos="349250" algn="l"/>
              </a:tabLst>
            </a:pP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-7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source</a:t>
            </a:r>
            <a:r>
              <a:rPr dirty="0" sz="2700" spc="-6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station</a:t>
            </a:r>
            <a:r>
              <a:rPr dirty="0" sz="2700" spc="-5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sends</a:t>
            </a:r>
            <a:r>
              <a:rPr dirty="0" sz="2700" spc="-8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data</a:t>
            </a:r>
            <a:r>
              <a:rPr dirty="0" sz="2700" spc="-5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after</a:t>
            </a:r>
            <a:r>
              <a:rPr dirty="0" sz="2700" spc="-7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waiting</a:t>
            </a:r>
            <a:r>
              <a:rPr dirty="0" sz="2700" spc="-4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an</a:t>
            </a:r>
            <a:r>
              <a:rPr dirty="0" sz="2700" spc="-7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amount</a:t>
            </a:r>
            <a:r>
              <a:rPr dirty="0" sz="2700" spc="-60">
                <a:latin typeface="Calibri"/>
                <a:cs typeface="Calibri"/>
              </a:rPr>
              <a:t> </a:t>
            </a:r>
            <a:r>
              <a:rPr dirty="0" sz="2700" spc="-25">
                <a:latin typeface="Calibri"/>
                <a:cs typeface="Calibri"/>
              </a:rPr>
              <a:t>of </a:t>
            </a:r>
            <a:r>
              <a:rPr dirty="0" sz="2700">
                <a:latin typeface="Calibri"/>
                <a:cs typeface="Calibri"/>
              </a:rPr>
              <a:t>time</a:t>
            </a:r>
            <a:r>
              <a:rPr dirty="0" sz="2700" spc="-3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equal</a:t>
            </a:r>
            <a:r>
              <a:rPr dirty="0" sz="2700" spc="-5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to</a:t>
            </a:r>
            <a:r>
              <a:rPr dirty="0" sz="2700" spc="-35">
                <a:latin typeface="Calibri"/>
                <a:cs typeface="Calibri"/>
              </a:rPr>
              <a:t> </a:t>
            </a:r>
            <a:r>
              <a:rPr dirty="0" sz="2700" spc="-20">
                <a:latin typeface="Calibri"/>
                <a:cs typeface="Calibri"/>
              </a:rPr>
              <a:t>SIFS.</a:t>
            </a:r>
            <a:endParaRPr sz="27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Calibri"/>
              <a:buAutoNum type="arabicPeriod" startAt="3"/>
            </a:pPr>
            <a:endParaRPr sz="2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65"/>
              </a:spcBef>
              <a:buFont typeface="Calibri"/>
              <a:buAutoNum type="arabicPeriod" startAt="3"/>
            </a:pPr>
            <a:endParaRPr sz="2700">
              <a:latin typeface="Calibri"/>
              <a:cs typeface="Calibri"/>
            </a:endParaRPr>
          </a:p>
          <a:p>
            <a:pPr marL="12700" marR="123189" indent="336550">
              <a:lnSpc>
                <a:spcPct val="80000"/>
              </a:lnSpc>
              <a:buAutoNum type="arabicPeriod" startAt="3"/>
              <a:tabLst>
                <a:tab pos="349250" algn="l"/>
              </a:tabLst>
            </a:pP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-7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destination</a:t>
            </a:r>
            <a:r>
              <a:rPr dirty="0" sz="2700" spc="-6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station,</a:t>
            </a:r>
            <a:r>
              <a:rPr dirty="0" sz="2700" spc="-5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after</a:t>
            </a:r>
            <a:r>
              <a:rPr dirty="0" sz="2700" spc="-7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waiting</a:t>
            </a:r>
            <a:r>
              <a:rPr dirty="0" sz="2700" spc="-4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an</a:t>
            </a:r>
            <a:r>
              <a:rPr dirty="0" sz="2700" spc="-5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amount</a:t>
            </a:r>
            <a:r>
              <a:rPr dirty="0" sz="2700" spc="-7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of</a:t>
            </a:r>
            <a:r>
              <a:rPr dirty="0" sz="2700" spc="-40">
                <a:latin typeface="Calibri"/>
                <a:cs typeface="Calibri"/>
              </a:rPr>
              <a:t> </a:t>
            </a:r>
            <a:r>
              <a:rPr dirty="0" sz="2700" spc="-20">
                <a:latin typeface="Calibri"/>
                <a:cs typeface="Calibri"/>
              </a:rPr>
              <a:t>time </a:t>
            </a:r>
            <a:r>
              <a:rPr dirty="0" sz="2700">
                <a:latin typeface="Calibri"/>
                <a:cs typeface="Calibri"/>
              </a:rPr>
              <a:t>equal</a:t>
            </a:r>
            <a:r>
              <a:rPr dirty="0" sz="2700" spc="-5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to</a:t>
            </a:r>
            <a:r>
              <a:rPr dirty="0" sz="2700" spc="-4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SIFS,</a:t>
            </a:r>
            <a:r>
              <a:rPr dirty="0" sz="2700" spc="-3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sends</a:t>
            </a:r>
            <a:r>
              <a:rPr dirty="0" sz="2700" spc="-7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an</a:t>
            </a:r>
            <a:r>
              <a:rPr dirty="0" sz="2700" spc="-4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acknowledgment</a:t>
            </a:r>
            <a:r>
              <a:rPr dirty="0" sz="2700" spc="-7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to</a:t>
            </a:r>
            <a:r>
              <a:rPr dirty="0" sz="2700" spc="-4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show</a:t>
            </a:r>
            <a:r>
              <a:rPr dirty="0" sz="2700" spc="-4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that</a:t>
            </a:r>
            <a:r>
              <a:rPr dirty="0" sz="2700" spc="-50">
                <a:latin typeface="Calibri"/>
                <a:cs typeface="Calibri"/>
              </a:rPr>
              <a:t> </a:t>
            </a:r>
            <a:r>
              <a:rPr dirty="0" sz="2700" spc="-25">
                <a:latin typeface="Calibri"/>
                <a:cs typeface="Calibri"/>
              </a:rPr>
              <a:t>the </a:t>
            </a:r>
            <a:r>
              <a:rPr dirty="0" sz="2700">
                <a:latin typeface="Calibri"/>
                <a:cs typeface="Calibri"/>
              </a:rPr>
              <a:t>frame</a:t>
            </a:r>
            <a:r>
              <a:rPr dirty="0" sz="2700" spc="-3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has</a:t>
            </a:r>
            <a:r>
              <a:rPr dirty="0" sz="2700" spc="-4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been</a:t>
            </a:r>
            <a:r>
              <a:rPr dirty="0" sz="2700" spc="-55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received.</a:t>
            </a:r>
            <a:endParaRPr sz="2700">
              <a:latin typeface="Calibri"/>
              <a:cs typeface="Calibri"/>
            </a:endParaRPr>
          </a:p>
          <a:p>
            <a:pPr lvl="1" marL="870585" marR="291465" indent="-457834">
              <a:lnSpc>
                <a:spcPct val="80000"/>
              </a:lnSpc>
              <a:spcBef>
                <a:spcPts val="630"/>
              </a:spcBef>
              <a:buFont typeface="Arial MT"/>
              <a:buChar char="–"/>
              <a:tabLst>
                <a:tab pos="870585" algn="l"/>
              </a:tabLst>
            </a:pPr>
            <a:r>
              <a:rPr dirty="0" sz="2600">
                <a:latin typeface="Calibri"/>
                <a:cs typeface="Calibri"/>
              </a:rPr>
              <a:t>Acknowledgment</a:t>
            </a:r>
            <a:r>
              <a:rPr dirty="0" sz="2600" spc="-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needed</a:t>
            </a:r>
            <a:r>
              <a:rPr dirty="0" sz="2600" spc="-1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this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protocol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because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station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does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not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have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any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means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check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the </a:t>
            </a:r>
            <a:r>
              <a:rPr dirty="0" sz="2600">
                <a:latin typeface="Calibri"/>
                <a:cs typeface="Calibri"/>
              </a:rPr>
              <a:t>successful</a:t>
            </a:r>
            <a:r>
              <a:rPr dirty="0" sz="2600" spc="-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arrival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its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data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at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destination.</a:t>
            </a:r>
            <a:endParaRPr sz="2600">
              <a:latin typeface="Calibri"/>
              <a:cs typeface="Calibri"/>
            </a:endParaRPr>
          </a:p>
          <a:p>
            <a:pPr lvl="1" marL="870585" marR="27305" indent="-457834">
              <a:lnSpc>
                <a:spcPct val="80000"/>
              </a:lnSpc>
              <a:spcBef>
                <a:spcPts val="620"/>
              </a:spcBef>
              <a:buFont typeface="Arial MT"/>
              <a:buChar char="–"/>
              <a:tabLst>
                <a:tab pos="870585" algn="l"/>
              </a:tabLst>
            </a:pPr>
            <a:r>
              <a:rPr dirty="0" sz="2600">
                <a:latin typeface="Calibri"/>
                <a:cs typeface="Calibri"/>
              </a:rPr>
              <a:t>On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other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hand,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lack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collision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 i="1">
                <a:latin typeface="Calibri"/>
                <a:cs typeface="Calibri"/>
              </a:rPr>
              <a:t>CSMAlCD</a:t>
            </a:r>
            <a:r>
              <a:rPr dirty="0" sz="2600" spc="-35" i="1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 spc="-50">
                <a:latin typeface="Calibri"/>
                <a:cs typeface="Calibri"/>
              </a:rPr>
              <a:t>a </a:t>
            </a:r>
            <a:r>
              <a:rPr dirty="0" sz="2600">
                <a:latin typeface="Calibri"/>
                <a:cs typeface="Calibri"/>
              </a:rPr>
              <a:t>kind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indication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source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that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data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have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arrived.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8739" y="30302"/>
            <a:ext cx="136334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/>
              <a:t>CSMAICA</a:t>
            </a:r>
            <a:endParaRPr sz="2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2647" y="109091"/>
            <a:ext cx="7123420" cy="669406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8318" y="-83997"/>
            <a:ext cx="4608830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0">
                <a:latin typeface="Calibri"/>
                <a:cs typeface="Calibri"/>
              </a:rPr>
              <a:t>IEEE</a:t>
            </a:r>
            <a:r>
              <a:rPr dirty="0" sz="3200" spc="-35" b="1" i="0">
                <a:latin typeface="Calibri"/>
                <a:cs typeface="Calibri"/>
              </a:rPr>
              <a:t> </a:t>
            </a:r>
            <a:r>
              <a:rPr dirty="0" sz="3200" b="1" i="0">
                <a:latin typeface="Calibri"/>
                <a:cs typeface="Calibri"/>
              </a:rPr>
              <a:t>802.11</a:t>
            </a:r>
            <a:r>
              <a:rPr dirty="0" sz="3200" spc="-10" b="1" i="0">
                <a:latin typeface="Calibri"/>
                <a:cs typeface="Calibri"/>
              </a:rPr>
              <a:t> ARCHITECTURE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064" y="422529"/>
            <a:ext cx="164782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97815" algn="l"/>
              </a:tabLst>
            </a:pPr>
            <a:r>
              <a:rPr dirty="0" sz="2800" spc="-10" i="1">
                <a:latin typeface="Calibri"/>
                <a:cs typeface="Calibri"/>
              </a:rPr>
              <a:t>CSMAICA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6992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00"/>
              </a:spcBef>
            </a:pPr>
            <a:r>
              <a:rPr dirty="0" sz="3200" b="1" i="0">
                <a:latin typeface="Calibri"/>
                <a:cs typeface="Calibri"/>
              </a:rPr>
              <a:t>The</a:t>
            </a:r>
            <a:r>
              <a:rPr dirty="0" sz="3200" spc="-60" b="1" i="0">
                <a:latin typeface="Calibri"/>
                <a:cs typeface="Calibri"/>
              </a:rPr>
              <a:t> </a:t>
            </a:r>
            <a:r>
              <a:rPr dirty="0" sz="3200" b="1" i="0">
                <a:latin typeface="Calibri"/>
                <a:cs typeface="Calibri"/>
              </a:rPr>
              <a:t>Binary</a:t>
            </a:r>
            <a:r>
              <a:rPr dirty="0" sz="3200" spc="-65" b="1" i="0">
                <a:latin typeface="Calibri"/>
                <a:cs typeface="Calibri"/>
              </a:rPr>
              <a:t> </a:t>
            </a:r>
            <a:r>
              <a:rPr dirty="0" sz="3200" b="1" i="0">
                <a:latin typeface="Calibri"/>
                <a:cs typeface="Calibri"/>
              </a:rPr>
              <a:t>Exponential</a:t>
            </a:r>
            <a:r>
              <a:rPr dirty="0" sz="3200" spc="-50" b="1" i="0">
                <a:latin typeface="Calibri"/>
                <a:cs typeface="Calibri"/>
              </a:rPr>
              <a:t> </a:t>
            </a:r>
            <a:r>
              <a:rPr dirty="0" sz="3200" b="1" i="0">
                <a:latin typeface="Calibri"/>
                <a:cs typeface="Calibri"/>
              </a:rPr>
              <a:t>Backoff</a:t>
            </a:r>
            <a:r>
              <a:rPr dirty="0" sz="3200" spc="-35" b="1" i="0">
                <a:latin typeface="Calibri"/>
                <a:cs typeface="Calibri"/>
              </a:rPr>
              <a:t> </a:t>
            </a:r>
            <a:r>
              <a:rPr dirty="0" sz="3200" spc="-10" b="1" i="0">
                <a:latin typeface="Calibri"/>
                <a:cs typeface="Calibri"/>
              </a:rPr>
              <a:t>Algorithm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7040" y="1011682"/>
            <a:ext cx="8364855" cy="4857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68300" indent="-342900">
              <a:lnSpc>
                <a:spcPts val="3100"/>
              </a:lnSpc>
              <a:spcBef>
                <a:spcPts val="105"/>
              </a:spcBef>
              <a:buChar char="•"/>
              <a:tabLst>
                <a:tab pos="368300" algn="l"/>
              </a:tabLst>
            </a:pPr>
            <a:r>
              <a:rPr dirty="0" sz="2600" spc="-10">
                <a:latin typeface="Arial MT"/>
                <a:cs typeface="Arial MT"/>
              </a:rPr>
              <a:t>Procedure</a:t>
            </a:r>
            <a:endParaRPr sz="2600">
              <a:latin typeface="Arial MT"/>
              <a:cs typeface="Arial MT"/>
            </a:endParaRPr>
          </a:p>
          <a:p>
            <a:pPr lvl="1" marL="939800" marR="155575" indent="-457834">
              <a:lnSpc>
                <a:spcPct val="80000"/>
              </a:lnSpc>
              <a:spcBef>
                <a:spcPts val="605"/>
              </a:spcBef>
              <a:buClr>
                <a:srgbClr val="4F81BC"/>
              </a:buClr>
              <a:buFont typeface="Arial MT"/>
              <a:buChar char="–"/>
              <a:tabLst>
                <a:tab pos="939800" algn="l"/>
              </a:tabLst>
            </a:pPr>
            <a:r>
              <a:rPr dirty="0" sz="2600">
                <a:latin typeface="Calibri"/>
                <a:cs typeface="Calibri"/>
              </a:rPr>
              <a:t>After</a:t>
            </a:r>
            <a:r>
              <a:rPr dirty="0" sz="2600" spc="-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0000"/>
                </a:solidFill>
                <a:latin typeface="Calibri"/>
                <a:cs typeface="Calibri"/>
              </a:rPr>
              <a:t>first</a:t>
            </a:r>
            <a:r>
              <a:rPr dirty="0" sz="2600" spc="-5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0000"/>
                </a:solidFill>
                <a:latin typeface="Calibri"/>
                <a:cs typeface="Calibri"/>
              </a:rPr>
              <a:t>collision</a:t>
            </a:r>
            <a:r>
              <a:rPr dirty="0" sz="2600">
                <a:latin typeface="Calibri"/>
                <a:cs typeface="Calibri"/>
              </a:rPr>
              <a:t>,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each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station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waits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either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0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or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spc="-50">
                <a:latin typeface="Calibri"/>
                <a:cs typeface="Calibri"/>
              </a:rPr>
              <a:t>1 </a:t>
            </a:r>
            <a:r>
              <a:rPr dirty="0" sz="2600">
                <a:latin typeface="Calibri"/>
                <a:cs typeface="Calibri"/>
              </a:rPr>
              <a:t>slot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times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before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trying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again</a:t>
            </a:r>
            <a:endParaRPr sz="26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545"/>
              </a:spcBef>
              <a:buClr>
                <a:srgbClr val="4F81BC"/>
              </a:buClr>
              <a:buFont typeface="Arial MT"/>
              <a:buChar char="–"/>
            </a:pPr>
            <a:endParaRPr sz="2600">
              <a:latin typeface="Calibri"/>
              <a:cs typeface="Calibri"/>
            </a:endParaRPr>
          </a:p>
          <a:p>
            <a:pPr lvl="1" marL="939800" marR="55880" indent="-457834">
              <a:lnSpc>
                <a:spcPts val="2500"/>
              </a:lnSpc>
              <a:spcBef>
                <a:spcPts val="5"/>
              </a:spcBef>
              <a:buClr>
                <a:srgbClr val="4F81BC"/>
              </a:buClr>
              <a:buFont typeface="Arial MT"/>
              <a:buChar char="–"/>
              <a:tabLst>
                <a:tab pos="939800" algn="l"/>
              </a:tabLst>
            </a:pPr>
            <a:r>
              <a:rPr dirty="0" sz="2600">
                <a:latin typeface="Calibri"/>
                <a:cs typeface="Calibri"/>
              </a:rPr>
              <a:t>After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0000"/>
                </a:solidFill>
                <a:latin typeface="Calibri"/>
                <a:cs typeface="Calibri"/>
              </a:rPr>
              <a:t>second</a:t>
            </a:r>
            <a:r>
              <a:rPr dirty="0" sz="2600" spc="-5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0000"/>
                </a:solidFill>
                <a:latin typeface="Calibri"/>
                <a:cs typeface="Calibri"/>
              </a:rPr>
              <a:t>collision</a:t>
            </a:r>
            <a:r>
              <a:rPr dirty="0" sz="2600">
                <a:latin typeface="Calibri"/>
                <a:cs typeface="Calibri"/>
              </a:rPr>
              <a:t>,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each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one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picks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either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0,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1,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2, </a:t>
            </a:r>
            <a:r>
              <a:rPr dirty="0" sz="2600">
                <a:latin typeface="Calibri"/>
                <a:cs typeface="Calibri"/>
              </a:rPr>
              <a:t>or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3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at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random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waits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that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number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slot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times</a:t>
            </a:r>
            <a:endParaRPr sz="2600">
              <a:latin typeface="Calibri"/>
              <a:cs typeface="Calibri"/>
            </a:endParaRPr>
          </a:p>
          <a:p>
            <a:pPr marL="482600">
              <a:lnSpc>
                <a:spcPct val="100000"/>
              </a:lnSpc>
              <a:spcBef>
                <a:spcPts val="15"/>
              </a:spcBef>
              <a:tabLst>
                <a:tab pos="1238250" algn="l"/>
              </a:tabLst>
            </a:pPr>
            <a:r>
              <a:rPr dirty="0" sz="2600">
                <a:solidFill>
                  <a:srgbClr val="4F81BC"/>
                </a:solidFill>
                <a:latin typeface="Arial MT"/>
                <a:cs typeface="Arial MT"/>
              </a:rPr>
              <a:t>–	</a:t>
            </a:r>
            <a:r>
              <a:rPr dirty="0" sz="2600" spc="-50">
                <a:latin typeface="Calibri"/>
                <a:cs typeface="Calibri"/>
              </a:rPr>
              <a:t>…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2600">
              <a:latin typeface="Calibri"/>
              <a:cs typeface="Calibri"/>
            </a:endParaRPr>
          </a:p>
          <a:p>
            <a:pPr lvl="1" marL="939800" marR="98425" indent="-457834">
              <a:lnSpc>
                <a:spcPts val="2500"/>
              </a:lnSpc>
              <a:buClr>
                <a:srgbClr val="4F81BC"/>
              </a:buClr>
              <a:buFont typeface="Arial MT"/>
              <a:buChar char="–"/>
              <a:tabLst>
                <a:tab pos="939800" algn="l"/>
              </a:tabLst>
            </a:pPr>
            <a:r>
              <a:rPr dirty="0" sz="2600">
                <a:latin typeface="Calibri"/>
                <a:cs typeface="Calibri"/>
              </a:rPr>
              <a:t>After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0000"/>
                </a:solidFill>
                <a:latin typeface="Calibri"/>
                <a:cs typeface="Calibri"/>
              </a:rPr>
              <a:t>k</a:t>
            </a:r>
            <a:r>
              <a:rPr dirty="0" baseline="26143" sz="2550">
                <a:solidFill>
                  <a:srgbClr val="FF0000"/>
                </a:solidFill>
                <a:latin typeface="Calibri"/>
                <a:cs typeface="Calibri"/>
              </a:rPr>
              <a:t>th</a:t>
            </a:r>
            <a:r>
              <a:rPr dirty="0" baseline="26143" sz="2550" spc="27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0000"/>
                </a:solidFill>
                <a:latin typeface="Calibri"/>
                <a:cs typeface="Calibri"/>
              </a:rPr>
              <a:t>collision</a:t>
            </a:r>
            <a:r>
              <a:rPr dirty="0" sz="2600">
                <a:latin typeface="Calibri"/>
                <a:cs typeface="Calibri"/>
              </a:rPr>
              <a:t>,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each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station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choose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0~2</a:t>
            </a:r>
            <a:r>
              <a:rPr dirty="0" baseline="26143" sz="2550" spc="-15">
                <a:latin typeface="Calibri"/>
                <a:cs typeface="Calibri"/>
              </a:rPr>
              <a:t>k</a:t>
            </a:r>
            <a:r>
              <a:rPr dirty="0" sz="2600" spc="-10">
                <a:latin typeface="Calibri"/>
                <a:cs typeface="Calibri"/>
              </a:rPr>
              <a:t>-</a:t>
            </a:r>
            <a:r>
              <a:rPr dirty="0" sz="2600">
                <a:latin typeface="Calibri"/>
                <a:cs typeface="Calibri"/>
              </a:rPr>
              <a:t>1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slots, </a:t>
            </a:r>
            <a:r>
              <a:rPr dirty="0" sz="2600">
                <a:latin typeface="Calibri"/>
                <a:cs typeface="Calibri"/>
              </a:rPr>
              <a:t>if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k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&lt;</a:t>
            </a:r>
            <a:r>
              <a:rPr dirty="0" sz="2600" spc="-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10</a:t>
            </a:r>
            <a:endParaRPr sz="26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590"/>
              </a:spcBef>
              <a:buClr>
                <a:srgbClr val="4F81BC"/>
              </a:buClr>
              <a:buFont typeface="Arial MT"/>
              <a:buChar char="–"/>
            </a:pPr>
            <a:endParaRPr sz="2600">
              <a:latin typeface="Calibri"/>
              <a:cs typeface="Calibri"/>
            </a:endParaRPr>
          </a:p>
          <a:p>
            <a:pPr lvl="1" marL="939800" marR="49530" indent="-457834">
              <a:lnSpc>
                <a:spcPct val="80000"/>
              </a:lnSpc>
              <a:buClr>
                <a:srgbClr val="4F81BC"/>
              </a:buClr>
              <a:buFont typeface="Arial MT"/>
              <a:buChar char="–"/>
              <a:tabLst>
                <a:tab pos="939800" algn="l"/>
              </a:tabLst>
            </a:pPr>
            <a:r>
              <a:rPr dirty="0" sz="2600">
                <a:latin typeface="Calibri"/>
                <a:cs typeface="Calibri"/>
              </a:rPr>
              <a:t>If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k&gt;=10,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each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station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randomly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choose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0~1023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slots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to </a:t>
            </a:r>
            <a:r>
              <a:rPr dirty="0" sz="2600">
                <a:latin typeface="Calibri"/>
                <a:cs typeface="Calibri"/>
              </a:rPr>
              <a:t>defer</a:t>
            </a:r>
            <a:r>
              <a:rPr dirty="0" sz="2600" spc="-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its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transmission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9064" y="1007109"/>
            <a:ext cx="8599170" cy="5019675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algn="just" marL="354965" marR="6350" indent="-342900">
              <a:lnSpc>
                <a:spcPct val="80000"/>
              </a:lnSpc>
              <a:spcBef>
                <a:spcPts val="72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600">
                <a:latin typeface="Calibri"/>
                <a:cs typeface="Calibri"/>
              </a:rPr>
              <a:t>When</a:t>
            </a:r>
            <a:r>
              <a:rPr dirty="0" sz="2600" spc="1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1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station</a:t>
            </a:r>
            <a:r>
              <a:rPr dirty="0" sz="2600" spc="1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sends</a:t>
            </a:r>
            <a:r>
              <a:rPr dirty="0" sz="2600" spc="1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</a:t>
            </a:r>
            <a:r>
              <a:rPr dirty="0" sz="2600" spc="1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RTS</a:t>
            </a:r>
            <a:r>
              <a:rPr dirty="0" sz="2600" spc="1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frame,</a:t>
            </a:r>
            <a:r>
              <a:rPr dirty="0" sz="2600" spc="1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it</a:t>
            </a:r>
            <a:r>
              <a:rPr dirty="0" sz="2600" spc="1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includes</a:t>
            </a:r>
            <a:r>
              <a:rPr dirty="0" sz="2600" spc="1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140"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FF0000"/>
                </a:solidFill>
                <a:latin typeface="Calibri"/>
                <a:cs typeface="Calibri"/>
              </a:rPr>
              <a:t>duration </a:t>
            </a:r>
            <a:r>
              <a:rPr dirty="0" sz="260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dirty="0" sz="2600" spc="-2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0000"/>
                </a:solidFill>
                <a:latin typeface="Calibri"/>
                <a:cs typeface="Calibri"/>
              </a:rPr>
              <a:t>time</a:t>
            </a:r>
            <a:r>
              <a:rPr dirty="0" sz="2600" spc="-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that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it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needs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occupy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channel.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75"/>
              </a:spcBef>
              <a:buFont typeface="Arial MT"/>
              <a:buChar char="•"/>
            </a:pPr>
            <a:endParaRPr sz="2600">
              <a:latin typeface="Calibri"/>
              <a:cs typeface="Calibri"/>
            </a:endParaRPr>
          </a:p>
          <a:p>
            <a:pPr algn="just" marL="354965" marR="6350" indent="-342900">
              <a:lnSpc>
                <a:spcPct val="8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25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stations</a:t>
            </a:r>
            <a:r>
              <a:rPr dirty="0" sz="2600" spc="2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that</a:t>
            </a:r>
            <a:r>
              <a:rPr dirty="0" sz="2600" spc="2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are</a:t>
            </a:r>
            <a:r>
              <a:rPr dirty="0" sz="2600" spc="25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affected</a:t>
            </a:r>
            <a:r>
              <a:rPr dirty="0" sz="2600" spc="2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by</a:t>
            </a:r>
            <a:r>
              <a:rPr dirty="0" sz="2600" spc="2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this</a:t>
            </a:r>
            <a:r>
              <a:rPr dirty="0" sz="2600" spc="2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transmission</a:t>
            </a:r>
            <a:r>
              <a:rPr dirty="0" sz="2600" spc="2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create</a:t>
            </a:r>
            <a:r>
              <a:rPr dirty="0" sz="2600" spc="275">
                <a:latin typeface="Calibri"/>
                <a:cs typeface="Calibri"/>
              </a:rPr>
              <a:t> </a:t>
            </a:r>
            <a:r>
              <a:rPr dirty="0" sz="2600" spc="-50">
                <a:latin typeface="Calibri"/>
                <a:cs typeface="Calibri"/>
              </a:rPr>
              <a:t>a </a:t>
            </a:r>
            <a:r>
              <a:rPr dirty="0" sz="2600">
                <a:latin typeface="Calibri"/>
                <a:cs typeface="Calibri"/>
              </a:rPr>
              <a:t>timer</a:t>
            </a:r>
            <a:r>
              <a:rPr dirty="0" sz="2600" spc="4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called</a:t>
            </a:r>
            <a:r>
              <a:rPr dirty="0" sz="2600" spc="4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4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network</a:t>
            </a:r>
            <a:r>
              <a:rPr dirty="0" sz="2600" spc="4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allocation</a:t>
            </a:r>
            <a:r>
              <a:rPr dirty="0" sz="2600" spc="4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vector</a:t>
            </a:r>
            <a:r>
              <a:rPr dirty="0" sz="2600" spc="4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(NAV)</a:t>
            </a:r>
            <a:r>
              <a:rPr dirty="0" sz="2600" spc="4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that</a:t>
            </a:r>
            <a:r>
              <a:rPr dirty="0" sz="2600" spc="41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shows </a:t>
            </a:r>
            <a:r>
              <a:rPr dirty="0" sz="2600">
                <a:latin typeface="Calibri"/>
                <a:cs typeface="Calibri"/>
              </a:rPr>
              <a:t>how</a:t>
            </a:r>
            <a:r>
              <a:rPr dirty="0" sz="2600" spc="10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much</a:t>
            </a:r>
            <a:r>
              <a:rPr dirty="0" sz="2600" spc="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time</a:t>
            </a:r>
            <a:r>
              <a:rPr dirty="0" sz="2600" spc="10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must</a:t>
            </a:r>
            <a:r>
              <a:rPr dirty="0" sz="2600" spc="1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pass</a:t>
            </a:r>
            <a:r>
              <a:rPr dirty="0" sz="2600" spc="10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before</a:t>
            </a:r>
            <a:r>
              <a:rPr dirty="0" sz="2600" spc="10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these</a:t>
            </a:r>
            <a:r>
              <a:rPr dirty="0" sz="2600" spc="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stations</a:t>
            </a:r>
            <a:r>
              <a:rPr dirty="0" sz="2600" spc="11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are</a:t>
            </a:r>
            <a:r>
              <a:rPr dirty="0" sz="2600" spc="10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allowed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check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channel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idleness.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45"/>
              </a:spcBef>
              <a:buFont typeface="Arial MT"/>
              <a:buChar char="•"/>
            </a:pPr>
            <a:endParaRPr sz="2600">
              <a:latin typeface="Calibri"/>
              <a:cs typeface="Calibri"/>
            </a:endParaRPr>
          </a:p>
          <a:p>
            <a:pPr algn="just" marL="354965" marR="5080" indent="-342900">
              <a:lnSpc>
                <a:spcPts val="25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600">
                <a:latin typeface="Calibri"/>
                <a:cs typeface="Calibri"/>
              </a:rPr>
              <a:t>Each</a:t>
            </a:r>
            <a:r>
              <a:rPr dirty="0" sz="2600" spc="3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time</a:t>
            </a:r>
            <a:r>
              <a:rPr dirty="0" sz="2600" spc="3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3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station</a:t>
            </a:r>
            <a:r>
              <a:rPr dirty="0" sz="2600" spc="3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accesses</a:t>
            </a:r>
            <a:r>
              <a:rPr dirty="0" sz="2600" spc="3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3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system</a:t>
            </a:r>
            <a:r>
              <a:rPr dirty="0" sz="2600" spc="3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3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sends</a:t>
            </a:r>
            <a:r>
              <a:rPr dirty="0" sz="2600" spc="3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</a:t>
            </a:r>
            <a:r>
              <a:rPr dirty="0" sz="2600" spc="36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RTS </a:t>
            </a:r>
            <a:r>
              <a:rPr dirty="0" sz="2600">
                <a:latin typeface="Calibri"/>
                <a:cs typeface="Calibri"/>
              </a:rPr>
              <a:t>frame,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other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stations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start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their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NAV.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85"/>
              </a:spcBef>
              <a:buFont typeface="Arial MT"/>
              <a:buChar char="•"/>
            </a:pPr>
            <a:endParaRPr sz="2600">
              <a:latin typeface="Calibri"/>
              <a:cs typeface="Calibri"/>
            </a:endParaRPr>
          </a:p>
          <a:p>
            <a:pPr algn="just" marL="354965" marR="5715" indent="-342900">
              <a:lnSpc>
                <a:spcPct val="8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6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other</a:t>
            </a:r>
            <a:r>
              <a:rPr dirty="0" sz="2600" spc="6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words,</a:t>
            </a:r>
            <a:r>
              <a:rPr dirty="0" sz="2600" spc="6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each</a:t>
            </a:r>
            <a:r>
              <a:rPr dirty="0" sz="2600" spc="6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station,</a:t>
            </a:r>
            <a:r>
              <a:rPr dirty="0" sz="2600" spc="6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before</a:t>
            </a:r>
            <a:r>
              <a:rPr dirty="0" sz="2600" spc="6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sensing</a:t>
            </a:r>
            <a:r>
              <a:rPr dirty="0" sz="2600" spc="6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63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physical </a:t>
            </a:r>
            <a:r>
              <a:rPr dirty="0" sz="2600">
                <a:latin typeface="Calibri"/>
                <a:cs typeface="Calibri"/>
              </a:rPr>
              <a:t>medium</a:t>
            </a:r>
            <a:r>
              <a:rPr dirty="0" sz="2600" spc="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see</a:t>
            </a:r>
            <a:r>
              <a:rPr dirty="0" sz="2600" spc="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if</a:t>
            </a:r>
            <a:r>
              <a:rPr dirty="0" sz="2600" spc="1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it</a:t>
            </a:r>
            <a:r>
              <a:rPr dirty="0" sz="2600" spc="1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1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idle,</a:t>
            </a:r>
            <a:r>
              <a:rPr dirty="0" sz="2600" spc="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first</a:t>
            </a:r>
            <a:r>
              <a:rPr dirty="0" sz="2600" spc="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checks</a:t>
            </a:r>
            <a:r>
              <a:rPr dirty="0" sz="2600" spc="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its</a:t>
            </a:r>
            <a:r>
              <a:rPr dirty="0" sz="2600" spc="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NAV</a:t>
            </a:r>
            <a:r>
              <a:rPr dirty="0" sz="2600" spc="1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see</a:t>
            </a:r>
            <a:r>
              <a:rPr dirty="0" sz="2600" spc="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if</a:t>
            </a:r>
            <a:r>
              <a:rPr dirty="0" sz="2600" spc="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it</a:t>
            </a:r>
            <a:r>
              <a:rPr dirty="0" sz="2600" spc="10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has </a:t>
            </a:r>
            <a:r>
              <a:rPr dirty="0" sz="2600" spc="-10">
                <a:latin typeface="Calibri"/>
                <a:cs typeface="Calibri"/>
              </a:rPr>
              <a:t>expired.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3281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/>
              <a:t>Exchange</a:t>
            </a:r>
            <a:r>
              <a:rPr dirty="0" sz="3200" spc="-75"/>
              <a:t> </a:t>
            </a:r>
            <a:r>
              <a:rPr dirty="0" sz="3200"/>
              <a:t>of</a:t>
            </a:r>
            <a:r>
              <a:rPr dirty="0" sz="3200" spc="-100"/>
              <a:t> </a:t>
            </a:r>
            <a:r>
              <a:rPr dirty="0" sz="3200"/>
              <a:t>data</a:t>
            </a:r>
            <a:r>
              <a:rPr dirty="0" sz="3200" spc="-65"/>
              <a:t> </a:t>
            </a:r>
            <a:r>
              <a:rPr dirty="0" sz="3200"/>
              <a:t>and</a:t>
            </a:r>
            <a:r>
              <a:rPr dirty="0" sz="3200" spc="-85"/>
              <a:t> </a:t>
            </a:r>
            <a:r>
              <a:rPr dirty="0" sz="3200"/>
              <a:t>control</a:t>
            </a:r>
            <a:r>
              <a:rPr dirty="0" sz="3200" spc="-85"/>
              <a:t> </a:t>
            </a:r>
            <a:r>
              <a:rPr dirty="0" sz="3200" spc="-10"/>
              <a:t>messages</a:t>
            </a:r>
            <a:endParaRPr sz="32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697738"/>
            <a:ext cx="8456295" cy="56540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600">
                <a:latin typeface="Calibri"/>
                <a:cs typeface="Calibri"/>
              </a:rPr>
              <a:t>Collision</a:t>
            </a:r>
            <a:r>
              <a:rPr dirty="0" sz="2600" spc="11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During</a:t>
            </a:r>
            <a:r>
              <a:rPr dirty="0" sz="2600" spc="10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Handshaking</a:t>
            </a:r>
            <a:r>
              <a:rPr dirty="0" sz="2600" spc="11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(when</a:t>
            </a:r>
            <a:r>
              <a:rPr dirty="0" sz="2600" spc="9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RTS</a:t>
            </a:r>
            <a:r>
              <a:rPr dirty="0" sz="2600" spc="10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or</a:t>
            </a:r>
            <a:r>
              <a:rPr dirty="0" sz="2600" spc="10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CTS</a:t>
            </a:r>
            <a:r>
              <a:rPr dirty="0" sz="2600" spc="105">
                <a:latin typeface="Calibri"/>
                <a:cs typeface="Calibri"/>
              </a:rPr>
              <a:t>  </a:t>
            </a:r>
            <a:r>
              <a:rPr dirty="0" sz="2600" spc="-10">
                <a:latin typeface="Calibri"/>
                <a:cs typeface="Calibri"/>
              </a:rPr>
              <a:t>control </a:t>
            </a:r>
            <a:r>
              <a:rPr dirty="0" sz="2600">
                <a:latin typeface="Calibri"/>
                <a:cs typeface="Calibri"/>
              </a:rPr>
              <a:t>frames</a:t>
            </a:r>
            <a:r>
              <a:rPr dirty="0" sz="2600" spc="204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are</a:t>
            </a:r>
            <a:r>
              <a:rPr dirty="0" sz="2600" spc="204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21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transition,</a:t>
            </a:r>
            <a:r>
              <a:rPr dirty="0" sz="2600" spc="19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often</a:t>
            </a:r>
            <a:r>
              <a:rPr dirty="0" sz="2600" spc="21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called</a:t>
            </a:r>
            <a:r>
              <a:rPr dirty="0" sz="2600" spc="204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204">
                <a:latin typeface="Calibri"/>
                <a:cs typeface="Calibri"/>
              </a:rPr>
              <a:t>  </a:t>
            </a:r>
            <a:r>
              <a:rPr dirty="0" sz="2600" spc="-10">
                <a:latin typeface="Calibri"/>
                <a:cs typeface="Calibri"/>
              </a:rPr>
              <a:t>handshaking period?)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95"/>
              </a:spcBef>
              <a:buFont typeface="Arial MT"/>
              <a:buChar char="•"/>
            </a:pPr>
            <a:endParaRPr sz="2600">
              <a:latin typeface="Calibri"/>
              <a:cs typeface="Calibri"/>
            </a:endParaRPr>
          </a:p>
          <a:p>
            <a:pPr algn="just" marL="355600" marR="635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600">
                <a:latin typeface="Calibri"/>
                <a:cs typeface="Calibri"/>
              </a:rPr>
              <a:t>Two</a:t>
            </a:r>
            <a:r>
              <a:rPr dirty="0" sz="2600" spc="4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or</a:t>
            </a:r>
            <a:r>
              <a:rPr dirty="0" sz="2600" spc="409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more</a:t>
            </a:r>
            <a:r>
              <a:rPr dirty="0" sz="2600" spc="4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stations</a:t>
            </a:r>
            <a:r>
              <a:rPr dirty="0" sz="2600" spc="40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may</a:t>
            </a:r>
            <a:r>
              <a:rPr dirty="0" sz="2600" spc="409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try</a:t>
            </a:r>
            <a:r>
              <a:rPr dirty="0" sz="2600" spc="4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40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send</a:t>
            </a:r>
            <a:r>
              <a:rPr dirty="0" sz="2600" spc="3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RTS</a:t>
            </a:r>
            <a:r>
              <a:rPr dirty="0" sz="2600" spc="4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frames</a:t>
            </a:r>
            <a:r>
              <a:rPr dirty="0" sz="2600" spc="4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at</a:t>
            </a:r>
            <a:r>
              <a:rPr dirty="0" sz="2600" spc="41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the </a:t>
            </a:r>
            <a:r>
              <a:rPr dirty="0" sz="2600">
                <a:latin typeface="Calibri"/>
                <a:cs typeface="Calibri"/>
              </a:rPr>
              <a:t>same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time.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These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control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frames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may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collide.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95"/>
              </a:spcBef>
              <a:buFont typeface="Arial MT"/>
              <a:buChar char="•"/>
            </a:pPr>
            <a:endParaRPr sz="2600">
              <a:latin typeface="Calibri"/>
              <a:cs typeface="Calibri"/>
            </a:endParaRPr>
          </a:p>
          <a:p>
            <a:pPr algn="just" marL="355600" marR="635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600">
                <a:latin typeface="Calibri"/>
                <a:cs typeface="Calibri"/>
              </a:rPr>
              <a:t>Because</a:t>
            </a:r>
            <a:r>
              <a:rPr dirty="0" sz="2600" spc="2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there</a:t>
            </a:r>
            <a:r>
              <a:rPr dirty="0" sz="2600" spc="2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2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no</a:t>
            </a:r>
            <a:r>
              <a:rPr dirty="0" sz="2600" spc="2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mechanism</a:t>
            </a:r>
            <a:r>
              <a:rPr dirty="0" sz="2600" spc="1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2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collision</a:t>
            </a:r>
            <a:r>
              <a:rPr dirty="0" sz="2600" spc="2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detection,</a:t>
            </a:r>
            <a:r>
              <a:rPr dirty="0" sz="2600" spc="22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the </a:t>
            </a:r>
            <a:r>
              <a:rPr dirty="0" sz="2600">
                <a:latin typeface="Calibri"/>
                <a:cs typeface="Calibri"/>
              </a:rPr>
              <a:t>sender</a:t>
            </a:r>
            <a:r>
              <a:rPr dirty="0" sz="2600" spc="3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assumes</a:t>
            </a:r>
            <a:r>
              <a:rPr dirty="0" sz="2600" spc="3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there</a:t>
            </a:r>
            <a:r>
              <a:rPr dirty="0" sz="2600" spc="3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has</a:t>
            </a:r>
            <a:r>
              <a:rPr dirty="0" sz="2600" spc="3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been</a:t>
            </a:r>
            <a:r>
              <a:rPr dirty="0" sz="2600" spc="3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3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collision</a:t>
            </a:r>
            <a:r>
              <a:rPr dirty="0" sz="2600" spc="3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if</a:t>
            </a:r>
            <a:r>
              <a:rPr dirty="0" sz="2600" spc="3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it</a:t>
            </a:r>
            <a:r>
              <a:rPr dirty="0" sz="2600" spc="3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has</a:t>
            </a:r>
            <a:r>
              <a:rPr dirty="0" sz="2600" spc="35">
                <a:latin typeface="Calibri"/>
                <a:cs typeface="Calibri"/>
              </a:rPr>
              <a:t>  </a:t>
            </a:r>
            <a:r>
              <a:rPr dirty="0" sz="2600" spc="-25">
                <a:latin typeface="Calibri"/>
                <a:cs typeface="Calibri"/>
              </a:rPr>
              <a:t>not </a:t>
            </a:r>
            <a:r>
              <a:rPr dirty="0" sz="2600">
                <a:latin typeface="Calibri"/>
                <a:cs typeface="Calibri"/>
              </a:rPr>
              <a:t>received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CTS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frame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from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receiver.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95"/>
              </a:spcBef>
              <a:buFont typeface="Arial MT"/>
              <a:buChar char="•"/>
            </a:pPr>
            <a:endParaRPr sz="2600">
              <a:latin typeface="Calibri"/>
              <a:cs typeface="Calibri"/>
            </a:endParaRPr>
          </a:p>
          <a:p>
            <a:pPr algn="just" marL="355600" marR="6985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35">
                <a:latin typeface="Calibri"/>
                <a:cs typeface="Calibri"/>
              </a:rPr>
              <a:t>  </a:t>
            </a:r>
            <a:r>
              <a:rPr dirty="0" sz="2600" spc="-10">
                <a:latin typeface="Calibri"/>
                <a:cs typeface="Calibri"/>
              </a:rPr>
              <a:t>back-</a:t>
            </a:r>
            <a:r>
              <a:rPr dirty="0" sz="2600">
                <a:latin typeface="Calibri"/>
                <a:cs typeface="Calibri"/>
              </a:rPr>
              <a:t>off</a:t>
            </a:r>
            <a:r>
              <a:rPr dirty="0" sz="2600" spc="4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strategy</a:t>
            </a:r>
            <a:r>
              <a:rPr dirty="0" sz="2600" spc="4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4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employed,</a:t>
            </a:r>
            <a:r>
              <a:rPr dirty="0" sz="2600" spc="4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4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3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sender</a:t>
            </a:r>
            <a:r>
              <a:rPr dirty="0" sz="2600" spc="35">
                <a:latin typeface="Calibri"/>
                <a:cs typeface="Calibri"/>
              </a:rPr>
              <a:t>  </a:t>
            </a:r>
            <a:r>
              <a:rPr dirty="0" sz="2600" spc="-10">
                <a:latin typeface="Calibri"/>
                <a:cs typeface="Calibri"/>
              </a:rPr>
              <a:t>tries again.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07340" y="6807"/>
            <a:ext cx="106870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10"/>
              <a:t>Cont…</a:t>
            </a:r>
            <a:endParaRPr sz="32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5661" y="1927397"/>
            <a:ext cx="8646444" cy="442521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8318" y="-83997"/>
            <a:ext cx="4608830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0">
                <a:latin typeface="Calibri"/>
                <a:cs typeface="Calibri"/>
              </a:rPr>
              <a:t>IEEE</a:t>
            </a:r>
            <a:r>
              <a:rPr dirty="0" sz="3200" spc="-35" b="1" i="0">
                <a:latin typeface="Calibri"/>
                <a:cs typeface="Calibri"/>
              </a:rPr>
              <a:t> </a:t>
            </a:r>
            <a:r>
              <a:rPr dirty="0" sz="3200" b="1" i="0">
                <a:latin typeface="Calibri"/>
                <a:cs typeface="Calibri"/>
              </a:rPr>
              <a:t>802.11</a:t>
            </a:r>
            <a:r>
              <a:rPr dirty="0" sz="3200" spc="-10" b="1" i="0">
                <a:latin typeface="Calibri"/>
                <a:cs typeface="Calibri"/>
              </a:rPr>
              <a:t> ARCHITECTURE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064" y="422529"/>
            <a:ext cx="59944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97815" algn="l"/>
              </a:tabLst>
            </a:pPr>
            <a:r>
              <a:rPr dirty="0" sz="2800" i="1">
                <a:latin typeface="Calibri"/>
                <a:cs typeface="Calibri"/>
              </a:rPr>
              <a:t>Exchange</a:t>
            </a:r>
            <a:r>
              <a:rPr dirty="0" sz="2800" spc="-75" i="1">
                <a:latin typeface="Calibri"/>
                <a:cs typeface="Calibri"/>
              </a:rPr>
              <a:t> </a:t>
            </a:r>
            <a:r>
              <a:rPr dirty="0" sz="2800" i="1">
                <a:latin typeface="Calibri"/>
                <a:cs typeface="Calibri"/>
              </a:rPr>
              <a:t>of</a:t>
            </a:r>
            <a:r>
              <a:rPr dirty="0" sz="2800" spc="-60" i="1">
                <a:latin typeface="Calibri"/>
                <a:cs typeface="Calibri"/>
              </a:rPr>
              <a:t> </a:t>
            </a:r>
            <a:r>
              <a:rPr dirty="0" sz="2800" i="1">
                <a:latin typeface="Calibri"/>
                <a:cs typeface="Calibri"/>
              </a:rPr>
              <a:t>data</a:t>
            </a:r>
            <a:r>
              <a:rPr dirty="0" sz="2800" spc="-65" i="1">
                <a:latin typeface="Calibri"/>
                <a:cs typeface="Calibri"/>
              </a:rPr>
              <a:t> </a:t>
            </a:r>
            <a:r>
              <a:rPr dirty="0" sz="2800" i="1">
                <a:latin typeface="Calibri"/>
                <a:cs typeface="Calibri"/>
              </a:rPr>
              <a:t>and</a:t>
            </a:r>
            <a:r>
              <a:rPr dirty="0" sz="2800" spc="-65" i="1">
                <a:latin typeface="Calibri"/>
                <a:cs typeface="Calibri"/>
              </a:rPr>
              <a:t> </a:t>
            </a:r>
            <a:r>
              <a:rPr dirty="0" sz="2800" i="1">
                <a:latin typeface="Calibri"/>
                <a:cs typeface="Calibri"/>
              </a:rPr>
              <a:t>control</a:t>
            </a:r>
            <a:r>
              <a:rPr dirty="0" sz="2800" spc="-70" i="1">
                <a:latin typeface="Calibri"/>
                <a:cs typeface="Calibri"/>
              </a:rPr>
              <a:t> </a:t>
            </a:r>
            <a:r>
              <a:rPr dirty="0" sz="2800" spc="-10" i="1">
                <a:latin typeface="Calibri"/>
                <a:cs typeface="Calibri"/>
              </a:rPr>
              <a:t>messages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5940" y="461899"/>
            <a:ext cx="4359275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i="0">
                <a:latin typeface="Calibri"/>
                <a:cs typeface="Calibri"/>
              </a:rPr>
              <a:t>three</a:t>
            </a:r>
            <a:r>
              <a:rPr dirty="0" sz="4400" spc="-145" i="0">
                <a:latin typeface="Calibri"/>
                <a:cs typeface="Calibri"/>
              </a:rPr>
              <a:t> </a:t>
            </a:r>
            <a:r>
              <a:rPr dirty="0" sz="4400" i="0">
                <a:latin typeface="Calibri"/>
                <a:cs typeface="Calibri"/>
              </a:rPr>
              <a:t>values</a:t>
            </a:r>
            <a:r>
              <a:rPr dirty="0" sz="4400" spc="-145" i="0">
                <a:latin typeface="Calibri"/>
                <a:cs typeface="Calibri"/>
              </a:rPr>
              <a:t> </a:t>
            </a:r>
            <a:r>
              <a:rPr dirty="0" sz="4400" i="0">
                <a:latin typeface="Calibri"/>
                <a:cs typeface="Calibri"/>
              </a:rPr>
              <a:t>for</a:t>
            </a:r>
            <a:r>
              <a:rPr dirty="0" sz="4400" spc="-145" i="0">
                <a:latin typeface="Calibri"/>
                <a:cs typeface="Calibri"/>
              </a:rPr>
              <a:t> </a:t>
            </a:r>
            <a:r>
              <a:rPr dirty="0" sz="4400" spc="-25" i="0">
                <a:latin typeface="Calibri"/>
                <a:cs typeface="Calibri"/>
              </a:rPr>
              <a:t>IFS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12138"/>
            <a:ext cx="8074025" cy="43065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600" b="1" i="1">
                <a:latin typeface="Calibri"/>
                <a:cs typeface="Calibri"/>
              </a:rPr>
              <a:t>SIFS</a:t>
            </a:r>
            <a:r>
              <a:rPr dirty="0" sz="2600" spc="155" b="1" i="1">
                <a:latin typeface="Calibri"/>
                <a:cs typeface="Calibri"/>
              </a:rPr>
              <a:t> </a:t>
            </a:r>
            <a:r>
              <a:rPr dirty="0" sz="2600" b="1" i="1">
                <a:latin typeface="Calibri"/>
                <a:cs typeface="Calibri"/>
              </a:rPr>
              <a:t>(short</a:t>
            </a:r>
            <a:r>
              <a:rPr dirty="0" sz="2600" spc="160" b="1" i="1">
                <a:latin typeface="Calibri"/>
                <a:cs typeface="Calibri"/>
              </a:rPr>
              <a:t> </a:t>
            </a:r>
            <a:r>
              <a:rPr dirty="0" sz="2600" b="1" i="1">
                <a:latin typeface="Calibri"/>
                <a:cs typeface="Calibri"/>
              </a:rPr>
              <a:t>IFS):</a:t>
            </a:r>
            <a:r>
              <a:rPr dirty="0" sz="2600" spc="155" b="1" i="1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1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shortest</a:t>
            </a:r>
            <a:r>
              <a:rPr dirty="0" sz="2600" spc="1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IFS,</a:t>
            </a:r>
            <a:r>
              <a:rPr dirty="0" sz="2600" spc="1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used</a:t>
            </a:r>
            <a:r>
              <a:rPr dirty="0" sz="2600" spc="1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1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all</a:t>
            </a:r>
            <a:r>
              <a:rPr dirty="0" sz="2600" spc="17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immediate </a:t>
            </a:r>
            <a:r>
              <a:rPr dirty="0" sz="2600">
                <a:latin typeface="Calibri"/>
                <a:cs typeface="Calibri"/>
              </a:rPr>
              <a:t>response</a:t>
            </a:r>
            <a:r>
              <a:rPr dirty="0" sz="2600" spc="-10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actions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95"/>
              </a:spcBef>
              <a:buFont typeface="Arial MT"/>
              <a:buChar char="•"/>
            </a:pPr>
            <a:endParaRPr sz="2600">
              <a:latin typeface="Calibri"/>
              <a:cs typeface="Calibri"/>
            </a:endParaRPr>
          </a:p>
          <a:p>
            <a:pPr algn="just" marL="355600" marR="508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600" b="1" i="1">
                <a:latin typeface="Calibri"/>
                <a:cs typeface="Calibri"/>
              </a:rPr>
              <a:t>PIFS</a:t>
            </a:r>
            <a:r>
              <a:rPr dirty="0" sz="2600" spc="505" b="1" i="1">
                <a:latin typeface="Calibri"/>
                <a:cs typeface="Calibri"/>
              </a:rPr>
              <a:t> </a:t>
            </a:r>
            <a:r>
              <a:rPr dirty="0" sz="2600" b="1" i="1">
                <a:latin typeface="Calibri"/>
                <a:cs typeface="Calibri"/>
              </a:rPr>
              <a:t>(point</a:t>
            </a:r>
            <a:r>
              <a:rPr dirty="0" sz="2600" spc="505" b="1" i="1">
                <a:latin typeface="Calibri"/>
                <a:cs typeface="Calibri"/>
              </a:rPr>
              <a:t> </a:t>
            </a:r>
            <a:r>
              <a:rPr dirty="0" sz="2600" b="1" i="1">
                <a:latin typeface="Calibri"/>
                <a:cs typeface="Calibri"/>
              </a:rPr>
              <a:t>coordination</a:t>
            </a:r>
            <a:r>
              <a:rPr dirty="0" sz="2600" spc="515" b="1" i="1">
                <a:latin typeface="Calibri"/>
                <a:cs typeface="Calibri"/>
              </a:rPr>
              <a:t> </a:t>
            </a:r>
            <a:r>
              <a:rPr dirty="0" sz="2600" b="1" i="1">
                <a:latin typeface="Calibri"/>
                <a:cs typeface="Calibri"/>
              </a:rPr>
              <a:t>function</a:t>
            </a:r>
            <a:r>
              <a:rPr dirty="0" sz="2600" spc="509" b="1" i="1">
                <a:latin typeface="Calibri"/>
                <a:cs typeface="Calibri"/>
              </a:rPr>
              <a:t> </a:t>
            </a:r>
            <a:r>
              <a:rPr dirty="0" sz="2600" b="1" i="1">
                <a:latin typeface="Calibri"/>
                <a:cs typeface="Calibri"/>
              </a:rPr>
              <a:t>IFS):</a:t>
            </a:r>
            <a:r>
              <a:rPr dirty="0" sz="2600" spc="500" b="1" i="1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509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middlelength </a:t>
            </a:r>
            <a:r>
              <a:rPr dirty="0" sz="2600">
                <a:latin typeface="Calibri"/>
                <a:cs typeface="Calibri"/>
              </a:rPr>
              <a:t>IFS,</a:t>
            </a:r>
            <a:r>
              <a:rPr dirty="0" sz="2600" spc="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used</a:t>
            </a:r>
            <a:r>
              <a:rPr dirty="0" sz="2600" spc="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by</a:t>
            </a:r>
            <a:r>
              <a:rPr dirty="0" sz="2600" spc="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centralized</a:t>
            </a:r>
            <a:r>
              <a:rPr dirty="0" sz="2600" spc="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controller</a:t>
            </a:r>
            <a:r>
              <a:rPr dirty="0" sz="2600" spc="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PCF</a:t>
            </a:r>
            <a:r>
              <a:rPr dirty="0" sz="2600" spc="7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scheme </a:t>
            </a:r>
            <a:r>
              <a:rPr dirty="0" sz="2600">
                <a:latin typeface="Calibri"/>
                <a:cs typeface="Calibri"/>
              </a:rPr>
              <a:t>when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issuing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polls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95"/>
              </a:spcBef>
              <a:buFont typeface="Arial MT"/>
              <a:buChar char="•"/>
            </a:pPr>
            <a:endParaRPr sz="2600">
              <a:latin typeface="Calibri"/>
              <a:cs typeface="Calibri"/>
            </a:endParaRPr>
          </a:p>
          <a:p>
            <a:pPr algn="just" marL="355600" marR="508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600" b="1" i="1">
                <a:latin typeface="Calibri"/>
                <a:cs typeface="Calibri"/>
              </a:rPr>
              <a:t>DIFS</a:t>
            </a:r>
            <a:r>
              <a:rPr dirty="0" sz="2600" spc="95" b="1" i="1">
                <a:latin typeface="Calibri"/>
                <a:cs typeface="Calibri"/>
              </a:rPr>
              <a:t> </a:t>
            </a:r>
            <a:r>
              <a:rPr dirty="0" sz="2600" b="1" i="1">
                <a:latin typeface="Calibri"/>
                <a:cs typeface="Calibri"/>
              </a:rPr>
              <a:t>(distributed</a:t>
            </a:r>
            <a:r>
              <a:rPr dirty="0" sz="2600" spc="110" b="1" i="1">
                <a:latin typeface="Calibri"/>
                <a:cs typeface="Calibri"/>
              </a:rPr>
              <a:t> </a:t>
            </a:r>
            <a:r>
              <a:rPr dirty="0" sz="2600" b="1" i="1">
                <a:latin typeface="Calibri"/>
                <a:cs typeface="Calibri"/>
              </a:rPr>
              <a:t>coordination</a:t>
            </a:r>
            <a:r>
              <a:rPr dirty="0" sz="2600" spc="95" b="1" i="1">
                <a:latin typeface="Calibri"/>
                <a:cs typeface="Calibri"/>
              </a:rPr>
              <a:t> </a:t>
            </a:r>
            <a:r>
              <a:rPr dirty="0" sz="2600" b="1" i="1">
                <a:latin typeface="Calibri"/>
                <a:cs typeface="Calibri"/>
              </a:rPr>
              <a:t>function</a:t>
            </a:r>
            <a:r>
              <a:rPr dirty="0" sz="2600" spc="100" b="1" i="1">
                <a:latin typeface="Calibri"/>
                <a:cs typeface="Calibri"/>
              </a:rPr>
              <a:t> </a:t>
            </a:r>
            <a:r>
              <a:rPr dirty="0" sz="2600" b="1" i="1">
                <a:latin typeface="Calibri"/>
                <a:cs typeface="Calibri"/>
              </a:rPr>
              <a:t>IFS):</a:t>
            </a:r>
            <a:r>
              <a:rPr dirty="0" sz="2600" spc="90" b="1" i="1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9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longest </a:t>
            </a:r>
            <a:r>
              <a:rPr dirty="0" sz="2600">
                <a:latin typeface="Calibri"/>
                <a:cs typeface="Calibri"/>
              </a:rPr>
              <a:t>IFS,</a:t>
            </a:r>
            <a:r>
              <a:rPr dirty="0" sz="2600" spc="3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used</a:t>
            </a:r>
            <a:r>
              <a:rPr dirty="0" sz="2600" spc="3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as</a:t>
            </a:r>
            <a:r>
              <a:rPr dirty="0" sz="2600" spc="3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3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minimum</a:t>
            </a:r>
            <a:r>
              <a:rPr dirty="0" sz="2600" spc="3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delay</a:t>
            </a:r>
            <a:r>
              <a:rPr dirty="0" sz="2600" spc="3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3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asynchronous</a:t>
            </a:r>
            <a:r>
              <a:rPr dirty="0" sz="2600" spc="33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frames </a:t>
            </a:r>
            <a:r>
              <a:rPr dirty="0" sz="2600">
                <a:latin typeface="Calibri"/>
                <a:cs typeface="Calibri"/>
              </a:rPr>
              <a:t>contending</a:t>
            </a:r>
            <a:r>
              <a:rPr dirty="0" sz="2600" spc="-1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-9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access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5940" y="580771"/>
            <a:ext cx="235966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i="0">
                <a:latin typeface="Calibri"/>
                <a:cs typeface="Calibri"/>
              </a:rPr>
              <a:t>Access</a:t>
            </a:r>
            <a:r>
              <a:rPr dirty="0" sz="3000" spc="-40" i="0">
                <a:latin typeface="Calibri"/>
                <a:cs typeface="Calibri"/>
              </a:rPr>
              <a:t> </a:t>
            </a:r>
            <a:r>
              <a:rPr dirty="0" sz="3000" spc="-10" i="0">
                <a:latin typeface="Calibri"/>
                <a:cs typeface="Calibri"/>
              </a:rPr>
              <a:t>method</a:t>
            </a:r>
            <a:endParaRPr sz="30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9330" y="1638109"/>
            <a:ext cx="7825338" cy="298151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1437" rIns="0" bIns="0" rtlCol="0" vert="horz">
            <a:spAutoFit/>
          </a:bodyPr>
          <a:lstStyle/>
          <a:p>
            <a:pPr marL="266065">
              <a:lnSpc>
                <a:spcPct val="100000"/>
              </a:lnSpc>
              <a:spcBef>
                <a:spcPts val="95"/>
              </a:spcBef>
            </a:pPr>
            <a:r>
              <a:rPr dirty="0" sz="4600"/>
              <a:t>Point</a:t>
            </a:r>
            <a:r>
              <a:rPr dirty="0" sz="4600" spc="-125"/>
              <a:t> </a:t>
            </a:r>
            <a:r>
              <a:rPr dirty="0" sz="4600"/>
              <a:t>Coordination</a:t>
            </a:r>
            <a:r>
              <a:rPr dirty="0" sz="4600" spc="-125"/>
              <a:t> </a:t>
            </a:r>
            <a:r>
              <a:rPr dirty="0" sz="4600"/>
              <a:t>Function</a:t>
            </a:r>
            <a:r>
              <a:rPr dirty="0" sz="4600" spc="-120"/>
              <a:t> </a:t>
            </a:r>
            <a:r>
              <a:rPr dirty="0" sz="4600" spc="-10"/>
              <a:t>(PCF)</a:t>
            </a:r>
            <a:endParaRPr sz="4600"/>
          </a:p>
        </p:txBody>
      </p:sp>
      <p:sp>
        <p:nvSpPr>
          <p:cNvPr id="3" name="object 3"/>
          <p:cNvSpPr txBox="1"/>
          <p:nvPr/>
        </p:nvSpPr>
        <p:spPr>
          <a:xfrm>
            <a:off x="764540" y="1537157"/>
            <a:ext cx="7768590" cy="27571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297815" marR="5080" indent="-285750">
              <a:lnSpc>
                <a:spcPct val="100000"/>
              </a:lnSpc>
              <a:spcBef>
                <a:spcPts val="95"/>
              </a:spcBef>
              <a:buFont typeface="Arial MT"/>
              <a:buChar char="–"/>
              <a:tabLst>
                <a:tab pos="299085" algn="l"/>
              </a:tabLst>
            </a:pP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point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coordination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function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(PCF)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optional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access</a:t>
            </a:r>
            <a:r>
              <a:rPr dirty="0" sz="2800" spc="9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method</a:t>
            </a:r>
            <a:r>
              <a:rPr dirty="0" sz="2800" spc="10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that</a:t>
            </a:r>
            <a:r>
              <a:rPr dirty="0" sz="2800" spc="9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can</a:t>
            </a:r>
            <a:r>
              <a:rPr dirty="0" sz="2800" spc="10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be</a:t>
            </a:r>
            <a:r>
              <a:rPr dirty="0" sz="2800" spc="10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implemented</a:t>
            </a:r>
            <a:r>
              <a:rPr dirty="0" sz="2800" spc="9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100">
                <a:latin typeface="Calibri"/>
                <a:cs typeface="Calibri"/>
              </a:rPr>
              <a:t>  </a:t>
            </a:r>
            <a:r>
              <a:rPr dirty="0" sz="2800" spc="-25">
                <a:latin typeface="Calibri"/>
                <a:cs typeface="Calibri"/>
              </a:rPr>
              <a:t>an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infrastructure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network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(not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ad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hoc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network).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90"/>
              </a:spcBef>
              <a:buFont typeface="Arial MT"/>
              <a:buChar char="–"/>
            </a:pPr>
            <a:endParaRPr sz="2800">
              <a:latin typeface="Calibri"/>
              <a:cs typeface="Calibri"/>
            </a:endParaRPr>
          </a:p>
          <a:p>
            <a:pPr algn="just" marL="297815" marR="5080" indent="-285750">
              <a:lnSpc>
                <a:spcPct val="100000"/>
              </a:lnSpc>
              <a:buFont typeface="Arial MT"/>
              <a:buChar char="–"/>
              <a:tabLst>
                <a:tab pos="299085" algn="l"/>
              </a:tabLst>
            </a:pPr>
            <a:r>
              <a:rPr dirty="0" sz="2800">
                <a:latin typeface="Calibri"/>
                <a:cs typeface="Calibri"/>
              </a:rPr>
              <a:t>It</a:t>
            </a:r>
            <a:r>
              <a:rPr dirty="0" sz="2800" spc="4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4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implemented</a:t>
            </a:r>
            <a:r>
              <a:rPr dirty="0" sz="2800" spc="459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on</a:t>
            </a:r>
            <a:r>
              <a:rPr dirty="0" sz="2800" spc="4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top</a:t>
            </a:r>
            <a:r>
              <a:rPr dirty="0" sz="2800" spc="4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459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4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DCF</a:t>
            </a:r>
            <a:r>
              <a:rPr dirty="0" sz="2800" spc="4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459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47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used </a:t>
            </a:r>
            <a:r>
              <a:rPr dirty="0" sz="2800" spc="-2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mostly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for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time-</a:t>
            </a:r>
            <a:r>
              <a:rPr dirty="0" sz="2800">
                <a:latin typeface="Calibri"/>
                <a:cs typeface="Calibri"/>
              </a:rPr>
              <a:t>sensitive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transmission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priority.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1437" rIns="0" bIns="0" rtlCol="0" vert="horz">
            <a:spAutoFit/>
          </a:bodyPr>
          <a:lstStyle/>
          <a:p>
            <a:pPr marL="266065">
              <a:lnSpc>
                <a:spcPct val="100000"/>
              </a:lnSpc>
              <a:spcBef>
                <a:spcPts val="95"/>
              </a:spcBef>
            </a:pPr>
            <a:r>
              <a:rPr dirty="0" sz="4600"/>
              <a:t>Point</a:t>
            </a:r>
            <a:r>
              <a:rPr dirty="0" sz="4600" spc="-125"/>
              <a:t> </a:t>
            </a:r>
            <a:r>
              <a:rPr dirty="0" sz="4600"/>
              <a:t>Coordination</a:t>
            </a:r>
            <a:r>
              <a:rPr dirty="0" sz="4600" spc="-125"/>
              <a:t> </a:t>
            </a:r>
            <a:r>
              <a:rPr dirty="0" sz="4600"/>
              <a:t>Function</a:t>
            </a:r>
            <a:r>
              <a:rPr dirty="0" sz="4600" spc="-120"/>
              <a:t> </a:t>
            </a:r>
            <a:r>
              <a:rPr dirty="0" sz="4600" spc="-10"/>
              <a:t>(PCF)</a:t>
            </a:r>
            <a:endParaRPr sz="4600"/>
          </a:p>
        </p:txBody>
      </p:sp>
      <p:sp>
        <p:nvSpPr>
          <p:cNvPr id="3" name="object 3"/>
          <p:cNvSpPr txBox="1"/>
          <p:nvPr/>
        </p:nvSpPr>
        <p:spPr>
          <a:xfrm>
            <a:off x="764540" y="1537157"/>
            <a:ext cx="7997825" cy="357695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7815" marR="8255" indent="-285750">
              <a:lnSpc>
                <a:spcPct val="100000"/>
              </a:lnSpc>
              <a:spcBef>
                <a:spcPts val="95"/>
              </a:spcBef>
              <a:buFont typeface="Arial MT"/>
              <a:buChar char="–"/>
              <a:tabLst>
                <a:tab pos="299085" algn="l"/>
              </a:tabLst>
            </a:pPr>
            <a:r>
              <a:rPr dirty="0" sz="2800">
                <a:latin typeface="Calibri"/>
                <a:cs typeface="Calibri"/>
              </a:rPr>
              <a:t>PCF</a:t>
            </a:r>
            <a:r>
              <a:rPr dirty="0" sz="2800" spc="1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has</a:t>
            </a:r>
            <a:r>
              <a:rPr dirty="0" sz="2800" spc="1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1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centralized,</a:t>
            </a:r>
            <a:r>
              <a:rPr dirty="0" sz="2800" spc="17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contention-</a:t>
            </a:r>
            <a:r>
              <a:rPr dirty="0" sz="2800">
                <a:latin typeface="Calibri"/>
                <a:cs typeface="Calibri"/>
              </a:rPr>
              <a:t>free</a:t>
            </a:r>
            <a:r>
              <a:rPr dirty="0" sz="2800" spc="1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polling</a:t>
            </a:r>
            <a:r>
              <a:rPr dirty="0" sz="2800" spc="15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access 	method.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75"/>
              </a:spcBef>
              <a:buFont typeface="Arial MT"/>
              <a:buChar char="–"/>
            </a:pPr>
            <a:endParaRPr sz="2800">
              <a:latin typeface="Calibri"/>
              <a:cs typeface="Calibri"/>
            </a:endParaRPr>
          </a:p>
          <a:p>
            <a:pPr lvl="1" marL="698500" marR="5080" indent="-228600">
              <a:lnSpc>
                <a:spcPct val="100000"/>
              </a:lnSpc>
              <a:buFont typeface="Arial MT"/>
              <a:buChar char="•"/>
              <a:tabLst>
                <a:tab pos="698500" algn="l"/>
              </a:tabLst>
            </a:pP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1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AP</a:t>
            </a:r>
            <a:r>
              <a:rPr dirty="0" sz="2600" spc="1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performs</a:t>
            </a:r>
            <a:r>
              <a:rPr dirty="0" sz="2600" spc="1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polling</a:t>
            </a:r>
            <a:r>
              <a:rPr dirty="0" sz="2600" spc="1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1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stations</a:t>
            </a:r>
            <a:r>
              <a:rPr dirty="0" sz="2600" spc="1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that</a:t>
            </a:r>
            <a:r>
              <a:rPr dirty="0" sz="2600" spc="1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are</a:t>
            </a:r>
            <a:r>
              <a:rPr dirty="0" sz="2600" spc="17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capable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being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polled.</a:t>
            </a:r>
            <a:endParaRPr sz="26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195"/>
              </a:spcBef>
              <a:buFont typeface="Arial MT"/>
              <a:buChar char="•"/>
            </a:pPr>
            <a:endParaRPr sz="2600">
              <a:latin typeface="Calibri"/>
              <a:cs typeface="Calibri"/>
            </a:endParaRPr>
          </a:p>
          <a:p>
            <a:pPr lvl="1" marL="698500" marR="5080" indent="-228600">
              <a:lnSpc>
                <a:spcPct val="100000"/>
              </a:lnSpc>
              <a:buFont typeface="Arial MT"/>
              <a:buChar char="•"/>
              <a:tabLst>
                <a:tab pos="698500" algn="l"/>
              </a:tabLst>
            </a:pP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stations</a:t>
            </a:r>
            <a:r>
              <a:rPr dirty="0" sz="2600" spc="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are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polled one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after</a:t>
            </a:r>
            <a:r>
              <a:rPr dirty="0" sz="2600" spc="-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another,</a:t>
            </a:r>
            <a:r>
              <a:rPr dirty="0" sz="2600" spc="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sending</a:t>
            </a:r>
            <a:r>
              <a:rPr dirty="0" sz="2600" spc="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any </a:t>
            </a:r>
            <a:r>
              <a:rPr dirty="0" sz="2600">
                <a:latin typeface="Calibri"/>
                <a:cs typeface="Calibri"/>
              </a:rPr>
              <a:t>data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they</a:t>
            </a:r>
            <a:r>
              <a:rPr dirty="0" sz="2600" spc="-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have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AP.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1437" rIns="0" bIns="0" rtlCol="0" vert="horz">
            <a:spAutoFit/>
          </a:bodyPr>
          <a:lstStyle/>
          <a:p>
            <a:pPr marL="266065">
              <a:lnSpc>
                <a:spcPct val="100000"/>
              </a:lnSpc>
              <a:spcBef>
                <a:spcPts val="95"/>
              </a:spcBef>
            </a:pPr>
            <a:r>
              <a:rPr dirty="0" sz="4600"/>
              <a:t>Point</a:t>
            </a:r>
            <a:r>
              <a:rPr dirty="0" sz="4600" spc="-125"/>
              <a:t> </a:t>
            </a:r>
            <a:r>
              <a:rPr dirty="0" sz="4600"/>
              <a:t>Coordination</a:t>
            </a:r>
            <a:r>
              <a:rPr dirty="0" sz="4600" spc="-125"/>
              <a:t> </a:t>
            </a:r>
            <a:r>
              <a:rPr dirty="0" sz="4600"/>
              <a:t>Function</a:t>
            </a:r>
            <a:r>
              <a:rPr dirty="0" sz="4600" spc="-120"/>
              <a:t> </a:t>
            </a:r>
            <a:r>
              <a:rPr dirty="0" sz="4600" spc="-10"/>
              <a:t>(PCF)</a:t>
            </a:r>
            <a:endParaRPr sz="4600"/>
          </a:p>
        </p:txBody>
      </p:sp>
      <p:sp>
        <p:nvSpPr>
          <p:cNvPr id="3" name="object 3"/>
          <p:cNvSpPr txBox="1"/>
          <p:nvPr/>
        </p:nvSpPr>
        <p:spPr>
          <a:xfrm>
            <a:off x="764540" y="1537157"/>
            <a:ext cx="7998459" cy="36010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297815" marR="5080" indent="-285750">
              <a:lnSpc>
                <a:spcPct val="100000"/>
              </a:lnSpc>
              <a:spcBef>
                <a:spcPts val="95"/>
              </a:spcBef>
              <a:buFont typeface="Arial MT"/>
              <a:buChar char="–"/>
              <a:tabLst>
                <a:tab pos="299085" algn="l"/>
              </a:tabLst>
            </a:pP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7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give</a:t>
            </a:r>
            <a:r>
              <a:rPr dirty="0" sz="2800" spc="7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priority</a:t>
            </a:r>
            <a:r>
              <a:rPr dirty="0" sz="2800" spc="7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7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PCF</a:t>
            </a:r>
            <a:r>
              <a:rPr dirty="0" sz="2800" spc="7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over</a:t>
            </a:r>
            <a:r>
              <a:rPr dirty="0" sz="2800" spc="7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DCF,</a:t>
            </a:r>
            <a:r>
              <a:rPr dirty="0" sz="2800" spc="7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another</a:t>
            </a:r>
            <a:r>
              <a:rPr dirty="0" sz="2800" spc="7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set</a:t>
            </a:r>
            <a:r>
              <a:rPr dirty="0" sz="2800" spc="75">
                <a:latin typeface="Calibri"/>
                <a:cs typeface="Calibri"/>
              </a:rPr>
              <a:t>  </a:t>
            </a:r>
            <a:r>
              <a:rPr dirty="0" sz="2800" spc="-25">
                <a:latin typeface="Calibri"/>
                <a:cs typeface="Calibri"/>
              </a:rPr>
              <a:t>of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interframe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spaces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has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been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defined: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PIFS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SIFS.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90"/>
              </a:spcBef>
              <a:buFont typeface="Arial MT"/>
              <a:buChar char="–"/>
            </a:pPr>
            <a:endParaRPr sz="2800">
              <a:latin typeface="Calibri"/>
              <a:cs typeface="Calibri"/>
            </a:endParaRPr>
          </a:p>
          <a:p>
            <a:pPr algn="just" marL="299085" marR="8255" indent="-287020">
              <a:lnSpc>
                <a:spcPct val="100000"/>
              </a:lnSpc>
              <a:buFont typeface="Arial MT"/>
              <a:buChar char="–"/>
              <a:tabLst>
                <a:tab pos="299085" algn="l"/>
              </a:tabLst>
            </a:pP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SIFS</a:t>
            </a:r>
            <a:r>
              <a:rPr dirty="0" sz="2800" spc="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same</a:t>
            </a:r>
            <a:r>
              <a:rPr dirty="0" sz="2800" spc="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as</a:t>
            </a:r>
            <a:r>
              <a:rPr dirty="0" sz="2800" spc="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that</a:t>
            </a:r>
            <a:r>
              <a:rPr dirty="0" sz="2800" spc="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20">
                <a:latin typeface="Calibri"/>
                <a:cs typeface="Calibri"/>
              </a:rPr>
              <a:t> </a:t>
            </a:r>
            <a:r>
              <a:rPr dirty="0" sz="2800" spc="-30">
                <a:latin typeface="Calibri"/>
                <a:cs typeface="Calibri"/>
              </a:rPr>
              <a:t>DCF,</a:t>
            </a:r>
            <a:r>
              <a:rPr dirty="0" sz="2800" spc="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but</a:t>
            </a:r>
            <a:r>
              <a:rPr dirty="0" sz="2800" spc="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PIFS</a:t>
            </a:r>
            <a:r>
              <a:rPr dirty="0" sz="2800" spc="1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(PCF </a:t>
            </a:r>
            <a:r>
              <a:rPr dirty="0" sz="2800">
                <a:latin typeface="Calibri"/>
                <a:cs typeface="Calibri"/>
              </a:rPr>
              <a:t>IFS)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shorter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than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DIFS.</a:t>
            </a:r>
            <a:endParaRPr sz="2800">
              <a:latin typeface="Calibri"/>
              <a:cs typeface="Calibri"/>
            </a:endParaRPr>
          </a:p>
          <a:p>
            <a:pPr algn="just" lvl="1" marL="698500" marR="5080" indent="-228600">
              <a:lnSpc>
                <a:spcPct val="100000"/>
              </a:lnSpc>
              <a:spcBef>
                <a:spcPts val="645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2600">
                <a:latin typeface="Calibri"/>
                <a:cs typeface="Calibri"/>
              </a:rPr>
              <a:t>This</a:t>
            </a:r>
            <a:r>
              <a:rPr dirty="0" sz="2600" spc="1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means</a:t>
            </a:r>
            <a:r>
              <a:rPr dirty="0" sz="2600" spc="1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that</a:t>
            </a:r>
            <a:r>
              <a:rPr dirty="0" sz="2600" spc="2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if,</a:t>
            </a:r>
            <a:r>
              <a:rPr dirty="0" sz="2600" spc="2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at</a:t>
            </a:r>
            <a:r>
              <a:rPr dirty="0" sz="2600" spc="1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1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same</a:t>
            </a:r>
            <a:r>
              <a:rPr dirty="0" sz="2600" spc="1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time,</a:t>
            </a:r>
            <a:r>
              <a:rPr dirty="0" sz="2600" spc="1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1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station</a:t>
            </a:r>
            <a:r>
              <a:rPr dirty="0" sz="2600" spc="204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wants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229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use</a:t>
            </a:r>
            <a:r>
              <a:rPr dirty="0" sz="2600" spc="2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only</a:t>
            </a:r>
            <a:r>
              <a:rPr dirty="0" sz="2600" spc="2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DCF</a:t>
            </a:r>
            <a:r>
              <a:rPr dirty="0" sz="2600" spc="2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229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</a:t>
            </a:r>
            <a:r>
              <a:rPr dirty="0" sz="2600" spc="2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AP</a:t>
            </a:r>
            <a:r>
              <a:rPr dirty="0" sz="2600" spc="229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wants</a:t>
            </a:r>
            <a:r>
              <a:rPr dirty="0" sz="2600" spc="2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2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use</a:t>
            </a:r>
            <a:r>
              <a:rPr dirty="0" sz="2600" spc="2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PCF,</a:t>
            </a:r>
            <a:r>
              <a:rPr dirty="0" sz="2600" spc="2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22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AP </a:t>
            </a:r>
            <a:r>
              <a:rPr dirty="0" sz="2600">
                <a:latin typeface="Calibri"/>
                <a:cs typeface="Calibri"/>
              </a:rPr>
              <a:t>has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priority.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1437" rIns="0" bIns="0" rtlCol="0" vert="horz">
            <a:spAutoFit/>
          </a:bodyPr>
          <a:lstStyle/>
          <a:p>
            <a:pPr marL="266065">
              <a:lnSpc>
                <a:spcPct val="100000"/>
              </a:lnSpc>
              <a:spcBef>
                <a:spcPts val="95"/>
              </a:spcBef>
            </a:pPr>
            <a:r>
              <a:rPr dirty="0" sz="4600"/>
              <a:t>Point</a:t>
            </a:r>
            <a:r>
              <a:rPr dirty="0" sz="4600" spc="-125"/>
              <a:t> </a:t>
            </a:r>
            <a:r>
              <a:rPr dirty="0" sz="4600"/>
              <a:t>Coordination</a:t>
            </a:r>
            <a:r>
              <a:rPr dirty="0" sz="4600" spc="-125"/>
              <a:t> </a:t>
            </a:r>
            <a:r>
              <a:rPr dirty="0" sz="4600"/>
              <a:t>Function</a:t>
            </a:r>
            <a:r>
              <a:rPr dirty="0" sz="4600" spc="-120"/>
              <a:t> </a:t>
            </a:r>
            <a:r>
              <a:rPr dirty="0" sz="4600" spc="-10"/>
              <a:t>(PCF)</a:t>
            </a:r>
            <a:endParaRPr sz="4600"/>
          </a:p>
        </p:txBody>
      </p:sp>
      <p:sp>
        <p:nvSpPr>
          <p:cNvPr id="3" name="object 3"/>
          <p:cNvSpPr txBox="1"/>
          <p:nvPr/>
        </p:nvSpPr>
        <p:spPr>
          <a:xfrm>
            <a:off x="764540" y="1020826"/>
            <a:ext cx="7998459" cy="55257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299085" marR="5080" indent="-287020">
              <a:lnSpc>
                <a:spcPct val="100000"/>
              </a:lnSpc>
              <a:spcBef>
                <a:spcPts val="105"/>
              </a:spcBef>
              <a:buFont typeface="Arial MT"/>
              <a:buChar char="–"/>
              <a:tabLst>
                <a:tab pos="299085" algn="l"/>
              </a:tabLst>
            </a:pPr>
            <a:r>
              <a:rPr dirty="0" sz="2600">
                <a:latin typeface="Calibri"/>
                <a:cs typeface="Calibri"/>
              </a:rPr>
              <a:t>Due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priority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PCF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over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spc="-55">
                <a:latin typeface="Calibri"/>
                <a:cs typeface="Calibri"/>
              </a:rPr>
              <a:t>DCF,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stations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that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only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use </a:t>
            </a:r>
            <a:r>
              <a:rPr dirty="0" sz="2600">
                <a:latin typeface="Calibri"/>
                <a:cs typeface="Calibri"/>
              </a:rPr>
              <a:t>DCF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may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not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gain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access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medium.</a:t>
            </a:r>
            <a:endParaRPr sz="2600">
              <a:latin typeface="Calibri"/>
              <a:cs typeface="Calibri"/>
            </a:endParaRPr>
          </a:p>
          <a:p>
            <a:pPr algn="just" lvl="1" marL="698500" marR="5080" indent="-228600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2500">
                <a:latin typeface="Calibri"/>
                <a:cs typeface="Calibri"/>
              </a:rPr>
              <a:t>To</a:t>
            </a:r>
            <a:r>
              <a:rPr dirty="0" sz="2500" spc="8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prevent</a:t>
            </a:r>
            <a:r>
              <a:rPr dirty="0" sz="2500" spc="10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this,</a:t>
            </a:r>
            <a:r>
              <a:rPr dirty="0" sz="2500" spc="9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a</a:t>
            </a:r>
            <a:r>
              <a:rPr dirty="0" sz="2500" spc="10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repetition</a:t>
            </a:r>
            <a:r>
              <a:rPr dirty="0" sz="2500" spc="10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interval</a:t>
            </a:r>
            <a:r>
              <a:rPr dirty="0" sz="2500" spc="10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has</a:t>
            </a:r>
            <a:r>
              <a:rPr dirty="0" sz="2500" spc="9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been</a:t>
            </a:r>
            <a:r>
              <a:rPr dirty="0" sz="2500" spc="114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designed </a:t>
            </a:r>
            <a:r>
              <a:rPr dirty="0" sz="2500">
                <a:latin typeface="Calibri"/>
                <a:cs typeface="Calibri"/>
              </a:rPr>
              <a:t>to cover both </a:t>
            </a:r>
            <a:r>
              <a:rPr dirty="0" sz="2500" spc="-20">
                <a:latin typeface="Calibri"/>
                <a:cs typeface="Calibri"/>
              </a:rPr>
              <a:t>contention-</a:t>
            </a:r>
            <a:r>
              <a:rPr dirty="0" sz="2500">
                <a:latin typeface="Calibri"/>
                <a:cs typeface="Calibri"/>
              </a:rPr>
              <a:t>free (PCF) and </a:t>
            </a:r>
            <a:r>
              <a:rPr dirty="0" sz="2500" spc="-10">
                <a:latin typeface="Calibri"/>
                <a:cs typeface="Calibri"/>
              </a:rPr>
              <a:t>contention-</a:t>
            </a:r>
            <a:r>
              <a:rPr dirty="0" sz="2500">
                <a:latin typeface="Calibri"/>
                <a:cs typeface="Calibri"/>
              </a:rPr>
              <a:t>based</a:t>
            </a:r>
            <a:r>
              <a:rPr dirty="0" sz="2500" spc="-7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(DCF)</a:t>
            </a:r>
            <a:r>
              <a:rPr dirty="0" sz="2500" spc="-60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traffic.</a:t>
            </a:r>
            <a:endParaRPr sz="25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320"/>
              </a:spcBef>
              <a:buFont typeface="Arial MT"/>
              <a:buChar char="•"/>
            </a:pPr>
            <a:endParaRPr sz="2500">
              <a:latin typeface="Calibri"/>
              <a:cs typeface="Calibri"/>
            </a:endParaRPr>
          </a:p>
          <a:p>
            <a:pPr algn="just" marL="299085" marR="5080" indent="-287020">
              <a:lnSpc>
                <a:spcPct val="100000"/>
              </a:lnSpc>
              <a:buFont typeface="Arial MT"/>
              <a:buChar char="–"/>
              <a:tabLst>
                <a:tab pos="299085" algn="l"/>
              </a:tabLst>
            </a:pP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229">
                <a:latin typeface="Calibri"/>
                <a:cs typeface="Calibri"/>
              </a:rPr>
              <a:t> </a:t>
            </a:r>
            <a:r>
              <a:rPr dirty="0" sz="2600" b="1">
                <a:latin typeface="Calibri"/>
                <a:cs typeface="Calibri"/>
              </a:rPr>
              <a:t>repetition</a:t>
            </a:r>
            <a:r>
              <a:rPr dirty="0" sz="2600" spc="240" b="1">
                <a:latin typeface="Calibri"/>
                <a:cs typeface="Calibri"/>
              </a:rPr>
              <a:t> </a:t>
            </a:r>
            <a:r>
              <a:rPr dirty="0" sz="2600" b="1">
                <a:latin typeface="Calibri"/>
                <a:cs typeface="Calibri"/>
              </a:rPr>
              <a:t>interval,</a:t>
            </a:r>
            <a:r>
              <a:rPr dirty="0" sz="2600" spc="245" b="1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which</a:t>
            </a:r>
            <a:r>
              <a:rPr dirty="0" sz="2600" spc="25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2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repeated</a:t>
            </a:r>
            <a:r>
              <a:rPr dirty="0" sz="2600" spc="24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continuously, </a:t>
            </a:r>
            <a:r>
              <a:rPr dirty="0" sz="2600">
                <a:latin typeface="Calibri"/>
                <a:cs typeface="Calibri"/>
              </a:rPr>
              <a:t>starts</a:t>
            </a:r>
            <a:r>
              <a:rPr dirty="0" sz="2600" spc="12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with</a:t>
            </a:r>
            <a:r>
              <a:rPr dirty="0" sz="2600" spc="11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12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special</a:t>
            </a:r>
            <a:r>
              <a:rPr dirty="0" sz="2600" spc="11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control</a:t>
            </a:r>
            <a:r>
              <a:rPr dirty="0" sz="2600" spc="114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frame,</a:t>
            </a:r>
            <a:r>
              <a:rPr dirty="0" sz="2600" spc="11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called</a:t>
            </a:r>
            <a:r>
              <a:rPr dirty="0" sz="2600" spc="114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114">
                <a:latin typeface="Calibri"/>
                <a:cs typeface="Calibri"/>
              </a:rPr>
              <a:t>  </a:t>
            </a:r>
            <a:r>
              <a:rPr dirty="0" sz="2600" spc="-10" b="1">
                <a:latin typeface="Calibri"/>
                <a:cs typeface="Calibri"/>
              </a:rPr>
              <a:t>beacon frame.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95"/>
              </a:spcBef>
              <a:buFont typeface="Arial MT"/>
              <a:buChar char="–"/>
            </a:pPr>
            <a:endParaRPr sz="2600">
              <a:latin typeface="Calibri"/>
              <a:cs typeface="Calibri"/>
            </a:endParaRPr>
          </a:p>
          <a:p>
            <a:pPr algn="just" marL="299085" marR="6985" indent="-287020">
              <a:lnSpc>
                <a:spcPct val="100000"/>
              </a:lnSpc>
              <a:buFont typeface="Arial MT"/>
              <a:buChar char="–"/>
              <a:tabLst>
                <a:tab pos="299085" algn="l"/>
              </a:tabLst>
            </a:pPr>
            <a:r>
              <a:rPr dirty="0" sz="2600">
                <a:latin typeface="Calibri"/>
                <a:cs typeface="Calibri"/>
              </a:rPr>
              <a:t>When</a:t>
            </a:r>
            <a:r>
              <a:rPr dirty="0" sz="2600" spc="5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5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stations</a:t>
            </a:r>
            <a:r>
              <a:rPr dirty="0" sz="2600" spc="5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hear</a:t>
            </a:r>
            <a:r>
              <a:rPr dirty="0" sz="2600" spc="6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5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beacon</a:t>
            </a:r>
            <a:r>
              <a:rPr dirty="0" sz="2600" spc="5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frame,</a:t>
            </a:r>
            <a:r>
              <a:rPr dirty="0" sz="2600" spc="5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they</a:t>
            </a:r>
            <a:r>
              <a:rPr dirty="0" sz="2600" spc="58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start </a:t>
            </a:r>
            <a:r>
              <a:rPr dirty="0" sz="2600">
                <a:latin typeface="Calibri"/>
                <a:cs typeface="Calibri"/>
              </a:rPr>
              <a:t>their</a:t>
            </a:r>
            <a:r>
              <a:rPr dirty="0" sz="2600" spc="1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NAV</a:t>
            </a:r>
            <a:r>
              <a:rPr dirty="0" sz="2600" spc="1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1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1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duration</a:t>
            </a:r>
            <a:r>
              <a:rPr dirty="0" sz="2600" spc="1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1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13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contention-</a:t>
            </a:r>
            <a:r>
              <a:rPr dirty="0" sz="2600">
                <a:latin typeface="Calibri"/>
                <a:cs typeface="Calibri"/>
              </a:rPr>
              <a:t>free</a:t>
            </a:r>
            <a:r>
              <a:rPr dirty="0" sz="2600" spc="14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period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repetition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interval.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4960" y="489297"/>
            <a:ext cx="8581914" cy="5955571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3540" y="388365"/>
            <a:ext cx="2471420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10"/>
              <a:t>Fragmentation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840739" y="964437"/>
            <a:ext cx="7921625" cy="37807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95"/>
              </a:spcBef>
              <a:buFont typeface="Arial MT"/>
              <a:buChar char="–"/>
              <a:tabLst>
                <a:tab pos="299085" algn="l"/>
              </a:tabLst>
            </a:pP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5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wireless</a:t>
            </a:r>
            <a:r>
              <a:rPr dirty="0" sz="2800" spc="5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environment</a:t>
            </a:r>
            <a:r>
              <a:rPr dirty="0" sz="2800" spc="5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5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very</a:t>
            </a:r>
            <a:r>
              <a:rPr dirty="0" sz="2800" spc="5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noisy;</a:t>
            </a:r>
            <a:r>
              <a:rPr dirty="0" sz="2800" spc="5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55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corrupt </a:t>
            </a:r>
            <a:r>
              <a:rPr dirty="0" sz="2800">
                <a:latin typeface="Calibri"/>
                <a:cs typeface="Calibri"/>
              </a:rPr>
              <a:t>frame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has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be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retransmitted.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90"/>
              </a:spcBef>
              <a:buFont typeface="Arial MT"/>
              <a:buChar char="–"/>
            </a:pPr>
            <a:endParaRPr sz="2800">
              <a:latin typeface="Calibri"/>
              <a:cs typeface="Calibri"/>
            </a:endParaRPr>
          </a:p>
          <a:p>
            <a:pPr marL="299085" marR="7620" indent="-287020">
              <a:lnSpc>
                <a:spcPct val="100000"/>
              </a:lnSpc>
              <a:buFont typeface="Arial MT"/>
              <a:buChar char="–"/>
              <a:tabLst>
                <a:tab pos="299085" algn="l"/>
                <a:tab pos="1274445" algn="l"/>
                <a:tab pos="2925445" algn="l"/>
                <a:tab pos="5251450" algn="l"/>
              </a:tabLst>
            </a:pPr>
            <a:r>
              <a:rPr dirty="0" sz="2800" spc="-25">
                <a:latin typeface="Calibri"/>
                <a:cs typeface="Calibri"/>
              </a:rPr>
              <a:t>The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protocol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recommends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30">
                <a:latin typeface="Calibri"/>
                <a:cs typeface="Calibri"/>
              </a:rPr>
              <a:t>fragmentation-</a:t>
            </a:r>
            <a:r>
              <a:rPr dirty="0" sz="2800" spc="-25">
                <a:latin typeface="Calibri"/>
                <a:cs typeface="Calibri"/>
              </a:rPr>
              <a:t>the </a:t>
            </a:r>
            <a:r>
              <a:rPr dirty="0" sz="2800">
                <a:latin typeface="Calibri"/>
                <a:cs typeface="Calibri"/>
              </a:rPr>
              <a:t>division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large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frame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into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smaller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ones.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85"/>
              </a:spcBef>
              <a:buFont typeface="Arial MT"/>
              <a:buChar char="–"/>
            </a:pPr>
            <a:endParaRPr sz="2800">
              <a:latin typeface="Calibri"/>
              <a:cs typeface="Calibri"/>
            </a:endParaRPr>
          </a:p>
          <a:p>
            <a:pPr marL="299085" marR="6985" indent="-287020">
              <a:lnSpc>
                <a:spcPct val="100000"/>
              </a:lnSpc>
              <a:buFont typeface="Arial MT"/>
              <a:buChar char="–"/>
              <a:tabLst>
                <a:tab pos="299085" algn="l"/>
              </a:tabLst>
            </a:pPr>
            <a:r>
              <a:rPr dirty="0" sz="2800">
                <a:latin typeface="Calibri"/>
                <a:cs typeface="Calibri"/>
              </a:rPr>
              <a:t>It</a:t>
            </a:r>
            <a:r>
              <a:rPr dirty="0" sz="2800" spc="3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3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more</a:t>
            </a:r>
            <a:r>
              <a:rPr dirty="0" sz="2800" spc="3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efficient</a:t>
            </a:r>
            <a:r>
              <a:rPr dirty="0" sz="2800" spc="3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3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resend</a:t>
            </a:r>
            <a:r>
              <a:rPr dirty="0" sz="2800" spc="3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3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small</a:t>
            </a:r>
            <a:r>
              <a:rPr dirty="0" sz="2800" spc="3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frame</a:t>
            </a:r>
            <a:r>
              <a:rPr dirty="0" sz="2800" spc="3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than</a:t>
            </a:r>
            <a:r>
              <a:rPr dirty="0" sz="2800" spc="360">
                <a:latin typeface="Calibri"/>
                <a:cs typeface="Calibri"/>
              </a:rPr>
              <a:t> </a:t>
            </a:r>
            <a:r>
              <a:rPr dirty="0" sz="2800" spc="-50">
                <a:latin typeface="Calibri"/>
                <a:cs typeface="Calibri"/>
              </a:rPr>
              <a:t>a </a:t>
            </a:r>
            <a:r>
              <a:rPr dirty="0" sz="2800">
                <a:latin typeface="Calibri"/>
                <a:cs typeface="Calibri"/>
              </a:rPr>
              <a:t>large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one.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36372" rIns="0" bIns="0" rtlCol="0" vert="horz">
            <a:spAutoFit/>
          </a:bodyPr>
          <a:lstStyle/>
          <a:p>
            <a:pPr marL="266065">
              <a:lnSpc>
                <a:spcPct val="100000"/>
              </a:lnSpc>
              <a:spcBef>
                <a:spcPts val="100"/>
              </a:spcBef>
            </a:pPr>
            <a:r>
              <a:rPr dirty="0" sz="3200"/>
              <a:t>Frame</a:t>
            </a:r>
            <a:r>
              <a:rPr dirty="0" sz="3200" spc="-120"/>
              <a:t> </a:t>
            </a:r>
            <a:r>
              <a:rPr dirty="0" sz="3200" spc="-10"/>
              <a:t>Format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764540" y="4628769"/>
            <a:ext cx="8071484" cy="1220470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algn="just" marL="299085" marR="5080" indent="-287020">
              <a:lnSpc>
                <a:spcPct val="90000"/>
              </a:lnSpc>
              <a:spcBef>
                <a:spcPts val="430"/>
              </a:spcBef>
            </a:pPr>
            <a:r>
              <a:rPr dirty="0" sz="2800">
                <a:latin typeface="Arial MT"/>
                <a:cs typeface="Arial MT"/>
              </a:rPr>
              <a:t>–</a:t>
            </a:r>
            <a:r>
              <a:rPr dirty="0" sz="2800" spc="-120">
                <a:latin typeface="Arial MT"/>
                <a:cs typeface="Arial MT"/>
              </a:rPr>
              <a:t> </a:t>
            </a:r>
            <a:r>
              <a:rPr dirty="0" sz="2800" b="1">
                <a:latin typeface="Calibri"/>
                <a:cs typeface="Calibri"/>
              </a:rPr>
              <a:t>Frame</a:t>
            </a:r>
            <a:r>
              <a:rPr dirty="0" sz="2800" spc="31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control</a:t>
            </a:r>
            <a:r>
              <a:rPr dirty="0" sz="2800" spc="300" b="1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(FC).</a:t>
            </a:r>
            <a:r>
              <a:rPr dirty="0" sz="2800" spc="3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3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FC</a:t>
            </a:r>
            <a:r>
              <a:rPr dirty="0" sz="2800" spc="3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field</a:t>
            </a:r>
            <a:r>
              <a:rPr dirty="0" sz="2800" spc="2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3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2</a:t>
            </a:r>
            <a:r>
              <a:rPr dirty="0" sz="2800" spc="3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bytes</a:t>
            </a:r>
            <a:r>
              <a:rPr dirty="0" sz="2800" spc="3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long</a:t>
            </a:r>
            <a:r>
              <a:rPr dirty="0" sz="2800" spc="31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and </a:t>
            </a:r>
            <a:r>
              <a:rPr dirty="0" sz="2800">
                <a:latin typeface="Calibri"/>
                <a:cs typeface="Calibri"/>
              </a:rPr>
              <a:t>defines</a:t>
            </a:r>
            <a:r>
              <a:rPr dirty="0" sz="2800" spc="509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51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type</a:t>
            </a:r>
            <a:r>
              <a:rPr dirty="0" sz="2800" spc="52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51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frame</a:t>
            </a:r>
            <a:r>
              <a:rPr dirty="0" sz="2800" spc="51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52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some</a:t>
            </a:r>
            <a:r>
              <a:rPr dirty="0" sz="2800" spc="16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contro</a:t>
            </a:r>
            <a:r>
              <a:rPr dirty="0" sz="2800" spc="-10">
                <a:latin typeface="Calibri"/>
                <a:cs typeface="Calibri"/>
              </a:rPr>
              <a:t>l</a:t>
            </a:r>
            <a:r>
              <a:rPr dirty="0" sz="2800" spc="-10">
                <a:latin typeface="Calibri"/>
                <a:cs typeface="Calibri"/>
              </a:rPr>
              <a:t> information.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8806" y="1174776"/>
            <a:ext cx="8265517" cy="2874324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27050" y="222250"/>
          <a:ext cx="8166100" cy="6251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68855"/>
                <a:gridCol w="5808345"/>
              </a:tblGrid>
              <a:tr h="39560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2400" spc="-10" b="1">
                          <a:latin typeface="Calibri"/>
                          <a:cs typeface="Calibri"/>
                        </a:rPr>
                        <a:t>Field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08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2400" spc="-10" b="1">
                          <a:latin typeface="Calibri"/>
                          <a:cs typeface="Calibri"/>
                        </a:rPr>
                        <a:t>Explanation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3556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2400" spc="-10" b="1">
                          <a:latin typeface="Calibri"/>
                          <a:cs typeface="Calibri"/>
                        </a:rPr>
                        <a:t>Version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107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2400">
                          <a:latin typeface="Calibri"/>
                          <a:cs typeface="Calibri"/>
                        </a:rPr>
                        <a:t>Current</a:t>
                      </a:r>
                      <a:r>
                        <a:rPr dirty="0" sz="2400" spc="-9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version</a:t>
                      </a:r>
                      <a:r>
                        <a:rPr dirty="0" sz="2400" spc="-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is</a:t>
                      </a:r>
                      <a:r>
                        <a:rPr dirty="0" sz="2400" spc="-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5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107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marL="3556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2400" spc="-20" b="1">
                          <a:latin typeface="Calibri"/>
                          <a:cs typeface="Calibri"/>
                        </a:rPr>
                        <a:t>Type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107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85"/>
                        </a:spcBef>
                        <a:tabLst>
                          <a:tab pos="908050" algn="l"/>
                          <a:tab pos="1447165" algn="l"/>
                          <a:tab pos="3276600" algn="l"/>
                          <a:tab pos="5204460" algn="l"/>
                        </a:tabLst>
                      </a:pPr>
                      <a:r>
                        <a:rPr dirty="0" sz="2400" spc="-20">
                          <a:latin typeface="Calibri"/>
                          <a:cs typeface="Calibri"/>
                        </a:rPr>
                        <a:t>Type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2400" spc="-25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2400" spc="-10">
                          <a:latin typeface="Calibri"/>
                          <a:cs typeface="Calibri"/>
                        </a:rPr>
                        <a:t>information: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2400" spc="-10">
                          <a:latin typeface="Calibri"/>
                          <a:cs typeface="Calibri"/>
                        </a:rPr>
                        <a:t>management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2400" spc="-10">
                          <a:latin typeface="Calibri"/>
                          <a:cs typeface="Calibri"/>
                        </a:rPr>
                        <a:t>(00),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36195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2400">
                          <a:latin typeface="Calibri"/>
                          <a:cs typeface="Calibri"/>
                        </a:rPr>
                        <a:t>control</a:t>
                      </a:r>
                      <a:r>
                        <a:rPr dirty="0" sz="2400" spc="-8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(01),</a:t>
                      </a:r>
                      <a:r>
                        <a:rPr dirty="0" sz="2400" spc="-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data</a:t>
                      </a:r>
                      <a:r>
                        <a:rPr dirty="0" sz="2400" spc="-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20">
                          <a:latin typeface="Calibri"/>
                          <a:cs typeface="Calibri"/>
                        </a:rPr>
                        <a:t>(10)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107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3556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2400" spc="-10" b="1">
                          <a:latin typeface="Calibri"/>
                          <a:cs typeface="Calibri"/>
                        </a:rPr>
                        <a:t>Subtype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107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2400">
                          <a:latin typeface="Calibri"/>
                          <a:cs typeface="Calibri"/>
                        </a:rPr>
                        <a:t>Subtype</a:t>
                      </a:r>
                      <a:r>
                        <a:rPr dirty="0" sz="24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2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each</a:t>
                      </a:r>
                      <a:r>
                        <a:rPr dirty="0" sz="2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20">
                          <a:latin typeface="Calibri"/>
                          <a:cs typeface="Calibri"/>
                        </a:rPr>
                        <a:t>type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107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3556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2400" spc="-90" b="1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24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25" b="1">
                          <a:latin typeface="Calibri"/>
                          <a:cs typeface="Calibri"/>
                        </a:rPr>
                        <a:t>DS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107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2400">
                          <a:latin typeface="Calibri"/>
                          <a:cs typeface="Calibri"/>
                        </a:rPr>
                        <a:t>Defined</a:t>
                      </a:r>
                      <a:r>
                        <a:rPr dirty="0" sz="2400" spc="-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10">
                          <a:latin typeface="Calibri"/>
                          <a:cs typeface="Calibri"/>
                        </a:rPr>
                        <a:t>later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107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3556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2400" b="1">
                          <a:latin typeface="Calibri"/>
                          <a:cs typeface="Calibri"/>
                        </a:rPr>
                        <a:t>From</a:t>
                      </a:r>
                      <a:r>
                        <a:rPr dirty="0" sz="2400" spc="-6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25" b="1">
                          <a:latin typeface="Calibri"/>
                          <a:cs typeface="Calibri"/>
                        </a:rPr>
                        <a:t>DS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114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2400">
                          <a:latin typeface="Calibri"/>
                          <a:cs typeface="Calibri"/>
                        </a:rPr>
                        <a:t>Defined</a:t>
                      </a:r>
                      <a:r>
                        <a:rPr dirty="0" sz="2400" spc="-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10">
                          <a:latin typeface="Calibri"/>
                          <a:cs typeface="Calibri"/>
                        </a:rPr>
                        <a:t>later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114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7510">
                <a:tc>
                  <a:txBody>
                    <a:bodyPr/>
                    <a:lstStyle/>
                    <a:p>
                      <a:pPr marL="3556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2400" b="1">
                          <a:latin typeface="Calibri"/>
                          <a:cs typeface="Calibri"/>
                        </a:rPr>
                        <a:t>More</a:t>
                      </a:r>
                      <a:r>
                        <a:rPr dirty="0" sz="2400" spc="-5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20" b="1">
                          <a:latin typeface="Calibri"/>
                          <a:cs typeface="Calibri"/>
                        </a:rPr>
                        <a:t>flag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107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2400">
                          <a:latin typeface="Calibri"/>
                          <a:cs typeface="Calibri"/>
                        </a:rPr>
                        <a:t>When</a:t>
                      </a:r>
                      <a:r>
                        <a:rPr dirty="0" sz="2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set</a:t>
                      </a:r>
                      <a:r>
                        <a:rPr dirty="0" sz="2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2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1,</a:t>
                      </a:r>
                      <a:r>
                        <a:rPr dirty="0" sz="2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means</a:t>
                      </a:r>
                      <a:r>
                        <a:rPr dirty="0" sz="2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more</a:t>
                      </a:r>
                      <a:r>
                        <a:rPr dirty="0" sz="2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10">
                          <a:latin typeface="Calibri"/>
                          <a:cs typeface="Calibri"/>
                        </a:rPr>
                        <a:t>fragments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107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marL="3556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2400" spc="-10" b="1">
                          <a:latin typeface="Calibri"/>
                          <a:cs typeface="Calibri"/>
                        </a:rPr>
                        <a:t>Retry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107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2400">
                          <a:latin typeface="Calibri"/>
                          <a:cs typeface="Calibri"/>
                        </a:rPr>
                        <a:t>When</a:t>
                      </a:r>
                      <a:r>
                        <a:rPr dirty="0" sz="2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set</a:t>
                      </a:r>
                      <a:r>
                        <a:rPr dirty="0" sz="2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2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1,</a:t>
                      </a:r>
                      <a:r>
                        <a:rPr dirty="0" sz="2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means</a:t>
                      </a:r>
                      <a:r>
                        <a:rPr dirty="0" sz="2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10">
                          <a:latin typeface="Calibri"/>
                          <a:cs typeface="Calibri"/>
                        </a:rPr>
                        <a:t>retransmitted</a:t>
                      </a:r>
                      <a:r>
                        <a:rPr dirty="0" sz="24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10">
                          <a:latin typeface="Calibri"/>
                          <a:cs typeface="Calibri"/>
                        </a:rPr>
                        <a:t>frame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107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marL="3556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2400" b="1">
                          <a:latin typeface="Calibri"/>
                          <a:cs typeface="Calibri"/>
                        </a:rPr>
                        <a:t>Pwr</a:t>
                      </a:r>
                      <a:r>
                        <a:rPr dirty="0" sz="24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25" b="1">
                          <a:latin typeface="Calibri"/>
                          <a:cs typeface="Calibri"/>
                        </a:rPr>
                        <a:t>mgt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114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ts val="2730"/>
                        </a:lnSpc>
                      </a:pPr>
                      <a:r>
                        <a:rPr dirty="0" sz="2400">
                          <a:latin typeface="Calibri"/>
                          <a:cs typeface="Calibri"/>
                        </a:rPr>
                        <a:t>When</a:t>
                      </a:r>
                      <a:r>
                        <a:rPr dirty="0" sz="2400" spc="50"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set</a:t>
                      </a:r>
                      <a:r>
                        <a:rPr dirty="0" sz="2400" spc="50"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2400" spc="50"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1,</a:t>
                      </a:r>
                      <a:r>
                        <a:rPr dirty="0" sz="2400" spc="45"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means</a:t>
                      </a:r>
                      <a:r>
                        <a:rPr dirty="0" sz="2400" spc="50"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station</a:t>
                      </a:r>
                      <a:r>
                        <a:rPr dirty="0" sz="2400" spc="50"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is</a:t>
                      </a:r>
                      <a:r>
                        <a:rPr dirty="0" sz="2400" spc="40"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2400" spc="50"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2400" spc="-10">
                          <a:latin typeface="Calibri"/>
                          <a:cs typeface="Calibri"/>
                        </a:rPr>
                        <a:t>power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36195">
                        <a:lnSpc>
                          <a:spcPct val="100000"/>
                        </a:lnSpc>
                      </a:pPr>
                      <a:r>
                        <a:rPr dirty="0" sz="2400">
                          <a:latin typeface="Calibri"/>
                          <a:cs typeface="Calibri"/>
                        </a:rPr>
                        <a:t>management</a:t>
                      </a:r>
                      <a:r>
                        <a:rPr dirty="0" sz="2400" spc="-114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20">
                          <a:latin typeface="Calibri"/>
                          <a:cs typeface="Calibri"/>
                        </a:rPr>
                        <a:t>mode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30885">
                <a:tc>
                  <a:txBody>
                    <a:bodyPr/>
                    <a:lstStyle/>
                    <a:p>
                      <a:pPr marL="3556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2400" b="1">
                          <a:latin typeface="Calibri"/>
                          <a:cs typeface="Calibri"/>
                        </a:rPr>
                        <a:t>More</a:t>
                      </a:r>
                      <a:r>
                        <a:rPr dirty="0" sz="2400" spc="-5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20" b="1">
                          <a:latin typeface="Calibri"/>
                          <a:cs typeface="Calibri"/>
                        </a:rPr>
                        <a:t>data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114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ts val="2735"/>
                        </a:lnSpc>
                      </a:pPr>
                      <a:r>
                        <a:rPr dirty="0" sz="2400">
                          <a:latin typeface="Calibri"/>
                          <a:cs typeface="Calibri"/>
                        </a:rPr>
                        <a:t>When</a:t>
                      </a:r>
                      <a:r>
                        <a:rPr dirty="0" sz="2400" spc="2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set</a:t>
                      </a:r>
                      <a:r>
                        <a:rPr dirty="0" sz="2400" spc="2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2400" spc="2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1,</a:t>
                      </a:r>
                      <a:r>
                        <a:rPr dirty="0" sz="2400" spc="2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means</a:t>
                      </a:r>
                      <a:r>
                        <a:rPr dirty="0" sz="2400" spc="2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station</a:t>
                      </a:r>
                      <a:r>
                        <a:rPr dirty="0" sz="2400" spc="2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has</a:t>
                      </a:r>
                      <a:r>
                        <a:rPr dirty="0" sz="2400" spc="2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more</a:t>
                      </a:r>
                      <a:r>
                        <a:rPr dirty="0" sz="2400" spc="2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20">
                          <a:latin typeface="Calibri"/>
                          <a:cs typeface="Calibri"/>
                        </a:rPr>
                        <a:t>data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36195">
                        <a:lnSpc>
                          <a:spcPct val="100000"/>
                        </a:lnSpc>
                      </a:pPr>
                      <a:r>
                        <a:rPr dirty="0" sz="240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24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20">
                          <a:latin typeface="Calibri"/>
                          <a:cs typeface="Calibri"/>
                        </a:rPr>
                        <a:t>send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marL="3556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2400" spc="-25" b="1">
                          <a:latin typeface="Calibri"/>
                          <a:cs typeface="Calibri"/>
                        </a:rPr>
                        <a:t>WEP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114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ts val="2735"/>
                        </a:lnSpc>
                        <a:tabLst>
                          <a:tab pos="1249045" algn="l"/>
                          <a:tab pos="3005455" algn="l"/>
                          <a:tab pos="4343400" algn="l"/>
                        </a:tabLst>
                      </a:pPr>
                      <a:r>
                        <a:rPr dirty="0" sz="2400" spc="-10">
                          <a:latin typeface="Calibri"/>
                          <a:cs typeface="Calibri"/>
                        </a:rPr>
                        <a:t>Wired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2400" spc="-10">
                          <a:latin typeface="Calibri"/>
                          <a:cs typeface="Calibri"/>
                        </a:rPr>
                        <a:t>Equivalent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2400" spc="-10">
                          <a:latin typeface="Calibri"/>
                          <a:cs typeface="Calibri"/>
                        </a:rPr>
                        <a:t>Privacy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2400" spc="-10">
                          <a:latin typeface="Calibri"/>
                          <a:cs typeface="Calibri"/>
                        </a:rPr>
                        <a:t>(encryption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36195">
                        <a:lnSpc>
                          <a:spcPct val="100000"/>
                        </a:lnSpc>
                      </a:pPr>
                      <a:r>
                        <a:rPr dirty="0" sz="2400" spc="-10">
                          <a:latin typeface="Calibri"/>
                          <a:cs typeface="Calibri"/>
                        </a:rPr>
                        <a:t>implemented)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3556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2400" spc="-20" b="1">
                          <a:latin typeface="Calibri"/>
                          <a:cs typeface="Calibri"/>
                        </a:rPr>
                        <a:t>Rsvd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114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2400" spc="-10">
                          <a:latin typeface="Calibri"/>
                          <a:cs typeface="Calibri"/>
                        </a:rPr>
                        <a:t>Reserved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114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51231"/>
            <a:ext cx="8074659" cy="5582285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algn="just" marL="355600" marR="5080" indent="-342900">
              <a:lnSpc>
                <a:spcPct val="90000"/>
              </a:lnSpc>
              <a:spcBef>
                <a:spcPts val="425"/>
              </a:spcBef>
              <a:buClr>
                <a:srgbClr val="FF0000"/>
              </a:buClr>
              <a:buFont typeface="Arial MT"/>
              <a:buChar char="•"/>
              <a:tabLst>
                <a:tab pos="355600" algn="l"/>
              </a:tabLst>
            </a:pPr>
            <a:r>
              <a:rPr dirty="0" sz="2700">
                <a:solidFill>
                  <a:srgbClr val="FF0000"/>
                </a:solidFill>
                <a:latin typeface="Calibri"/>
                <a:cs typeface="Calibri"/>
              </a:rPr>
              <a:t>D.</a:t>
            </a:r>
            <a:r>
              <a:rPr dirty="0" sz="2700" spc="22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In</a:t>
            </a:r>
            <a:r>
              <a:rPr dirty="0" sz="2700" spc="21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all</a:t>
            </a:r>
            <a:r>
              <a:rPr dirty="0" sz="2700" spc="229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frame</a:t>
            </a:r>
            <a:r>
              <a:rPr dirty="0" sz="2700" spc="229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types</a:t>
            </a:r>
            <a:r>
              <a:rPr dirty="0" sz="2700" spc="21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except</a:t>
            </a:r>
            <a:r>
              <a:rPr dirty="0" sz="2700" spc="21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one,</a:t>
            </a:r>
            <a:r>
              <a:rPr dirty="0" sz="2700" spc="229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this</a:t>
            </a:r>
            <a:r>
              <a:rPr dirty="0" sz="2700" spc="21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field</a:t>
            </a:r>
            <a:r>
              <a:rPr dirty="0" sz="2700" spc="22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defines</a:t>
            </a:r>
            <a:r>
              <a:rPr dirty="0" sz="2700" spc="215">
                <a:latin typeface="Calibri"/>
                <a:cs typeface="Calibri"/>
              </a:rPr>
              <a:t> </a:t>
            </a:r>
            <a:r>
              <a:rPr dirty="0" sz="2700" spc="-25">
                <a:latin typeface="Calibri"/>
                <a:cs typeface="Calibri"/>
              </a:rPr>
              <a:t>the </a:t>
            </a:r>
            <a:r>
              <a:rPr dirty="0" sz="2700">
                <a:latin typeface="Calibri"/>
                <a:cs typeface="Calibri"/>
              </a:rPr>
              <a:t>duration</a:t>
            </a:r>
            <a:r>
              <a:rPr dirty="0" sz="2700" spc="54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of</a:t>
            </a:r>
            <a:r>
              <a:rPr dirty="0" sz="2700" spc="56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55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transmission</a:t>
            </a:r>
            <a:r>
              <a:rPr dirty="0" sz="2700" spc="54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that</a:t>
            </a:r>
            <a:r>
              <a:rPr dirty="0" sz="2700" spc="55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is</a:t>
            </a:r>
            <a:r>
              <a:rPr dirty="0" sz="2700" spc="56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used</a:t>
            </a:r>
            <a:r>
              <a:rPr dirty="0" sz="2700" spc="55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to</a:t>
            </a:r>
            <a:r>
              <a:rPr dirty="0" sz="2700" spc="56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set</a:t>
            </a:r>
            <a:r>
              <a:rPr dirty="0" sz="2700" spc="555">
                <a:latin typeface="Calibri"/>
                <a:cs typeface="Calibri"/>
              </a:rPr>
              <a:t> </a:t>
            </a:r>
            <a:r>
              <a:rPr dirty="0" sz="2700" spc="-25">
                <a:latin typeface="Calibri"/>
                <a:cs typeface="Calibri"/>
              </a:rPr>
              <a:t>the </a:t>
            </a:r>
            <a:r>
              <a:rPr dirty="0" sz="2700">
                <a:latin typeface="Calibri"/>
                <a:cs typeface="Calibri"/>
              </a:rPr>
              <a:t>value</a:t>
            </a:r>
            <a:r>
              <a:rPr dirty="0" sz="2700" spc="33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of</a:t>
            </a:r>
            <a:r>
              <a:rPr dirty="0" sz="2700" spc="35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NAV.</a:t>
            </a:r>
            <a:r>
              <a:rPr dirty="0" sz="2700" spc="35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In</a:t>
            </a:r>
            <a:r>
              <a:rPr dirty="0" sz="2700" spc="34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one</a:t>
            </a:r>
            <a:r>
              <a:rPr dirty="0" sz="2700" spc="33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control</a:t>
            </a:r>
            <a:r>
              <a:rPr dirty="0" sz="2700" spc="35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frame,</a:t>
            </a:r>
            <a:r>
              <a:rPr dirty="0" sz="2700" spc="34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this</a:t>
            </a:r>
            <a:r>
              <a:rPr dirty="0" sz="2700" spc="33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field</a:t>
            </a:r>
            <a:r>
              <a:rPr dirty="0" sz="2700" spc="345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defines </a:t>
            </a: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-3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ID</a:t>
            </a:r>
            <a:r>
              <a:rPr dirty="0" sz="2700" spc="-1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of the</a:t>
            </a:r>
            <a:r>
              <a:rPr dirty="0" sz="2700" spc="-25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frame.</a:t>
            </a:r>
            <a:endParaRPr sz="2700">
              <a:latin typeface="Calibri"/>
              <a:cs typeface="Calibri"/>
            </a:endParaRPr>
          </a:p>
          <a:p>
            <a:pPr algn="just" marL="355600" marR="5715" indent="-342900">
              <a:lnSpc>
                <a:spcPct val="90000"/>
              </a:lnSpc>
              <a:spcBef>
                <a:spcPts val="65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700">
                <a:solidFill>
                  <a:srgbClr val="FF0000"/>
                </a:solidFill>
                <a:latin typeface="Calibri"/>
                <a:cs typeface="Calibri"/>
              </a:rPr>
              <a:t>Addresses.</a:t>
            </a:r>
            <a:r>
              <a:rPr dirty="0" sz="2700" spc="20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There</a:t>
            </a:r>
            <a:r>
              <a:rPr dirty="0" sz="2700" spc="21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are</a:t>
            </a:r>
            <a:r>
              <a:rPr dirty="0" sz="2700" spc="19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four</a:t>
            </a:r>
            <a:r>
              <a:rPr dirty="0" sz="2700" spc="204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address</a:t>
            </a:r>
            <a:r>
              <a:rPr dirty="0" sz="2700" spc="21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fields,</a:t>
            </a:r>
            <a:r>
              <a:rPr dirty="0" sz="2700" spc="21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each</a:t>
            </a:r>
            <a:r>
              <a:rPr dirty="0" sz="2700" spc="21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6</a:t>
            </a:r>
            <a:r>
              <a:rPr dirty="0" sz="2700" spc="204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bytes </a:t>
            </a:r>
            <a:r>
              <a:rPr dirty="0" sz="2700">
                <a:latin typeface="Calibri"/>
                <a:cs typeface="Calibri"/>
              </a:rPr>
              <a:t>long.</a:t>
            </a:r>
            <a:r>
              <a:rPr dirty="0" sz="2700" spc="44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434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meaning</a:t>
            </a:r>
            <a:r>
              <a:rPr dirty="0" sz="2700" spc="434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of</a:t>
            </a:r>
            <a:r>
              <a:rPr dirty="0" sz="2700" spc="45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each</a:t>
            </a:r>
            <a:r>
              <a:rPr dirty="0" sz="2700" spc="44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address</a:t>
            </a:r>
            <a:r>
              <a:rPr dirty="0" sz="2700" spc="44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field</a:t>
            </a:r>
            <a:r>
              <a:rPr dirty="0" sz="2700" spc="44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depends</a:t>
            </a:r>
            <a:r>
              <a:rPr dirty="0" sz="2700" spc="445">
                <a:latin typeface="Calibri"/>
                <a:cs typeface="Calibri"/>
              </a:rPr>
              <a:t> </a:t>
            </a:r>
            <a:r>
              <a:rPr dirty="0" sz="2700" spc="-25">
                <a:latin typeface="Calibri"/>
                <a:cs typeface="Calibri"/>
              </a:rPr>
              <a:t>on </a:t>
            </a: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-5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value</a:t>
            </a:r>
            <a:r>
              <a:rPr dirty="0" sz="2700" spc="-3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of</a:t>
            </a:r>
            <a:r>
              <a:rPr dirty="0" sz="2700" spc="-4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-45">
                <a:latin typeface="Calibri"/>
                <a:cs typeface="Calibri"/>
              </a:rPr>
              <a:t> </a:t>
            </a:r>
            <a:r>
              <a:rPr dirty="0" sz="2700" spc="-85" i="1">
                <a:latin typeface="Calibri"/>
                <a:cs typeface="Calibri"/>
              </a:rPr>
              <a:t>To</a:t>
            </a:r>
            <a:r>
              <a:rPr dirty="0" sz="2700" spc="-30" i="1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DS</a:t>
            </a:r>
            <a:r>
              <a:rPr dirty="0" sz="2700" spc="-2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and</a:t>
            </a:r>
            <a:r>
              <a:rPr dirty="0" sz="2700" spc="-40">
                <a:latin typeface="Calibri"/>
                <a:cs typeface="Calibri"/>
              </a:rPr>
              <a:t> </a:t>
            </a:r>
            <a:r>
              <a:rPr dirty="0" sz="2700" i="1">
                <a:latin typeface="Calibri"/>
                <a:cs typeface="Calibri"/>
              </a:rPr>
              <a:t>From</a:t>
            </a:r>
            <a:r>
              <a:rPr dirty="0" sz="2700" spc="-20" i="1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DS</a:t>
            </a:r>
            <a:r>
              <a:rPr dirty="0" sz="2700" spc="-20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subfields.</a:t>
            </a:r>
            <a:endParaRPr sz="2700">
              <a:latin typeface="Calibri"/>
              <a:cs typeface="Calibri"/>
            </a:endParaRPr>
          </a:p>
          <a:p>
            <a:pPr algn="just" marL="355600" marR="5715" indent="-342900">
              <a:lnSpc>
                <a:spcPts val="2920"/>
              </a:lnSpc>
              <a:spcBef>
                <a:spcPts val="68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700">
                <a:solidFill>
                  <a:srgbClr val="FF0000"/>
                </a:solidFill>
                <a:latin typeface="Calibri"/>
                <a:cs typeface="Calibri"/>
              </a:rPr>
              <a:t>Sequence</a:t>
            </a:r>
            <a:r>
              <a:rPr dirty="0" sz="2700" spc="210">
                <a:solidFill>
                  <a:srgbClr val="FF0000"/>
                </a:solidFill>
                <a:latin typeface="Calibri"/>
                <a:cs typeface="Calibri"/>
              </a:rPr>
              <a:t>  </a:t>
            </a:r>
            <a:r>
              <a:rPr dirty="0" sz="2700">
                <a:solidFill>
                  <a:srgbClr val="FF0000"/>
                </a:solidFill>
                <a:latin typeface="Calibri"/>
                <a:cs typeface="Calibri"/>
              </a:rPr>
              <a:t>control.</a:t>
            </a:r>
            <a:r>
              <a:rPr dirty="0" sz="2700" spc="215">
                <a:solidFill>
                  <a:srgbClr val="FF0000"/>
                </a:solidFill>
                <a:latin typeface="Calibri"/>
                <a:cs typeface="Calibri"/>
              </a:rPr>
              <a:t>  </a:t>
            </a:r>
            <a:r>
              <a:rPr dirty="0" sz="2700">
                <a:latin typeface="Calibri"/>
                <a:cs typeface="Calibri"/>
              </a:rPr>
              <a:t>This</a:t>
            </a:r>
            <a:r>
              <a:rPr dirty="0" sz="2700" spc="220">
                <a:latin typeface="Calibri"/>
                <a:cs typeface="Calibri"/>
              </a:rPr>
              <a:t>  </a:t>
            </a:r>
            <a:r>
              <a:rPr dirty="0" sz="2700">
                <a:latin typeface="Calibri"/>
                <a:cs typeface="Calibri"/>
              </a:rPr>
              <a:t>field</a:t>
            </a:r>
            <a:r>
              <a:rPr dirty="0" sz="2700" spc="215">
                <a:latin typeface="Calibri"/>
                <a:cs typeface="Calibri"/>
              </a:rPr>
              <a:t>  </a:t>
            </a:r>
            <a:r>
              <a:rPr dirty="0" sz="2700">
                <a:latin typeface="Calibri"/>
                <a:cs typeface="Calibri"/>
              </a:rPr>
              <a:t>defines</a:t>
            </a:r>
            <a:r>
              <a:rPr dirty="0" sz="2700" spc="220">
                <a:latin typeface="Calibri"/>
                <a:cs typeface="Calibri"/>
              </a:rPr>
              <a:t>  </a:t>
            </a: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210">
                <a:latin typeface="Calibri"/>
                <a:cs typeface="Calibri"/>
              </a:rPr>
              <a:t>  </a:t>
            </a:r>
            <a:r>
              <a:rPr dirty="0" sz="2700" spc="-10">
                <a:latin typeface="Calibri"/>
                <a:cs typeface="Calibri"/>
              </a:rPr>
              <a:t>sequence </a:t>
            </a:r>
            <a:r>
              <a:rPr dirty="0" sz="2700">
                <a:latin typeface="Calibri"/>
                <a:cs typeface="Calibri"/>
              </a:rPr>
              <a:t>number</a:t>
            </a:r>
            <a:r>
              <a:rPr dirty="0" sz="2700" spc="-6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of</a:t>
            </a:r>
            <a:r>
              <a:rPr dirty="0" sz="2700" spc="-2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-2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frame</a:t>
            </a:r>
            <a:r>
              <a:rPr dirty="0" sz="2700" spc="-3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to</a:t>
            </a:r>
            <a:r>
              <a:rPr dirty="0" sz="2700" spc="-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be</a:t>
            </a:r>
            <a:r>
              <a:rPr dirty="0" sz="2700" spc="-3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used</a:t>
            </a:r>
            <a:r>
              <a:rPr dirty="0" sz="2700" spc="-4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in</a:t>
            </a:r>
            <a:r>
              <a:rPr dirty="0" sz="2700" spc="-1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flow</a:t>
            </a:r>
            <a:r>
              <a:rPr dirty="0" sz="2700" spc="-25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control.</a:t>
            </a:r>
            <a:endParaRPr sz="2700">
              <a:latin typeface="Calibri"/>
              <a:cs typeface="Calibri"/>
            </a:endParaRPr>
          </a:p>
          <a:p>
            <a:pPr algn="just" marL="355600" marR="5080" indent="-342900">
              <a:lnSpc>
                <a:spcPts val="2920"/>
              </a:lnSpc>
              <a:spcBef>
                <a:spcPts val="64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700">
                <a:solidFill>
                  <a:srgbClr val="FF0000"/>
                </a:solidFill>
                <a:latin typeface="Calibri"/>
                <a:cs typeface="Calibri"/>
              </a:rPr>
              <a:t>Frame</a:t>
            </a:r>
            <a:r>
              <a:rPr dirty="0" sz="2700" spc="40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FF0000"/>
                </a:solidFill>
                <a:latin typeface="Calibri"/>
                <a:cs typeface="Calibri"/>
              </a:rPr>
              <a:t>body</a:t>
            </a:r>
            <a:r>
              <a:rPr dirty="0" sz="2700">
                <a:latin typeface="Calibri"/>
                <a:cs typeface="Calibri"/>
              </a:rPr>
              <a:t>.</a:t>
            </a:r>
            <a:r>
              <a:rPr dirty="0" sz="2700" spc="409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This</a:t>
            </a:r>
            <a:r>
              <a:rPr dirty="0" sz="2700" spc="409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field,</a:t>
            </a:r>
            <a:r>
              <a:rPr dirty="0" sz="2700" spc="39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which</a:t>
            </a:r>
            <a:r>
              <a:rPr dirty="0" sz="2700" spc="409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can</a:t>
            </a:r>
            <a:r>
              <a:rPr dirty="0" sz="2700" spc="39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be</a:t>
            </a:r>
            <a:r>
              <a:rPr dirty="0" sz="2700" spc="40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between</a:t>
            </a:r>
            <a:r>
              <a:rPr dirty="0" sz="2700" spc="39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0</a:t>
            </a:r>
            <a:r>
              <a:rPr dirty="0" sz="2700" spc="400">
                <a:latin typeface="Calibri"/>
                <a:cs typeface="Calibri"/>
              </a:rPr>
              <a:t> </a:t>
            </a:r>
            <a:r>
              <a:rPr dirty="0" sz="2700" spc="-25">
                <a:latin typeface="Calibri"/>
                <a:cs typeface="Calibri"/>
              </a:rPr>
              <a:t>and </a:t>
            </a:r>
            <a:r>
              <a:rPr dirty="0" sz="2700">
                <a:latin typeface="Calibri"/>
                <a:cs typeface="Calibri"/>
              </a:rPr>
              <a:t>2312</a:t>
            </a:r>
            <a:r>
              <a:rPr dirty="0" sz="2700" spc="55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bytes,</a:t>
            </a:r>
            <a:r>
              <a:rPr dirty="0" sz="2700" spc="57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contains</a:t>
            </a:r>
            <a:r>
              <a:rPr dirty="0" sz="2700" spc="55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information</a:t>
            </a:r>
            <a:r>
              <a:rPr dirty="0" sz="2700" spc="58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based</a:t>
            </a:r>
            <a:r>
              <a:rPr dirty="0" sz="2700" spc="55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on</a:t>
            </a:r>
            <a:r>
              <a:rPr dirty="0" sz="2700" spc="57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560">
                <a:latin typeface="Calibri"/>
                <a:cs typeface="Calibri"/>
              </a:rPr>
              <a:t> </a:t>
            </a:r>
            <a:r>
              <a:rPr dirty="0" sz="2700" spc="-20">
                <a:latin typeface="Calibri"/>
                <a:cs typeface="Calibri"/>
              </a:rPr>
              <a:t>type </a:t>
            </a:r>
            <a:r>
              <a:rPr dirty="0" sz="2700">
                <a:latin typeface="Calibri"/>
                <a:cs typeface="Calibri"/>
              </a:rPr>
              <a:t>and</a:t>
            </a:r>
            <a:r>
              <a:rPr dirty="0" sz="2700" spc="-3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-4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subtype</a:t>
            </a:r>
            <a:r>
              <a:rPr dirty="0" sz="2700" spc="-4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defined</a:t>
            </a:r>
            <a:r>
              <a:rPr dirty="0" sz="2700" spc="-4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in</a:t>
            </a:r>
            <a:r>
              <a:rPr dirty="0" sz="2700" spc="-2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-4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FC</a:t>
            </a:r>
            <a:r>
              <a:rPr dirty="0" sz="2700" spc="-20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field.</a:t>
            </a:r>
            <a:endParaRPr sz="2700">
              <a:latin typeface="Calibri"/>
              <a:cs typeface="Calibri"/>
            </a:endParaRPr>
          </a:p>
          <a:p>
            <a:pPr algn="just" marL="355600" marR="6985" indent="-342900">
              <a:lnSpc>
                <a:spcPts val="2920"/>
              </a:lnSpc>
              <a:spcBef>
                <a:spcPts val="63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700">
                <a:solidFill>
                  <a:srgbClr val="FF0000"/>
                </a:solidFill>
                <a:latin typeface="Calibri"/>
                <a:cs typeface="Calibri"/>
              </a:rPr>
              <a:t>FCS</a:t>
            </a:r>
            <a:r>
              <a:rPr dirty="0" sz="2700">
                <a:latin typeface="Calibri"/>
                <a:cs typeface="Calibri"/>
              </a:rPr>
              <a:t>.</a:t>
            </a:r>
            <a:r>
              <a:rPr dirty="0" sz="2700" spc="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FCS field</a:t>
            </a:r>
            <a:r>
              <a:rPr dirty="0" sz="2700" spc="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is</a:t>
            </a:r>
            <a:r>
              <a:rPr dirty="0" sz="2700" spc="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4</a:t>
            </a:r>
            <a:r>
              <a:rPr dirty="0" sz="2700" spc="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bytes</a:t>
            </a:r>
            <a:r>
              <a:rPr dirty="0" sz="2700" spc="1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long</a:t>
            </a:r>
            <a:r>
              <a:rPr dirty="0" sz="2700" spc="1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and</a:t>
            </a:r>
            <a:r>
              <a:rPr dirty="0" sz="2700" spc="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contains</a:t>
            </a:r>
            <a:r>
              <a:rPr dirty="0" sz="2700" spc="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</a:t>
            </a:r>
            <a:r>
              <a:rPr dirty="0" sz="2700" spc="10">
                <a:latin typeface="Calibri"/>
                <a:cs typeface="Calibri"/>
              </a:rPr>
              <a:t> </a:t>
            </a:r>
            <a:r>
              <a:rPr dirty="0" sz="2700" spc="-20">
                <a:latin typeface="Calibri"/>
                <a:cs typeface="Calibri"/>
              </a:rPr>
              <a:t>CRC-</a:t>
            </a:r>
            <a:r>
              <a:rPr dirty="0" sz="2700" spc="-25">
                <a:latin typeface="Calibri"/>
                <a:cs typeface="Calibri"/>
              </a:rPr>
              <a:t>32 </a:t>
            </a:r>
            <a:r>
              <a:rPr dirty="0" sz="2700">
                <a:latin typeface="Calibri"/>
                <a:cs typeface="Calibri"/>
              </a:rPr>
              <a:t>error</a:t>
            </a:r>
            <a:r>
              <a:rPr dirty="0" sz="2700" spc="-8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detection</a:t>
            </a:r>
            <a:r>
              <a:rPr dirty="0" sz="2700" spc="-90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sequence.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12165"/>
            <a:ext cx="8074025" cy="5722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3200" i="1">
                <a:latin typeface="Calibri"/>
                <a:cs typeface="Calibri"/>
              </a:rPr>
              <a:t>Frame</a:t>
            </a:r>
            <a:r>
              <a:rPr dirty="0" sz="3200" spc="-110" i="1">
                <a:latin typeface="Calibri"/>
                <a:cs typeface="Calibri"/>
              </a:rPr>
              <a:t> </a:t>
            </a:r>
            <a:r>
              <a:rPr dirty="0" sz="3200" spc="-10" i="1">
                <a:latin typeface="Calibri"/>
                <a:cs typeface="Calibri"/>
              </a:rPr>
              <a:t>Types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15"/>
              </a:spcBef>
              <a:buFont typeface="Arial MT"/>
              <a:buChar char="•"/>
            </a:pPr>
            <a:endParaRPr sz="3200">
              <a:latin typeface="Calibri"/>
              <a:cs typeface="Calibri"/>
            </a:endParaRPr>
          </a:p>
          <a:p>
            <a:pPr algn="just" lvl="1" marL="755015" marR="6350" indent="-285750">
              <a:lnSpc>
                <a:spcPct val="100000"/>
              </a:lnSpc>
              <a:buFont typeface="Arial MT"/>
              <a:buChar char="–"/>
              <a:tabLst>
                <a:tab pos="756285" algn="l"/>
              </a:tabLst>
            </a:pP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3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wireless</a:t>
            </a:r>
            <a:r>
              <a:rPr dirty="0" sz="2800" spc="3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LAN</a:t>
            </a:r>
            <a:r>
              <a:rPr dirty="0" sz="2800" spc="3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defined</a:t>
            </a:r>
            <a:r>
              <a:rPr dirty="0" sz="2800" spc="3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by</a:t>
            </a:r>
            <a:r>
              <a:rPr dirty="0" sz="2800" spc="3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IEEE</a:t>
            </a:r>
            <a:r>
              <a:rPr dirty="0" sz="2800" spc="3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802.11</a:t>
            </a:r>
            <a:r>
              <a:rPr dirty="0" sz="2800" spc="3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has</a:t>
            </a:r>
            <a:r>
              <a:rPr dirty="0" sz="2800" spc="30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three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categories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frames: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management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frames,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control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frames,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data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frames.</a:t>
            </a:r>
            <a:endParaRPr sz="28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290"/>
              </a:spcBef>
              <a:buFont typeface="Arial MT"/>
              <a:buChar char="–"/>
            </a:pPr>
            <a:endParaRPr sz="2800">
              <a:latin typeface="Calibri"/>
              <a:cs typeface="Calibri"/>
            </a:endParaRPr>
          </a:p>
          <a:p>
            <a:pPr algn="just" lvl="1" marL="755015" marR="5080" indent="-285750">
              <a:lnSpc>
                <a:spcPct val="100000"/>
              </a:lnSpc>
              <a:buFont typeface="Arial MT"/>
              <a:buChar char="–"/>
              <a:tabLst>
                <a:tab pos="756285" algn="l"/>
              </a:tabLst>
            </a:pPr>
            <a:r>
              <a:rPr dirty="0" sz="2800">
                <a:latin typeface="Calibri"/>
                <a:cs typeface="Calibri"/>
              </a:rPr>
              <a:t>Management</a:t>
            </a:r>
            <a:r>
              <a:rPr dirty="0" sz="2800" spc="1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Frames:</a:t>
            </a:r>
            <a:r>
              <a:rPr dirty="0" sz="2800" spc="1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they</a:t>
            </a:r>
            <a:r>
              <a:rPr dirty="0" sz="2800" spc="11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are</a:t>
            </a:r>
            <a:r>
              <a:rPr dirty="0" sz="2800" spc="11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used</a:t>
            </a:r>
            <a:r>
              <a:rPr dirty="0" sz="2800" spc="1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for</a:t>
            </a:r>
            <a:r>
              <a:rPr dirty="0" sz="2800" spc="1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11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initial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communication</a:t>
            </a:r>
            <a:r>
              <a:rPr dirty="0" sz="2800" spc="459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between</a:t>
            </a:r>
            <a:r>
              <a:rPr dirty="0" sz="2800" spc="459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stations</a:t>
            </a:r>
            <a:r>
              <a:rPr dirty="0" sz="2800" spc="459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470">
                <a:latin typeface="Calibri"/>
                <a:cs typeface="Calibri"/>
              </a:rPr>
              <a:t>  </a:t>
            </a:r>
            <a:r>
              <a:rPr dirty="0" sz="2800" spc="-10">
                <a:latin typeface="Calibri"/>
                <a:cs typeface="Calibri"/>
              </a:rPr>
              <a:t>access 	points.</a:t>
            </a:r>
            <a:endParaRPr sz="28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290"/>
              </a:spcBef>
              <a:buFont typeface="Arial MT"/>
              <a:buChar char="–"/>
            </a:pPr>
            <a:endParaRPr sz="2800">
              <a:latin typeface="Calibri"/>
              <a:cs typeface="Calibri"/>
            </a:endParaRPr>
          </a:p>
          <a:p>
            <a:pPr algn="just" lvl="1" marL="755015" marR="7620" indent="-285750">
              <a:lnSpc>
                <a:spcPct val="100000"/>
              </a:lnSpc>
              <a:buFont typeface="Arial MT"/>
              <a:buChar char="–"/>
              <a:tabLst>
                <a:tab pos="756285" algn="l"/>
              </a:tabLst>
            </a:pPr>
            <a:r>
              <a:rPr dirty="0" sz="2800">
                <a:latin typeface="Calibri"/>
                <a:cs typeface="Calibri"/>
              </a:rPr>
              <a:t>Control</a:t>
            </a:r>
            <a:r>
              <a:rPr dirty="0" sz="2800" spc="4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Frames:</a:t>
            </a:r>
            <a:r>
              <a:rPr dirty="0" sz="2800" spc="4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they</a:t>
            </a:r>
            <a:r>
              <a:rPr dirty="0" sz="2800" spc="4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are</a:t>
            </a:r>
            <a:r>
              <a:rPr dirty="0" sz="2800" spc="4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used</a:t>
            </a:r>
            <a:r>
              <a:rPr dirty="0" sz="2800" spc="4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for</a:t>
            </a:r>
            <a:r>
              <a:rPr dirty="0" sz="2800" spc="4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accessing</a:t>
            </a:r>
            <a:r>
              <a:rPr dirty="0" sz="2800" spc="44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the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channel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acknowledging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frames.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652" y="596981"/>
            <a:ext cx="7316978" cy="128070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2140" y="2080386"/>
            <a:ext cx="8206740" cy="749300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355600" marR="5080" indent="-343535">
              <a:lnSpc>
                <a:spcPts val="2820"/>
              </a:lnSpc>
              <a:spcBef>
                <a:spcPts val="24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400">
                <a:latin typeface="Times New Roman"/>
                <a:cs typeface="Times New Roman"/>
              </a:rPr>
              <a:t>For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control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frames the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value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type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field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01;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values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of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subtype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fields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for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frames</a:t>
            </a:r>
            <a:r>
              <a:rPr dirty="0" sz="2400" spc="56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as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follows.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84250" y="3194050"/>
          <a:ext cx="6098540" cy="1714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7830"/>
                <a:gridCol w="4321175"/>
              </a:tblGrid>
              <a:tr h="42862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2600" spc="-10" b="1">
                          <a:latin typeface="Calibri"/>
                          <a:cs typeface="Calibri"/>
                        </a:rPr>
                        <a:t>Subtype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B="0" marT="114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2600" spc="-10" b="1">
                          <a:latin typeface="Calibri"/>
                          <a:cs typeface="Calibri"/>
                        </a:rPr>
                        <a:t>Meaning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B="0" marT="114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2600" spc="-20">
                          <a:latin typeface="Calibri"/>
                          <a:cs typeface="Calibri"/>
                        </a:rPr>
                        <a:t>1011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B="0" marT="120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2600" spc="-10">
                          <a:latin typeface="Calibri"/>
                          <a:cs typeface="Calibri"/>
                        </a:rPr>
                        <a:t>Request</a:t>
                      </a:r>
                      <a:r>
                        <a:rPr dirty="0" sz="2600" spc="-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60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26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600">
                          <a:latin typeface="Calibri"/>
                          <a:cs typeface="Calibri"/>
                        </a:rPr>
                        <a:t>send</a:t>
                      </a:r>
                      <a:r>
                        <a:rPr dirty="0" sz="26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600" spc="-20">
                          <a:latin typeface="Calibri"/>
                          <a:cs typeface="Calibri"/>
                        </a:rPr>
                        <a:t>(RTS)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B="0" marT="120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2600" spc="-20">
                          <a:latin typeface="Calibri"/>
                          <a:cs typeface="Calibri"/>
                        </a:rPr>
                        <a:t>1100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B="0" marT="120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2600">
                          <a:latin typeface="Calibri"/>
                          <a:cs typeface="Calibri"/>
                        </a:rPr>
                        <a:t>Clear</a:t>
                      </a:r>
                      <a:r>
                        <a:rPr dirty="0" sz="26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60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26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600">
                          <a:latin typeface="Calibri"/>
                          <a:cs typeface="Calibri"/>
                        </a:rPr>
                        <a:t>send</a:t>
                      </a:r>
                      <a:r>
                        <a:rPr dirty="0" sz="26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600" spc="-20">
                          <a:latin typeface="Calibri"/>
                          <a:cs typeface="Calibri"/>
                        </a:rPr>
                        <a:t>(CTS)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B="0" marT="120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2600" spc="-20">
                          <a:latin typeface="Calibri"/>
                          <a:cs typeface="Calibri"/>
                        </a:rPr>
                        <a:t>1101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B="0" marT="120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2600" spc="-10">
                          <a:latin typeface="Calibri"/>
                          <a:cs typeface="Calibri"/>
                        </a:rPr>
                        <a:t>Acknowledgement</a:t>
                      </a:r>
                      <a:r>
                        <a:rPr dirty="0" sz="26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600" spc="-10">
                          <a:latin typeface="Calibri"/>
                          <a:cs typeface="Calibri"/>
                        </a:rPr>
                        <a:t>(ACK)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B="0" marT="120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1140" y="134518"/>
            <a:ext cx="8378190" cy="5311775"/>
          </a:xfrm>
          <a:prstGeom prst="rect">
            <a:avLst/>
          </a:prstGeom>
        </p:spPr>
        <p:txBody>
          <a:bodyPr wrap="square" lIns="0" tIns="114300" rIns="0" bIns="0" rtlCol="0" vert="horz">
            <a:spAutoFit/>
          </a:bodyPr>
          <a:lstStyle/>
          <a:p>
            <a:pPr marL="354330" indent="-341630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354330" algn="l"/>
              </a:tabLst>
            </a:pPr>
            <a:r>
              <a:rPr dirty="0" sz="3200">
                <a:latin typeface="Calibri"/>
                <a:cs typeface="Calibri"/>
              </a:rPr>
              <a:t>Addressing</a:t>
            </a:r>
            <a:r>
              <a:rPr dirty="0" sz="3200" spc="-12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Mechanism</a:t>
            </a:r>
            <a:endParaRPr sz="3200">
              <a:latin typeface="Calibri"/>
              <a:cs typeface="Calibri"/>
            </a:endParaRPr>
          </a:p>
          <a:p>
            <a:pPr algn="just" lvl="1" marL="756285" marR="6350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12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IEEE</a:t>
            </a:r>
            <a:r>
              <a:rPr dirty="0" sz="2800" spc="12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802.11</a:t>
            </a:r>
            <a:r>
              <a:rPr dirty="0" sz="2800" spc="12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addressing</a:t>
            </a:r>
            <a:r>
              <a:rPr dirty="0" sz="2800" spc="13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mechanism</a:t>
            </a:r>
            <a:r>
              <a:rPr dirty="0" sz="2800" spc="125">
                <a:latin typeface="Calibri"/>
                <a:cs typeface="Calibri"/>
              </a:rPr>
              <a:t>  </a:t>
            </a:r>
            <a:r>
              <a:rPr dirty="0" sz="2800" spc="-10">
                <a:latin typeface="Calibri"/>
                <a:cs typeface="Calibri"/>
              </a:rPr>
              <a:t>specifies </a:t>
            </a:r>
            <a:r>
              <a:rPr dirty="0" sz="2800">
                <a:latin typeface="Calibri"/>
                <a:cs typeface="Calibri"/>
              </a:rPr>
              <a:t>four</a:t>
            </a:r>
            <a:r>
              <a:rPr dirty="0" sz="2800" spc="2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cases,</a:t>
            </a:r>
            <a:r>
              <a:rPr dirty="0" sz="2800" spc="2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defined</a:t>
            </a:r>
            <a:r>
              <a:rPr dirty="0" sz="2800" spc="2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by</a:t>
            </a:r>
            <a:r>
              <a:rPr dirty="0" sz="2800" spc="229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2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value</a:t>
            </a:r>
            <a:r>
              <a:rPr dirty="0" sz="2800" spc="2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2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2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two</a:t>
            </a:r>
            <a:r>
              <a:rPr dirty="0" sz="2800" spc="2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flags</a:t>
            </a:r>
            <a:r>
              <a:rPr dirty="0" sz="2800" spc="24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in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FC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field,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85" i="1">
                <a:latin typeface="Calibri"/>
                <a:cs typeface="Calibri"/>
              </a:rPr>
              <a:t>To</a:t>
            </a:r>
            <a:r>
              <a:rPr dirty="0" sz="2800" spc="-45" i="1">
                <a:latin typeface="Calibri"/>
                <a:cs typeface="Calibri"/>
              </a:rPr>
              <a:t> </a:t>
            </a:r>
            <a:r>
              <a:rPr dirty="0" sz="2800" i="1">
                <a:latin typeface="Calibri"/>
                <a:cs typeface="Calibri"/>
              </a:rPr>
              <a:t>DS</a:t>
            </a:r>
            <a:r>
              <a:rPr dirty="0" sz="2800" spc="-50" i="1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 i="1">
                <a:latin typeface="Calibri"/>
                <a:cs typeface="Calibri"/>
              </a:rPr>
              <a:t>From</a:t>
            </a:r>
            <a:r>
              <a:rPr dirty="0" sz="2800" spc="-40" i="1">
                <a:latin typeface="Calibri"/>
                <a:cs typeface="Calibri"/>
              </a:rPr>
              <a:t> </a:t>
            </a:r>
            <a:r>
              <a:rPr dirty="0" sz="2800" spc="-25" i="1">
                <a:latin typeface="Calibri"/>
                <a:cs typeface="Calibri"/>
              </a:rPr>
              <a:t>DS.</a:t>
            </a:r>
            <a:endParaRPr sz="28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285"/>
              </a:spcBef>
              <a:buFont typeface="Arial MT"/>
              <a:buChar char="–"/>
            </a:pPr>
            <a:endParaRPr sz="2800">
              <a:latin typeface="Calibri"/>
              <a:cs typeface="Calibri"/>
            </a:endParaRPr>
          </a:p>
          <a:p>
            <a:pPr algn="just" lvl="1" marL="756285" marR="5715" indent="-287020">
              <a:lnSpc>
                <a:spcPct val="100000"/>
              </a:lnSpc>
              <a:spcBef>
                <a:spcPts val="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800">
                <a:latin typeface="Calibri"/>
                <a:cs typeface="Calibri"/>
              </a:rPr>
              <a:t>Each</a:t>
            </a:r>
            <a:r>
              <a:rPr dirty="0" sz="2800" spc="7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flag</a:t>
            </a:r>
            <a:r>
              <a:rPr dirty="0" sz="2800" spc="7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can</a:t>
            </a:r>
            <a:r>
              <a:rPr dirty="0" sz="2800" spc="9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be</a:t>
            </a:r>
            <a:r>
              <a:rPr dirty="0" sz="2800" spc="9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either</a:t>
            </a:r>
            <a:r>
              <a:rPr dirty="0" sz="2800" spc="8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0</a:t>
            </a:r>
            <a:r>
              <a:rPr dirty="0" sz="2800" spc="8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or</a:t>
            </a:r>
            <a:r>
              <a:rPr dirty="0" sz="2800" spc="8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I,</a:t>
            </a:r>
            <a:r>
              <a:rPr dirty="0" sz="2800" spc="8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resulting</a:t>
            </a:r>
            <a:r>
              <a:rPr dirty="0" sz="2800" spc="9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80">
                <a:latin typeface="Calibri"/>
                <a:cs typeface="Calibri"/>
              </a:rPr>
              <a:t>  </a:t>
            </a:r>
            <a:r>
              <a:rPr dirty="0" sz="2800" spc="-20">
                <a:latin typeface="Calibri"/>
                <a:cs typeface="Calibri"/>
              </a:rPr>
              <a:t>four </a:t>
            </a:r>
            <a:r>
              <a:rPr dirty="0" sz="2800" spc="-10">
                <a:latin typeface="Calibri"/>
                <a:cs typeface="Calibri"/>
              </a:rPr>
              <a:t>different</a:t>
            </a:r>
            <a:r>
              <a:rPr dirty="0" sz="2800" spc="-14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situations.</a:t>
            </a:r>
            <a:endParaRPr sz="28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285"/>
              </a:spcBef>
              <a:buFont typeface="Arial MT"/>
              <a:buChar char="–"/>
            </a:pPr>
            <a:endParaRPr sz="2800">
              <a:latin typeface="Calibri"/>
              <a:cs typeface="Calibri"/>
            </a:endParaRPr>
          </a:p>
          <a:p>
            <a:pPr algn="just" lvl="1" marL="756285" marR="5080" indent="-287020">
              <a:lnSpc>
                <a:spcPct val="100000"/>
              </a:lnSpc>
              <a:buFont typeface="Arial MT"/>
              <a:buChar char="–"/>
              <a:tabLst>
                <a:tab pos="756285" algn="l"/>
              </a:tabLst>
            </a:pP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2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interpretation</a:t>
            </a:r>
            <a:r>
              <a:rPr dirty="0" sz="2800" spc="3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2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2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four</a:t>
            </a:r>
            <a:r>
              <a:rPr dirty="0" sz="2800" spc="3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addresses</a:t>
            </a:r>
            <a:r>
              <a:rPr dirty="0" sz="2800" spc="3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(address</a:t>
            </a:r>
            <a:r>
              <a:rPr dirty="0" sz="2800" spc="300">
                <a:latin typeface="Calibri"/>
                <a:cs typeface="Calibri"/>
              </a:rPr>
              <a:t> </a:t>
            </a:r>
            <a:r>
              <a:rPr dirty="0" sz="2800" spc="-50">
                <a:latin typeface="Calibri"/>
                <a:cs typeface="Calibri"/>
              </a:rPr>
              <a:t>I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6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address</a:t>
            </a:r>
            <a:r>
              <a:rPr dirty="0" sz="2800" spc="6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4)</a:t>
            </a:r>
            <a:r>
              <a:rPr dirty="0" sz="2800" spc="6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6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6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MAC</a:t>
            </a:r>
            <a:r>
              <a:rPr dirty="0" sz="2800" spc="6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frame</a:t>
            </a:r>
            <a:r>
              <a:rPr dirty="0" sz="2800" spc="6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depends</a:t>
            </a:r>
            <a:r>
              <a:rPr dirty="0" sz="2800" spc="6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on</a:t>
            </a:r>
            <a:r>
              <a:rPr dirty="0" sz="2800" spc="61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the </a:t>
            </a:r>
            <a:r>
              <a:rPr dirty="0" sz="2800">
                <a:latin typeface="Calibri"/>
                <a:cs typeface="Calibri"/>
              </a:rPr>
              <a:t>value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these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flags.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437" y="96317"/>
            <a:ext cx="7762038" cy="192980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7402" y="2395765"/>
            <a:ext cx="7928710" cy="4242779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12165"/>
            <a:ext cx="430974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3200">
                <a:latin typeface="Calibri"/>
                <a:cs typeface="Calibri"/>
              </a:rPr>
              <a:t>Hidden</a:t>
            </a:r>
            <a:r>
              <a:rPr dirty="0" sz="3200" spc="-114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Station</a:t>
            </a:r>
            <a:r>
              <a:rPr dirty="0" sz="3200" spc="-15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Problem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3952" y="1582709"/>
            <a:ext cx="7129569" cy="3370817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5940" y="-84074"/>
            <a:ext cx="3966210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i="0">
                <a:latin typeface="Calibri"/>
                <a:cs typeface="Calibri"/>
              </a:rPr>
              <a:t>Hidden</a:t>
            </a:r>
            <a:r>
              <a:rPr dirty="0" sz="3200" spc="-130" i="0">
                <a:latin typeface="Calibri"/>
                <a:cs typeface="Calibri"/>
              </a:rPr>
              <a:t> </a:t>
            </a:r>
            <a:r>
              <a:rPr dirty="0" sz="3200" i="0">
                <a:latin typeface="Calibri"/>
                <a:cs typeface="Calibri"/>
              </a:rPr>
              <a:t>Station</a:t>
            </a:r>
            <a:r>
              <a:rPr dirty="0" sz="3200" spc="-155" i="0">
                <a:latin typeface="Calibri"/>
                <a:cs typeface="Calibri"/>
              </a:rPr>
              <a:t> </a:t>
            </a:r>
            <a:r>
              <a:rPr dirty="0" sz="3200" spc="-10" i="0">
                <a:latin typeface="Calibri"/>
                <a:cs typeface="Calibri"/>
              </a:rPr>
              <a:t>Problem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3540" y="392938"/>
            <a:ext cx="8378825" cy="60502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600">
                <a:latin typeface="Calibri"/>
                <a:cs typeface="Calibri"/>
              </a:rPr>
              <a:t>Assume</a:t>
            </a:r>
            <a:r>
              <a:rPr dirty="0" sz="2600" spc="-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that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station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sending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data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station</a:t>
            </a:r>
            <a:r>
              <a:rPr dirty="0" sz="2600" spc="-35">
                <a:latin typeface="Calibri"/>
                <a:cs typeface="Calibri"/>
              </a:rPr>
              <a:t> A.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90"/>
              </a:spcBef>
              <a:buFont typeface="Arial MT"/>
              <a:buChar char="•"/>
            </a:pPr>
            <a:endParaRPr sz="2600">
              <a:latin typeface="Calibri"/>
              <a:cs typeface="Calibri"/>
            </a:endParaRPr>
          </a:p>
          <a:p>
            <a:pPr algn="just" marL="355600" marR="508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middle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this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transmission,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station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also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has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data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to </a:t>
            </a:r>
            <a:r>
              <a:rPr dirty="0" sz="2600">
                <a:latin typeface="Calibri"/>
                <a:cs typeface="Calibri"/>
              </a:rPr>
              <a:t>send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station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A.</a:t>
            </a:r>
            <a:r>
              <a:rPr dirty="0" sz="2600" spc="-5">
                <a:latin typeface="Calibri"/>
                <a:cs typeface="Calibri"/>
              </a:rPr>
              <a:t> </a:t>
            </a:r>
            <a:r>
              <a:rPr dirty="0" sz="2600" spc="-30">
                <a:latin typeface="Calibri"/>
                <a:cs typeface="Calibri"/>
              </a:rPr>
              <a:t>However,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station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out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B's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range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and </a:t>
            </a:r>
            <a:r>
              <a:rPr dirty="0" sz="2600">
                <a:latin typeface="Calibri"/>
                <a:cs typeface="Calibri"/>
              </a:rPr>
              <a:t>transmissions</a:t>
            </a:r>
            <a:r>
              <a:rPr dirty="0" sz="2600" spc="4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from</a:t>
            </a:r>
            <a:r>
              <a:rPr dirty="0" sz="2600" spc="4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</a:t>
            </a:r>
            <a:r>
              <a:rPr dirty="0" sz="2600" spc="4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cannot</a:t>
            </a:r>
            <a:r>
              <a:rPr dirty="0" sz="2600" spc="4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reach</a:t>
            </a:r>
            <a:r>
              <a:rPr dirty="0" sz="2600" spc="4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C.</a:t>
            </a:r>
            <a:r>
              <a:rPr dirty="0" sz="2600" spc="4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Therefore</a:t>
            </a:r>
            <a:r>
              <a:rPr dirty="0" sz="2600" spc="4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</a:t>
            </a:r>
            <a:r>
              <a:rPr dirty="0" sz="2600" spc="44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thinks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medium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free.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00"/>
              </a:spcBef>
              <a:buFont typeface="Arial MT"/>
              <a:buChar char="•"/>
            </a:pPr>
            <a:endParaRPr sz="2600">
              <a:latin typeface="Calibri"/>
              <a:cs typeface="Calibri"/>
            </a:endParaRPr>
          </a:p>
          <a:p>
            <a:pPr algn="just" marL="355600" marR="5715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600">
                <a:latin typeface="Calibri"/>
                <a:cs typeface="Calibri"/>
              </a:rPr>
              <a:t>Station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sends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its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data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A,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which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results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collision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at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 spc="-50">
                <a:latin typeface="Calibri"/>
                <a:cs typeface="Calibri"/>
              </a:rPr>
              <a:t>A </a:t>
            </a:r>
            <a:r>
              <a:rPr dirty="0" sz="2600">
                <a:latin typeface="Calibri"/>
                <a:cs typeface="Calibri"/>
              </a:rPr>
              <a:t>because</a:t>
            </a:r>
            <a:r>
              <a:rPr dirty="0" sz="2600" spc="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this</a:t>
            </a:r>
            <a:r>
              <a:rPr dirty="0" sz="2600" spc="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station</a:t>
            </a:r>
            <a:r>
              <a:rPr dirty="0" sz="2600" spc="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receiving</a:t>
            </a:r>
            <a:r>
              <a:rPr dirty="0" sz="2600" spc="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data</a:t>
            </a:r>
            <a:r>
              <a:rPr dirty="0" sz="2600" spc="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from</a:t>
            </a:r>
            <a:r>
              <a:rPr dirty="0" sz="2600" spc="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both</a:t>
            </a:r>
            <a:r>
              <a:rPr dirty="0" sz="2600" spc="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</a:t>
            </a:r>
            <a:r>
              <a:rPr dirty="0" sz="2600" spc="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C.</a:t>
            </a:r>
            <a:r>
              <a:rPr dirty="0" sz="2600" spc="8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In </a:t>
            </a:r>
            <a:r>
              <a:rPr dirty="0" sz="2600">
                <a:latin typeface="Calibri"/>
                <a:cs typeface="Calibri"/>
              </a:rPr>
              <a:t>this</a:t>
            </a:r>
            <a:r>
              <a:rPr dirty="0" sz="2600" spc="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case,</a:t>
            </a:r>
            <a:r>
              <a:rPr dirty="0" sz="2600" spc="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we</a:t>
            </a:r>
            <a:r>
              <a:rPr dirty="0" sz="2600" spc="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say</a:t>
            </a:r>
            <a:r>
              <a:rPr dirty="0" sz="2600" spc="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that</a:t>
            </a:r>
            <a:r>
              <a:rPr dirty="0" sz="2600" spc="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stations</a:t>
            </a:r>
            <a:r>
              <a:rPr dirty="0" sz="2600" spc="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Band</a:t>
            </a:r>
            <a:r>
              <a:rPr dirty="0" sz="2600" spc="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</a:t>
            </a:r>
            <a:r>
              <a:rPr dirty="0" sz="2600" spc="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are</a:t>
            </a:r>
            <a:r>
              <a:rPr dirty="0" sz="2600" spc="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hidden</a:t>
            </a:r>
            <a:r>
              <a:rPr dirty="0" sz="2600" spc="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from</a:t>
            </a:r>
            <a:r>
              <a:rPr dirty="0" sz="2600" spc="5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each </a:t>
            </a:r>
            <a:r>
              <a:rPr dirty="0" sz="2600">
                <a:latin typeface="Calibri"/>
                <a:cs typeface="Calibri"/>
              </a:rPr>
              <a:t>other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with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respect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A.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95"/>
              </a:spcBef>
              <a:buFont typeface="Arial MT"/>
              <a:buChar char="•"/>
            </a:pPr>
            <a:endParaRPr sz="2600">
              <a:latin typeface="Calibri"/>
              <a:cs typeface="Calibri"/>
            </a:endParaRPr>
          </a:p>
          <a:p>
            <a:pPr algn="just" marL="355600" marR="635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600">
                <a:latin typeface="Calibri"/>
                <a:cs typeface="Calibri"/>
              </a:rPr>
              <a:t>Hidden</a:t>
            </a:r>
            <a:r>
              <a:rPr dirty="0" sz="2600" spc="5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stations</a:t>
            </a:r>
            <a:r>
              <a:rPr dirty="0" sz="2600" spc="5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can</a:t>
            </a:r>
            <a:r>
              <a:rPr dirty="0" sz="2600" spc="5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reduce</a:t>
            </a:r>
            <a:r>
              <a:rPr dirty="0" sz="2600" spc="5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5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capacity</a:t>
            </a:r>
            <a:r>
              <a:rPr dirty="0" sz="2600" spc="5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5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54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network </a:t>
            </a:r>
            <a:r>
              <a:rPr dirty="0" sz="2600">
                <a:latin typeface="Calibri"/>
                <a:cs typeface="Calibri"/>
              </a:rPr>
              <a:t>because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possibility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10">
                <a:latin typeface="Calibri"/>
                <a:cs typeface="Calibri"/>
              </a:rPr>
              <a:t> collision.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7029" y="924813"/>
            <a:ext cx="7644765" cy="878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3695" marR="5080" indent="-34163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CTS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frame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CSMAICA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handshake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can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prevent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collision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from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hidden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station.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35940" y="-84074"/>
            <a:ext cx="3966210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i="0">
                <a:latin typeface="Calibri"/>
                <a:cs typeface="Calibri"/>
              </a:rPr>
              <a:t>Hidden</a:t>
            </a:r>
            <a:r>
              <a:rPr dirty="0" sz="3200" spc="-130" i="0">
                <a:latin typeface="Calibri"/>
                <a:cs typeface="Calibri"/>
              </a:rPr>
              <a:t> </a:t>
            </a:r>
            <a:r>
              <a:rPr dirty="0" sz="3200" i="0">
                <a:latin typeface="Calibri"/>
                <a:cs typeface="Calibri"/>
              </a:rPr>
              <a:t>Station</a:t>
            </a:r>
            <a:r>
              <a:rPr dirty="0" sz="3200" spc="-155" i="0">
                <a:latin typeface="Calibri"/>
                <a:cs typeface="Calibri"/>
              </a:rPr>
              <a:t> </a:t>
            </a:r>
            <a:r>
              <a:rPr dirty="0" sz="3200" spc="-10" i="0">
                <a:latin typeface="Calibri"/>
                <a:cs typeface="Calibri"/>
              </a:rPr>
              <a:t>Problem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1774" y="2260758"/>
            <a:ext cx="6957633" cy="3937734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287904"/>
            <a:ext cx="8606155" cy="6158230"/>
          </a:xfrm>
          <a:prstGeom prst="rect">
            <a:avLst/>
          </a:prstGeom>
        </p:spPr>
        <p:txBody>
          <a:bodyPr wrap="square" lIns="0" tIns="64769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09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3200">
                <a:latin typeface="Calibri"/>
                <a:cs typeface="Calibri"/>
              </a:rPr>
              <a:t>Exposed</a:t>
            </a:r>
            <a:r>
              <a:rPr dirty="0" sz="3200" spc="-10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Station</a:t>
            </a:r>
            <a:r>
              <a:rPr dirty="0" sz="3200" spc="-9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Problem</a:t>
            </a:r>
            <a:endParaRPr sz="3200">
              <a:latin typeface="Calibri"/>
              <a:cs typeface="Calibri"/>
            </a:endParaRPr>
          </a:p>
          <a:p>
            <a:pPr lvl="1" marL="756285" marR="61594" indent="-287020">
              <a:lnSpc>
                <a:spcPts val="3020"/>
              </a:lnSpc>
              <a:spcBef>
                <a:spcPts val="73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this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problem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station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refrains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from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using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channel </a:t>
            </a:r>
            <a:r>
              <a:rPr dirty="0" sz="2800">
                <a:latin typeface="Calibri"/>
                <a:cs typeface="Calibri"/>
              </a:rPr>
              <a:t>when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it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is,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fact,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available.</a:t>
            </a:r>
            <a:endParaRPr sz="28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575"/>
              </a:spcBef>
              <a:buFont typeface="Arial MT"/>
              <a:buChar char="–"/>
            </a:pPr>
            <a:endParaRPr sz="2800">
              <a:latin typeface="Calibri"/>
              <a:cs typeface="Calibri"/>
            </a:endParaRPr>
          </a:p>
          <a:p>
            <a:pPr lvl="1" marL="756285" indent="-286385">
              <a:lnSpc>
                <a:spcPct val="100000"/>
              </a:lnSpc>
              <a:spcBef>
                <a:spcPts val="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800">
                <a:latin typeface="Calibri"/>
                <a:cs typeface="Calibri"/>
              </a:rPr>
              <a:t>Station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transmitting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station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B.</a:t>
            </a:r>
            <a:endParaRPr sz="28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944"/>
              </a:spcBef>
              <a:buFont typeface="Arial MT"/>
              <a:buChar char="–"/>
            </a:pPr>
            <a:endParaRPr sz="2800">
              <a:latin typeface="Calibri"/>
              <a:cs typeface="Calibri"/>
            </a:endParaRPr>
          </a:p>
          <a:p>
            <a:pPr algn="just" lvl="1" marL="755015" marR="5080" indent="-285750">
              <a:lnSpc>
                <a:spcPct val="90000"/>
              </a:lnSpc>
              <a:spcBef>
                <a:spcPts val="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800">
                <a:latin typeface="Calibri"/>
                <a:cs typeface="Calibri"/>
              </a:rPr>
              <a:t>Station</a:t>
            </a:r>
            <a:r>
              <a:rPr dirty="0" sz="2800" spc="2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</a:t>
            </a:r>
            <a:r>
              <a:rPr dirty="0" sz="2800" spc="3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has</a:t>
            </a:r>
            <a:r>
              <a:rPr dirty="0" sz="2800" spc="2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some</a:t>
            </a:r>
            <a:r>
              <a:rPr dirty="0" sz="2800" spc="2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data</a:t>
            </a:r>
            <a:r>
              <a:rPr dirty="0" sz="2800" spc="2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2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send</a:t>
            </a:r>
            <a:r>
              <a:rPr dirty="0" sz="2800" spc="2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3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station</a:t>
            </a:r>
            <a:r>
              <a:rPr dirty="0" sz="2800" spc="2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D,</a:t>
            </a:r>
            <a:r>
              <a:rPr dirty="0" sz="2800" spc="29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which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can</a:t>
            </a:r>
            <a:r>
              <a:rPr dirty="0" sz="2800" spc="1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be</a:t>
            </a:r>
            <a:r>
              <a:rPr dirty="0" sz="2800" spc="1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sent</a:t>
            </a:r>
            <a:r>
              <a:rPr dirty="0" sz="2800" spc="11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without</a:t>
            </a:r>
            <a:r>
              <a:rPr dirty="0" sz="2800" spc="1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interfering</a:t>
            </a:r>
            <a:r>
              <a:rPr dirty="0" sz="2800" spc="1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with</a:t>
            </a:r>
            <a:r>
              <a:rPr dirty="0" sz="2800" spc="1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12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transmission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from</a:t>
            </a:r>
            <a:r>
              <a:rPr dirty="0" sz="2800" spc="229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24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229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B.</a:t>
            </a:r>
            <a:r>
              <a:rPr dirty="0" sz="2800" spc="24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However,</a:t>
            </a:r>
            <a:r>
              <a:rPr dirty="0" sz="2800" spc="23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station</a:t>
            </a:r>
            <a:r>
              <a:rPr dirty="0" sz="2800" spc="22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C</a:t>
            </a:r>
            <a:r>
              <a:rPr dirty="0" sz="2800" spc="229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23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exposed</a:t>
            </a:r>
            <a:r>
              <a:rPr dirty="0" sz="2800" spc="229">
                <a:latin typeface="Calibri"/>
                <a:cs typeface="Calibri"/>
              </a:rPr>
              <a:t>  </a:t>
            </a:r>
            <a:r>
              <a:rPr dirty="0" sz="2800" spc="-25">
                <a:latin typeface="Calibri"/>
                <a:cs typeface="Calibri"/>
              </a:rPr>
              <a:t>to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transmission</a:t>
            </a:r>
            <a:r>
              <a:rPr dirty="0" sz="2800" spc="3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from</a:t>
            </a:r>
            <a:r>
              <a:rPr dirty="0" sz="2800" spc="3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A;</a:t>
            </a:r>
            <a:r>
              <a:rPr dirty="0" sz="2800" spc="3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it</a:t>
            </a:r>
            <a:r>
              <a:rPr dirty="0" sz="2800" spc="3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hears</a:t>
            </a:r>
            <a:r>
              <a:rPr dirty="0" sz="2800" spc="3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what</a:t>
            </a:r>
            <a:r>
              <a:rPr dirty="0" sz="2800" spc="3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3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3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sending</a:t>
            </a:r>
            <a:r>
              <a:rPr dirty="0" sz="2800" spc="33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and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thus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refrains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from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sending.</a:t>
            </a:r>
            <a:endParaRPr sz="28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994"/>
              </a:spcBef>
              <a:buFont typeface="Arial MT"/>
              <a:buChar char="–"/>
            </a:pPr>
            <a:endParaRPr sz="2800">
              <a:latin typeface="Calibri"/>
              <a:cs typeface="Calibri"/>
            </a:endParaRPr>
          </a:p>
          <a:p>
            <a:pPr lvl="1" marL="756285" marR="336550" indent="-287020">
              <a:lnSpc>
                <a:spcPts val="3020"/>
              </a:lnSpc>
              <a:spcBef>
                <a:spcPts val="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other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words,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too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conservative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wastes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the </a:t>
            </a:r>
            <a:r>
              <a:rPr dirty="0" sz="2800">
                <a:latin typeface="Calibri"/>
                <a:cs typeface="Calibri"/>
              </a:rPr>
              <a:t>capacity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channel.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1820" y="1347866"/>
            <a:ext cx="7171470" cy="372862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64540" y="540765"/>
            <a:ext cx="4152900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i="0">
                <a:latin typeface="Calibri"/>
                <a:cs typeface="Calibri"/>
              </a:rPr>
              <a:t>Exposed</a:t>
            </a:r>
            <a:r>
              <a:rPr dirty="0" sz="3200" spc="-105" i="0">
                <a:latin typeface="Calibri"/>
                <a:cs typeface="Calibri"/>
              </a:rPr>
              <a:t> </a:t>
            </a:r>
            <a:r>
              <a:rPr dirty="0" sz="3200" i="0">
                <a:latin typeface="Calibri"/>
                <a:cs typeface="Calibri"/>
              </a:rPr>
              <a:t>Station</a:t>
            </a:r>
            <a:r>
              <a:rPr dirty="0" sz="3200" spc="-90" i="0">
                <a:latin typeface="Calibri"/>
                <a:cs typeface="Calibri"/>
              </a:rPr>
              <a:t> </a:t>
            </a:r>
            <a:r>
              <a:rPr dirty="0" sz="3200" spc="-10" i="0">
                <a:latin typeface="Calibri"/>
                <a:cs typeface="Calibri"/>
              </a:rPr>
              <a:t>Problem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926338"/>
            <a:ext cx="8607425" cy="54159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600">
                <a:latin typeface="Calibri"/>
                <a:cs typeface="Calibri"/>
              </a:rPr>
              <a:t>Handshaking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messages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RTS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CTS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cannot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help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this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case.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90"/>
              </a:spcBef>
              <a:buFont typeface="Arial MT"/>
              <a:buChar char="•"/>
            </a:pPr>
            <a:endParaRPr sz="2600">
              <a:latin typeface="Calibri"/>
              <a:cs typeface="Calibri"/>
            </a:endParaRPr>
          </a:p>
          <a:p>
            <a:pPr algn="just" marL="355600" marR="508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600">
                <a:latin typeface="Calibri"/>
                <a:cs typeface="Calibri"/>
              </a:rPr>
              <a:t>Station</a:t>
            </a:r>
            <a:r>
              <a:rPr dirty="0" sz="2600" spc="3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</a:t>
            </a:r>
            <a:r>
              <a:rPr dirty="0" sz="2600" spc="3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hears</a:t>
            </a:r>
            <a:r>
              <a:rPr dirty="0" sz="2600" spc="30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3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RTS</a:t>
            </a:r>
            <a:r>
              <a:rPr dirty="0" sz="2600" spc="3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from</a:t>
            </a:r>
            <a:r>
              <a:rPr dirty="0" sz="2600" spc="2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A,</a:t>
            </a:r>
            <a:r>
              <a:rPr dirty="0" sz="2600" spc="2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but</a:t>
            </a:r>
            <a:r>
              <a:rPr dirty="0" sz="2600" spc="30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does</a:t>
            </a:r>
            <a:r>
              <a:rPr dirty="0" sz="2600" spc="30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not</a:t>
            </a:r>
            <a:r>
              <a:rPr dirty="0" sz="2600" spc="3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hear</a:t>
            </a:r>
            <a:r>
              <a:rPr dirty="0" sz="2600" spc="30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30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CTS </a:t>
            </a:r>
            <a:r>
              <a:rPr dirty="0" sz="2600">
                <a:latin typeface="Calibri"/>
                <a:cs typeface="Calibri"/>
              </a:rPr>
              <a:t>from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B.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Station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C,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after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hearing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RTS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from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A,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can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wait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 spc="-50">
                <a:latin typeface="Calibri"/>
                <a:cs typeface="Calibri"/>
              </a:rPr>
              <a:t>a </a:t>
            </a:r>
            <a:r>
              <a:rPr dirty="0" sz="2600">
                <a:latin typeface="Calibri"/>
                <a:cs typeface="Calibri"/>
              </a:rPr>
              <a:t>time</a:t>
            </a:r>
            <a:r>
              <a:rPr dirty="0" sz="2600" spc="1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so</a:t>
            </a:r>
            <a:r>
              <a:rPr dirty="0" sz="2600" spc="1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that</a:t>
            </a:r>
            <a:r>
              <a:rPr dirty="0" sz="2600" spc="1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1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CTS</a:t>
            </a:r>
            <a:r>
              <a:rPr dirty="0" sz="2600" spc="1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from</a:t>
            </a:r>
            <a:r>
              <a:rPr dirty="0" sz="2600" spc="1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</a:t>
            </a:r>
            <a:r>
              <a:rPr dirty="0" sz="2600" spc="1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reaches</a:t>
            </a:r>
            <a:r>
              <a:rPr dirty="0" sz="2600" spc="1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A;</a:t>
            </a:r>
            <a:r>
              <a:rPr dirty="0" sz="2600" spc="1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it</a:t>
            </a:r>
            <a:r>
              <a:rPr dirty="0" sz="2600" spc="1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then</a:t>
            </a:r>
            <a:r>
              <a:rPr dirty="0" sz="2600" spc="1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sends</a:t>
            </a:r>
            <a:r>
              <a:rPr dirty="0" sz="2600" spc="1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</a:t>
            </a:r>
            <a:r>
              <a:rPr dirty="0" sz="2600" spc="17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RTS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4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</a:t>
            </a:r>
            <a:r>
              <a:rPr dirty="0" sz="2600" spc="5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5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show</a:t>
            </a:r>
            <a:r>
              <a:rPr dirty="0" sz="2600" spc="4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that</a:t>
            </a:r>
            <a:r>
              <a:rPr dirty="0" sz="2600" spc="5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it</a:t>
            </a:r>
            <a:r>
              <a:rPr dirty="0" sz="2600" spc="5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needs</a:t>
            </a:r>
            <a:r>
              <a:rPr dirty="0" sz="2600" spc="5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4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communicate</a:t>
            </a:r>
            <a:r>
              <a:rPr dirty="0" sz="2600" spc="5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with</a:t>
            </a:r>
            <a:r>
              <a:rPr dirty="0" sz="2600" spc="48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D.</a:t>
            </a:r>
            <a:r>
              <a:rPr dirty="0" sz="2600" spc="495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Both </a:t>
            </a:r>
            <a:r>
              <a:rPr dirty="0" sz="2600">
                <a:latin typeface="Calibri"/>
                <a:cs typeface="Calibri"/>
              </a:rPr>
              <a:t>stations</a:t>
            </a:r>
            <a:r>
              <a:rPr dirty="0" sz="2600" spc="3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</a:t>
            </a:r>
            <a:r>
              <a:rPr dirty="0" sz="2600" spc="3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3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3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may</a:t>
            </a:r>
            <a:r>
              <a:rPr dirty="0" sz="2600" spc="3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hear</a:t>
            </a:r>
            <a:r>
              <a:rPr dirty="0" sz="2600" spc="3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this</a:t>
            </a:r>
            <a:r>
              <a:rPr dirty="0" sz="2600" spc="3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RTS,</a:t>
            </a:r>
            <a:r>
              <a:rPr dirty="0" sz="2600" spc="3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but</a:t>
            </a:r>
            <a:r>
              <a:rPr dirty="0" sz="2600" spc="3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station</a:t>
            </a:r>
            <a:r>
              <a:rPr dirty="0" sz="2600" spc="3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3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3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34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the </a:t>
            </a:r>
            <a:r>
              <a:rPr dirty="0" sz="2600">
                <a:latin typeface="Calibri"/>
                <a:cs typeface="Calibri"/>
              </a:rPr>
              <a:t>sending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state,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not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receiving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state.</a:t>
            </a:r>
            <a:endParaRPr sz="2600">
              <a:latin typeface="Calibri"/>
              <a:cs typeface="Calibri"/>
            </a:endParaRPr>
          </a:p>
          <a:p>
            <a:pPr algn="just" marL="355600" marR="5080" indent="-342900">
              <a:lnSpc>
                <a:spcPct val="100000"/>
              </a:lnSpc>
              <a:spcBef>
                <a:spcPts val="63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600">
                <a:latin typeface="Calibri"/>
                <a:cs typeface="Calibri"/>
              </a:rPr>
              <a:t>Station</a:t>
            </a:r>
            <a:r>
              <a:rPr dirty="0" sz="2600" spc="5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B,</a:t>
            </a:r>
            <a:r>
              <a:rPr dirty="0" sz="2600" spc="5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however,</a:t>
            </a:r>
            <a:r>
              <a:rPr dirty="0" sz="2600" spc="5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responds</a:t>
            </a:r>
            <a:r>
              <a:rPr dirty="0" sz="2600" spc="5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with</a:t>
            </a:r>
            <a:r>
              <a:rPr dirty="0" sz="2600" spc="5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5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CTS.</a:t>
            </a:r>
            <a:r>
              <a:rPr dirty="0" sz="2600" spc="5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5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problem</a:t>
            </a:r>
            <a:r>
              <a:rPr dirty="0" sz="2600" spc="55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is </a:t>
            </a:r>
            <a:r>
              <a:rPr dirty="0" sz="2600">
                <a:latin typeface="Calibri"/>
                <a:cs typeface="Calibri"/>
              </a:rPr>
              <a:t>here.</a:t>
            </a:r>
            <a:r>
              <a:rPr dirty="0" sz="2600" spc="4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If</a:t>
            </a:r>
            <a:r>
              <a:rPr dirty="0" sz="2600" spc="3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station</a:t>
            </a:r>
            <a:r>
              <a:rPr dirty="0" sz="2600" spc="5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4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has</a:t>
            </a:r>
            <a:r>
              <a:rPr dirty="0" sz="2600" spc="4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started</a:t>
            </a:r>
            <a:r>
              <a:rPr dirty="0" sz="2600" spc="4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sending</a:t>
            </a:r>
            <a:r>
              <a:rPr dirty="0" sz="2600" spc="4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its</a:t>
            </a:r>
            <a:r>
              <a:rPr dirty="0" sz="2600" spc="4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data,</a:t>
            </a:r>
            <a:r>
              <a:rPr dirty="0" sz="2600" spc="4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station</a:t>
            </a:r>
            <a:r>
              <a:rPr dirty="0" sz="2600" spc="45">
                <a:latin typeface="Calibri"/>
                <a:cs typeface="Calibri"/>
              </a:rPr>
              <a:t>  </a:t>
            </a:r>
            <a:r>
              <a:rPr dirty="0" sz="2600" spc="-50">
                <a:latin typeface="Calibri"/>
                <a:cs typeface="Calibri"/>
              </a:rPr>
              <a:t>C </a:t>
            </a:r>
            <a:r>
              <a:rPr dirty="0" sz="2600">
                <a:latin typeface="Calibri"/>
                <a:cs typeface="Calibri"/>
              </a:rPr>
              <a:t>cannot</a:t>
            </a:r>
            <a:r>
              <a:rPr dirty="0" sz="2600" spc="1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hear</a:t>
            </a:r>
            <a:r>
              <a:rPr dirty="0" sz="2600" spc="1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1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CTS</a:t>
            </a:r>
            <a:r>
              <a:rPr dirty="0" sz="2600" spc="1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from</a:t>
            </a:r>
            <a:r>
              <a:rPr dirty="0" sz="2600" spc="1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station</a:t>
            </a:r>
            <a:r>
              <a:rPr dirty="0" sz="2600" spc="1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</a:t>
            </a:r>
            <a:r>
              <a:rPr dirty="0" sz="2600" spc="1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because</a:t>
            </a:r>
            <a:r>
              <a:rPr dirty="0" sz="2600" spc="1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1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14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collision; </a:t>
            </a:r>
            <a:r>
              <a:rPr dirty="0" sz="2600">
                <a:latin typeface="Calibri"/>
                <a:cs typeface="Calibri"/>
              </a:rPr>
              <a:t>it</a:t>
            </a:r>
            <a:r>
              <a:rPr dirty="0" sz="2600" spc="4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cannot</a:t>
            </a:r>
            <a:r>
              <a:rPr dirty="0" sz="2600" spc="4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send</a:t>
            </a:r>
            <a:r>
              <a:rPr dirty="0" sz="2600" spc="4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its</a:t>
            </a:r>
            <a:r>
              <a:rPr dirty="0" sz="2600" spc="4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data</a:t>
            </a:r>
            <a:r>
              <a:rPr dirty="0" sz="2600" spc="4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4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D.</a:t>
            </a:r>
            <a:r>
              <a:rPr dirty="0" sz="2600" spc="5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It</a:t>
            </a:r>
            <a:r>
              <a:rPr dirty="0" sz="2600" spc="4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remains</a:t>
            </a:r>
            <a:r>
              <a:rPr dirty="0" sz="2600" spc="4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exposed</a:t>
            </a:r>
            <a:r>
              <a:rPr dirty="0" sz="2600" spc="3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until</a:t>
            </a:r>
            <a:r>
              <a:rPr dirty="0" sz="2600" spc="40">
                <a:latin typeface="Calibri"/>
                <a:cs typeface="Calibri"/>
              </a:rPr>
              <a:t>  </a:t>
            </a:r>
            <a:r>
              <a:rPr dirty="0" sz="2600" spc="-50">
                <a:latin typeface="Calibri"/>
                <a:cs typeface="Calibri"/>
              </a:rPr>
              <a:t>A </a:t>
            </a:r>
            <a:r>
              <a:rPr dirty="0" sz="2600">
                <a:latin typeface="Calibri"/>
                <a:cs typeface="Calibri"/>
              </a:rPr>
              <a:t>finishes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sending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its</a:t>
            </a:r>
            <a:r>
              <a:rPr dirty="0" sz="2600" spc="-20">
                <a:latin typeface="Calibri"/>
                <a:cs typeface="Calibri"/>
              </a:rPr>
              <a:t> data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808" y="165303"/>
            <a:ext cx="676148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Times New Roman"/>
                <a:cs typeface="Times New Roman"/>
              </a:rPr>
              <a:t>Use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of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handshaking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in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exposed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station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problem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1262" y="1397583"/>
            <a:ext cx="5744119" cy="4618217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40739" y="624585"/>
            <a:ext cx="580263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Use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handshaking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exposed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station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problem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3012" rIns="0" bIns="0" rtlCol="0" vert="horz">
            <a:spAutoFit/>
          </a:bodyPr>
          <a:lstStyle/>
          <a:p>
            <a:pPr marL="189865">
              <a:lnSpc>
                <a:spcPct val="100000"/>
              </a:lnSpc>
              <a:spcBef>
                <a:spcPts val="100"/>
              </a:spcBef>
            </a:pPr>
            <a:r>
              <a:rPr dirty="0" sz="3600" i="0">
                <a:latin typeface="Calibri"/>
                <a:cs typeface="Calibri"/>
              </a:rPr>
              <a:t>Physical</a:t>
            </a:r>
            <a:r>
              <a:rPr dirty="0" sz="3600" spc="-175" i="0">
                <a:latin typeface="Calibri"/>
                <a:cs typeface="Calibri"/>
              </a:rPr>
              <a:t> </a:t>
            </a:r>
            <a:r>
              <a:rPr dirty="0" sz="3600" spc="-10" i="0">
                <a:latin typeface="Calibri"/>
                <a:cs typeface="Calibri"/>
              </a:rPr>
              <a:t>Layer</a:t>
            </a:r>
            <a:endParaRPr sz="36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8071" y="1019431"/>
            <a:ext cx="8354190" cy="308092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45440" y="4498340"/>
            <a:ext cx="8168640" cy="17246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97180" marR="5080" indent="-285115">
              <a:lnSpc>
                <a:spcPct val="99400"/>
              </a:lnSpc>
              <a:spcBef>
                <a:spcPts val="114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800">
                <a:latin typeface="Times New Roman"/>
                <a:cs typeface="Times New Roman"/>
              </a:rPr>
              <a:t>All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implementations,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except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-5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infrared,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operate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in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 spc="-25">
                <a:latin typeface="Times New Roman"/>
                <a:cs typeface="Times New Roman"/>
              </a:rPr>
              <a:t>the </a:t>
            </a:r>
            <a:r>
              <a:rPr dirty="0" sz="2800" spc="-25">
                <a:latin typeface="Times New Roman"/>
                <a:cs typeface="Times New Roman"/>
              </a:rPr>
              <a:t>	</a:t>
            </a:r>
            <a:r>
              <a:rPr dirty="0" sz="2800" i="1">
                <a:latin typeface="Times New Roman"/>
                <a:cs typeface="Times New Roman"/>
              </a:rPr>
              <a:t>industrial,</a:t>
            </a:r>
            <a:r>
              <a:rPr dirty="0" sz="2800" spc="-75" i="1">
                <a:latin typeface="Times New Roman"/>
                <a:cs typeface="Times New Roman"/>
              </a:rPr>
              <a:t> </a:t>
            </a:r>
            <a:r>
              <a:rPr dirty="0" sz="2800" i="1">
                <a:latin typeface="Times New Roman"/>
                <a:cs typeface="Times New Roman"/>
              </a:rPr>
              <a:t>scientific,</a:t>
            </a:r>
            <a:r>
              <a:rPr dirty="0" sz="2800" spc="-75" i="1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and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 i="1">
                <a:latin typeface="Times New Roman"/>
                <a:cs typeface="Times New Roman"/>
              </a:rPr>
              <a:t>medical</a:t>
            </a:r>
            <a:r>
              <a:rPr dirty="0" sz="2800" spc="-45" i="1">
                <a:latin typeface="Times New Roman"/>
                <a:cs typeface="Times New Roman"/>
              </a:rPr>
              <a:t> </a:t>
            </a:r>
            <a:r>
              <a:rPr dirty="0" sz="2800" i="1">
                <a:latin typeface="Times New Roman"/>
                <a:cs typeface="Times New Roman"/>
              </a:rPr>
              <a:t>(ISM)</a:t>
            </a:r>
            <a:r>
              <a:rPr dirty="0" sz="2800" spc="-10" i="1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band,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which </a:t>
            </a:r>
            <a:r>
              <a:rPr dirty="0" sz="2800" spc="-10">
                <a:latin typeface="Times New Roman"/>
                <a:cs typeface="Times New Roman"/>
              </a:rPr>
              <a:t>	</a:t>
            </a:r>
            <a:r>
              <a:rPr dirty="0" sz="2800">
                <a:latin typeface="Times New Roman"/>
                <a:cs typeface="Times New Roman"/>
              </a:rPr>
              <a:t>defines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three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unlicensed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bands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in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three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ranges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 spc="-20">
                <a:latin typeface="Times New Roman"/>
                <a:cs typeface="Times New Roman"/>
              </a:rPr>
              <a:t>902-</a:t>
            </a:r>
            <a:r>
              <a:rPr dirty="0" sz="2800" spc="-20">
                <a:latin typeface="Times New Roman"/>
                <a:cs typeface="Times New Roman"/>
              </a:rPr>
              <a:t>	</a:t>
            </a:r>
            <a:r>
              <a:rPr dirty="0" sz="2800">
                <a:latin typeface="Times New Roman"/>
                <a:cs typeface="Times New Roman"/>
              </a:rPr>
              <a:t>928</a:t>
            </a:r>
            <a:r>
              <a:rPr dirty="0" sz="2800" spc="-6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MHz,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 spc="-20">
                <a:latin typeface="Times New Roman"/>
                <a:cs typeface="Times New Roman"/>
              </a:rPr>
              <a:t>2.400—</a:t>
            </a:r>
            <a:r>
              <a:rPr dirty="0" sz="2800">
                <a:latin typeface="Times New Roman"/>
                <a:cs typeface="Times New Roman"/>
              </a:rPr>
              <a:t>2.4835</a:t>
            </a:r>
            <a:r>
              <a:rPr dirty="0" sz="2800" spc="-5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GHz,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and</a:t>
            </a:r>
            <a:r>
              <a:rPr dirty="0" sz="2800" spc="-5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5.725-</a:t>
            </a:r>
            <a:r>
              <a:rPr dirty="0" sz="2800">
                <a:latin typeface="Times New Roman"/>
                <a:cs typeface="Times New Roman"/>
              </a:rPr>
              <a:t>5.850</a:t>
            </a:r>
            <a:r>
              <a:rPr dirty="0" sz="2800" spc="-75">
                <a:latin typeface="Times New Roman"/>
                <a:cs typeface="Times New Roman"/>
              </a:rPr>
              <a:t> </a:t>
            </a:r>
            <a:r>
              <a:rPr dirty="0" sz="2800" spc="-25">
                <a:latin typeface="Times New Roman"/>
                <a:cs typeface="Times New Roman"/>
              </a:rPr>
              <a:t>GHz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4282" y="2151433"/>
            <a:ext cx="8096131" cy="1825827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9438" rIns="0" bIns="0" rtlCol="0" vert="horz">
            <a:spAutoFit/>
          </a:bodyPr>
          <a:lstStyle/>
          <a:p>
            <a:pPr marL="57785">
              <a:lnSpc>
                <a:spcPct val="100000"/>
              </a:lnSpc>
              <a:spcBef>
                <a:spcPts val="100"/>
              </a:spcBef>
            </a:pPr>
            <a:r>
              <a:rPr dirty="0" sz="3600" i="0">
                <a:latin typeface="Calibri"/>
                <a:cs typeface="Calibri"/>
              </a:rPr>
              <a:t>Physical</a:t>
            </a:r>
            <a:r>
              <a:rPr dirty="0" sz="3600" spc="-175" i="0">
                <a:latin typeface="Calibri"/>
                <a:cs typeface="Calibri"/>
              </a:rPr>
              <a:t> </a:t>
            </a:r>
            <a:r>
              <a:rPr dirty="0" sz="3600" spc="-10" i="0">
                <a:latin typeface="Calibri"/>
                <a:cs typeface="Calibri"/>
              </a:rPr>
              <a:t>Layer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9740" y="592574"/>
            <a:ext cx="8150225" cy="5226050"/>
          </a:xfrm>
          <a:prstGeom prst="rect">
            <a:avLst/>
          </a:prstGeom>
        </p:spPr>
        <p:txBody>
          <a:bodyPr wrap="square" lIns="0" tIns="113664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3200" i="1">
                <a:latin typeface="Calibri"/>
                <a:cs typeface="Calibri"/>
              </a:rPr>
              <a:t>IEEE</a:t>
            </a:r>
            <a:r>
              <a:rPr dirty="0" sz="3200" spc="-55" i="1">
                <a:latin typeface="Calibri"/>
                <a:cs typeface="Calibri"/>
              </a:rPr>
              <a:t> </a:t>
            </a:r>
            <a:r>
              <a:rPr dirty="0" sz="3200" i="1">
                <a:latin typeface="Calibri"/>
                <a:cs typeface="Calibri"/>
              </a:rPr>
              <a:t>802.11</a:t>
            </a:r>
            <a:r>
              <a:rPr dirty="0" sz="3200" spc="-35" i="1">
                <a:latin typeface="Calibri"/>
                <a:cs typeface="Calibri"/>
              </a:rPr>
              <a:t> </a:t>
            </a:r>
            <a:r>
              <a:rPr dirty="0" sz="3200" spc="-20" i="1">
                <a:latin typeface="Calibri"/>
                <a:cs typeface="Calibri"/>
              </a:rPr>
              <a:t>FHSS</a:t>
            </a:r>
            <a:endParaRPr sz="3200">
              <a:latin typeface="Calibri"/>
              <a:cs typeface="Calibri"/>
            </a:endParaRPr>
          </a:p>
          <a:p>
            <a:pPr algn="just" lvl="1" marL="756285" marR="5080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800">
                <a:latin typeface="Calibri"/>
                <a:cs typeface="Calibri"/>
              </a:rPr>
              <a:t>IEEE</a:t>
            </a:r>
            <a:r>
              <a:rPr dirty="0" sz="2800" spc="28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802.11</a:t>
            </a:r>
            <a:r>
              <a:rPr dirty="0" sz="2800" spc="29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FHSS</a:t>
            </a:r>
            <a:r>
              <a:rPr dirty="0" sz="2800" spc="29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uses</a:t>
            </a:r>
            <a:r>
              <a:rPr dirty="0" sz="2800" spc="29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295">
                <a:latin typeface="Calibri"/>
                <a:cs typeface="Calibri"/>
              </a:rPr>
              <a:t>  </a:t>
            </a:r>
            <a:r>
              <a:rPr dirty="0" sz="2800" spc="-20">
                <a:latin typeface="Calibri"/>
                <a:cs typeface="Calibri"/>
              </a:rPr>
              <a:t>frequency-</a:t>
            </a:r>
            <a:r>
              <a:rPr dirty="0" sz="2800" spc="-10">
                <a:latin typeface="Calibri"/>
                <a:cs typeface="Calibri"/>
              </a:rPr>
              <a:t>hopping </a:t>
            </a:r>
            <a:r>
              <a:rPr dirty="0" sz="2800">
                <a:latin typeface="Calibri"/>
                <a:cs typeface="Calibri"/>
              </a:rPr>
              <a:t>spread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spectrum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(FHSS)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method</a:t>
            </a:r>
            <a:endParaRPr sz="2800">
              <a:latin typeface="Calibri"/>
              <a:cs typeface="Calibri"/>
            </a:endParaRPr>
          </a:p>
          <a:p>
            <a:pPr lvl="1" marL="756285" indent="-286385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800">
                <a:latin typeface="Calibri"/>
                <a:cs typeface="Calibri"/>
              </a:rPr>
              <a:t>FHSS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uses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2.4-</a:t>
            </a:r>
            <a:r>
              <a:rPr dirty="0" sz="2800">
                <a:latin typeface="Calibri"/>
                <a:cs typeface="Calibri"/>
              </a:rPr>
              <a:t>GHz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ISM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band.</a:t>
            </a:r>
            <a:endParaRPr sz="2800">
              <a:latin typeface="Calibri"/>
              <a:cs typeface="Calibri"/>
            </a:endParaRPr>
          </a:p>
          <a:p>
            <a:pPr algn="just" lvl="1" marL="756285" marR="5080" indent="-287020">
              <a:lnSpc>
                <a:spcPct val="100000"/>
              </a:lnSpc>
              <a:spcBef>
                <a:spcPts val="67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4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band</a:t>
            </a:r>
            <a:r>
              <a:rPr dirty="0" sz="2800" spc="43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4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divided</a:t>
            </a:r>
            <a:r>
              <a:rPr dirty="0" sz="2800" spc="4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into</a:t>
            </a:r>
            <a:r>
              <a:rPr dirty="0" sz="2800" spc="4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79</a:t>
            </a:r>
            <a:r>
              <a:rPr dirty="0" sz="2800" spc="434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sub-</a:t>
            </a:r>
            <a:r>
              <a:rPr dirty="0" sz="2800">
                <a:latin typeface="Calibri"/>
                <a:cs typeface="Calibri"/>
              </a:rPr>
              <a:t>bands</a:t>
            </a:r>
            <a:r>
              <a:rPr dirty="0" sz="2800" spc="4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4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1</a:t>
            </a:r>
            <a:r>
              <a:rPr dirty="0" sz="2800" spc="42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MHz </a:t>
            </a:r>
            <a:r>
              <a:rPr dirty="0" sz="2800">
                <a:latin typeface="Calibri"/>
                <a:cs typeface="Calibri"/>
              </a:rPr>
              <a:t>(and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some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guard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bands).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pseudorandom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number generator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selects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hopping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sequence.</a:t>
            </a:r>
            <a:endParaRPr sz="2800">
              <a:latin typeface="Calibri"/>
              <a:cs typeface="Calibri"/>
            </a:endParaRPr>
          </a:p>
          <a:p>
            <a:pPr algn="just" lvl="1" marL="756285" marR="6350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43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modulation</a:t>
            </a:r>
            <a:r>
              <a:rPr dirty="0" sz="2800" spc="4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technique</a:t>
            </a:r>
            <a:r>
              <a:rPr dirty="0" sz="2800" spc="4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4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this</a:t>
            </a:r>
            <a:r>
              <a:rPr dirty="0" sz="2800" spc="4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specification</a:t>
            </a:r>
            <a:r>
              <a:rPr dirty="0" sz="2800" spc="44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is </a:t>
            </a:r>
            <a:r>
              <a:rPr dirty="0" sz="2800">
                <a:latin typeface="Calibri"/>
                <a:cs typeface="Calibri"/>
              </a:rPr>
              <a:t>either</a:t>
            </a:r>
            <a:r>
              <a:rPr dirty="0" sz="2800" spc="35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two-</a:t>
            </a:r>
            <a:r>
              <a:rPr dirty="0" sz="2800">
                <a:latin typeface="Calibri"/>
                <a:cs typeface="Calibri"/>
              </a:rPr>
              <a:t>level</a:t>
            </a:r>
            <a:r>
              <a:rPr dirty="0" sz="2800" spc="3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FSK</a:t>
            </a:r>
            <a:r>
              <a:rPr dirty="0" sz="2800" spc="3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or</a:t>
            </a:r>
            <a:r>
              <a:rPr dirty="0" sz="2800" spc="345">
                <a:latin typeface="Calibri"/>
                <a:cs typeface="Calibri"/>
              </a:rPr>
              <a:t> </a:t>
            </a:r>
            <a:r>
              <a:rPr dirty="0" sz="2800" spc="-30">
                <a:latin typeface="Calibri"/>
                <a:cs typeface="Calibri"/>
              </a:rPr>
              <a:t>four-</a:t>
            </a:r>
            <a:r>
              <a:rPr dirty="0" sz="2800">
                <a:latin typeface="Calibri"/>
                <a:cs typeface="Calibri"/>
              </a:rPr>
              <a:t>level</a:t>
            </a:r>
            <a:r>
              <a:rPr dirty="0" sz="2800" spc="3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FSK</a:t>
            </a:r>
            <a:r>
              <a:rPr dirty="0" sz="2800" spc="3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with</a:t>
            </a:r>
            <a:r>
              <a:rPr dirty="0" sz="2800" spc="3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1</a:t>
            </a:r>
            <a:r>
              <a:rPr dirty="0" sz="2800" spc="3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or</a:t>
            </a:r>
            <a:r>
              <a:rPr dirty="0" sz="2800" spc="345">
                <a:latin typeface="Calibri"/>
                <a:cs typeface="Calibri"/>
              </a:rPr>
              <a:t> </a:t>
            </a:r>
            <a:r>
              <a:rPr dirty="0" sz="2800" spc="-50">
                <a:latin typeface="Calibri"/>
                <a:cs typeface="Calibri"/>
              </a:rPr>
              <a:t>2 </a:t>
            </a:r>
            <a:r>
              <a:rPr dirty="0" sz="2800">
                <a:latin typeface="Calibri"/>
                <a:cs typeface="Calibri"/>
              </a:rPr>
              <a:t>bits/baud,</a:t>
            </a:r>
            <a:r>
              <a:rPr dirty="0" sz="2800" spc="4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which</a:t>
            </a:r>
            <a:r>
              <a:rPr dirty="0" sz="2800" spc="4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results</a:t>
            </a:r>
            <a:r>
              <a:rPr dirty="0" sz="2800" spc="4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4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4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data</a:t>
            </a:r>
            <a:r>
              <a:rPr dirty="0" sz="2800" spc="4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rate</a:t>
            </a:r>
            <a:r>
              <a:rPr dirty="0" sz="2800" spc="4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4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1</a:t>
            </a:r>
            <a:r>
              <a:rPr dirty="0" sz="2800" spc="4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or</a:t>
            </a:r>
            <a:r>
              <a:rPr dirty="0" sz="2800" spc="459">
                <a:latin typeface="Calibri"/>
                <a:cs typeface="Calibri"/>
              </a:rPr>
              <a:t> </a:t>
            </a:r>
            <a:r>
              <a:rPr dirty="0" sz="2800" spc="-50">
                <a:latin typeface="Calibri"/>
                <a:cs typeface="Calibri"/>
              </a:rPr>
              <a:t>2 </a:t>
            </a:r>
            <a:r>
              <a:rPr dirty="0" sz="2800" spc="-20">
                <a:latin typeface="Calibri"/>
                <a:cs typeface="Calibri"/>
              </a:rPr>
              <a:t>Mbps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287774"/>
            <a:ext cx="8073390" cy="3860165"/>
          </a:xfrm>
          <a:prstGeom prst="rect">
            <a:avLst/>
          </a:prstGeom>
        </p:spPr>
        <p:txBody>
          <a:bodyPr wrap="square" lIns="0" tIns="113664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3200" i="1">
                <a:latin typeface="Calibri"/>
                <a:cs typeface="Calibri"/>
              </a:rPr>
              <a:t>IEEE</a:t>
            </a:r>
            <a:r>
              <a:rPr dirty="0" sz="3200" spc="-55" i="1">
                <a:latin typeface="Calibri"/>
                <a:cs typeface="Calibri"/>
              </a:rPr>
              <a:t> </a:t>
            </a:r>
            <a:r>
              <a:rPr dirty="0" sz="3200" i="1">
                <a:latin typeface="Calibri"/>
                <a:cs typeface="Calibri"/>
              </a:rPr>
              <a:t>802.11</a:t>
            </a:r>
            <a:r>
              <a:rPr dirty="0" sz="3200" spc="-35" i="1">
                <a:latin typeface="Calibri"/>
                <a:cs typeface="Calibri"/>
              </a:rPr>
              <a:t> </a:t>
            </a:r>
            <a:r>
              <a:rPr dirty="0" sz="3200" spc="-20" i="1">
                <a:latin typeface="Calibri"/>
                <a:cs typeface="Calibri"/>
              </a:rPr>
              <a:t>DSSS</a:t>
            </a:r>
            <a:endParaRPr sz="3200">
              <a:latin typeface="Calibri"/>
              <a:cs typeface="Calibri"/>
            </a:endParaRPr>
          </a:p>
          <a:p>
            <a:pPr algn="just" lvl="1" marL="756285" marR="6350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800">
                <a:latin typeface="Calibri"/>
                <a:cs typeface="Calibri"/>
              </a:rPr>
              <a:t>IEEE</a:t>
            </a:r>
            <a:r>
              <a:rPr dirty="0" sz="2800" spc="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802.11</a:t>
            </a:r>
            <a:r>
              <a:rPr dirty="0" sz="2800" spc="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DSSS</a:t>
            </a:r>
            <a:r>
              <a:rPr dirty="0" sz="2800" spc="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uses</a:t>
            </a:r>
            <a:r>
              <a:rPr dirty="0" sz="2800" spc="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direct</a:t>
            </a:r>
            <a:r>
              <a:rPr dirty="0" sz="2800" spc="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sequence</a:t>
            </a:r>
            <a:r>
              <a:rPr dirty="0" sz="2800" spc="6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spread </a:t>
            </a:r>
            <a:r>
              <a:rPr dirty="0" sz="2800">
                <a:latin typeface="Calibri"/>
                <a:cs typeface="Calibri"/>
              </a:rPr>
              <a:t>spectrum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(DSSS)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method.</a:t>
            </a:r>
            <a:endParaRPr sz="2800">
              <a:latin typeface="Calibri"/>
              <a:cs typeface="Calibri"/>
            </a:endParaRPr>
          </a:p>
          <a:p>
            <a:pPr lvl="1" marL="755650" indent="-285750">
              <a:lnSpc>
                <a:spcPct val="100000"/>
              </a:lnSpc>
              <a:spcBef>
                <a:spcPts val="670"/>
              </a:spcBef>
              <a:buFont typeface="Arial MT"/>
              <a:buChar char="–"/>
              <a:tabLst>
                <a:tab pos="755650" algn="l"/>
              </a:tabLst>
            </a:pPr>
            <a:r>
              <a:rPr dirty="0" sz="2800">
                <a:latin typeface="Calibri"/>
                <a:cs typeface="Calibri"/>
              </a:rPr>
              <a:t>DSSS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uses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2.4-</a:t>
            </a:r>
            <a:r>
              <a:rPr dirty="0" sz="2800">
                <a:latin typeface="Calibri"/>
                <a:cs typeface="Calibri"/>
              </a:rPr>
              <a:t>GHz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ISM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band.</a:t>
            </a:r>
            <a:endParaRPr sz="2800">
              <a:latin typeface="Calibri"/>
              <a:cs typeface="Calibri"/>
            </a:endParaRPr>
          </a:p>
          <a:p>
            <a:pPr algn="just" lvl="1" marL="756285" marR="5080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3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modulation</a:t>
            </a:r>
            <a:r>
              <a:rPr dirty="0" sz="2800" spc="3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technique</a:t>
            </a:r>
            <a:r>
              <a:rPr dirty="0" sz="2800" spc="3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3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this</a:t>
            </a:r>
            <a:r>
              <a:rPr dirty="0" sz="2800" spc="3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specification</a:t>
            </a:r>
            <a:r>
              <a:rPr dirty="0" sz="2800" spc="34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is </a:t>
            </a:r>
            <a:r>
              <a:rPr dirty="0" sz="2800">
                <a:latin typeface="Calibri"/>
                <a:cs typeface="Calibri"/>
              </a:rPr>
              <a:t>PSK</a:t>
            </a:r>
            <a:r>
              <a:rPr dirty="0" sz="2800" spc="20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at</a:t>
            </a:r>
            <a:r>
              <a:rPr dirty="0" sz="2800" spc="21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1Mbaud/s.</a:t>
            </a:r>
            <a:r>
              <a:rPr dirty="0" sz="2800" spc="21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21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system</a:t>
            </a:r>
            <a:r>
              <a:rPr dirty="0" sz="2800" spc="19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allows</a:t>
            </a:r>
            <a:r>
              <a:rPr dirty="0" sz="2800" spc="21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1</a:t>
            </a:r>
            <a:r>
              <a:rPr dirty="0" sz="2800" spc="21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or</a:t>
            </a:r>
            <a:r>
              <a:rPr dirty="0" sz="2800" spc="215">
                <a:latin typeface="Calibri"/>
                <a:cs typeface="Calibri"/>
              </a:rPr>
              <a:t>  </a:t>
            </a:r>
            <a:r>
              <a:rPr dirty="0" sz="2800" spc="-50">
                <a:latin typeface="Calibri"/>
                <a:cs typeface="Calibri"/>
              </a:rPr>
              <a:t>2 </a:t>
            </a:r>
            <a:r>
              <a:rPr dirty="0" sz="2800">
                <a:latin typeface="Calibri"/>
                <a:cs typeface="Calibri"/>
              </a:rPr>
              <a:t>bits/baud</a:t>
            </a:r>
            <a:r>
              <a:rPr dirty="0" sz="2800" spc="2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(BPSK</a:t>
            </a:r>
            <a:r>
              <a:rPr dirty="0" sz="2800" spc="1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or</a:t>
            </a:r>
            <a:r>
              <a:rPr dirty="0" sz="2800" spc="2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QPSK),</a:t>
            </a:r>
            <a:r>
              <a:rPr dirty="0" sz="2800" spc="1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which</a:t>
            </a:r>
            <a:r>
              <a:rPr dirty="0" sz="2800" spc="1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results</a:t>
            </a:r>
            <a:r>
              <a:rPr dirty="0" sz="2800" spc="20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1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19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data </a:t>
            </a:r>
            <a:r>
              <a:rPr dirty="0" sz="2800">
                <a:latin typeface="Calibri"/>
                <a:cs typeface="Calibri"/>
              </a:rPr>
              <a:t>rate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1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or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2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Mbps.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71279"/>
            <a:ext cx="8074025" cy="5654040"/>
          </a:xfrm>
          <a:prstGeom prst="rect">
            <a:avLst/>
          </a:prstGeom>
        </p:spPr>
        <p:txBody>
          <a:bodyPr wrap="square" lIns="0" tIns="107314" rIns="0" bIns="0" rtlCol="0" vert="horz">
            <a:spAutoFit/>
          </a:bodyPr>
          <a:lstStyle/>
          <a:p>
            <a:pPr marL="356235" indent="-343535">
              <a:lnSpc>
                <a:spcPct val="100000"/>
              </a:lnSpc>
              <a:spcBef>
                <a:spcPts val="844"/>
              </a:spcBef>
              <a:buFont typeface="Arial MT"/>
              <a:buChar char="•"/>
              <a:tabLst>
                <a:tab pos="356235" algn="l"/>
              </a:tabLst>
            </a:pPr>
            <a:r>
              <a:rPr dirty="0" sz="3000" i="1">
                <a:latin typeface="Calibri"/>
                <a:cs typeface="Calibri"/>
              </a:rPr>
              <a:t>IEEE</a:t>
            </a:r>
            <a:r>
              <a:rPr dirty="0" sz="3000" spc="-60" i="1">
                <a:latin typeface="Calibri"/>
                <a:cs typeface="Calibri"/>
              </a:rPr>
              <a:t> </a:t>
            </a:r>
            <a:r>
              <a:rPr dirty="0" sz="3000" i="1">
                <a:latin typeface="Calibri"/>
                <a:cs typeface="Calibri"/>
              </a:rPr>
              <a:t>802.11</a:t>
            </a:r>
            <a:r>
              <a:rPr dirty="0" sz="3000" spc="-25" i="1">
                <a:latin typeface="Calibri"/>
                <a:cs typeface="Calibri"/>
              </a:rPr>
              <a:t> </a:t>
            </a:r>
            <a:r>
              <a:rPr dirty="0" sz="3000" spc="-10" i="1">
                <a:latin typeface="Calibri"/>
                <a:cs typeface="Calibri"/>
              </a:rPr>
              <a:t>Infrared</a:t>
            </a:r>
            <a:endParaRPr sz="3000">
              <a:latin typeface="Calibri"/>
              <a:cs typeface="Calibri"/>
            </a:endParaRPr>
          </a:p>
          <a:p>
            <a:pPr algn="just" lvl="1" marL="756285" marR="5080" indent="-287020">
              <a:lnSpc>
                <a:spcPct val="100000"/>
              </a:lnSpc>
              <a:spcBef>
                <a:spcPts val="65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600">
                <a:latin typeface="Calibri"/>
                <a:cs typeface="Calibri"/>
              </a:rPr>
              <a:t>IEEE</a:t>
            </a:r>
            <a:r>
              <a:rPr dirty="0" sz="2600" spc="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802.11</a:t>
            </a:r>
            <a:r>
              <a:rPr dirty="0" sz="2600" spc="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infrared</a:t>
            </a:r>
            <a:r>
              <a:rPr dirty="0" sz="2600" spc="-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uses</a:t>
            </a:r>
            <a:r>
              <a:rPr dirty="0" sz="2600" spc="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infrared</a:t>
            </a:r>
            <a:r>
              <a:rPr dirty="0" sz="2600" spc="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light</a:t>
            </a:r>
            <a:r>
              <a:rPr dirty="0" sz="2600" spc="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range</a:t>
            </a:r>
            <a:r>
              <a:rPr dirty="0" sz="2600" spc="2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of </a:t>
            </a:r>
            <a:r>
              <a:rPr dirty="0" sz="2600">
                <a:latin typeface="Calibri"/>
                <a:cs typeface="Calibri"/>
              </a:rPr>
              <a:t>800</a:t>
            </a:r>
            <a:r>
              <a:rPr dirty="0" sz="2600" spc="459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459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950</a:t>
            </a:r>
            <a:r>
              <a:rPr dirty="0" sz="2600" spc="4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nm.</a:t>
            </a:r>
            <a:r>
              <a:rPr dirty="0" sz="2600" spc="4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4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modulation</a:t>
            </a:r>
            <a:r>
              <a:rPr dirty="0" sz="2600" spc="4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technique</a:t>
            </a:r>
            <a:r>
              <a:rPr dirty="0" sz="2600" spc="4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48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called </a:t>
            </a:r>
            <a:r>
              <a:rPr dirty="0" sz="2600">
                <a:latin typeface="Calibri"/>
                <a:cs typeface="Calibri"/>
              </a:rPr>
              <a:t>pulse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position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modulation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(PPM).</a:t>
            </a:r>
            <a:endParaRPr sz="2600">
              <a:latin typeface="Calibri"/>
              <a:cs typeface="Calibri"/>
            </a:endParaRPr>
          </a:p>
          <a:p>
            <a:pPr algn="just" lvl="1" marL="756285" marR="5080" indent="-287020">
              <a:lnSpc>
                <a:spcPct val="100000"/>
              </a:lnSpc>
              <a:spcBef>
                <a:spcPts val="63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114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120">
                <a:latin typeface="Calibri"/>
                <a:cs typeface="Calibri"/>
              </a:rPr>
              <a:t>  </a:t>
            </a:r>
            <a:r>
              <a:rPr dirty="0" sz="2600" spc="-10">
                <a:latin typeface="Calibri"/>
                <a:cs typeface="Calibri"/>
              </a:rPr>
              <a:t>1-</a:t>
            </a:r>
            <a:r>
              <a:rPr dirty="0" sz="2600">
                <a:latin typeface="Calibri"/>
                <a:cs typeface="Calibri"/>
              </a:rPr>
              <a:t>Mbps</a:t>
            </a:r>
            <a:r>
              <a:rPr dirty="0" sz="2600" spc="12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data</a:t>
            </a:r>
            <a:r>
              <a:rPr dirty="0" sz="2600" spc="114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rate,</a:t>
            </a:r>
            <a:r>
              <a:rPr dirty="0" sz="2600" spc="12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120">
                <a:latin typeface="Calibri"/>
                <a:cs typeface="Calibri"/>
              </a:rPr>
              <a:t>  </a:t>
            </a:r>
            <a:r>
              <a:rPr dirty="0" sz="2600" spc="-10">
                <a:latin typeface="Calibri"/>
                <a:cs typeface="Calibri"/>
              </a:rPr>
              <a:t>4-</a:t>
            </a:r>
            <a:r>
              <a:rPr dirty="0" sz="2600">
                <a:latin typeface="Calibri"/>
                <a:cs typeface="Calibri"/>
              </a:rPr>
              <a:t>bit</a:t>
            </a:r>
            <a:r>
              <a:rPr dirty="0" sz="2600" spc="12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sequence</a:t>
            </a:r>
            <a:r>
              <a:rPr dirty="0" sz="2600" spc="12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125">
                <a:latin typeface="Calibri"/>
                <a:cs typeface="Calibri"/>
              </a:rPr>
              <a:t>  </a:t>
            </a:r>
            <a:r>
              <a:rPr dirty="0" sz="2600" spc="-10">
                <a:latin typeface="Calibri"/>
                <a:cs typeface="Calibri"/>
              </a:rPr>
              <a:t>first </a:t>
            </a:r>
            <a:r>
              <a:rPr dirty="0" sz="2600">
                <a:latin typeface="Calibri"/>
                <a:cs typeface="Calibri"/>
              </a:rPr>
              <a:t>mapped</a:t>
            </a:r>
            <a:r>
              <a:rPr dirty="0" sz="2600" spc="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into</a:t>
            </a:r>
            <a:r>
              <a:rPr dirty="0" sz="2600" spc="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4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I6-</a:t>
            </a:r>
            <a:r>
              <a:rPr dirty="0" sz="2600">
                <a:latin typeface="Calibri"/>
                <a:cs typeface="Calibri"/>
              </a:rPr>
              <a:t>bit</a:t>
            </a:r>
            <a:r>
              <a:rPr dirty="0" sz="2600" spc="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sequence</a:t>
            </a:r>
            <a:r>
              <a:rPr dirty="0" sz="2600" spc="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which</a:t>
            </a:r>
            <a:r>
              <a:rPr dirty="0" sz="2600" spc="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only</a:t>
            </a:r>
            <a:r>
              <a:rPr dirty="0" sz="2600" spc="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one</a:t>
            </a:r>
            <a:r>
              <a:rPr dirty="0" sz="2600" spc="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bit</a:t>
            </a:r>
            <a:r>
              <a:rPr dirty="0" sz="2600" spc="4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is </a:t>
            </a:r>
            <a:r>
              <a:rPr dirty="0" sz="2600">
                <a:latin typeface="Calibri"/>
                <a:cs typeface="Calibri"/>
              </a:rPr>
              <a:t>set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1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rest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are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set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25">
                <a:latin typeface="Calibri"/>
                <a:cs typeface="Calibri"/>
              </a:rPr>
              <a:t> 0.</a:t>
            </a:r>
            <a:endParaRPr sz="2600">
              <a:latin typeface="Calibri"/>
              <a:cs typeface="Calibri"/>
            </a:endParaRPr>
          </a:p>
          <a:p>
            <a:pPr algn="just" lvl="1" marL="756285" marR="5080" indent="-287020">
              <a:lnSpc>
                <a:spcPct val="100000"/>
              </a:lnSpc>
              <a:spcBef>
                <a:spcPts val="62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114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120">
                <a:latin typeface="Calibri"/>
                <a:cs typeface="Calibri"/>
              </a:rPr>
              <a:t>  </a:t>
            </a:r>
            <a:r>
              <a:rPr dirty="0" sz="2600" spc="-10">
                <a:latin typeface="Calibri"/>
                <a:cs typeface="Calibri"/>
              </a:rPr>
              <a:t>2-</a:t>
            </a:r>
            <a:r>
              <a:rPr dirty="0" sz="2600">
                <a:latin typeface="Calibri"/>
                <a:cs typeface="Calibri"/>
              </a:rPr>
              <a:t>Mbps</a:t>
            </a:r>
            <a:r>
              <a:rPr dirty="0" sz="2600" spc="12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data</a:t>
            </a:r>
            <a:r>
              <a:rPr dirty="0" sz="2600" spc="114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rate,</a:t>
            </a:r>
            <a:r>
              <a:rPr dirty="0" sz="2600" spc="12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120">
                <a:latin typeface="Calibri"/>
                <a:cs typeface="Calibri"/>
              </a:rPr>
              <a:t>  </a:t>
            </a:r>
            <a:r>
              <a:rPr dirty="0" sz="2600" spc="-10">
                <a:latin typeface="Calibri"/>
                <a:cs typeface="Calibri"/>
              </a:rPr>
              <a:t>2-</a:t>
            </a:r>
            <a:r>
              <a:rPr dirty="0" sz="2600">
                <a:latin typeface="Calibri"/>
                <a:cs typeface="Calibri"/>
              </a:rPr>
              <a:t>bit</a:t>
            </a:r>
            <a:r>
              <a:rPr dirty="0" sz="2600" spc="12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sequence</a:t>
            </a:r>
            <a:r>
              <a:rPr dirty="0" sz="2600" spc="12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125">
                <a:latin typeface="Calibri"/>
                <a:cs typeface="Calibri"/>
              </a:rPr>
              <a:t>  </a:t>
            </a:r>
            <a:r>
              <a:rPr dirty="0" sz="2600" spc="-10">
                <a:latin typeface="Calibri"/>
                <a:cs typeface="Calibri"/>
              </a:rPr>
              <a:t>first </a:t>
            </a:r>
            <a:r>
              <a:rPr dirty="0" sz="2600">
                <a:latin typeface="Calibri"/>
                <a:cs typeface="Calibri"/>
              </a:rPr>
              <a:t>mapped</a:t>
            </a:r>
            <a:r>
              <a:rPr dirty="0" sz="2600" spc="1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into</a:t>
            </a:r>
            <a:r>
              <a:rPr dirty="0" sz="2600" spc="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11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4-</a:t>
            </a:r>
            <a:r>
              <a:rPr dirty="0" sz="2600">
                <a:latin typeface="Calibri"/>
                <a:cs typeface="Calibri"/>
              </a:rPr>
              <a:t>bit</a:t>
            </a:r>
            <a:r>
              <a:rPr dirty="0" sz="2600" spc="1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sequence</a:t>
            </a:r>
            <a:r>
              <a:rPr dirty="0" sz="2600" spc="1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which</a:t>
            </a:r>
            <a:r>
              <a:rPr dirty="0" sz="2600" spc="10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only</a:t>
            </a:r>
            <a:r>
              <a:rPr dirty="0" sz="2600" spc="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one</a:t>
            </a:r>
            <a:r>
              <a:rPr dirty="0" sz="2600" spc="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bit</a:t>
            </a:r>
            <a:r>
              <a:rPr dirty="0" sz="2600" spc="114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is </a:t>
            </a:r>
            <a:r>
              <a:rPr dirty="0" sz="2600">
                <a:latin typeface="Calibri"/>
                <a:cs typeface="Calibri"/>
              </a:rPr>
              <a:t>set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1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rest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are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set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25">
                <a:latin typeface="Calibri"/>
                <a:cs typeface="Calibri"/>
              </a:rPr>
              <a:t> 0.</a:t>
            </a:r>
            <a:endParaRPr sz="2600">
              <a:latin typeface="Calibri"/>
              <a:cs typeface="Calibri"/>
            </a:endParaRPr>
          </a:p>
          <a:p>
            <a:pPr algn="just" lvl="1" marL="755015" marR="5080" indent="-285750">
              <a:lnSpc>
                <a:spcPct val="100000"/>
              </a:lnSpc>
              <a:spcBef>
                <a:spcPts val="62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1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mapped</a:t>
            </a:r>
            <a:r>
              <a:rPr dirty="0" sz="2600" spc="1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sequences</a:t>
            </a:r>
            <a:r>
              <a:rPr dirty="0" sz="2600" spc="1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are</a:t>
            </a:r>
            <a:r>
              <a:rPr dirty="0" sz="2600" spc="1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then</a:t>
            </a:r>
            <a:r>
              <a:rPr dirty="0" sz="2600" spc="1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converted</a:t>
            </a:r>
            <a:r>
              <a:rPr dirty="0" sz="2600" spc="1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13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optical </a:t>
            </a:r>
            <a:r>
              <a:rPr dirty="0" sz="2600" spc="-10">
                <a:latin typeface="Calibri"/>
                <a:cs typeface="Calibri"/>
              </a:rPr>
              <a:t>	</a:t>
            </a:r>
            <a:r>
              <a:rPr dirty="0" sz="2600">
                <a:latin typeface="Calibri"/>
                <a:cs typeface="Calibri"/>
              </a:rPr>
              <a:t>signals;</a:t>
            </a:r>
            <a:r>
              <a:rPr dirty="0" sz="2600" spc="20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1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presence</a:t>
            </a:r>
            <a:r>
              <a:rPr dirty="0" sz="2600" spc="1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20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light</a:t>
            </a:r>
            <a:r>
              <a:rPr dirty="0" sz="2600" spc="2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specifies</a:t>
            </a:r>
            <a:r>
              <a:rPr dirty="0" sz="2600" spc="2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1,</a:t>
            </a:r>
            <a:r>
              <a:rPr dirty="0" sz="2600" spc="2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21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absence </a:t>
            </a:r>
            <a:r>
              <a:rPr dirty="0" sz="2600" spc="-10">
                <a:latin typeface="Calibri"/>
                <a:cs typeface="Calibri"/>
              </a:rPr>
              <a:t>	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light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specifies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0.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939" y="461327"/>
            <a:ext cx="8760460" cy="545719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700" i="1">
                <a:latin typeface="Calibri"/>
                <a:cs typeface="Calibri"/>
              </a:rPr>
              <a:t>IEEE</a:t>
            </a:r>
            <a:r>
              <a:rPr dirty="0" sz="2700" spc="-50" i="1">
                <a:latin typeface="Calibri"/>
                <a:cs typeface="Calibri"/>
              </a:rPr>
              <a:t> </a:t>
            </a:r>
            <a:r>
              <a:rPr dirty="0" sz="2700" i="1">
                <a:latin typeface="Calibri"/>
                <a:cs typeface="Calibri"/>
              </a:rPr>
              <a:t>802.IIa</a:t>
            </a:r>
            <a:r>
              <a:rPr dirty="0" sz="2700" spc="-30" i="1">
                <a:latin typeface="Calibri"/>
                <a:cs typeface="Calibri"/>
              </a:rPr>
              <a:t> </a:t>
            </a:r>
            <a:r>
              <a:rPr dirty="0" sz="2700" spc="-20" i="1">
                <a:latin typeface="Calibri"/>
                <a:cs typeface="Calibri"/>
              </a:rPr>
              <a:t>OFDM</a:t>
            </a:r>
            <a:endParaRPr sz="2700">
              <a:latin typeface="Calibri"/>
              <a:cs typeface="Calibri"/>
            </a:endParaRPr>
          </a:p>
          <a:p>
            <a:pPr algn="just" lvl="1" marL="754380" marR="6350" indent="-285115">
              <a:lnSpc>
                <a:spcPts val="2590"/>
              </a:lnSpc>
              <a:spcBef>
                <a:spcPts val="63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400">
                <a:latin typeface="Calibri"/>
                <a:cs typeface="Calibri"/>
              </a:rPr>
              <a:t>IEEE</a:t>
            </a:r>
            <a:r>
              <a:rPr dirty="0" sz="2400" spc="2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802.IIa</a:t>
            </a:r>
            <a:r>
              <a:rPr dirty="0" sz="2400" spc="204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OFDM</a:t>
            </a:r>
            <a:r>
              <a:rPr dirty="0" sz="2400" spc="2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describes</a:t>
            </a:r>
            <a:r>
              <a:rPr dirty="0" sz="2400" spc="2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2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orthogonal</a:t>
            </a:r>
            <a:r>
              <a:rPr dirty="0" sz="2400" spc="20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frequency-</a:t>
            </a:r>
            <a:r>
              <a:rPr dirty="0" sz="2400" spc="-10">
                <a:latin typeface="Calibri"/>
                <a:cs typeface="Calibri"/>
              </a:rPr>
              <a:t>division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multiplexing</a:t>
            </a:r>
            <a:r>
              <a:rPr dirty="0" sz="2400" spc="3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(OFDM)</a:t>
            </a:r>
            <a:r>
              <a:rPr dirty="0" sz="2400" spc="3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method</a:t>
            </a:r>
            <a:r>
              <a:rPr dirty="0" sz="2400" spc="3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3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signal</a:t>
            </a:r>
            <a:r>
              <a:rPr dirty="0" sz="2400" spc="3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generation</a:t>
            </a:r>
            <a:r>
              <a:rPr dirty="0" sz="2400" spc="3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3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35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5-</a:t>
            </a:r>
            <a:r>
              <a:rPr dirty="0" sz="2400" spc="-25">
                <a:latin typeface="Calibri"/>
                <a:cs typeface="Calibri"/>
              </a:rPr>
              <a:t>GHz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ISM</a:t>
            </a:r>
            <a:r>
              <a:rPr dirty="0" sz="2400" spc="-20">
                <a:latin typeface="Calibri"/>
                <a:cs typeface="Calibri"/>
              </a:rPr>
              <a:t> band.</a:t>
            </a:r>
            <a:endParaRPr sz="2400">
              <a:latin typeface="Calibri"/>
              <a:cs typeface="Calibri"/>
            </a:endParaRPr>
          </a:p>
          <a:p>
            <a:pPr algn="just" lvl="1" marL="754380" marR="6985" indent="-285115">
              <a:lnSpc>
                <a:spcPts val="2590"/>
              </a:lnSpc>
              <a:spcBef>
                <a:spcPts val="58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400">
                <a:latin typeface="Calibri"/>
                <a:cs typeface="Calibri"/>
              </a:rPr>
              <a:t>OFDM</a:t>
            </a:r>
            <a:r>
              <a:rPr dirty="0" sz="2400" spc="5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5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similar</a:t>
            </a:r>
            <a:r>
              <a:rPr dirty="0" sz="2400" spc="5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5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FDM,</a:t>
            </a:r>
            <a:r>
              <a:rPr dirty="0" sz="2400" spc="5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with</a:t>
            </a:r>
            <a:r>
              <a:rPr dirty="0" sz="2400" spc="5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one</a:t>
            </a:r>
            <a:r>
              <a:rPr dirty="0" sz="2400" spc="5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major</a:t>
            </a:r>
            <a:r>
              <a:rPr dirty="0" sz="2400" spc="5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difference:</a:t>
            </a:r>
            <a:r>
              <a:rPr dirty="0" sz="2400" spc="5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All</a:t>
            </a:r>
            <a:r>
              <a:rPr dirty="0" sz="2400" spc="54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the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subbands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are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used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by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one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source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at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given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time.</a:t>
            </a:r>
            <a:endParaRPr sz="2400">
              <a:latin typeface="Calibri"/>
              <a:cs typeface="Calibri"/>
            </a:endParaRPr>
          </a:p>
          <a:p>
            <a:pPr algn="just" lvl="1" marL="754380" marR="5080" indent="-285115">
              <a:lnSpc>
                <a:spcPct val="90000"/>
              </a:lnSpc>
              <a:spcBef>
                <a:spcPts val="54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400">
                <a:latin typeface="Calibri"/>
                <a:cs typeface="Calibri"/>
              </a:rPr>
              <a:t>Sources</a:t>
            </a:r>
            <a:r>
              <a:rPr dirty="0" sz="2400" spc="4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contend</a:t>
            </a:r>
            <a:r>
              <a:rPr dirty="0" sz="2400" spc="5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with</a:t>
            </a:r>
            <a:r>
              <a:rPr dirty="0" sz="2400" spc="484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one</a:t>
            </a:r>
            <a:r>
              <a:rPr dirty="0" sz="2400" spc="4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another</a:t>
            </a:r>
            <a:r>
              <a:rPr dirty="0" sz="2400" spc="4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at</a:t>
            </a:r>
            <a:r>
              <a:rPr dirty="0" sz="2400" spc="4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4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data</a:t>
            </a:r>
            <a:r>
              <a:rPr dirty="0" sz="2400" spc="5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link</a:t>
            </a:r>
            <a:r>
              <a:rPr dirty="0" sz="2400" spc="4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layer</a:t>
            </a:r>
            <a:r>
              <a:rPr dirty="0" sz="2400" spc="49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for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access.</a:t>
            </a:r>
            <a:r>
              <a:rPr dirty="0" sz="2400" spc="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band</a:t>
            </a:r>
            <a:r>
              <a:rPr dirty="0" sz="2400" spc="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divided</a:t>
            </a:r>
            <a:r>
              <a:rPr dirty="0" sz="2400" spc="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into</a:t>
            </a:r>
            <a:r>
              <a:rPr dirty="0" sz="2400" spc="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52</a:t>
            </a:r>
            <a:r>
              <a:rPr dirty="0" sz="2400" spc="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subbands,</a:t>
            </a:r>
            <a:r>
              <a:rPr dirty="0" sz="2400" spc="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with</a:t>
            </a:r>
            <a:r>
              <a:rPr dirty="0" sz="2400" spc="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48</a:t>
            </a:r>
            <a:r>
              <a:rPr dirty="0" sz="2400" spc="5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subbands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5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sending</a:t>
            </a:r>
            <a:r>
              <a:rPr dirty="0" sz="2400" spc="5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48</a:t>
            </a:r>
            <a:r>
              <a:rPr dirty="0" sz="2400" spc="5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groups</a:t>
            </a:r>
            <a:r>
              <a:rPr dirty="0" sz="2400" spc="5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5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bits</a:t>
            </a:r>
            <a:r>
              <a:rPr dirty="0" sz="2400" spc="5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at</a:t>
            </a:r>
            <a:r>
              <a:rPr dirty="0" sz="2400" spc="5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5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time</a:t>
            </a:r>
            <a:r>
              <a:rPr dirty="0" sz="2400" spc="5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5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4</a:t>
            </a:r>
            <a:r>
              <a:rPr dirty="0" sz="2400" spc="5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subbands</a:t>
            </a:r>
            <a:r>
              <a:rPr dirty="0" sz="2400" spc="54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for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control</a:t>
            </a:r>
            <a:r>
              <a:rPr dirty="0" sz="2400" spc="-114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information.</a:t>
            </a:r>
            <a:endParaRPr sz="2400">
              <a:latin typeface="Calibri"/>
              <a:cs typeface="Calibri"/>
            </a:endParaRPr>
          </a:p>
          <a:p>
            <a:pPr algn="just" lvl="1" marL="754380" marR="7620" indent="-285115">
              <a:lnSpc>
                <a:spcPts val="2590"/>
              </a:lnSpc>
              <a:spcBef>
                <a:spcPts val="61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1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scheme</a:t>
            </a:r>
            <a:r>
              <a:rPr dirty="0" sz="2400" spc="1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114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similar</a:t>
            </a:r>
            <a:r>
              <a:rPr dirty="0" sz="2400" spc="10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1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ADSL.</a:t>
            </a:r>
            <a:r>
              <a:rPr dirty="0" sz="2400" spc="1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Dividing</a:t>
            </a:r>
            <a:r>
              <a:rPr dirty="0" sz="2400" spc="1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1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band</a:t>
            </a:r>
            <a:r>
              <a:rPr dirty="0" sz="2400" spc="114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into</a:t>
            </a:r>
            <a:r>
              <a:rPr dirty="0" sz="2400" spc="114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subbands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diminishes</a:t>
            </a:r>
            <a:r>
              <a:rPr dirty="0" sz="2400" spc="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effects</a:t>
            </a:r>
            <a:r>
              <a:rPr dirty="0" sz="2400" spc="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interference.</a:t>
            </a:r>
            <a:r>
              <a:rPr dirty="0" sz="2400" spc="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If</a:t>
            </a:r>
            <a:r>
              <a:rPr dirty="0" sz="2400" spc="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subbands</a:t>
            </a:r>
            <a:r>
              <a:rPr dirty="0" sz="2400" spc="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are</a:t>
            </a:r>
            <a:r>
              <a:rPr dirty="0" sz="2400" spc="9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used 	randomly,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security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can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also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increased.</a:t>
            </a:r>
            <a:endParaRPr sz="2400">
              <a:latin typeface="Calibri"/>
              <a:cs typeface="Calibri"/>
            </a:endParaRPr>
          </a:p>
          <a:p>
            <a:pPr algn="just" lvl="1" marL="754380" marR="5715" indent="-285115">
              <a:lnSpc>
                <a:spcPts val="2590"/>
              </a:lnSpc>
              <a:spcBef>
                <a:spcPts val="58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400">
                <a:latin typeface="Calibri"/>
                <a:cs typeface="Calibri"/>
              </a:rPr>
              <a:t>OFDM</a:t>
            </a:r>
            <a:r>
              <a:rPr dirty="0" sz="2400" spc="3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uses</a:t>
            </a:r>
            <a:r>
              <a:rPr dirty="0" sz="2400" spc="3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PSK</a:t>
            </a:r>
            <a:r>
              <a:rPr dirty="0" sz="2400" spc="3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3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QAM</a:t>
            </a:r>
            <a:r>
              <a:rPr dirty="0" sz="2400" spc="3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3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modulation.</a:t>
            </a:r>
            <a:r>
              <a:rPr dirty="0" sz="2400" spc="3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40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common</a:t>
            </a:r>
            <a:r>
              <a:rPr dirty="0" sz="2400" spc="37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data </a:t>
            </a:r>
            <a:r>
              <a:rPr dirty="0" sz="2400" spc="-20">
                <a:latin typeface="Calibri"/>
                <a:cs typeface="Calibri"/>
              </a:rPr>
              <a:t>	</a:t>
            </a:r>
            <a:r>
              <a:rPr dirty="0" sz="2400" spc="-10">
                <a:latin typeface="Calibri"/>
                <a:cs typeface="Calibri"/>
              </a:rPr>
              <a:t>rates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are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18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Mbps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(PSK)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54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Mbps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(QAM).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383794"/>
            <a:ext cx="8530590" cy="15151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6235" indent="-34353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6235" algn="l"/>
              </a:tabLst>
            </a:pPr>
            <a:r>
              <a:rPr dirty="0" sz="3000" i="1">
                <a:latin typeface="Calibri"/>
                <a:cs typeface="Calibri"/>
              </a:rPr>
              <a:t>IEEE</a:t>
            </a:r>
            <a:r>
              <a:rPr dirty="0" sz="3000" spc="-65" i="1">
                <a:latin typeface="Calibri"/>
                <a:cs typeface="Calibri"/>
              </a:rPr>
              <a:t> </a:t>
            </a:r>
            <a:r>
              <a:rPr dirty="0" sz="3000" i="1">
                <a:latin typeface="Calibri"/>
                <a:cs typeface="Calibri"/>
              </a:rPr>
              <a:t>802.11b</a:t>
            </a:r>
            <a:r>
              <a:rPr dirty="0" sz="3000" spc="-35" i="1">
                <a:latin typeface="Calibri"/>
                <a:cs typeface="Calibri"/>
              </a:rPr>
              <a:t> </a:t>
            </a:r>
            <a:r>
              <a:rPr dirty="0" sz="3000" spc="-20" i="1">
                <a:latin typeface="Calibri"/>
                <a:cs typeface="Calibri"/>
              </a:rPr>
              <a:t>DSSS</a:t>
            </a:r>
            <a:endParaRPr sz="3000">
              <a:latin typeface="Calibri"/>
              <a:cs typeface="Calibri"/>
            </a:endParaRPr>
          </a:p>
          <a:p>
            <a:pPr algn="just" marL="756285" marR="5080" indent="-287020">
              <a:lnSpc>
                <a:spcPct val="80000"/>
              </a:lnSpc>
              <a:spcBef>
                <a:spcPts val="640"/>
              </a:spcBef>
            </a:pPr>
            <a:r>
              <a:rPr dirty="0" sz="2600">
                <a:latin typeface="Arial MT"/>
                <a:cs typeface="Arial MT"/>
              </a:rPr>
              <a:t>–</a:t>
            </a:r>
            <a:r>
              <a:rPr dirty="0" sz="2600" spc="65">
                <a:latin typeface="Arial MT"/>
                <a:cs typeface="Arial MT"/>
              </a:rPr>
              <a:t> </a:t>
            </a:r>
            <a:r>
              <a:rPr dirty="0" sz="2600">
                <a:latin typeface="Calibri"/>
                <a:cs typeface="Calibri"/>
              </a:rPr>
              <a:t>IEEE</a:t>
            </a:r>
            <a:r>
              <a:rPr dirty="0" sz="2600" spc="52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802.11b</a:t>
            </a:r>
            <a:r>
              <a:rPr dirty="0" sz="2600" spc="53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DSSS</a:t>
            </a:r>
            <a:r>
              <a:rPr dirty="0" sz="2600" spc="52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describes</a:t>
            </a:r>
            <a:r>
              <a:rPr dirty="0" sz="2600" spc="52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525">
                <a:latin typeface="Calibri"/>
                <a:cs typeface="Calibri"/>
              </a:rPr>
              <a:t>  </a:t>
            </a:r>
            <a:r>
              <a:rPr dirty="0" sz="2600" spc="-10">
                <a:latin typeface="Calibri"/>
                <a:cs typeface="Calibri"/>
              </a:rPr>
              <a:t>high-</a:t>
            </a:r>
            <a:r>
              <a:rPr dirty="0" sz="2600">
                <a:latin typeface="Calibri"/>
                <a:cs typeface="Calibri"/>
              </a:rPr>
              <a:t>rate</a:t>
            </a:r>
            <a:r>
              <a:rPr dirty="0" sz="2600" spc="525">
                <a:latin typeface="Calibri"/>
                <a:cs typeface="Calibri"/>
              </a:rPr>
              <a:t>  </a:t>
            </a:r>
            <a:r>
              <a:rPr dirty="0" sz="2600" spc="-10">
                <a:latin typeface="Calibri"/>
                <a:cs typeface="Calibri"/>
              </a:rPr>
              <a:t>direct </a:t>
            </a:r>
            <a:r>
              <a:rPr dirty="0" sz="2600">
                <a:latin typeface="Calibri"/>
                <a:cs typeface="Calibri"/>
              </a:rPr>
              <a:t>sequence</a:t>
            </a:r>
            <a:r>
              <a:rPr dirty="0" sz="2600" spc="4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spread</a:t>
            </a:r>
            <a:r>
              <a:rPr dirty="0" sz="2600" spc="4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spectrum</a:t>
            </a:r>
            <a:r>
              <a:rPr dirty="0" sz="2600" spc="4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(HRDSSS)</a:t>
            </a:r>
            <a:r>
              <a:rPr dirty="0" sz="2600" spc="4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method</a:t>
            </a:r>
            <a:r>
              <a:rPr dirty="0" sz="2600" spc="4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459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signal generation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2.4-</a:t>
            </a:r>
            <a:r>
              <a:rPr dirty="0" sz="2600">
                <a:latin typeface="Calibri"/>
                <a:cs typeface="Calibri"/>
              </a:rPr>
              <a:t>GHz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ISM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band.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03094" y="1872437"/>
            <a:ext cx="6435090" cy="4229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21005" algn="l"/>
                <a:tab pos="1521460" algn="l"/>
                <a:tab pos="2005964" algn="l"/>
                <a:tab pos="2872105" algn="l"/>
                <a:tab pos="3955415" algn="l"/>
                <a:tab pos="4542155" algn="l"/>
                <a:tab pos="5194935" algn="l"/>
              </a:tabLst>
            </a:pPr>
            <a:r>
              <a:rPr dirty="0" sz="2600" spc="-25">
                <a:latin typeface="Calibri"/>
                <a:cs typeface="Calibri"/>
              </a:rPr>
              <a:t>is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similar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to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0">
                <a:latin typeface="Calibri"/>
                <a:cs typeface="Calibri"/>
              </a:rPr>
              <a:t>DSSS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except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for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the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encoding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426" y="2190114"/>
            <a:ext cx="6445885" cy="422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14094" algn="l"/>
                <a:tab pos="1421130" algn="l"/>
                <a:tab pos="2406650" algn="l"/>
                <a:tab pos="4725035" algn="l"/>
                <a:tab pos="5575935" algn="l"/>
              </a:tabLst>
            </a:pPr>
            <a:r>
              <a:rPr dirty="0" sz="2600" spc="-10">
                <a:latin typeface="Calibri"/>
                <a:cs typeface="Calibri"/>
              </a:rPr>
              <a:t>which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is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called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complementary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0">
                <a:latin typeface="Calibri"/>
                <a:cs typeface="Calibri"/>
              </a:rPr>
              <a:t>code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keying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4540" y="1872437"/>
            <a:ext cx="1458595" cy="1057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2810"/>
              </a:lnSpc>
              <a:spcBef>
                <a:spcPts val="105"/>
              </a:spcBef>
            </a:pPr>
            <a:r>
              <a:rPr dirty="0" sz="2600">
                <a:latin typeface="Arial MT"/>
                <a:cs typeface="Arial MT"/>
              </a:rPr>
              <a:t>–</a:t>
            </a:r>
            <a:r>
              <a:rPr dirty="0" sz="2600" spc="75">
                <a:latin typeface="Arial MT"/>
                <a:cs typeface="Arial MT"/>
              </a:rPr>
              <a:t> </a:t>
            </a:r>
            <a:r>
              <a:rPr dirty="0" sz="2600" spc="-10">
                <a:latin typeface="Calibri"/>
                <a:cs typeface="Calibri"/>
              </a:rPr>
              <a:t>HR-</a:t>
            </a:r>
            <a:r>
              <a:rPr dirty="0" sz="2600" spc="-20">
                <a:latin typeface="Calibri"/>
                <a:cs typeface="Calibri"/>
              </a:rPr>
              <a:t>DSSS</a:t>
            </a:r>
            <a:endParaRPr sz="2600">
              <a:latin typeface="Calibri"/>
              <a:cs typeface="Calibri"/>
            </a:endParaRPr>
          </a:p>
          <a:p>
            <a:pPr marL="299085" marR="9525">
              <a:lnSpc>
                <a:spcPts val="2500"/>
              </a:lnSpc>
              <a:spcBef>
                <a:spcPts val="290"/>
              </a:spcBef>
            </a:pPr>
            <a:r>
              <a:rPr dirty="0" sz="2600" spc="-10">
                <a:latin typeface="Calibri"/>
                <a:cs typeface="Calibri"/>
              </a:rPr>
              <a:t>method, (CCK).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4540" y="2903347"/>
            <a:ext cx="8074659" cy="2800350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algn="just" marL="299085" marR="5080" indent="-287020">
              <a:lnSpc>
                <a:spcPct val="80000"/>
              </a:lnSpc>
              <a:spcBef>
                <a:spcPts val="725"/>
              </a:spcBef>
              <a:buFont typeface="Arial MT"/>
              <a:buChar char="–"/>
              <a:tabLst>
                <a:tab pos="299085" algn="l"/>
              </a:tabLst>
            </a:pPr>
            <a:r>
              <a:rPr dirty="0" sz="2600">
                <a:latin typeface="Calibri"/>
                <a:cs typeface="Calibri"/>
              </a:rPr>
              <a:t>CCK</a:t>
            </a:r>
            <a:r>
              <a:rPr dirty="0" sz="2600" spc="10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encodes</a:t>
            </a:r>
            <a:r>
              <a:rPr dirty="0" sz="2600" spc="10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4</a:t>
            </a:r>
            <a:r>
              <a:rPr dirty="0" sz="2600" spc="10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or</a:t>
            </a:r>
            <a:r>
              <a:rPr dirty="0" sz="2600" spc="10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8</a:t>
            </a:r>
            <a:r>
              <a:rPr dirty="0" sz="2600" spc="10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bits</a:t>
            </a:r>
            <a:r>
              <a:rPr dirty="0" sz="2600" spc="10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11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one</a:t>
            </a:r>
            <a:r>
              <a:rPr dirty="0" sz="2600" spc="10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CCK</a:t>
            </a:r>
            <a:r>
              <a:rPr dirty="0" sz="2600" spc="10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symbol.</a:t>
            </a:r>
            <a:r>
              <a:rPr dirty="0" sz="2600" spc="11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100">
                <a:latin typeface="Calibri"/>
                <a:cs typeface="Calibri"/>
              </a:rPr>
              <a:t>  </a:t>
            </a:r>
            <a:r>
              <a:rPr dirty="0" sz="2600" spc="-25">
                <a:latin typeface="Calibri"/>
                <a:cs typeface="Calibri"/>
              </a:rPr>
              <a:t>be </a:t>
            </a:r>
            <a:r>
              <a:rPr dirty="0" sz="2600">
                <a:latin typeface="Calibri"/>
                <a:cs typeface="Calibri"/>
              </a:rPr>
              <a:t>backward</a:t>
            </a:r>
            <a:r>
              <a:rPr dirty="0" sz="2600" spc="5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compatible</a:t>
            </a:r>
            <a:r>
              <a:rPr dirty="0" sz="2600" spc="5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with</a:t>
            </a:r>
            <a:r>
              <a:rPr dirty="0" sz="2600" spc="5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DSSS,</a:t>
            </a:r>
            <a:r>
              <a:rPr dirty="0" sz="2600" spc="59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HR-</a:t>
            </a:r>
            <a:r>
              <a:rPr dirty="0" sz="2600">
                <a:latin typeface="Calibri"/>
                <a:cs typeface="Calibri"/>
              </a:rPr>
              <a:t>DSSS</a:t>
            </a:r>
            <a:r>
              <a:rPr dirty="0" sz="2600" spc="6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defines</a:t>
            </a:r>
            <a:r>
              <a:rPr dirty="0" sz="2600" spc="595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four </a:t>
            </a:r>
            <a:r>
              <a:rPr dirty="0" sz="2600">
                <a:latin typeface="Calibri"/>
                <a:cs typeface="Calibri"/>
              </a:rPr>
              <a:t>data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rates: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1,2,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5.5,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11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Mbps.</a:t>
            </a:r>
            <a:endParaRPr sz="2600">
              <a:latin typeface="Calibri"/>
              <a:cs typeface="Calibri"/>
            </a:endParaRPr>
          </a:p>
          <a:p>
            <a:pPr algn="just" marL="299085" marR="5715" indent="-287020">
              <a:lnSpc>
                <a:spcPts val="2500"/>
              </a:lnSpc>
              <a:spcBef>
                <a:spcPts val="600"/>
              </a:spcBef>
              <a:buFont typeface="Arial MT"/>
              <a:buChar char="–"/>
              <a:tabLst>
                <a:tab pos="299085" algn="l"/>
              </a:tabLst>
            </a:pP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60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first</a:t>
            </a:r>
            <a:r>
              <a:rPr dirty="0" sz="2600" spc="6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two</a:t>
            </a:r>
            <a:r>
              <a:rPr dirty="0" sz="2600" spc="6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use</a:t>
            </a:r>
            <a:r>
              <a:rPr dirty="0" sz="2600" spc="6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6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same</a:t>
            </a:r>
            <a:r>
              <a:rPr dirty="0" sz="2600" spc="6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modulation</a:t>
            </a:r>
            <a:r>
              <a:rPr dirty="0" sz="2600" spc="6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techniques</a:t>
            </a:r>
            <a:r>
              <a:rPr dirty="0" sz="2600" spc="61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as </a:t>
            </a:r>
            <a:r>
              <a:rPr dirty="0" sz="2600">
                <a:latin typeface="Calibri"/>
                <a:cs typeface="Calibri"/>
              </a:rPr>
              <a:t>DSSS.</a:t>
            </a:r>
            <a:r>
              <a:rPr dirty="0" sz="2600" spc="3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31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5.5-</a:t>
            </a:r>
            <a:r>
              <a:rPr dirty="0" sz="2600">
                <a:latin typeface="Calibri"/>
                <a:cs typeface="Calibri"/>
              </a:rPr>
              <a:t>Mbps</a:t>
            </a:r>
            <a:r>
              <a:rPr dirty="0" sz="2600" spc="3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version</a:t>
            </a:r>
            <a:r>
              <a:rPr dirty="0" sz="2600" spc="3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uses</a:t>
            </a:r>
            <a:r>
              <a:rPr dirty="0" sz="2600" spc="30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BPSK</a:t>
            </a:r>
            <a:r>
              <a:rPr dirty="0" sz="2600" spc="3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3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transmits</a:t>
            </a:r>
            <a:r>
              <a:rPr dirty="0" sz="2600" spc="32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at</a:t>
            </a:r>
            <a:endParaRPr sz="2600">
              <a:latin typeface="Calibri"/>
              <a:cs typeface="Calibri"/>
            </a:endParaRPr>
          </a:p>
          <a:p>
            <a:pPr algn="just" marL="299085">
              <a:lnSpc>
                <a:spcPts val="2510"/>
              </a:lnSpc>
            </a:pPr>
            <a:r>
              <a:rPr dirty="0" sz="2600">
                <a:latin typeface="Calibri"/>
                <a:cs typeface="Calibri"/>
              </a:rPr>
              <a:t>1.375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Mbaud/s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with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4-</a:t>
            </a:r>
            <a:r>
              <a:rPr dirty="0" sz="2600">
                <a:latin typeface="Calibri"/>
                <a:cs typeface="Calibri"/>
              </a:rPr>
              <a:t>bit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CCK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encoding.</a:t>
            </a:r>
            <a:endParaRPr sz="2600">
              <a:latin typeface="Calibri"/>
              <a:cs typeface="Calibri"/>
            </a:endParaRPr>
          </a:p>
          <a:p>
            <a:pPr algn="just" marL="299085" marR="6985" indent="-287020">
              <a:lnSpc>
                <a:spcPts val="2500"/>
              </a:lnSpc>
              <a:spcBef>
                <a:spcPts val="600"/>
              </a:spcBef>
            </a:pPr>
            <a:r>
              <a:rPr dirty="0" sz="2600">
                <a:latin typeface="Arial MT"/>
                <a:cs typeface="Arial MT"/>
              </a:rPr>
              <a:t>–</a:t>
            </a:r>
            <a:r>
              <a:rPr dirty="0" sz="2600" spc="50">
                <a:latin typeface="Arial MT"/>
                <a:cs typeface="Arial MT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35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11-</a:t>
            </a:r>
            <a:r>
              <a:rPr dirty="0" sz="2600">
                <a:latin typeface="Calibri"/>
                <a:cs typeface="Calibri"/>
              </a:rPr>
              <a:t>Mbps</a:t>
            </a:r>
            <a:r>
              <a:rPr dirty="0" sz="2600" spc="3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version</a:t>
            </a:r>
            <a:r>
              <a:rPr dirty="0" sz="2600" spc="3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uses</a:t>
            </a:r>
            <a:r>
              <a:rPr dirty="0" sz="2600" spc="3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QPSK</a:t>
            </a:r>
            <a:r>
              <a:rPr dirty="0" sz="2600" spc="3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3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transmits</a:t>
            </a:r>
            <a:r>
              <a:rPr dirty="0" sz="2600" spc="3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at</a:t>
            </a:r>
            <a:r>
              <a:rPr dirty="0" sz="2600" spc="35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1.375 </a:t>
            </a:r>
            <a:r>
              <a:rPr dirty="0" sz="2600">
                <a:latin typeface="Calibri"/>
                <a:cs typeface="Calibri"/>
              </a:rPr>
              <a:t>Mbps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with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8-</a:t>
            </a:r>
            <a:r>
              <a:rPr dirty="0" sz="2600">
                <a:latin typeface="Calibri"/>
                <a:cs typeface="Calibri"/>
              </a:rPr>
              <a:t>bit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CCK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encoding.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7340" y="540765"/>
            <a:ext cx="2499360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3200"/>
              <a:t>IEEE</a:t>
            </a:r>
            <a:r>
              <a:rPr dirty="0" sz="3200" spc="-55"/>
              <a:t> </a:t>
            </a:r>
            <a:r>
              <a:rPr dirty="0" sz="3200" spc="-10"/>
              <a:t>802.11g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764540" y="1116837"/>
            <a:ext cx="7842250" cy="22447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299085" marR="5080" indent="-287020">
              <a:lnSpc>
                <a:spcPct val="100000"/>
              </a:lnSpc>
              <a:spcBef>
                <a:spcPts val="95"/>
              </a:spcBef>
              <a:buFont typeface="Arial MT"/>
              <a:buChar char="–"/>
              <a:tabLst>
                <a:tab pos="299085" algn="l"/>
              </a:tabLst>
            </a:pPr>
            <a:r>
              <a:rPr dirty="0" sz="2800">
                <a:latin typeface="Calibri"/>
                <a:cs typeface="Calibri"/>
              </a:rPr>
              <a:t>This</a:t>
            </a:r>
            <a:r>
              <a:rPr dirty="0" sz="2800" spc="56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new</a:t>
            </a:r>
            <a:r>
              <a:rPr dirty="0" sz="2800" spc="57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specification</a:t>
            </a:r>
            <a:r>
              <a:rPr dirty="0" sz="2800" spc="56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defines</a:t>
            </a:r>
            <a:r>
              <a:rPr dirty="0" sz="2800" spc="56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forward</a:t>
            </a:r>
            <a:r>
              <a:rPr dirty="0" sz="2800" spc="570">
                <a:latin typeface="Calibri"/>
                <a:cs typeface="Calibri"/>
              </a:rPr>
              <a:t>  </a:t>
            </a:r>
            <a:r>
              <a:rPr dirty="0" sz="2800" spc="-10">
                <a:latin typeface="Calibri"/>
                <a:cs typeface="Calibri"/>
              </a:rPr>
              <a:t>error </a:t>
            </a:r>
            <a:r>
              <a:rPr dirty="0" sz="2800">
                <a:latin typeface="Calibri"/>
                <a:cs typeface="Calibri"/>
              </a:rPr>
              <a:t>correction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OFDM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using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2.4-</a:t>
            </a:r>
            <a:r>
              <a:rPr dirty="0" sz="2800">
                <a:latin typeface="Calibri"/>
                <a:cs typeface="Calibri"/>
              </a:rPr>
              <a:t>GHz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ISM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band.</a:t>
            </a:r>
            <a:endParaRPr sz="2800">
              <a:latin typeface="Calibri"/>
              <a:cs typeface="Calibri"/>
            </a:endParaRPr>
          </a:p>
          <a:p>
            <a:pPr algn="just" marL="299085" marR="5080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299085" algn="l"/>
              </a:tabLst>
            </a:pPr>
            <a:r>
              <a:rPr dirty="0" sz="2800">
                <a:latin typeface="Calibri"/>
                <a:cs typeface="Calibri"/>
              </a:rPr>
              <a:t>The modulation technique achieves a 22- or </a:t>
            </a:r>
            <a:r>
              <a:rPr dirty="0" sz="2800" spc="-25">
                <a:latin typeface="Calibri"/>
                <a:cs typeface="Calibri"/>
              </a:rPr>
              <a:t>54-</a:t>
            </a:r>
            <a:r>
              <a:rPr dirty="0" sz="2800">
                <a:latin typeface="Calibri"/>
                <a:cs typeface="Calibri"/>
              </a:rPr>
              <a:t>Mbps</a:t>
            </a:r>
            <a:r>
              <a:rPr dirty="0" sz="2800" spc="6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data</a:t>
            </a:r>
            <a:r>
              <a:rPr dirty="0" sz="2800" spc="6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rate.</a:t>
            </a:r>
            <a:r>
              <a:rPr dirty="0" sz="2800" spc="6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It</a:t>
            </a:r>
            <a:r>
              <a:rPr dirty="0" sz="2800" spc="5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6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backward</a:t>
            </a:r>
            <a:r>
              <a:rPr dirty="0" sz="2800" spc="6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compatible</a:t>
            </a:r>
            <a:r>
              <a:rPr dirty="0" sz="2800" spc="65">
                <a:latin typeface="Calibri"/>
                <a:cs typeface="Calibri"/>
              </a:rPr>
              <a:t>  </a:t>
            </a:r>
            <a:r>
              <a:rPr dirty="0" sz="2800" spc="-20">
                <a:latin typeface="Calibri"/>
                <a:cs typeface="Calibri"/>
              </a:rPr>
              <a:t>with </a:t>
            </a:r>
            <a:r>
              <a:rPr dirty="0" sz="2800">
                <a:latin typeface="Calibri"/>
                <a:cs typeface="Calibri"/>
              </a:rPr>
              <a:t>802.11b,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but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modulation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technique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OFDM.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2072" rIns="0" bIns="0" rtlCol="0" vert="horz">
            <a:spAutoFit/>
          </a:bodyPr>
          <a:lstStyle/>
          <a:p>
            <a:pPr marL="2853690">
              <a:lnSpc>
                <a:spcPct val="100000"/>
              </a:lnSpc>
              <a:spcBef>
                <a:spcPts val="100"/>
              </a:spcBef>
            </a:pPr>
            <a:r>
              <a:rPr dirty="0" sz="4400" spc="-35" b="1" i="0">
                <a:latin typeface="Calibri"/>
                <a:cs typeface="Calibri"/>
              </a:rPr>
              <a:t>BLUETOOTH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1145794"/>
            <a:ext cx="8608695" cy="4781550"/>
          </a:xfrm>
          <a:prstGeom prst="rect">
            <a:avLst/>
          </a:prstGeom>
        </p:spPr>
        <p:txBody>
          <a:bodyPr wrap="square" lIns="0" tIns="104140" rIns="0" bIns="0" rtlCol="0" vert="horz">
            <a:spAutoFit/>
          </a:bodyPr>
          <a:lstStyle/>
          <a:p>
            <a:pPr algn="just" marL="355600" marR="6350" indent="-342900">
              <a:lnSpc>
                <a:spcPct val="80000"/>
              </a:lnSpc>
              <a:spcBef>
                <a:spcPts val="82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000">
                <a:latin typeface="Calibri"/>
                <a:cs typeface="Calibri"/>
              </a:rPr>
              <a:t>Bluetooth</a:t>
            </a:r>
            <a:r>
              <a:rPr dirty="0" sz="3000" spc="34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is</a:t>
            </a:r>
            <a:r>
              <a:rPr dirty="0" sz="3000" spc="34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</a:t>
            </a:r>
            <a:r>
              <a:rPr dirty="0" sz="3000" spc="34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wireless</a:t>
            </a:r>
            <a:r>
              <a:rPr dirty="0" sz="3000" spc="34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LAN</a:t>
            </a:r>
            <a:r>
              <a:rPr dirty="0" sz="3000" spc="33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technology</a:t>
            </a:r>
            <a:r>
              <a:rPr dirty="0" sz="3000" spc="34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designed</a:t>
            </a:r>
            <a:r>
              <a:rPr dirty="0" sz="3000" spc="315">
                <a:latin typeface="Calibri"/>
                <a:cs typeface="Calibri"/>
              </a:rPr>
              <a:t> </a:t>
            </a:r>
            <a:r>
              <a:rPr dirty="0" sz="3000" spc="-25">
                <a:latin typeface="Calibri"/>
                <a:cs typeface="Calibri"/>
              </a:rPr>
              <a:t>to </a:t>
            </a:r>
            <a:r>
              <a:rPr dirty="0" sz="3000">
                <a:latin typeface="Calibri"/>
                <a:cs typeface="Calibri"/>
              </a:rPr>
              <a:t>connect</a:t>
            </a:r>
            <a:r>
              <a:rPr dirty="0" sz="3000" spc="405">
                <a:latin typeface="Calibri"/>
                <a:cs typeface="Calibri"/>
              </a:rPr>
              <a:t>  </a:t>
            </a:r>
            <a:r>
              <a:rPr dirty="0" sz="3000">
                <a:latin typeface="Calibri"/>
                <a:cs typeface="Calibri"/>
              </a:rPr>
              <a:t>devices</a:t>
            </a:r>
            <a:r>
              <a:rPr dirty="0" sz="3000" spc="409">
                <a:latin typeface="Calibri"/>
                <a:cs typeface="Calibri"/>
              </a:rPr>
              <a:t>  </a:t>
            </a:r>
            <a:r>
              <a:rPr dirty="0" sz="3000">
                <a:latin typeface="Calibri"/>
                <a:cs typeface="Calibri"/>
              </a:rPr>
              <a:t>of</a:t>
            </a:r>
            <a:r>
              <a:rPr dirty="0" sz="3000" spc="409">
                <a:latin typeface="Calibri"/>
                <a:cs typeface="Calibri"/>
              </a:rPr>
              <a:t>  </a:t>
            </a:r>
            <a:r>
              <a:rPr dirty="0" sz="3000">
                <a:latin typeface="Calibri"/>
                <a:cs typeface="Calibri"/>
              </a:rPr>
              <a:t>different</a:t>
            </a:r>
            <a:r>
              <a:rPr dirty="0" sz="3000" spc="415">
                <a:latin typeface="Calibri"/>
                <a:cs typeface="Calibri"/>
              </a:rPr>
              <a:t>  </a:t>
            </a:r>
            <a:r>
              <a:rPr dirty="0" sz="3000">
                <a:latin typeface="Calibri"/>
                <a:cs typeface="Calibri"/>
              </a:rPr>
              <a:t>functions</a:t>
            </a:r>
            <a:r>
              <a:rPr dirty="0" sz="3000" spc="420">
                <a:latin typeface="Calibri"/>
                <a:cs typeface="Calibri"/>
              </a:rPr>
              <a:t>  </a:t>
            </a:r>
            <a:r>
              <a:rPr dirty="0" sz="3000">
                <a:latin typeface="Calibri"/>
                <a:cs typeface="Calibri"/>
              </a:rPr>
              <a:t>such</a:t>
            </a:r>
            <a:r>
              <a:rPr dirty="0" sz="3000" spc="409">
                <a:latin typeface="Calibri"/>
                <a:cs typeface="Calibri"/>
              </a:rPr>
              <a:t>  </a:t>
            </a:r>
            <a:r>
              <a:rPr dirty="0" sz="3000" spc="-25">
                <a:latin typeface="Calibri"/>
                <a:cs typeface="Calibri"/>
              </a:rPr>
              <a:t>as </a:t>
            </a:r>
            <a:r>
              <a:rPr dirty="0" sz="3000">
                <a:latin typeface="Calibri"/>
                <a:cs typeface="Calibri"/>
              </a:rPr>
              <a:t>telephones,</a:t>
            </a:r>
            <a:r>
              <a:rPr dirty="0" sz="3000" spc="355">
                <a:latin typeface="Calibri"/>
                <a:cs typeface="Calibri"/>
              </a:rPr>
              <a:t>   </a:t>
            </a:r>
            <a:r>
              <a:rPr dirty="0" sz="3000">
                <a:latin typeface="Calibri"/>
                <a:cs typeface="Calibri"/>
              </a:rPr>
              <a:t>computers</a:t>
            </a:r>
            <a:r>
              <a:rPr dirty="0" sz="3000" spc="355">
                <a:latin typeface="Calibri"/>
                <a:cs typeface="Calibri"/>
              </a:rPr>
              <a:t>   </a:t>
            </a:r>
            <a:r>
              <a:rPr dirty="0" sz="3000">
                <a:latin typeface="Calibri"/>
                <a:cs typeface="Calibri"/>
              </a:rPr>
              <a:t>(desktop</a:t>
            </a:r>
            <a:r>
              <a:rPr dirty="0" sz="3000" spc="355">
                <a:latin typeface="Calibri"/>
                <a:cs typeface="Calibri"/>
              </a:rPr>
              <a:t>   </a:t>
            </a:r>
            <a:r>
              <a:rPr dirty="0" sz="3000">
                <a:latin typeface="Calibri"/>
                <a:cs typeface="Calibri"/>
              </a:rPr>
              <a:t>and</a:t>
            </a:r>
            <a:r>
              <a:rPr dirty="0" sz="3000" spc="360">
                <a:latin typeface="Calibri"/>
                <a:cs typeface="Calibri"/>
              </a:rPr>
              <a:t>   </a:t>
            </a:r>
            <a:r>
              <a:rPr dirty="0" sz="3000" spc="-10">
                <a:latin typeface="Calibri"/>
                <a:cs typeface="Calibri"/>
              </a:rPr>
              <a:t>laptop), cameras,</a:t>
            </a:r>
            <a:r>
              <a:rPr dirty="0" sz="3000" spc="-7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and</a:t>
            </a:r>
            <a:r>
              <a:rPr dirty="0" sz="3000" spc="-6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so</a:t>
            </a:r>
            <a:r>
              <a:rPr dirty="0" sz="3000" spc="-35">
                <a:latin typeface="Calibri"/>
                <a:cs typeface="Calibri"/>
              </a:rPr>
              <a:t> </a:t>
            </a:r>
            <a:r>
              <a:rPr dirty="0" sz="3000" spc="-25">
                <a:latin typeface="Calibri"/>
                <a:cs typeface="Calibri"/>
              </a:rPr>
              <a:t>on.</a:t>
            </a:r>
            <a:endParaRPr sz="3000">
              <a:latin typeface="Calibri"/>
              <a:cs typeface="Calibri"/>
            </a:endParaRPr>
          </a:p>
          <a:p>
            <a:pPr algn="just" marL="355600" marR="5080" indent="-342900">
              <a:lnSpc>
                <a:spcPct val="80000"/>
              </a:lnSpc>
              <a:spcBef>
                <a:spcPts val="72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000">
                <a:latin typeface="Calibri"/>
                <a:cs typeface="Calibri"/>
              </a:rPr>
              <a:t>A</a:t>
            </a:r>
            <a:r>
              <a:rPr dirty="0" sz="3000" spc="114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Bluetooth</a:t>
            </a:r>
            <a:r>
              <a:rPr dirty="0" sz="3000" spc="12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LAN</a:t>
            </a:r>
            <a:r>
              <a:rPr dirty="0" sz="3000" spc="114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is</a:t>
            </a:r>
            <a:r>
              <a:rPr dirty="0" sz="3000" spc="10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an</a:t>
            </a:r>
            <a:r>
              <a:rPr dirty="0" sz="3000" spc="11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ad</a:t>
            </a:r>
            <a:r>
              <a:rPr dirty="0" sz="3000" spc="11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hoc</a:t>
            </a:r>
            <a:r>
              <a:rPr dirty="0" sz="3000" spc="10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network,</a:t>
            </a:r>
            <a:r>
              <a:rPr dirty="0" sz="3000" spc="10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which</a:t>
            </a:r>
            <a:r>
              <a:rPr dirty="0" sz="3000" spc="110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means </a:t>
            </a:r>
            <a:r>
              <a:rPr dirty="0" sz="3000">
                <a:latin typeface="Calibri"/>
                <a:cs typeface="Calibri"/>
              </a:rPr>
              <a:t>that</a:t>
            </a:r>
            <a:r>
              <a:rPr dirty="0" sz="3000" spc="295">
                <a:latin typeface="Calibri"/>
                <a:cs typeface="Calibri"/>
              </a:rPr>
              <a:t>  </a:t>
            </a:r>
            <a:r>
              <a:rPr dirty="0" sz="3000">
                <a:latin typeface="Calibri"/>
                <a:cs typeface="Calibri"/>
              </a:rPr>
              <a:t>the</a:t>
            </a:r>
            <a:r>
              <a:rPr dirty="0" sz="3000" spc="300">
                <a:latin typeface="Calibri"/>
                <a:cs typeface="Calibri"/>
              </a:rPr>
              <a:t>  </a:t>
            </a:r>
            <a:r>
              <a:rPr dirty="0" sz="3000">
                <a:latin typeface="Calibri"/>
                <a:cs typeface="Calibri"/>
              </a:rPr>
              <a:t>network</a:t>
            </a:r>
            <a:r>
              <a:rPr dirty="0" sz="3000" spc="300">
                <a:latin typeface="Calibri"/>
                <a:cs typeface="Calibri"/>
              </a:rPr>
              <a:t>  </a:t>
            </a:r>
            <a:r>
              <a:rPr dirty="0" sz="3000">
                <a:latin typeface="Calibri"/>
                <a:cs typeface="Calibri"/>
              </a:rPr>
              <a:t>is</a:t>
            </a:r>
            <a:r>
              <a:rPr dirty="0" sz="3000" spc="300">
                <a:latin typeface="Calibri"/>
                <a:cs typeface="Calibri"/>
              </a:rPr>
              <a:t>  </a:t>
            </a:r>
            <a:r>
              <a:rPr dirty="0" sz="3000">
                <a:latin typeface="Calibri"/>
                <a:cs typeface="Calibri"/>
              </a:rPr>
              <a:t>formed</a:t>
            </a:r>
            <a:r>
              <a:rPr dirty="0" sz="3000" spc="300">
                <a:latin typeface="Calibri"/>
                <a:cs typeface="Calibri"/>
              </a:rPr>
              <a:t>  </a:t>
            </a:r>
            <a:r>
              <a:rPr dirty="0" sz="3000">
                <a:latin typeface="Calibri"/>
                <a:cs typeface="Calibri"/>
              </a:rPr>
              <a:t>spontaneously;</a:t>
            </a:r>
            <a:r>
              <a:rPr dirty="0" sz="3000" spc="305">
                <a:latin typeface="Calibri"/>
                <a:cs typeface="Calibri"/>
              </a:rPr>
              <a:t>  </a:t>
            </a:r>
            <a:r>
              <a:rPr dirty="0" sz="3000" spc="-25">
                <a:latin typeface="Calibri"/>
                <a:cs typeface="Calibri"/>
              </a:rPr>
              <a:t>the </a:t>
            </a:r>
            <a:r>
              <a:rPr dirty="0" sz="3000">
                <a:latin typeface="Calibri"/>
                <a:cs typeface="Calibri"/>
              </a:rPr>
              <a:t>devices,</a:t>
            </a:r>
            <a:r>
              <a:rPr dirty="0" sz="3000" spc="-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find</a:t>
            </a:r>
            <a:r>
              <a:rPr dirty="0" sz="3000" spc="-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each</a:t>
            </a:r>
            <a:r>
              <a:rPr dirty="0" sz="3000" spc="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other and</a:t>
            </a:r>
            <a:r>
              <a:rPr dirty="0" sz="3000" spc="-1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make</a:t>
            </a:r>
            <a:r>
              <a:rPr dirty="0" sz="3000" spc="-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</a:t>
            </a:r>
            <a:r>
              <a:rPr dirty="0" sz="3000" spc="-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network</a:t>
            </a:r>
            <a:r>
              <a:rPr dirty="0" sz="3000" spc="-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called</a:t>
            </a:r>
            <a:r>
              <a:rPr dirty="0" sz="3000" spc="-5">
                <a:latin typeface="Calibri"/>
                <a:cs typeface="Calibri"/>
              </a:rPr>
              <a:t> </a:t>
            </a:r>
            <a:r>
              <a:rPr dirty="0" sz="3000" spc="-50">
                <a:latin typeface="Calibri"/>
                <a:cs typeface="Calibri"/>
              </a:rPr>
              <a:t>a </a:t>
            </a:r>
            <a:r>
              <a:rPr dirty="0" sz="3000" spc="-10">
                <a:latin typeface="Calibri"/>
                <a:cs typeface="Calibri"/>
              </a:rPr>
              <a:t>piconet.</a:t>
            </a:r>
            <a:endParaRPr sz="3000">
              <a:latin typeface="Calibri"/>
              <a:cs typeface="Calibri"/>
            </a:endParaRPr>
          </a:p>
          <a:p>
            <a:pPr algn="just" marL="355600" marR="5080" indent="-342900">
              <a:lnSpc>
                <a:spcPct val="80000"/>
              </a:lnSpc>
              <a:spcBef>
                <a:spcPts val="72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000">
                <a:latin typeface="Calibri"/>
                <a:cs typeface="Calibri"/>
              </a:rPr>
              <a:t>A</a:t>
            </a:r>
            <a:r>
              <a:rPr dirty="0" sz="3000" spc="130">
                <a:latin typeface="Calibri"/>
                <a:cs typeface="Calibri"/>
              </a:rPr>
              <a:t>  </a:t>
            </a:r>
            <a:r>
              <a:rPr dirty="0" sz="3000">
                <a:latin typeface="Calibri"/>
                <a:cs typeface="Calibri"/>
              </a:rPr>
              <a:t>Bluetooth</a:t>
            </a:r>
            <a:r>
              <a:rPr dirty="0" sz="3000" spc="140">
                <a:latin typeface="Calibri"/>
                <a:cs typeface="Calibri"/>
              </a:rPr>
              <a:t>  </a:t>
            </a:r>
            <a:r>
              <a:rPr dirty="0" sz="3000">
                <a:latin typeface="Calibri"/>
                <a:cs typeface="Calibri"/>
              </a:rPr>
              <a:t>LAN</a:t>
            </a:r>
            <a:r>
              <a:rPr dirty="0" sz="3000" spc="130">
                <a:latin typeface="Calibri"/>
                <a:cs typeface="Calibri"/>
              </a:rPr>
              <a:t>  </a:t>
            </a:r>
            <a:r>
              <a:rPr dirty="0" sz="3000">
                <a:latin typeface="Calibri"/>
                <a:cs typeface="Calibri"/>
              </a:rPr>
              <a:t>can</a:t>
            </a:r>
            <a:r>
              <a:rPr dirty="0" sz="3000" spc="135">
                <a:latin typeface="Calibri"/>
                <a:cs typeface="Calibri"/>
              </a:rPr>
              <a:t>  </a:t>
            </a:r>
            <a:r>
              <a:rPr dirty="0" sz="3000">
                <a:latin typeface="Calibri"/>
                <a:cs typeface="Calibri"/>
              </a:rPr>
              <a:t>even</a:t>
            </a:r>
            <a:r>
              <a:rPr dirty="0" sz="3000" spc="135">
                <a:latin typeface="Calibri"/>
                <a:cs typeface="Calibri"/>
              </a:rPr>
              <a:t>  </a:t>
            </a:r>
            <a:r>
              <a:rPr dirty="0" sz="3000">
                <a:latin typeface="Calibri"/>
                <a:cs typeface="Calibri"/>
              </a:rPr>
              <a:t>be</a:t>
            </a:r>
            <a:r>
              <a:rPr dirty="0" sz="3000" spc="130">
                <a:latin typeface="Calibri"/>
                <a:cs typeface="Calibri"/>
              </a:rPr>
              <a:t>  </a:t>
            </a:r>
            <a:r>
              <a:rPr dirty="0" sz="3000">
                <a:latin typeface="Calibri"/>
                <a:cs typeface="Calibri"/>
              </a:rPr>
              <a:t>connected</a:t>
            </a:r>
            <a:r>
              <a:rPr dirty="0" sz="3000" spc="130">
                <a:latin typeface="Calibri"/>
                <a:cs typeface="Calibri"/>
              </a:rPr>
              <a:t>  </a:t>
            </a:r>
            <a:r>
              <a:rPr dirty="0" sz="3000">
                <a:latin typeface="Calibri"/>
                <a:cs typeface="Calibri"/>
              </a:rPr>
              <a:t>to</a:t>
            </a:r>
            <a:r>
              <a:rPr dirty="0" sz="3000" spc="135">
                <a:latin typeface="Calibri"/>
                <a:cs typeface="Calibri"/>
              </a:rPr>
              <a:t>  </a:t>
            </a:r>
            <a:r>
              <a:rPr dirty="0" sz="3000" spc="-25">
                <a:latin typeface="Calibri"/>
                <a:cs typeface="Calibri"/>
              </a:rPr>
              <a:t>the </a:t>
            </a:r>
            <a:r>
              <a:rPr dirty="0" sz="3000">
                <a:latin typeface="Calibri"/>
                <a:cs typeface="Calibri"/>
              </a:rPr>
              <a:t>Internet</a:t>
            </a:r>
            <a:r>
              <a:rPr dirty="0" sz="3000" spc="-6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if</a:t>
            </a:r>
            <a:r>
              <a:rPr dirty="0" sz="3000" spc="-3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one</a:t>
            </a:r>
            <a:r>
              <a:rPr dirty="0" sz="3000" spc="-5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of</a:t>
            </a:r>
            <a:r>
              <a:rPr dirty="0" sz="3000" spc="-3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the</a:t>
            </a:r>
            <a:r>
              <a:rPr dirty="0" sz="3000" spc="-5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gadgets</a:t>
            </a:r>
            <a:r>
              <a:rPr dirty="0" sz="3000" spc="-5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has</a:t>
            </a:r>
            <a:r>
              <a:rPr dirty="0" sz="3000" spc="-4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this</a:t>
            </a:r>
            <a:r>
              <a:rPr dirty="0" sz="3000" spc="-50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capability.</a:t>
            </a:r>
            <a:endParaRPr sz="3000">
              <a:latin typeface="Calibri"/>
              <a:cs typeface="Calibri"/>
            </a:endParaRPr>
          </a:p>
          <a:p>
            <a:pPr algn="just" marL="355600" marR="6985" indent="-342900">
              <a:lnSpc>
                <a:spcPct val="80000"/>
              </a:lnSpc>
              <a:spcBef>
                <a:spcPts val="72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000">
                <a:latin typeface="Calibri"/>
                <a:cs typeface="Calibri"/>
              </a:rPr>
              <a:t>A</a:t>
            </a:r>
            <a:r>
              <a:rPr dirty="0" sz="3000" spc="6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Bluetooth</a:t>
            </a:r>
            <a:r>
              <a:rPr dirty="0" sz="3000" spc="7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LAN,</a:t>
            </a:r>
            <a:r>
              <a:rPr dirty="0" sz="3000" spc="5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by</a:t>
            </a:r>
            <a:r>
              <a:rPr dirty="0" sz="3000" spc="6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nature,</a:t>
            </a:r>
            <a:r>
              <a:rPr dirty="0" sz="3000" spc="3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cannot</a:t>
            </a:r>
            <a:r>
              <a:rPr dirty="0" sz="3000" spc="5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be</a:t>
            </a:r>
            <a:r>
              <a:rPr dirty="0" sz="3000" spc="4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large.</a:t>
            </a:r>
            <a:r>
              <a:rPr dirty="0" sz="3000" spc="5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If</a:t>
            </a:r>
            <a:r>
              <a:rPr dirty="0" sz="3000" spc="3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there </a:t>
            </a:r>
            <a:r>
              <a:rPr dirty="0" sz="3000">
                <a:latin typeface="Calibri"/>
                <a:cs typeface="Calibri"/>
              </a:rPr>
              <a:t>are</a:t>
            </a:r>
            <a:r>
              <a:rPr dirty="0" sz="3000" spc="-7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many</a:t>
            </a:r>
            <a:r>
              <a:rPr dirty="0" sz="3000" spc="-5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gadgets</a:t>
            </a:r>
            <a:r>
              <a:rPr dirty="0" sz="3000" spc="-7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that</a:t>
            </a:r>
            <a:r>
              <a:rPr dirty="0" sz="3000" spc="-7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try</a:t>
            </a:r>
            <a:r>
              <a:rPr dirty="0" sz="3000" spc="-5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to</a:t>
            </a:r>
            <a:r>
              <a:rPr dirty="0" sz="3000" spc="-7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connect,</a:t>
            </a:r>
            <a:r>
              <a:rPr dirty="0" sz="3000" spc="-8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there</a:t>
            </a:r>
            <a:r>
              <a:rPr dirty="0" sz="3000" spc="-7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is</a:t>
            </a:r>
            <a:r>
              <a:rPr dirty="0" sz="3000" spc="-4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chaos.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974009"/>
            <a:ext cx="8073390" cy="4286250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9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3200" spc="-10">
                <a:latin typeface="Calibri"/>
                <a:cs typeface="Calibri"/>
              </a:rPr>
              <a:t>applications</a:t>
            </a:r>
            <a:endParaRPr sz="3200">
              <a:latin typeface="Calibri"/>
              <a:cs typeface="Calibri"/>
            </a:endParaRPr>
          </a:p>
          <a:p>
            <a:pPr algn="just" lvl="1" marL="755015" marR="5080" indent="-28575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800">
                <a:latin typeface="Calibri"/>
                <a:cs typeface="Calibri"/>
              </a:rPr>
              <a:t>Peripheral</a:t>
            </a:r>
            <a:r>
              <a:rPr dirty="0" sz="2800" spc="6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devices</a:t>
            </a:r>
            <a:r>
              <a:rPr dirty="0" sz="2800" spc="6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such</a:t>
            </a:r>
            <a:r>
              <a:rPr dirty="0" sz="2800" spc="6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as</a:t>
            </a:r>
            <a:r>
              <a:rPr dirty="0" sz="2800" spc="6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6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wireless</a:t>
            </a:r>
            <a:r>
              <a:rPr dirty="0" sz="2800" spc="6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mouse</a:t>
            </a:r>
            <a:r>
              <a:rPr dirty="0" sz="2800" spc="61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or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keyboard</a:t>
            </a:r>
            <a:r>
              <a:rPr dirty="0" sz="2800" spc="6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can</a:t>
            </a:r>
            <a:r>
              <a:rPr dirty="0" sz="2800" spc="6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communicate</a:t>
            </a:r>
            <a:r>
              <a:rPr dirty="0" sz="2800" spc="6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with</a:t>
            </a:r>
            <a:r>
              <a:rPr dirty="0" sz="2800" spc="6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65">
                <a:latin typeface="Calibri"/>
                <a:cs typeface="Calibri"/>
              </a:rPr>
              <a:t>  </a:t>
            </a:r>
            <a:r>
              <a:rPr dirty="0" sz="2800" spc="-10">
                <a:latin typeface="Calibri"/>
                <a:cs typeface="Calibri"/>
              </a:rPr>
              <a:t>computer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through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this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technology.</a:t>
            </a:r>
            <a:endParaRPr sz="2800">
              <a:latin typeface="Calibri"/>
              <a:cs typeface="Calibri"/>
            </a:endParaRPr>
          </a:p>
          <a:p>
            <a:pPr algn="just" lvl="1" marL="755015" marR="5715" indent="-28575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800">
                <a:latin typeface="Calibri"/>
                <a:cs typeface="Calibri"/>
              </a:rPr>
              <a:t>Monitoring</a:t>
            </a:r>
            <a:r>
              <a:rPr dirty="0" sz="2800" spc="1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devices</a:t>
            </a:r>
            <a:r>
              <a:rPr dirty="0" sz="2800" spc="1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can</a:t>
            </a:r>
            <a:r>
              <a:rPr dirty="0" sz="2800" spc="1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communicate</a:t>
            </a:r>
            <a:r>
              <a:rPr dirty="0" sz="2800" spc="1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with</a:t>
            </a:r>
            <a:r>
              <a:rPr dirty="0" sz="2800" spc="11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sensor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devices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small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health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care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center.</a:t>
            </a:r>
            <a:endParaRPr sz="2800">
              <a:latin typeface="Calibri"/>
              <a:cs typeface="Calibri"/>
            </a:endParaRPr>
          </a:p>
          <a:p>
            <a:pPr algn="just" lvl="1" marL="755015" marR="5715" indent="-28575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800">
                <a:latin typeface="Calibri"/>
                <a:cs typeface="Calibri"/>
              </a:rPr>
              <a:t>Home</a:t>
            </a:r>
            <a:r>
              <a:rPr dirty="0" sz="2800" spc="1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security</a:t>
            </a:r>
            <a:r>
              <a:rPr dirty="0" sz="2800" spc="1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devices</a:t>
            </a:r>
            <a:r>
              <a:rPr dirty="0" sz="2800" spc="1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can</a:t>
            </a:r>
            <a:r>
              <a:rPr dirty="0" sz="2800" spc="1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use</a:t>
            </a:r>
            <a:r>
              <a:rPr dirty="0" sz="2800" spc="1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this</a:t>
            </a:r>
            <a:r>
              <a:rPr dirty="0" sz="2800" spc="1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technology</a:t>
            </a:r>
            <a:r>
              <a:rPr dirty="0" sz="2800" spc="16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to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connect</a:t>
            </a:r>
            <a:r>
              <a:rPr dirty="0" sz="2800" spc="8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different</a:t>
            </a:r>
            <a:r>
              <a:rPr dirty="0" sz="2800" spc="7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sensors</a:t>
            </a:r>
            <a:r>
              <a:rPr dirty="0" sz="2800" spc="8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8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7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main</a:t>
            </a:r>
            <a:r>
              <a:rPr dirty="0" sz="2800" spc="85">
                <a:latin typeface="Calibri"/>
                <a:cs typeface="Calibri"/>
              </a:rPr>
              <a:t>  </a:t>
            </a:r>
            <a:r>
              <a:rPr dirty="0" sz="2800" spc="-10">
                <a:latin typeface="Calibri"/>
                <a:cs typeface="Calibri"/>
              </a:rPr>
              <a:t>security 	controller.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2072" rIns="0" bIns="0" rtlCol="0" vert="horz">
            <a:spAutoFit/>
          </a:bodyPr>
          <a:lstStyle/>
          <a:p>
            <a:pPr marL="2853690">
              <a:lnSpc>
                <a:spcPct val="100000"/>
              </a:lnSpc>
              <a:spcBef>
                <a:spcPts val="100"/>
              </a:spcBef>
            </a:pPr>
            <a:r>
              <a:rPr dirty="0" sz="4400" spc="-35" b="1" i="0">
                <a:latin typeface="Calibri"/>
                <a:cs typeface="Calibri"/>
              </a:rPr>
              <a:t>BLUETOOTH</a:t>
            </a:r>
            <a:endParaRPr sz="4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924813"/>
            <a:ext cx="8225790" cy="36099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354330" marR="5715" indent="-34163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800">
                <a:latin typeface="Calibri"/>
                <a:cs typeface="Calibri"/>
              </a:rPr>
              <a:t>Bluetooth</a:t>
            </a:r>
            <a:r>
              <a:rPr dirty="0" sz="2800" spc="4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was</a:t>
            </a:r>
            <a:r>
              <a:rPr dirty="0" sz="2800" spc="459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originally</a:t>
            </a:r>
            <a:r>
              <a:rPr dirty="0" sz="2800" spc="459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started</a:t>
            </a:r>
            <a:r>
              <a:rPr dirty="0" sz="2800" spc="4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as</a:t>
            </a:r>
            <a:r>
              <a:rPr dirty="0" sz="2800" spc="4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4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project</a:t>
            </a:r>
            <a:r>
              <a:rPr dirty="0" sz="2800" spc="4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by</a:t>
            </a:r>
            <a:r>
              <a:rPr dirty="0" sz="2800" spc="46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the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Ericsson</a:t>
            </a:r>
            <a:r>
              <a:rPr dirty="0" sz="2800" spc="48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Company.</a:t>
            </a:r>
            <a:r>
              <a:rPr dirty="0" sz="2800" spc="5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It</a:t>
            </a:r>
            <a:r>
              <a:rPr dirty="0" sz="2800" spc="4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5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named</a:t>
            </a:r>
            <a:r>
              <a:rPr dirty="0" sz="2800" spc="4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for</a:t>
            </a:r>
            <a:r>
              <a:rPr dirty="0" sz="2800" spc="4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Harald</a:t>
            </a:r>
            <a:r>
              <a:rPr dirty="0" sz="2800" spc="4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Blaatand,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king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Denmark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(940-</a:t>
            </a:r>
            <a:r>
              <a:rPr dirty="0" sz="2800" spc="-10">
                <a:latin typeface="Calibri"/>
                <a:cs typeface="Calibri"/>
              </a:rPr>
              <a:t>981).</a:t>
            </a:r>
            <a:endParaRPr sz="2800">
              <a:latin typeface="Calibri"/>
              <a:cs typeface="Calibri"/>
            </a:endParaRPr>
          </a:p>
          <a:p>
            <a:pPr algn="just" marL="354330" marR="5715" indent="-341630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800" spc="-55">
                <a:latin typeface="Calibri"/>
                <a:cs typeface="Calibri"/>
              </a:rPr>
              <a:t>Today,</a:t>
            </a:r>
            <a:r>
              <a:rPr dirty="0" sz="2800" spc="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Bluetooth</a:t>
            </a:r>
            <a:r>
              <a:rPr dirty="0" sz="2800" spc="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technology</a:t>
            </a:r>
            <a:r>
              <a:rPr dirty="0" sz="2800" spc="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implementation</a:t>
            </a:r>
            <a:r>
              <a:rPr dirty="0" sz="2800" spc="3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of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protocol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defined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by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IEEE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802.15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standard.</a:t>
            </a:r>
            <a:endParaRPr sz="2800">
              <a:latin typeface="Calibri"/>
              <a:cs typeface="Calibri"/>
            </a:endParaRPr>
          </a:p>
          <a:p>
            <a:pPr algn="just" marL="353695" marR="5080" indent="-340995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65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standard</a:t>
            </a:r>
            <a:r>
              <a:rPr dirty="0" sz="2800" spc="66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defines</a:t>
            </a:r>
            <a:r>
              <a:rPr dirty="0" sz="2800" spc="65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66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wireless</a:t>
            </a:r>
            <a:r>
              <a:rPr dirty="0" sz="2800" spc="650">
                <a:latin typeface="Calibri"/>
                <a:cs typeface="Calibri"/>
              </a:rPr>
              <a:t>  </a:t>
            </a:r>
            <a:r>
              <a:rPr dirty="0" sz="2800" spc="-20">
                <a:latin typeface="Calibri"/>
                <a:cs typeface="Calibri"/>
              </a:rPr>
              <a:t>personal-area </a:t>
            </a:r>
            <a:r>
              <a:rPr dirty="0" sz="2800" spc="-2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network</a:t>
            </a:r>
            <a:r>
              <a:rPr dirty="0" sz="2800" spc="1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(PAN)</a:t>
            </a:r>
            <a:r>
              <a:rPr dirty="0" sz="2800" spc="1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operable</a:t>
            </a:r>
            <a:r>
              <a:rPr dirty="0" sz="2800" spc="1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11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</a:t>
            </a:r>
            <a:r>
              <a:rPr dirty="0" sz="2800" spc="1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area</a:t>
            </a:r>
            <a:r>
              <a:rPr dirty="0" sz="2800" spc="1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1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size</a:t>
            </a:r>
            <a:r>
              <a:rPr dirty="0" sz="2800" spc="1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1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12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room </a:t>
            </a:r>
            <a:r>
              <a:rPr dirty="0" sz="2800" spc="-2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or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hall.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77469" y="140919"/>
            <a:ext cx="2323465" cy="5746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30" b="1" i="0">
                <a:latin typeface="Calibri"/>
                <a:cs typeface="Calibri"/>
              </a:rPr>
              <a:t>BLUETOOTH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924813"/>
            <a:ext cx="8225790" cy="36099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354330" marR="5715" indent="-34163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800">
                <a:latin typeface="Calibri"/>
                <a:cs typeface="Calibri"/>
              </a:rPr>
              <a:t>Bluetooth</a:t>
            </a:r>
            <a:r>
              <a:rPr dirty="0" sz="2800" spc="4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was</a:t>
            </a:r>
            <a:r>
              <a:rPr dirty="0" sz="2800" spc="459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originally</a:t>
            </a:r>
            <a:r>
              <a:rPr dirty="0" sz="2800" spc="459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started</a:t>
            </a:r>
            <a:r>
              <a:rPr dirty="0" sz="2800" spc="4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as</a:t>
            </a:r>
            <a:r>
              <a:rPr dirty="0" sz="2800" spc="4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4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project</a:t>
            </a:r>
            <a:r>
              <a:rPr dirty="0" sz="2800" spc="4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by</a:t>
            </a:r>
            <a:r>
              <a:rPr dirty="0" sz="2800" spc="46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the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Ericsson</a:t>
            </a:r>
            <a:r>
              <a:rPr dirty="0" sz="2800" spc="48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Company.</a:t>
            </a:r>
            <a:r>
              <a:rPr dirty="0" sz="2800" spc="5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It</a:t>
            </a:r>
            <a:r>
              <a:rPr dirty="0" sz="2800" spc="4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5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named</a:t>
            </a:r>
            <a:r>
              <a:rPr dirty="0" sz="2800" spc="4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for</a:t>
            </a:r>
            <a:r>
              <a:rPr dirty="0" sz="2800" spc="4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Harald</a:t>
            </a:r>
            <a:r>
              <a:rPr dirty="0" sz="2800" spc="4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Blaatand,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king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Denmark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(940-</a:t>
            </a:r>
            <a:r>
              <a:rPr dirty="0" sz="2800" spc="-10">
                <a:latin typeface="Calibri"/>
                <a:cs typeface="Calibri"/>
              </a:rPr>
              <a:t>981).</a:t>
            </a:r>
            <a:endParaRPr sz="2800">
              <a:latin typeface="Calibri"/>
              <a:cs typeface="Calibri"/>
            </a:endParaRPr>
          </a:p>
          <a:p>
            <a:pPr algn="just" marL="354330" marR="5715" indent="-341630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800" spc="-55">
                <a:latin typeface="Calibri"/>
                <a:cs typeface="Calibri"/>
              </a:rPr>
              <a:t>Today,</a:t>
            </a:r>
            <a:r>
              <a:rPr dirty="0" sz="2800" spc="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Bluetooth</a:t>
            </a:r>
            <a:r>
              <a:rPr dirty="0" sz="2800" spc="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technology</a:t>
            </a:r>
            <a:r>
              <a:rPr dirty="0" sz="2800" spc="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implementation</a:t>
            </a:r>
            <a:r>
              <a:rPr dirty="0" sz="2800" spc="3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of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protocol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defined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by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IEEE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802.15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standard.</a:t>
            </a:r>
            <a:endParaRPr sz="2800">
              <a:latin typeface="Calibri"/>
              <a:cs typeface="Calibri"/>
            </a:endParaRPr>
          </a:p>
          <a:p>
            <a:pPr algn="just" marL="353695" marR="5080" indent="-340995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65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standard</a:t>
            </a:r>
            <a:r>
              <a:rPr dirty="0" sz="2800" spc="66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defines</a:t>
            </a:r>
            <a:r>
              <a:rPr dirty="0" sz="2800" spc="65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66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wireless</a:t>
            </a:r>
            <a:r>
              <a:rPr dirty="0" sz="2800" spc="650">
                <a:latin typeface="Calibri"/>
                <a:cs typeface="Calibri"/>
              </a:rPr>
              <a:t>  </a:t>
            </a:r>
            <a:r>
              <a:rPr dirty="0" sz="2800" spc="-20">
                <a:latin typeface="Calibri"/>
                <a:cs typeface="Calibri"/>
              </a:rPr>
              <a:t>personal-area </a:t>
            </a:r>
            <a:r>
              <a:rPr dirty="0" sz="2800" spc="-2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network</a:t>
            </a:r>
            <a:r>
              <a:rPr dirty="0" sz="2800" spc="1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(PAN)</a:t>
            </a:r>
            <a:r>
              <a:rPr dirty="0" sz="2800" spc="1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operable</a:t>
            </a:r>
            <a:r>
              <a:rPr dirty="0" sz="2800" spc="1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11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</a:t>
            </a:r>
            <a:r>
              <a:rPr dirty="0" sz="2800" spc="1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area</a:t>
            </a:r>
            <a:r>
              <a:rPr dirty="0" sz="2800" spc="1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1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size</a:t>
            </a:r>
            <a:r>
              <a:rPr dirty="0" sz="2800" spc="1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1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12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room </a:t>
            </a:r>
            <a:r>
              <a:rPr dirty="0" sz="2800" spc="-2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or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hall.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77469" y="140919"/>
            <a:ext cx="2323465" cy="5746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30" b="1" i="0">
                <a:latin typeface="Calibri"/>
                <a:cs typeface="Calibri"/>
              </a:rPr>
              <a:t>BLUETOOTH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218021"/>
            <a:ext cx="8067040" cy="5965825"/>
          </a:xfrm>
          <a:prstGeom prst="rect">
            <a:avLst/>
          </a:prstGeom>
        </p:spPr>
        <p:txBody>
          <a:bodyPr wrap="square" lIns="0" tIns="107950" rIns="0" bIns="0" rtlCol="0" vert="horz">
            <a:spAutoFit/>
          </a:bodyPr>
          <a:lstStyle/>
          <a:p>
            <a:pPr marL="356235" indent="-343535">
              <a:lnSpc>
                <a:spcPct val="100000"/>
              </a:lnSpc>
              <a:spcBef>
                <a:spcPts val="850"/>
              </a:spcBef>
              <a:buFont typeface="Arial MT"/>
              <a:buChar char="•"/>
              <a:tabLst>
                <a:tab pos="356235" algn="l"/>
              </a:tabLst>
            </a:pPr>
            <a:r>
              <a:rPr dirty="0" sz="3000" spc="-10" b="1">
                <a:latin typeface="Calibri"/>
                <a:cs typeface="Calibri"/>
              </a:rPr>
              <a:t>Architecture</a:t>
            </a:r>
            <a:endParaRPr sz="3000">
              <a:latin typeface="Calibri"/>
              <a:cs typeface="Calibri"/>
            </a:endParaRPr>
          </a:p>
          <a:p>
            <a:pPr lvl="1" marL="756285" marR="104775" indent="-287020">
              <a:lnSpc>
                <a:spcPct val="100000"/>
              </a:lnSpc>
              <a:spcBef>
                <a:spcPts val="65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600">
                <a:latin typeface="Calibri"/>
                <a:cs typeface="Calibri"/>
              </a:rPr>
              <a:t>Bluetooth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defines</a:t>
            </a:r>
            <a:r>
              <a:rPr dirty="0" sz="2600" spc="-10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two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types</a:t>
            </a:r>
            <a:r>
              <a:rPr dirty="0" sz="2600" spc="-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networks: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0000"/>
                </a:solidFill>
                <a:latin typeface="Calibri"/>
                <a:cs typeface="Calibri"/>
              </a:rPr>
              <a:t>piconet</a:t>
            </a:r>
            <a:r>
              <a:rPr dirty="0" sz="2600" spc="-7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and </a:t>
            </a:r>
            <a:r>
              <a:rPr dirty="0" sz="2600" spc="-10">
                <a:solidFill>
                  <a:srgbClr val="FF0000"/>
                </a:solidFill>
                <a:latin typeface="Calibri"/>
                <a:cs typeface="Calibri"/>
              </a:rPr>
              <a:t>scatternet</a:t>
            </a:r>
            <a:endParaRPr sz="2600">
              <a:latin typeface="Calibri"/>
              <a:cs typeface="Calibri"/>
            </a:endParaRPr>
          </a:p>
          <a:p>
            <a:pPr marL="356235" indent="-343535">
              <a:lnSpc>
                <a:spcPct val="100000"/>
              </a:lnSpc>
              <a:spcBef>
                <a:spcPts val="690"/>
              </a:spcBef>
              <a:buFont typeface="Arial MT"/>
              <a:buChar char="•"/>
              <a:tabLst>
                <a:tab pos="356235" algn="l"/>
              </a:tabLst>
            </a:pPr>
            <a:r>
              <a:rPr dirty="0" sz="3000" spc="-10" i="1">
                <a:latin typeface="Calibri"/>
                <a:cs typeface="Calibri"/>
              </a:rPr>
              <a:t>Piconets</a:t>
            </a:r>
            <a:endParaRPr sz="3000">
              <a:latin typeface="Calibri"/>
              <a:cs typeface="Calibri"/>
            </a:endParaRPr>
          </a:p>
          <a:p>
            <a:pPr lvl="1" marL="756285" marR="595630" indent="-287020">
              <a:lnSpc>
                <a:spcPct val="100000"/>
              </a:lnSpc>
              <a:spcBef>
                <a:spcPts val="65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Bluetooth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network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called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piconet,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or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small </a:t>
            </a:r>
            <a:r>
              <a:rPr dirty="0" sz="2600" spc="-20">
                <a:latin typeface="Calibri"/>
                <a:cs typeface="Calibri"/>
              </a:rPr>
              <a:t>net.</a:t>
            </a:r>
            <a:endParaRPr sz="2600">
              <a:latin typeface="Calibri"/>
              <a:cs typeface="Calibri"/>
            </a:endParaRPr>
          </a:p>
          <a:p>
            <a:pPr lvl="1" marL="756285" marR="228600" indent="-287020">
              <a:lnSpc>
                <a:spcPct val="100000"/>
              </a:lnSpc>
              <a:spcBef>
                <a:spcPts val="62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piconet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can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have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up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eight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stations,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one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which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called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primary;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rest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are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called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secondaries.</a:t>
            </a:r>
            <a:endParaRPr sz="2600">
              <a:latin typeface="Calibri"/>
              <a:cs typeface="Calibri"/>
            </a:endParaRPr>
          </a:p>
          <a:p>
            <a:pPr lvl="1" marL="756285" marR="31750" indent="-287020">
              <a:lnSpc>
                <a:spcPct val="100000"/>
              </a:lnSpc>
              <a:spcBef>
                <a:spcPts val="62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600">
                <a:latin typeface="Calibri"/>
                <a:cs typeface="Calibri"/>
              </a:rPr>
              <a:t>All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secondary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stations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synchronize</a:t>
            </a:r>
            <a:r>
              <a:rPr dirty="0" sz="2600" spc="-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their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clocks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and </a:t>
            </a:r>
            <a:r>
              <a:rPr dirty="0" sz="2600">
                <a:latin typeface="Calibri"/>
                <a:cs typeface="Calibri"/>
              </a:rPr>
              <a:t>hopping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sequence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with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primary.</a:t>
            </a:r>
            <a:endParaRPr sz="2600">
              <a:latin typeface="Calibri"/>
              <a:cs typeface="Calibri"/>
            </a:endParaRPr>
          </a:p>
          <a:p>
            <a:pPr lvl="1" marL="755650" indent="-285750">
              <a:lnSpc>
                <a:spcPct val="100000"/>
              </a:lnSpc>
              <a:spcBef>
                <a:spcPts val="625"/>
              </a:spcBef>
              <a:buFont typeface="Arial MT"/>
              <a:buChar char="–"/>
              <a:tabLst>
                <a:tab pos="755650" algn="l"/>
              </a:tabLst>
            </a:pPr>
            <a:r>
              <a:rPr dirty="0" sz="2600">
                <a:latin typeface="Calibri"/>
                <a:cs typeface="Calibri"/>
              </a:rPr>
              <a:t>Note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that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piconet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can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have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only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one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primary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station.</a:t>
            </a:r>
            <a:endParaRPr sz="2600">
              <a:latin typeface="Calibri"/>
              <a:cs typeface="Calibri"/>
            </a:endParaRPr>
          </a:p>
          <a:p>
            <a:pPr lvl="1" marL="756285" marR="632460" indent="-287020">
              <a:lnSpc>
                <a:spcPct val="100000"/>
              </a:lnSpc>
              <a:spcBef>
                <a:spcPts val="62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communication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between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primary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the </a:t>
            </a:r>
            <a:r>
              <a:rPr dirty="0" sz="2600">
                <a:latin typeface="Calibri"/>
                <a:cs typeface="Calibri"/>
              </a:rPr>
              <a:t>secondary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can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be</a:t>
            </a:r>
            <a:r>
              <a:rPr dirty="0" sz="2600" spc="-10">
                <a:latin typeface="Calibri"/>
                <a:cs typeface="Calibri"/>
              </a:rPr>
              <a:t> one-</a:t>
            </a:r>
            <a:r>
              <a:rPr dirty="0" sz="2600" spc="-30">
                <a:latin typeface="Calibri"/>
                <a:cs typeface="Calibri"/>
              </a:rPr>
              <a:t>to-</a:t>
            </a:r>
            <a:r>
              <a:rPr dirty="0" sz="2600">
                <a:latin typeface="Calibri"/>
                <a:cs typeface="Calibri"/>
              </a:rPr>
              <a:t>one</a:t>
            </a:r>
            <a:r>
              <a:rPr dirty="0" sz="2600" spc="-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or</a:t>
            </a:r>
            <a:r>
              <a:rPr dirty="0" sz="2600" spc="1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one-</a:t>
            </a:r>
            <a:r>
              <a:rPr dirty="0" sz="2600" spc="-30">
                <a:latin typeface="Calibri"/>
                <a:cs typeface="Calibri"/>
              </a:rPr>
              <a:t>to-</a:t>
            </a:r>
            <a:r>
              <a:rPr dirty="0" sz="2600" spc="-10">
                <a:latin typeface="Calibri"/>
                <a:cs typeface="Calibri"/>
              </a:rPr>
              <a:t>many.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3050" rIns="0" bIns="0" rtlCol="0" vert="horz">
            <a:spAutoFit/>
          </a:bodyPr>
          <a:lstStyle/>
          <a:p>
            <a:pPr marL="342265">
              <a:lnSpc>
                <a:spcPct val="100000"/>
              </a:lnSpc>
              <a:spcBef>
                <a:spcPts val="100"/>
              </a:spcBef>
            </a:pPr>
            <a:r>
              <a:rPr dirty="0" sz="2900" spc="-10"/>
              <a:t>Piconet</a:t>
            </a:r>
            <a:endParaRPr sz="29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1590" y="840986"/>
            <a:ext cx="6103006" cy="324180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12140" y="4236846"/>
            <a:ext cx="8151495" cy="23964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469900" marR="6985" indent="-457834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469900" algn="l"/>
              </a:tabLst>
            </a:pPr>
            <a:r>
              <a:rPr dirty="0" sz="2600">
                <a:latin typeface="Times New Roman"/>
                <a:cs typeface="Times New Roman"/>
              </a:rPr>
              <a:t>Although</a:t>
            </a:r>
            <a:r>
              <a:rPr dirty="0" sz="2600" spc="175">
                <a:latin typeface="Times New Roman"/>
                <a:cs typeface="Times New Roman"/>
              </a:rPr>
              <a:t>  </a:t>
            </a:r>
            <a:r>
              <a:rPr dirty="0" sz="2600">
                <a:latin typeface="Times New Roman"/>
                <a:cs typeface="Times New Roman"/>
              </a:rPr>
              <a:t>a</a:t>
            </a:r>
            <a:r>
              <a:rPr dirty="0" sz="2600" spc="185">
                <a:latin typeface="Times New Roman"/>
                <a:cs typeface="Times New Roman"/>
              </a:rPr>
              <a:t>  </a:t>
            </a:r>
            <a:r>
              <a:rPr dirty="0" sz="2600">
                <a:latin typeface="Times New Roman"/>
                <a:cs typeface="Times New Roman"/>
              </a:rPr>
              <a:t>piconet</a:t>
            </a:r>
            <a:r>
              <a:rPr dirty="0" sz="2600" spc="180">
                <a:latin typeface="Times New Roman"/>
                <a:cs typeface="Times New Roman"/>
              </a:rPr>
              <a:t>  </a:t>
            </a:r>
            <a:r>
              <a:rPr dirty="0" sz="2600">
                <a:latin typeface="Times New Roman"/>
                <a:cs typeface="Times New Roman"/>
              </a:rPr>
              <a:t>can</a:t>
            </a:r>
            <a:r>
              <a:rPr dirty="0" sz="2600" spc="185">
                <a:latin typeface="Times New Roman"/>
                <a:cs typeface="Times New Roman"/>
              </a:rPr>
              <a:t>  </a:t>
            </a:r>
            <a:r>
              <a:rPr dirty="0" sz="2600">
                <a:latin typeface="Times New Roman"/>
                <a:cs typeface="Times New Roman"/>
              </a:rPr>
              <a:t>have</a:t>
            </a:r>
            <a:r>
              <a:rPr dirty="0" sz="2600" spc="180">
                <a:latin typeface="Times New Roman"/>
                <a:cs typeface="Times New Roman"/>
              </a:rPr>
              <a:t>  </a:t>
            </a:r>
            <a:r>
              <a:rPr dirty="0" sz="2600">
                <a:latin typeface="Times New Roman"/>
                <a:cs typeface="Times New Roman"/>
              </a:rPr>
              <a:t>a</a:t>
            </a:r>
            <a:r>
              <a:rPr dirty="0" sz="2600" spc="185">
                <a:latin typeface="Times New Roman"/>
                <a:cs typeface="Times New Roman"/>
              </a:rPr>
              <a:t>  </a:t>
            </a:r>
            <a:r>
              <a:rPr dirty="0" sz="2600">
                <a:latin typeface="Times New Roman"/>
                <a:cs typeface="Times New Roman"/>
              </a:rPr>
              <a:t>maximum</a:t>
            </a:r>
            <a:r>
              <a:rPr dirty="0" sz="2600" spc="190">
                <a:latin typeface="Times New Roman"/>
                <a:cs typeface="Times New Roman"/>
              </a:rPr>
              <a:t>  </a:t>
            </a:r>
            <a:r>
              <a:rPr dirty="0" sz="2600">
                <a:latin typeface="Times New Roman"/>
                <a:cs typeface="Times New Roman"/>
              </a:rPr>
              <a:t>of</a:t>
            </a:r>
            <a:r>
              <a:rPr dirty="0" sz="2600" spc="185">
                <a:latin typeface="Times New Roman"/>
                <a:cs typeface="Times New Roman"/>
              </a:rPr>
              <a:t>  </a:t>
            </a:r>
            <a:r>
              <a:rPr dirty="0" sz="2600" spc="-10">
                <a:latin typeface="Times New Roman"/>
                <a:cs typeface="Times New Roman"/>
              </a:rPr>
              <a:t>seven </a:t>
            </a:r>
            <a:r>
              <a:rPr dirty="0" sz="2600">
                <a:latin typeface="Times New Roman"/>
                <a:cs typeface="Times New Roman"/>
              </a:rPr>
              <a:t>secondaries,</a:t>
            </a:r>
            <a:r>
              <a:rPr dirty="0" sz="2600" spc="8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an</a:t>
            </a:r>
            <a:r>
              <a:rPr dirty="0" sz="2600" spc="10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additional</a:t>
            </a:r>
            <a:r>
              <a:rPr dirty="0" sz="2600" spc="8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eight</a:t>
            </a:r>
            <a:r>
              <a:rPr dirty="0" sz="2600" spc="9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secondaries</a:t>
            </a:r>
            <a:r>
              <a:rPr dirty="0" sz="2600" spc="9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can</a:t>
            </a:r>
            <a:r>
              <a:rPr dirty="0" sz="2600" spc="9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be</a:t>
            </a:r>
            <a:r>
              <a:rPr dirty="0" sz="2600" spc="8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in</a:t>
            </a:r>
            <a:r>
              <a:rPr dirty="0" sz="2600" spc="100">
                <a:latin typeface="Times New Roman"/>
                <a:cs typeface="Times New Roman"/>
              </a:rPr>
              <a:t> </a:t>
            </a:r>
            <a:r>
              <a:rPr dirty="0" sz="2600" spc="-25">
                <a:latin typeface="Times New Roman"/>
                <a:cs typeface="Times New Roman"/>
              </a:rPr>
              <a:t>the </a:t>
            </a:r>
            <a:r>
              <a:rPr dirty="0" sz="2600" i="1">
                <a:latin typeface="Times New Roman"/>
                <a:cs typeface="Times New Roman"/>
              </a:rPr>
              <a:t>parked</a:t>
            </a:r>
            <a:r>
              <a:rPr dirty="0" sz="2600" spc="-25" i="1">
                <a:latin typeface="Times New Roman"/>
                <a:cs typeface="Times New Roman"/>
              </a:rPr>
              <a:t> </a:t>
            </a:r>
            <a:r>
              <a:rPr dirty="0" sz="2600" spc="-10" i="1">
                <a:latin typeface="Times New Roman"/>
                <a:cs typeface="Times New Roman"/>
              </a:rPr>
              <a:t>state.</a:t>
            </a:r>
            <a:endParaRPr sz="2600">
              <a:latin typeface="Times New Roman"/>
              <a:cs typeface="Times New Roman"/>
            </a:endParaRPr>
          </a:p>
          <a:p>
            <a:pPr algn="just" marL="469900" marR="5080" indent="-457834">
              <a:lnSpc>
                <a:spcPct val="99100"/>
              </a:lnSpc>
              <a:spcBef>
                <a:spcPts val="35"/>
              </a:spcBef>
              <a:buFont typeface="Arial MT"/>
              <a:buChar char="•"/>
              <a:tabLst>
                <a:tab pos="469900" algn="l"/>
              </a:tabLst>
            </a:pPr>
            <a:r>
              <a:rPr dirty="0" sz="2600">
                <a:latin typeface="Times New Roman"/>
                <a:cs typeface="Times New Roman"/>
              </a:rPr>
              <a:t>A</a:t>
            </a:r>
            <a:r>
              <a:rPr dirty="0" sz="2600" spc="26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secondary</a:t>
            </a:r>
            <a:r>
              <a:rPr dirty="0" sz="2600" spc="42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in</a:t>
            </a:r>
            <a:r>
              <a:rPr dirty="0" sz="2600" spc="4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</a:t>
            </a:r>
            <a:r>
              <a:rPr dirty="0" sz="2600" spc="39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parked</a:t>
            </a:r>
            <a:r>
              <a:rPr dirty="0" sz="2600" spc="4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state</a:t>
            </a:r>
            <a:r>
              <a:rPr dirty="0" sz="2600" spc="40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is</a:t>
            </a:r>
            <a:r>
              <a:rPr dirty="0" sz="2600" spc="409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synchronized</a:t>
            </a:r>
            <a:r>
              <a:rPr dirty="0" sz="2600" spc="4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with</a:t>
            </a:r>
            <a:r>
              <a:rPr dirty="0" sz="2600" spc="415">
                <a:latin typeface="Times New Roman"/>
                <a:cs typeface="Times New Roman"/>
              </a:rPr>
              <a:t> </a:t>
            </a:r>
            <a:r>
              <a:rPr dirty="0" sz="2600" spc="-25">
                <a:latin typeface="Times New Roman"/>
                <a:cs typeface="Times New Roman"/>
              </a:rPr>
              <a:t>the </a:t>
            </a:r>
            <a:r>
              <a:rPr dirty="0" sz="2600">
                <a:latin typeface="Times New Roman"/>
                <a:cs typeface="Times New Roman"/>
              </a:rPr>
              <a:t>primary,</a:t>
            </a:r>
            <a:r>
              <a:rPr dirty="0" sz="2600" spc="7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but</a:t>
            </a:r>
            <a:r>
              <a:rPr dirty="0" sz="2600" spc="7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cannot</a:t>
            </a:r>
            <a:r>
              <a:rPr dirty="0" sz="2600" spc="8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take</a:t>
            </a:r>
            <a:r>
              <a:rPr dirty="0" sz="2600" spc="7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part</a:t>
            </a:r>
            <a:r>
              <a:rPr dirty="0" sz="2600" spc="7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in</a:t>
            </a:r>
            <a:r>
              <a:rPr dirty="0" sz="2600" spc="8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communication</a:t>
            </a:r>
            <a:r>
              <a:rPr dirty="0" sz="2600" spc="8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until</a:t>
            </a:r>
            <a:r>
              <a:rPr dirty="0" sz="2600" spc="8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it</a:t>
            </a:r>
            <a:r>
              <a:rPr dirty="0" sz="2600" spc="95">
                <a:latin typeface="Times New Roman"/>
                <a:cs typeface="Times New Roman"/>
              </a:rPr>
              <a:t> </a:t>
            </a:r>
            <a:r>
              <a:rPr dirty="0" sz="2600" spc="-25">
                <a:latin typeface="Times New Roman"/>
                <a:cs typeface="Times New Roman"/>
              </a:rPr>
              <a:t>is </a:t>
            </a:r>
            <a:r>
              <a:rPr dirty="0" sz="2600">
                <a:latin typeface="Times New Roman"/>
                <a:cs typeface="Times New Roman"/>
              </a:rPr>
              <a:t>moved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from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the</a:t>
            </a:r>
            <a:r>
              <a:rPr dirty="0" sz="2600" spc="-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parked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state.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939" y="723391"/>
            <a:ext cx="8759190" cy="28632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10">
                <a:latin typeface="Calibri"/>
                <a:cs typeface="Calibri"/>
              </a:rPr>
              <a:t>Piconet</a:t>
            </a:r>
            <a:endParaRPr sz="3200">
              <a:latin typeface="Calibri"/>
              <a:cs typeface="Calibri"/>
            </a:endParaRPr>
          </a:p>
          <a:p>
            <a:pPr algn="just" marL="506730" marR="5080" indent="-341630">
              <a:lnSpc>
                <a:spcPct val="99300"/>
              </a:lnSpc>
              <a:spcBef>
                <a:spcPts val="3240"/>
              </a:spcBef>
              <a:buFont typeface="Arial MT"/>
              <a:buChar char="•"/>
              <a:tabLst>
                <a:tab pos="508000" algn="l"/>
              </a:tabLst>
            </a:pPr>
            <a:r>
              <a:rPr dirty="0" sz="3200">
                <a:latin typeface="Times New Roman"/>
                <a:cs typeface="Times New Roman"/>
              </a:rPr>
              <a:t>Because</a:t>
            </a:r>
            <a:r>
              <a:rPr dirty="0" sz="3200" spc="10">
                <a:latin typeface="Times New Roman"/>
                <a:cs typeface="Times New Roman"/>
              </a:rPr>
              <a:t>  </a:t>
            </a:r>
            <a:r>
              <a:rPr dirty="0" sz="3200">
                <a:latin typeface="Times New Roman"/>
                <a:cs typeface="Times New Roman"/>
              </a:rPr>
              <a:t>only</a:t>
            </a:r>
            <a:r>
              <a:rPr dirty="0" sz="3200" spc="10">
                <a:latin typeface="Times New Roman"/>
                <a:cs typeface="Times New Roman"/>
              </a:rPr>
              <a:t>  </a:t>
            </a:r>
            <a:r>
              <a:rPr dirty="0" sz="3200">
                <a:latin typeface="Times New Roman"/>
                <a:cs typeface="Times New Roman"/>
              </a:rPr>
              <a:t>eight</a:t>
            </a:r>
            <a:r>
              <a:rPr dirty="0" sz="3200" spc="15">
                <a:latin typeface="Times New Roman"/>
                <a:cs typeface="Times New Roman"/>
              </a:rPr>
              <a:t>  </a:t>
            </a:r>
            <a:r>
              <a:rPr dirty="0" sz="3200">
                <a:latin typeface="Times New Roman"/>
                <a:cs typeface="Times New Roman"/>
              </a:rPr>
              <a:t>stations</a:t>
            </a:r>
            <a:r>
              <a:rPr dirty="0" sz="3200" spc="15">
                <a:latin typeface="Times New Roman"/>
                <a:cs typeface="Times New Roman"/>
              </a:rPr>
              <a:t>  </a:t>
            </a:r>
            <a:r>
              <a:rPr dirty="0" sz="3200">
                <a:latin typeface="Times New Roman"/>
                <a:cs typeface="Times New Roman"/>
              </a:rPr>
              <a:t>can</a:t>
            </a:r>
            <a:r>
              <a:rPr dirty="0" sz="3200" spc="5">
                <a:latin typeface="Times New Roman"/>
                <a:cs typeface="Times New Roman"/>
              </a:rPr>
              <a:t>  </a:t>
            </a:r>
            <a:r>
              <a:rPr dirty="0" sz="3200">
                <a:latin typeface="Times New Roman"/>
                <a:cs typeface="Times New Roman"/>
              </a:rPr>
              <a:t>be</a:t>
            </a:r>
            <a:r>
              <a:rPr dirty="0" sz="3200" spc="15">
                <a:latin typeface="Times New Roman"/>
                <a:cs typeface="Times New Roman"/>
              </a:rPr>
              <a:t>  </a:t>
            </a:r>
            <a:r>
              <a:rPr dirty="0" sz="3200">
                <a:latin typeface="Times New Roman"/>
                <a:cs typeface="Times New Roman"/>
              </a:rPr>
              <a:t>active</a:t>
            </a:r>
            <a:r>
              <a:rPr dirty="0" sz="3200" spc="5">
                <a:latin typeface="Times New Roman"/>
                <a:cs typeface="Times New Roman"/>
              </a:rPr>
              <a:t>  </a:t>
            </a:r>
            <a:r>
              <a:rPr dirty="0" sz="3200">
                <a:latin typeface="Times New Roman"/>
                <a:cs typeface="Times New Roman"/>
              </a:rPr>
              <a:t>in</a:t>
            </a:r>
            <a:r>
              <a:rPr dirty="0" sz="3200" spc="5">
                <a:latin typeface="Times New Roman"/>
                <a:cs typeface="Times New Roman"/>
              </a:rPr>
              <a:t>  </a:t>
            </a:r>
            <a:r>
              <a:rPr dirty="0" sz="3200" spc="-50">
                <a:latin typeface="Times New Roman"/>
                <a:cs typeface="Times New Roman"/>
              </a:rPr>
              <a:t>a </a:t>
            </a:r>
            <a:r>
              <a:rPr dirty="0" sz="3200" spc="-50">
                <a:latin typeface="Times New Roman"/>
                <a:cs typeface="Times New Roman"/>
              </a:rPr>
              <a:t>	</a:t>
            </a:r>
            <a:r>
              <a:rPr dirty="0" sz="3200">
                <a:latin typeface="Times New Roman"/>
                <a:cs typeface="Times New Roman"/>
              </a:rPr>
              <a:t>piconet,</a:t>
            </a:r>
            <a:r>
              <a:rPr dirty="0" sz="3200" spc="21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activating</a:t>
            </a:r>
            <a:r>
              <a:rPr dirty="0" sz="3200" spc="24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a</a:t>
            </a:r>
            <a:r>
              <a:rPr dirty="0" sz="3200" spc="229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station</a:t>
            </a:r>
            <a:r>
              <a:rPr dirty="0" sz="3200" spc="229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from</a:t>
            </a:r>
            <a:r>
              <a:rPr dirty="0" sz="3200" spc="22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the</a:t>
            </a:r>
            <a:r>
              <a:rPr dirty="0" sz="3200" spc="24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parked</a:t>
            </a:r>
            <a:r>
              <a:rPr dirty="0" sz="3200" spc="235">
                <a:latin typeface="Times New Roman"/>
                <a:cs typeface="Times New Roman"/>
              </a:rPr>
              <a:t> </a:t>
            </a:r>
            <a:r>
              <a:rPr dirty="0" sz="3200" spc="-10">
                <a:latin typeface="Times New Roman"/>
                <a:cs typeface="Times New Roman"/>
              </a:rPr>
              <a:t>state </a:t>
            </a:r>
            <a:r>
              <a:rPr dirty="0" sz="3200" spc="-10">
                <a:latin typeface="Times New Roman"/>
                <a:cs typeface="Times New Roman"/>
              </a:rPr>
              <a:t>	</a:t>
            </a:r>
            <a:r>
              <a:rPr dirty="0" sz="3200">
                <a:latin typeface="Times New Roman"/>
                <a:cs typeface="Times New Roman"/>
              </a:rPr>
              <a:t>means</a:t>
            </a:r>
            <a:r>
              <a:rPr dirty="0" sz="3200" spc="7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that</a:t>
            </a:r>
            <a:r>
              <a:rPr dirty="0" sz="3200" spc="5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an</a:t>
            </a:r>
            <a:r>
              <a:rPr dirty="0" sz="3200" spc="7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active</a:t>
            </a:r>
            <a:r>
              <a:rPr dirty="0" sz="3200" spc="7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station</a:t>
            </a:r>
            <a:r>
              <a:rPr dirty="0" sz="3200" spc="7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must</a:t>
            </a:r>
            <a:r>
              <a:rPr dirty="0" sz="3200" spc="6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go</a:t>
            </a:r>
            <a:r>
              <a:rPr dirty="0" sz="3200" spc="7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to</a:t>
            </a:r>
            <a:r>
              <a:rPr dirty="0" sz="3200" spc="7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the</a:t>
            </a:r>
            <a:r>
              <a:rPr dirty="0" sz="3200" spc="70">
                <a:latin typeface="Times New Roman"/>
                <a:cs typeface="Times New Roman"/>
              </a:rPr>
              <a:t> </a:t>
            </a:r>
            <a:r>
              <a:rPr dirty="0" sz="3200" spc="-10">
                <a:latin typeface="Times New Roman"/>
                <a:cs typeface="Times New Roman"/>
              </a:rPr>
              <a:t>parked 	state.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1140" y="287774"/>
            <a:ext cx="8684260" cy="4286885"/>
          </a:xfrm>
          <a:prstGeom prst="rect">
            <a:avLst/>
          </a:prstGeom>
        </p:spPr>
        <p:txBody>
          <a:bodyPr wrap="square" lIns="0" tIns="113664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3200" spc="-10" i="1">
                <a:latin typeface="Calibri"/>
                <a:cs typeface="Calibri"/>
              </a:rPr>
              <a:t>Scatternet</a:t>
            </a:r>
            <a:endParaRPr sz="3200">
              <a:latin typeface="Calibri"/>
              <a:cs typeface="Calibri"/>
            </a:endParaRPr>
          </a:p>
          <a:p>
            <a:pPr algn="just" lvl="1" marL="756285" marR="6350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800">
                <a:latin typeface="Calibri"/>
                <a:cs typeface="Calibri"/>
              </a:rPr>
              <a:t>Piconets</a:t>
            </a:r>
            <a:r>
              <a:rPr dirty="0" sz="2800" spc="5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can</a:t>
            </a:r>
            <a:r>
              <a:rPr dirty="0" sz="2800" spc="5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be</a:t>
            </a:r>
            <a:r>
              <a:rPr dirty="0" sz="2800" spc="5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combined</a:t>
            </a:r>
            <a:r>
              <a:rPr dirty="0" sz="2800" spc="5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5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form</a:t>
            </a:r>
            <a:r>
              <a:rPr dirty="0" sz="2800" spc="5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what</a:t>
            </a:r>
            <a:r>
              <a:rPr dirty="0" sz="2800" spc="5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5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called</a:t>
            </a:r>
            <a:r>
              <a:rPr dirty="0" sz="2800" spc="535">
                <a:latin typeface="Calibri"/>
                <a:cs typeface="Calibri"/>
              </a:rPr>
              <a:t> </a:t>
            </a:r>
            <a:r>
              <a:rPr dirty="0" sz="2800" spc="-50">
                <a:latin typeface="Calibri"/>
                <a:cs typeface="Calibri"/>
              </a:rPr>
              <a:t>a </a:t>
            </a:r>
            <a:r>
              <a:rPr dirty="0" sz="2800" spc="-10">
                <a:latin typeface="Calibri"/>
                <a:cs typeface="Calibri"/>
              </a:rPr>
              <a:t>scatternet.</a:t>
            </a:r>
            <a:endParaRPr sz="2800">
              <a:latin typeface="Calibri"/>
              <a:cs typeface="Calibri"/>
            </a:endParaRPr>
          </a:p>
          <a:p>
            <a:pPr algn="just" lvl="1" marL="755015" marR="5080" indent="-285750">
              <a:lnSpc>
                <a:spcPct val="100000"/>
              </a:lnSpc>
              <a:spcBef>
                <a:spcPts val="67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secondary</a:t>
            </a:r>
            <a:r>
              <a:rPr dirty="0" sz="2800" spc="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station</a:t>
            </a:r>
            <a:r>
              <a:rPr dirty="0" sz="2800" spc="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one</a:t>
            </a:r>
            <a:r>
              <a:rPr dirty="0" sz="2800" spc="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piconet</a:t>
            </a:r>
            <a:r>
              <a:rPr dirty="0" sz="2800" spc="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can</a:t>
            </a:r>
            <a:r>
              <a:rPr dirty="0" sz="2800" spc="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be</a:t>
            </a:r>
            <a:r>
              <a:rPr dirty="0" sz="2800" spc="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5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primary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1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another</a:t>
            </a:r>
            <a:r>
              <a:rPr dirty="0" sz="2800" spc="1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piconet.</a:t>
            </a:r>
            <a:r>
              <a:rPr dirty="0" sz="2800" spc="2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This</a:t>
            </a:r>
            <a:r>
              <a:rPr dirty="0" sz="2800" spc="2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station</a:t>
            </a:r>
            <a:r>
              <a:rPr dirty="0" sz="2800" spc="1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can</a:t>
            </a:r>
            <a:r>
              <a:rPr dirty="0" sz="2800" spc="1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receive</a:t>
            </a:r>
            <a:r>
              <a:rPr dirty="0" sz="2800" spc="20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messages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from</a:t>
            </a:r>
            <a:r>
              <a:rPr dirty="0" sz="2800" spc="2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20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primary</a:t>
            </a:r>
            <a:r>
              <a:rPr dirty="0" sz="2800" spc="2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2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1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first</a:t>
            </a:r>
            <a:r>
              <a:rPr dirty="0" sz="2800" spc="2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piconet</a:t>
            </a:r>
            <a:r>
              <a:rPr dirty="0" sz="2800" spc="20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(as</a:t>
            </a:r>
            <a:r>
              <a:rPr dirty="0" sz="2800" spc="20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21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secondary)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and,</a:t>
            </a:r>
            <a:r>
              <a:rPr dirty="0" sz="2800" spc="2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acting</a:t>
            </a:r>
            <a:r>
              <a:rPr dirty="0" sz="2800" spc="2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as</a:t>
            </a:r>
            <a:r>
              <a:rPr dirty="0" sz="2800" spc="2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2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primary,</a:t>
            </a:r>
            <a:r>
              <a:rPr dirty="0" sz="2800" spc="2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deliver</a:t>
            </a:r>
            <a:r>
              <a:rPr dirty="0" sz="2800" spc="2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them</a:t>
            </a:r>
            <a:r>
              <a:rPr dirty="0" sz="2800" spc="2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2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secondaries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second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piconet.</a:t>
            </a:r>
            <a:endParaRPr sz="2800">
              <a:latin typeface="Calibri"/>
              <a:cs typeface="Calibri"/>
            </a:endParaRPr>
          </a:p>
          <a:p>
            <a:pPr algn="just" lvl="1" marL="756285" indent="-286385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station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can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be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member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two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piconets.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1041" y="361007"/>
            <a:ext cx="7581937" cy="367431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83540" y="4202048"/>
            <a:ext cx="8529320" cy="25781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95"/>
              </a:spcBef>
            </a:pPr>
            <a:r>
              <a:rPr dirty="0" sz="2800" b="1" i="1">
                <a:latin typeface="Times New Roman"/>
                <a:cs typeface="Times New Roman"/>
              </a:rPr>
              <a:t>Bluetooth</a:t>
            </a:r>
            <a:r>
              <a:rPr dirty="0" sz="2800" spc="-120" b="1" i="1">
                <a:latin typeface="Times New Roman"/>
                <a:cs typeface="Times New Roman"/>
              </a:rPr>
              <a:t> </a:t>
            </a:r>
            <a:r>
              <a:rPr dirty="0" sz="2800" spc="-10" b="1" i="1">
                <a:latin typeface="Times New Roman"/>
                <a:cs typeface="Times New Roman"/>
              </a:rPr>
              <a:t>Devices</a:t>
            </a:r>
            <a:endParaRPr sz="2800">
              <a:latin typeface="Times New Roman"/>
              <a:cs typeface="Times New Roman"/>
            </a:endParaRPr>
          </a:p>
          <a:p>
            <a:pPr algn="just" marL="467995" marR="5080" indent="-455295">
              <a:lnSpc>
                <a:spcPct val="99600"/>
              </a:lnSpc>
              <a:spcBef>
                <a:spcPts val="15"/>
              </a:spcBef>
              <a:buFont typeface="Arial MT"/>
              <a:buChar char="•"/>
              <a:tabLst>
                <a:tab pos="469900" algn="l"/>
              </a:tabLst>
            </a:pPr>
            <a:r>
              <a:rPr dirty="0" sz="2800">
                <a:latin typeface="Times New Roman"/>
                <a:cs typeface="Times New Roman"/>
              </a:rPr>
              <a:t>A</a:t>
            </a:r>
            <a:r>
              <a:rPr dirty="0" sz="2800" spc="40">
                <a:latin typeface="Times New Roman"/>
                <a:cs typeface="Times New Roman"/>
              </a:rPr>
              <a:t>  </a:t>
            </a:r>
            <a:r>
              <a:rPr dirty="0" sz="2800">
                <a:latin typeface="Times New Roman"/>
                <a:cs typeface="Times New Roman"/>
              </a:rPr>
              <a:t>Bluetooth</a:t>
            </a:r>
            <a:r>
              <a:rPr dirty="0" sz="2800" spc="125">
                <a:latin typeface="Times New Roman"/>
                <a:cs typeface="Times New Roman"/>
              </a:rPr>
              <a:t>  </a:t>
            </a:r>
            <a:r>
              <a:rPr dirty="0" sz="2800">
                <a:latin typeface="Times New Roman"/>
                <a:cs typeface="Times New Roman"/>
              </a:rPr>
              <a:t>device</a:t>
            </a:r>
            <a:r>
              <a:rPr dirty="0" sz="2800" spc="105">
                <a:latin typeface="Times New Roman"/>
                <a:cs typeface="Times New Roman"/>
              </a:rPr>
              <a:t>  </a:t>
            </a:r>
            <a:r>
              <a:rPr dirty="0" sz="2800">
                <a:latin typeface="Times New Roman"/>
                <a:cs typeface="Times New Roman"/>
              </a:rPr>
              <a:t>has</a:t>
            </a:r>
            <a:r>
              <a:rPr dirty="0" sz="2800" spc="114">
                <a:latin typeface="Times New Roman"/>
                <a:cs typeface="Times New Roman"/>
              </a:rPr>
              <a:t>  </a:t>
            </a:r>
            <a:r>
              <a:rPr dirty="0" sz="2800">
                <a:latin typeface="Times New Roman"/>
                <a:cs typeface="Times New Roman"/>
              </a:rPr>
              <a:t>a</a:t>
            </a:r>
            <a:r>
              <a:rPr dirty="0" sz="2800" spc="120">
                <a:latin typeface="Times New Roman"/>
                <a:cs typeface="Times New Roman"/>
              </a:rPr>
              <a:t>  </a:t>
            </a:r>
            <a:r>
              <a:rPr dirty="0" sz="2800" spc="-10">
                <a:latin typeface="Times New Roman"/>
                <a:cs typeface="Times New Roman"/>
              </a:rPr>
              <a:t>built-</a:t>
            </a:r>
            <a:r>
              <a:rPr dirty="0" sz="2800">
                <a:latin typeface="Times New Roman"/>
                <a:cs typeface="Times New Roman"/>
              </a:rPr>
              <a:t>in</a:t>
            </a:r>
            <a:r>
              <a:rPr dirty="0" sz="2800" spc="120">
                <a:latin typeface="Times New Roman"/>
                <a:cs typeface="Times New Roman"/>
              </a:rPr>
              <a:t>  </a:t>
            </a:r>
            <a:r>
              <a:rPr dirty="0" sz="2800" spc="-10">
                <a:latin typeface="Times New Roman"/>
                <a:cs typeface="Times New Roman"/>
              </a:rPr>
              <a:t>short-</a:t>
            </a:r>
            <a:r>
              <a:rPr dirty="0" sz="2800">
                <a:latin typeface="Times New Roman"/>
                <a:cs typeface="Times New Roman"/>
              </a:rPr>
              <a:t>range</a:t>
            </a:r>
            <a:r>
              <a:rPr dirty="0" sz="2800" spc="110">
                <a:latin typeface="Times New Roman"/>
                <a:cs typeface="Times New Roman"/>
              </a:rPr>
              <a:t>  </a:t>
            </a:r>
            <a:r>
              <a:rPr dirty="0" sz="2800" spc="-10">
                <a:latin typeface="Times New Roman"/>
                <a:cs typeface="Times New Roman"/>
              </a:rPr>
              <a:t>radio </a:t>
            </a:r>
            <a:r>
              <a:rPr dirty="0" sz="2800" spc="-10">
                <a:latin typeface="Times New Roman"/>
                <a:cs typeface="Times New Roman"/>
              </a:rPr>
              <a:t>	</a:t>
            </a:r>
            <a:r>
              <a:rPr dirty="0" sz="2800">
                <a:latin typeface="Times New Roman"/>
                <a:cs typeface="Times New Roman"/>
              </a:rPr>
              <a:t>transmitter. The current data rate is 1 Mbps with a </a:t>
            </a:r>
            <a:r>
              <a:rPr dirty="0" sz="2800" spc="-20">
                <a:latin typeface="Times New Roman"/>
                <a:cs typeface="Times New Roman"/>
              </a:rPr>
              <a:t>2.4-</a:t>
            </a:r>
            <a:r>
              <a:rPr dirty="0" sz="2800" spc="-20">
                <a:latin typeface="Times New Roman"/>
                <a:cs typeface="Times New Roman"/>
              </a:rPr>
              <a:t>	</a:t>
            </a:r>
            <a:r>
              <a:rPr dirty="0" sz="2800">
                <a:latin typeface="Times New Roman"/>
                <a:cs typeface="Times New Roman"/>
              </a:rPr>
              <a:t>GHz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bandwidth.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This</a:t>
            </a:r>
            <a:r>
              <a:rPr dirty="0" sz="2800" spc="-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means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that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there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is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possibility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 spc="-25">
                <a:latin typeface="Times New Roman"/>
                <a:cs typeface="Times New Roman"/>
              </a:rPr>
              <a:t>of </a:t>
            </a:r>
            <a:r>
              <a:rPr dirty="0" sz="2800" spc="-25">
                <a:latin typeface="Times New Roman"/>
                <a:cs typeface="Times New Roman"/>
              </a:rPr>
              <a:t>	</a:t>
            </a:r>
            <a:r>
              <a:rPr dirty="0" sz="2800">
                <a:solidFill>
                  <a:srgbClr val="FF0000"/>
                </a:solidFill>
                <a:latin typeface="Times New Roman"/>
                <a:cs typeface="Times New Roman"/>
              </a:rPr>
              <a:t>interference</a:t>
            </a:r>
            <a:r>
              <a:rPr dirty="0" sz="2800" spc="24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between</a:t>
            </a:r>
            <a:r>
              <a:rPr dirty="0" sz="2800" spc="28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26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IEEE</a:t>
            </a:r>
            <a:r>
              <a:rPr dirty="0" sz="2800" spc="28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802.11b</a:t>
            </a:r>
            <a:r>
              <a:rPr dirty="0" sz="2800" spc="26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wireless</a:t>
            </a:r>
            <a:r>
              <a:rPr dirty="0" sz="2800" spc="280">
                <a:latin typeface="Times New Roman"/>
                <a:cs typeface="Times New Roman"/>
              </a:rPr>
              <a:t> </a:t>
            </a:r>
            <a:r>
              <a:rPr dirty="0" sz="2800" spc="-20">
                <a:latin typeface="Times New Roman"/>
                <a:cs typeface="Times New Roman"/>
              </a:rPr>
              <a:t>LANs </a:t>
            </a:r>
            <a:r>
              <a:rPr dirty="0" sz="2800" spc="-20">
                <a:latin typeface="Times New Roman"/>
                <a:cs typeface="Times New Roman"/>
              </a:rPr>
              <a:t>	</a:t>
            </a:r>
            <a:r>
              <a:rPr dirty="0" sz="2800">
                <a:latin typeface="Times New Roman"/>
                <a:cs typeface="Times New Roman"/>
              </a:rPr>
              <a:t>and Bluetooth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LANs.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211574"/>
            <a:ext cx="7720965" cy="1555115"/>
          </a:xfrm>
          <a:prstGeom prst="rect">
            <a:avLst/>
          </a:prstGeom>
        </p:spPr>
        <p:txBody>
          <a:bodyPr wrap="square" lIns="0" tIns="113664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3200" b="1">
                <a:latin typeface="Calibri"/>
                <a:cs typeface="Calibri"/>
              </a:rPr>
              <a:t>Bluetooth</a:t>
            </a:r>
            <a:r>
              <a:rPr dirty="0" sz="3200" spc="-130" b="1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Layers</a:t>
            </a:r>
            <a:endParaRPr sz="3200">
              <a:latin typeface="Calibri"/>
              <a:cs typeface="Calibri"/>
            </a:endParaRPr>
          </a:p>
          <a:p>
            <a:pPr marL="756285" marR="5080" indent="-287020">
              <a:lnSpc>
                <a:spcPct val="100000"/>
              </a:lnSpc>
              <a:spcBef>
                <a:spcPts val="690"/>
              </a:spcBef>
            </a:pPr>
            <a:r>
              <a:rPr dirty="0" sz="2800">
                <a:latin typeface="Arial MT"/>
                <a:cs typeface="Arial MT"/>
              </a:rPr>
              <a:t>–</a:t>
            </a:r>
            <a:r>
              <a:rPr dirty="0" sz="2800" spc="-160">
                <a:latin typeface="Arial MT"/>
                <a:cs typeface="Arial MT"/>
              </a:rPr>
              <a:t> </a:t>
            </a:r>
            <a:r>
              <a:rPr dirty="0" sz="2800" spc="-10">
                <a:latin typeface="Calibri"/>
                <a:cs typeface="Calibri"/>
              </a:rPr>
              <a:t>Bluetooth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uses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several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layers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that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do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not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exactly </a:t>
            </a:r>
            <a:r>
              <a:rPr dirty="0" sz="2800">
                <a:latin typeface="Calibri"/>
                <a:cs typeface="Calibri"/>
              </a:rPr>
              <a:t>match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those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Internet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models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7985" y="1977479"/>
            <a:ext cx="7568732" cy="3596853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287774"/>
            <a:ext cx="8074025" cy="4018915"/>
          </a:xfrm>
          <a:prstGeom prst="rect">
            <a:avLst/>
          </a:prstGeom>
        </p:spPr>
        <p:txBody>
          <a:bodyPr wrap="square" lIns="0" tIns="113664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3200" b="1">
                <a:latin typeface="Calibri"/>
                <a:cs typeface="Calibri"/>
              </a:rPr>
              <a:t>Radio</a:t>
            </a:r>
            <a:r>
              <a:rPr dirty="0" sz="3200" spc="-15" b="1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Layer</a:t>
            </a:r>
            <a:endParaRPr sz="3200">
              <a:latin typeface="Calibri"/>
              <a:cs typeface="Calibri"/>
            </a:endParaRPr>
          </a:p>
          <a:p>
            <a:pPr lvl="1" marL="755015" marR="8890" indent="-28575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285" algn="l"/>
                <a:tab pos="1536700" algn="l"/>
                <a:tab pos="2522855" algn="l"/>
                <a:tab pos="3467735" algn="l"/>
                <a:tab pos="3932554" algn="l"/>
                <a:tab pos="5264785" algn="l"/>
                <a:tab pos="7025640" algn="l"/>
                <a:tab pos="7574280" algn="l"/>
              </a:tabLst>
            </a:pPr>
            <a:r>
              <a:rPr dirty="0" sz="2800" spc="-25">
                <a:latin typeface="Calibri"/>
                <a:cs typeface="Calibri"/>
              </a:rPr>
              <a:t>The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0">
                <a:latin typeface="Calibri"/>
                <a:cs typeface="Calibri"/>
              </a:rPr>
              <a:t>radio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0">
                <a:latin typeface="Calibri"/>
                <a:cs typeface="Calibri"/>
              </a:rPr>
              <a:t>layer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5">
                <a:latin typeface="Calibri"/>
                <a:cs typeface="Calibri"/>
              </a:rPr>
              <a:t>is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roughly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equivalent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5">
                <a:latin typeface="Calibri"/>
                <a:cs typeface="Calibri"/>
              </a:rPr>
              <a:t>to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5">
                <a:latin typeface="Calibri"/>
                <a:cs typeface="Calibri"/>
              </a:rPr>
              <a:t>the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physical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layer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Internet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model.</a:t>
            </a:r>
            <a:endParaRPr sz="2800">
              <a:latin typeface="Calibri"/>
              <a:cs typeface="Calibri"/>
            </a:endParaRPr>
          </a:p>
          <a:p>
            <a:pPr lvl="1" marL="755015" marR="5080" indent="-285750">
              <a:lnSpc>
                <a:spcPct val="100000"/>
              </a:lnSpc>
              <a:spcBef>
                <a:spcPts val="67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800" spc="-10">
                <a:latin typeface="Calibri"/>
                <a:cs typeface="Calibri"/>
              </a:rPr>
              <a:t>Bluetooth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devices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are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low-</a:t>
            </a:r>
            <a:r>
              <a:rPr dirty="0" sz="2800">
                <a:latin typeface="Calibri"/>
                <a:cs typeface="Calibri"/>
              </a:rPr>
              <a:t>power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have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range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10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m.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3200" spc="-20" i="1">
                <a:latin typeface="Calibri"/>
                <a:cs typeface="Calibri"/>
              </a:rPr>
              <a:t>Band</a:t>
            </a:r>
            <a:endParaRPr sz="3200">
              <a:latin typeface="Calibri"/>
              <a:cs typeface="Calibri"/>
            </a:endParaRPr>
          </a:p>
          <a:p>
            <a:pPr lvl="1" marL="755015" marR="433705" indent="-28575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800" spc="-10">
                <a:latin typeface="Calibri"/>
                <a:cs typeface="Calibri"/>
              </a:rPr>
              <a:t>Bluetooth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uses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2.4-</a:t>
            </a:r>
            <a:r>
              <a:rPr dirty="0" sz="2800">
                <a:latin typeface="Calibri"/>
                <a:cs typeface="Calibri"/>
              </a:rPr>
              <a:t>GHz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ISM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band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divided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into </a:t>
            </a:r>
            <a:r>
              <a:rPr dirty="0" sz="2800" spc="-2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79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channels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1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MHz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each.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592574"/>
            <a:ext cx="8608695" cy="4713605"/>
          </a:xfrm>
          <a:prstGeom prst="rect">
            <a:avLst/>
          </a:prstGeom>
        </p:spPr>
        <p:txBody>
          <a:bodyPr wrap="square" lIns="0" tIns="113664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3200" spc="-20" i="1">
                <a:latin typeface="Calibri"/>
                <a:cs typeface="Calibri"/>
              </a:rPr>
              <a:t>FHSS</a:t>
            </a:r>
            <a:endParaRPr sz="3200">
              <a:latin typeface="Calibri"/>
              <a:cs typeface="Calibri"/>
            </a:endParaRPr>
          </a:p>
          <a:p>
            <a:pPr algn="just" lvl="1" marL="756285" marR="6350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800">
                <a:latin typeface="Calibri"/>
                <a:cs typeface="Calibri"/>
              </a:rPr>
              <a:t>Bluetooth</a:t>
            </a:r>
            <a:r>
              <a:rPr dirty="0" sz="2800" spc="360">
                <a:latin typeface="Calibri"/>
                <a:cs typeface="Calibri"/>
              </a:rPr>
              <a:t>   </a:t>
            </a:r>
            <a:r>
              <a:rPr dirty="0" sz="2800">
                <a:latin typeface="Calibri"/>
                <a:cs typeface="Calibri"/>
              </a:rPr>
              <a:t>uses</a:t>
            </a:r>
            <a:r>
              <a:rPr dirty="0" sz="2800" spc="365">
                <a:latin typeface="Calibri"/>
                <a:cs typeface="Calibri"/>
              </a:rPr>
              <a:t>  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360">
                <a:latin typeface="Calibri"/>
                <a:cs typeface="Calibri"/>
              </a:rPr>
              <a:t>   </a:t>
            </a:r>
            <a:r>
              <a:rPr dirty="0" sz="2800" spc="-20">
                <a:latin typeface="Calibri"/>
                <a:cs typeface="Calibri"/>
              </a:rPr>
              <a:t>frequency-</a:t>
            </a:r>
            <a:r>
              <a:rPr dirty="0" sz="2800">
                <a:latin typeface="Calibri"/>
                <a:cs typeface="Calibri"/>
              </a:rPr>
              <a:t>hopping</a:t>
            </a:r>
            <a:r>
              <a:rPr dirty="0" sz="2800" spc="370">
                <a:latin typeface="Calibri"/>
                <a:cs typeface="Calibri"/>
              </a:rPr>
              <a:t>   </a:t>
            </a:r>
            <a:r>
              <a:rPr dirty="0" sz="2800" spc="-10">
                <a:latin typeface="Calibri"/>
                <a:cs typeface="Calibri"/>
              </a:rPr>
              <a:t>spread </a:t>
            </a:r>
            <a:r>
              <a:rPr dirty="0" sz="2800">
                <a:latin typeface="Calibri"/>
                <a:cs typeface="Calibri"/>
              </a:rPr>
              <a:t>spectrum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(FHSS)</a:t>
            </a:r>
            <a:r>
              <a:rPr dirty="0" sz="2800" spc="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method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physical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layer to </a:t>
            </a:r>
            <a:r>
              <a:rPr dirty="0" sz="2800" spc="-10">
                <a:latin typeface="Calibri"/>
                <a:cs typeface="Calibri"/>
              </a:rPr>
              <a:t>avoid </a:t>
            </a:r>
            <a:r>
              <a:rPr dirty="0" sz="2800" spc="-20">
                <a:latin typeface="Calibri"/>
                <a:cs typeface="Calibri"/>
              </a:rPr>
              <a:t>interference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from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other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devices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or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other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networks.</a:t>
            </a:r>
            <a:endParaRPr sz="2800">
              <a:latin typeface="Calibri"/>
              <a:cs typeface="Calibri"/>
            </a:endParaRPr>
          </a:p>
          <a:p>
            <a:pPr algn="just" lvl="1" marL="756285" marR="5080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800">
                <a:latin typeface="Calibri"/>
                <a:cs typeface="Calibri"/>
              </a:rPr>
              <a:t>Bluetooth</a:t>
            </a:r>
            <a:r>
              <a:rPr dirty="0" sz="2800" spc="1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hops</a:t>
            </a:r>
            <a:r>
              <a:rPr dirty="0" sz="2800" spc="1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1600</a:t>
            </a:r>
            <a:r>
              <a:rPr dirty="0" sz="2800" spc="1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times</a:t>
            </a:r>
            <a:r>
              <a:rPr dirty="0" sz="2800" spc="1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per</a:t>
            </a:r>
            <a:r>
              <a:rPr dirty="0" sz="2800" spc="1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second,</a:t>
            </a:r>
            <a:r>
              <a:rPr dirty="0" sz="2800" spc="1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which</a:t>
            </a:r>
            <a:r>
              <a:rPr dirty="0" sz="2800" spc="13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means </a:t>
            </a:r>
            <a:r>
              <a:rPr dirty="0" sz="2800">
                <a:latin typeface="Calibri"/>
                <a:cs typeface="Calibri"/>
              </a:rPr>
              <a:t>that</a:t>
            </a:r>
            <a:r>
              <a:rPr dirty="0" sz="2800" spc="5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each</a:t>
            </a:r>
            <a:r>
              <a:rPr dirty="0" sz="2800" spc="5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device</a:t>
            </a:r>
            <a:r>
              <a:rPr dirty="0" sz="2800" spc="6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changes</a:t>
            </a:r>
            <a:r>
              <a:rPr dirty="0" sz="2800" spc="5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its</a:t>
            </a:r>
            <a:r>
              <a:rPr dirty="0" sz="2800" spc="6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modulation</a:t>
            </a:r>
            <a:r>
              <a:rPr dirty="0" sz="2800" spc="60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frequency </a:t>
            </a:r>
            <a:r>
              <a:rPr dirty="0" sz="2800">
                <a:latin typeface="Calibri"/>
                <a:cs typeface="Calibri"/>
              </a:rPr>
              <a:t>1600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times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per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second.</a:t>
            </a:r>
            <a:endParaRPr sz="2800">
              <a:latin typeface="Calibri"/>
              <a:cs typeface="Calibri"/>
            </a:endParaRPr>
          </a:p>
          <a:p>
            <a:pPr algn="just" lvl="1" marL="756285" marR="8255" indent="-287020">
              <a:lnSpc>
                <a:spcPct val="100000"/>
              </a:lnSpc>
              <a:spcBef>
                <a:spcPts val="67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2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device</a:t>
            </a:r>
            <a:r>
              <a:rPr dirty="0" sz="2800" spc="2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uses</a:t>
            </a:r>
            <a:r>
              <a:rPr dirty="0" sz="2800" spc="2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2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frequency</a:t>
            </a:r>
            <a:r>
              <a:rPr dirty="0" sz="2800" spc="20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for</a:t>
            </a:r>
            <a:r>
              <a:rPr dirty="0" sz="2800" spc="20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only</a:t>
            </a:r>
            <a:r>
              <a:rPr dirty="0" sz="2800" spc="2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625</a:t>
            </a:r>
            <a:r>
              <a:rPr dirty="0" sz="2800" spc="2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us</a:t>
            </a:r>
            <a:r>
              <a:rPr dirty="0" sz="2800" spc="2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(1/1600</a:t>
            </a:r>
            <a:r>
              <a:rPr dirty="0" sz="2800" spc="21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s) </a:t>
            </a:r>
            <a:r>
              <a:rPr dirty="0" sz="2800">
                <a:latin typeface="Calibri"/>
                <a:cs typeface="Calibri"/>
              </a:rPr>
              <a:t>before</a:t>
            </a:r>
            <a:r>
              <a:rPr dirty="0" sz="2800" spc="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it</a:t>
            </a:r>
            <a:r>
              <a:rPr dirty="0" sz="2800" spc="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hops</a:t>
            </a:r>
            <a:r>
              <a:rPr dirty="0" sz="2800" spc="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another</a:t>
            </a:r>
            <a:r>
              <a:rPr dirty="0" sz="2800" spc="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frequency;</a:t>
            </a:r>
            <a:r>
              <a:rPr dirty="0" sz="2800" spc="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dwell</a:t>
            </a:r>
            <a:r>
              <a:rPr dirty="0" sz="2800" spc="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time</a:t>
            </a:r>
            <a:r>
              <a:rPr dirty="0" sz="2800" spc="4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is </a:t>
            </a:r>
            <a:r>
              <a:rPr dirty="0" sz="2800">
                <a:latin typeface="Calibri"/>
                <a:cs typeface="Calibri"/>
              </a:rPr>
              <a:t>625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us.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1140" y="287774"/>
            <a:ext cx="4523105" cy="1128395"/>
          </a:xfrm>
          <a:prstGeom prst="rect">
            <a:avLst/>
          </a:prstGeom>
        </p:spPr>
        <p:txBody>
          <a:bodyPr wrap="square" lIns="0" tIns="113664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3200" spc="-10" i="1">
                <a:latin typeface="Calibri"/>
                <a:cs typeface="Calibri"/>
              </a:rPr>
              <a:t>Modulation</a:t>
            </a:r>
            <a:endParaRPr sz="32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690"/>
              </a:spcBef>
              <a:tabLst>
                <a:tab pos="1335405" algn="l"/>
                <a:tab pos="3009265" algn="l"/>
                <a:tab pos="3786504" algn="l"/>
                <a:tab pos="4339590" algn="l"/>
              </a:tabLst>
            </a:pPr>
            <a:r>
              <a:rPr dirty="0" sz="2800">
                <a:latin typeface="Arial MT"/>
                <a:cs typeface="Arial MT"/>
              </a:rPr>
              <a:t>–</a:t>
            </a:r>
            <a:r>
              <a:rPr dirty="0" sz="2800" spc="-95">
                <a:latin typeface="Arial MT"/>
                <a:cs typeface="Arial MT"/>
              </a:rPr>
              <a:t> </a:t>
            </a:r>
            <a:r>
              <a:rPr dirty="0" sz="2800" spc="-25">
                <a:latin typeface="Calibri"/>
                <a:cs typeface="Calibri"/>
              </a:rPr>
              <a:t>To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transform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0">
                <a:latin typeface="Calibri"/>
                <a:cs typeface="Calibri"/>
              </a:rPr>
              <a:t>bits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5">
                <a:latin typeface="Calibri"/>
                <a:cs typeface="Calibri"/>
              </a:rPr>
              <a:t>to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50">
                <a:latin typeface="Calibri"/>
                <a:cs typeface="Calibri"/>
              </a:rPr>
              <a:t>a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79034" y="964437"/>
            <a:ext cx="393509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75385" algn="l"/>
                <a:tab pos="2858135" algn="l"/>
                <a:tab pos="3751579" algn="l"/>
              </a:tabLst>
            </a:pPr>
            <a:r>
              <a:rPr dirty="0" sz="2800" spc="-10">
                <a:latin typeface="Calibri"/>
                <a:cs typeface="Calibri"/>
              </a:rPr>
              <a:t>signal,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Bluetooth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0">
                <a:latin typeface="Calibri"/>
                <a:cs typeface="Calibri"/>
              </a:rPr>
              <a:t>uses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50">
                <a:latin typeface="Calibri"/>
                <a:cs typeface="Calibri"/>
              </a:rPr>
              <a:t>a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8340" y="1391158"/>
            <a:ext cx="8227059" cy="4122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299085" marR="508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Calibri"/>
                <a:cs typeface="Calibri"/>
              </a:rPr>
              <a:t>sophisticated</a:t>
            </a:r>
            <a:r>
              <a:rPr dirty="0" sz="2800" spc="5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version</a:t>
            </a:r>
            <a:r>
              <a:rPr dirty="0" sz="2800" spc="5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6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PSK,</a:t>
            </a:r>
            <a:r>
              <a:rPr dirty="0" sz="2800" spc="5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called</a:t>
            </a:r>
            <a:r>
              <a:rPr dirty="0" sz="2800" spc="5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GPSK</a:t>
            </a:r>
            <a:r>
              <a:rPr dirty="0" sz="2800" spc="5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(PSK</a:t>
            </a:r>
            <a:r>
              <a:rPr dirty="0" sz="2800" spc="59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with </a:t>
            </a:r>
            <a:r>
              <a:rPr dirty="0" sz="2800">
                <a:latin typeface="Calibri"/>
                <a:cs typeface="Calibri"/>
              </a:rPr>
              <a:t>Gaussian</a:t>
            </a:r>
            <a:r>
              <a:rPr dirty="0" sz="2800" spc="30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bandwidth</a:t>
            </a:r>
            <a:r>
              <a:rPr dirty="0" sz="2800" spc="29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filtering;</a:t>
            </a:r>
            <a:r>
              <a:rPr dirty="0" sz="2800" spc="29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GPSK</a:t>
            </a:r>
            <a:r>
              <a:rPr dirty="0" sz="2800" spc="29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has</a:t>
            </a:r>
            <a:r>
              <a:rPr dirty="0" sz="2800" spc="29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295">
                <a:latin typeface="Calibri"/>
                <a:cs typeface="Calibri"/>
              </a:rPr>
              <a:t>  </a:t>
            </a:r>
            <a:r>
              <a:rPr dirty="0" sz="2800" spc="-10">
                <a:latin typeface="Calibri"/>
                <a:cs typeface="Calibri"/>
              </a:rPr>
              <a:t>carrier frequency.</a:t>
            </a:r>
            <a:endParaRPr sz="2800">
              <a:latin typeface="Calibri"/>
              <a:cs typeface="Calibri"/>
            </a:endParaRPr>
          </a:p>
          <a:p>
            <a:pPr algn="just" marL="299085" marR="5080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299085" algn="l"/>
              </a:tabLst>
            </a:pPr>
            <a:r>
              <a:rPr dirty="0" sz="2800">
                <a:latin typeface="Calibri"/>
                <a:cs typeface="Calibri"/>
              </a:rPr>
              <a:t>Bit</a:t>
            </a:r>
            <a:r>
              <a:rPr dirty="0" sz="2800" spc="4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1</a:t>
            </a:r>
            <a:r>
              <a:rPr dirty="0" sz="2800" spc="4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4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represented</a:t>
            </a:r>
            <a:r>
              <a:rPr dirty="0" sz="2800" spc="459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by</a:t>
            </a:r>
            <a:r>
              <a:rPr dirty="0" sz="2800" spc="43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4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frequency</a:t>
            </a:r>
            <a:r>
              <a:rPr dirty="0" sz="2800" spc="4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deviation</a:t>
            </a:r>
            <a:r>
              <a:rPr dirty="0" sz="2800" spc="44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above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24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carrier;</a:t>
            </a:r>
            <a:r>
              <a:rPr dirty="0" sz="2800" spc="26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bit</a:t>
            </a:r>
            <a:r>
              <a:rPr dirty="0" sz="2800" spc="27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0</a:t>
            </a:r>
            <a:r>
              <a:rPr dirty="0" sz="2800" spc="27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26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represented</a:t>
            </a:r>
            <a:r>
              <a:rPr dirty="0" sz="2800" spc="27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by</a:t>
            </a:r>
            <a:r>
              <a:rPr dirty="0" sz="2800" spc="26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270">
                <a:latin typeface="Calibri"/>
                <a:cs typeface="Calibri"/>
              </a:rPr>
              <a:t>  </a:t>
            </a:r>
            <a:r>
              <a:rPr dirty="0" sz="2800" spc="-10">
                <a:latin typeface="Calibri"/>
                <a:cs typeface="Calibri"/>
              </a:rPr>
              <a:t>frequency </a:t>
            </a:r>
            <a:r>
              <a:rPr dirty="0" sz="2800">
                <a:latin typeface="Calibri"/>
                <a:cs typeface="Calibri"/>
              </a:rPr>
              <a:t>deviation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below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carrier.</a:t>
            </a:r>
            <a:endParaRPr sz="2800">
              <a:latin typeface="Calibri"/>
              <a:cs typeface="Calibri"/>
            </a:endParaRPr>
          </a:p>
          <a:p>
            <a:pPr algn="just" marL="299085" marR="6350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299085" algn="l"/>
              </a:tabLst>
            </a:pP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2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frequencies,</a:t>
            </a:r>
            <a:r>
              <a:rPr dirty="0" sz="2800" spc="2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3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megahertz,</a:t>
            </a:r>
            <a:r>
              <a:rPr dirty="0" sz="2800" spc="2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are</a:t>
            </a:r>
            <a:r>
              <a:rPr dirty="0" sz="2800" spc="2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defined</a:t>
            </a:r>
            <a:r>
              <a:rPr dirty="0" sz="2800" spc="2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using</a:t>
            </a:r>
            <a:r>
              <a:rPr dirty="0" sz="2800" spc="29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the </a:t>
            </a:r>
            <a:r>
              <a:rPr dirty="0" sz="2800">
                <a:latin typeface="Calibri"/>
                <a:cs typeface="Calibri"/>
              </a:rPr>
              <a:t>formula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for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each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channel:</a:t>
            </a:r>
            <a:endParaRPr sz="2800">
              <a:latin typeface="Calibri"/>
              <a:cs typeface="Calibri"/>
            </a:endParaRPr>
          </a:p>
          <a:p>
            <a:pPr algn="just" marL="821690">
              <a:lnSpc>
                <a:spcPct val="100000"/>
              </a:lnSpc>
              <a:spcBef>
                <a:spcPts val="675"/>
              </a:spcBef>
            </a:pPr>
            <a:r>
              <a:rPr dirty="0" sz="2800" i="1">
                <a:latin typeface="Calibri"/>
                <a:cs typeface="Calibri"/>
              </a:rPr>
              <a:t>fc=2402+n</a:t>
            </a:r>
            <a:r>
              <a:rPr dirty="0" sz="2800" spc="465" i="1">
                <a:latin typeface="Calibri"/>
                <a:cs typeface="Calibri"/>
              </a:rPr>
              <a:t>     </a:t>
            </a:r>
            <a:r>
              <a:rPr dirty="0" sz="2800" i="1">
                <a:latin typeface="Calibri"/>
                <a:cs typeface="Calibri"/>
              </a:rPr>
              <a:t>where</a:t>
            </a:r>
            <a:r>
              <a:rPr dirty="0" sz="2800" spc="-10" i="1">
                <a:latin typeface="Calibri"/>
                <a:cs typeface="Calibri"/>
              </a:rPr>
              <a:t> </a:t>
            </a:r>
            <a:r>
              <a:rPr dirty="0" sz="2800" i="1">
                <a:latin typeface="Calibri"/>
                <a:cs typeface="Calibri"/>
              </a:rPr>
              <a:t>n</a:t>
            </a:r>
            <a:r>
              <a:rPr dirty="0" sz="2800" spc="-25" i="1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=0,1,2,3,</a:t>
            </a:r>
            <a:r>
              <a:rPr dirty="0" sz="2800" spc="2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...,78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7340" y="22351"/>
            <a:ext cx="2614295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i="0">
                <a:latin typeface="Calibri"/>
                <a:cs typeface="Calibri"/>
              </a:rPr>
              <a:t>Baseband</a:t>
            </a:r>
            <a:r>
              <a:rPr dirty="0" sz="3200" spc="-160" i="0">
                <a:latin typeface="Calibri"/>
                <a:cs typeface="Calibri"/>
              </a:rPr>
              <a:t> </a:t>
            </a:r>
            <a:r>
              <a:rPr dirty="0" sz="3200" spc="-20" i="0">
                <a:latin typeface="Calibri"/>
                <a:cs typeface="Calibri"/>
              </a:rPr>
              <a:t>Layer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642620"/>
            <a:ext cx="8608695" cy="5330190"/>
          </a:xfrm>
          <a:prstGeom prst="rect">
            <a:avLst/>
          </a:prstGeom>
        </p:spPr>
        <p:txBody>
          <a:bodyPr wrap="square" lIns="0" tIns="104140" rIns="0" bIns="0" rtlCol="0" vert="horz">
            <a:spAutoFit/>
          </a:bodyPr>
          <a:lstStyle/>
          <a:p>
            <a:pPr algn="just" marL="355600" marR="5715" indent="-342900">
              <a:lnSpc>
                <a:spcPct val="80000"/>
              </a:lnSpc>
              <a:spcBef>
                <a:spcPts val="82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000">
                <a:latin typeface="Calibri"/>
                <a:cs typeface="Calibri"/>
              </a:rPr>
              <a:t>The</a:t>
            </a:r>
            <a:r>
              <a:rPr dirty="0" sz="3000" spc="2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baseband</a:t>
            </a:r>
            <a:r>
              <a:rPr dirty="0" sz="3000" spc="3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layer</a:t>
            </a:r>
            <a:r>
              <a:rPr dirty="0" sz="3000" spc="4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is</a:t>
            </a:r>
            <a:r>
              <a:rPr dirty="0" sz="3000" spc="4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roughly</a:t>
            </a:r>
            <a:r>
              <a:rPr dirty="0" sz="3000" spc="4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equivalent</a:t>
            </a:r>
            <a:r>
              <a:rPr dirty="0" sz="3000" spc="3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to</a:t>
            </a:r>
            <a:r>
              <a:rPr dirty="0" sz="3000" spc="3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the</a:t>
            </a:r>
            <a:r>
              <a:rPr dirty="0" sz="3000" spc="20">
                <a:latin typeface="Calibri"/>
                <a:cs typeface="Calibri"/>
              </a:rPr>
              <a:t> </a:t>
            </a:r>
            <a:r>
              <a:rPr dirty="0" sz="3000" spc="-25">
                <a:latin typeface="Calibri"/>
                <a:cs typeface="Calibri"/>
              </a:rPr>
              <a:t>MAC </a:t>
            </a:r>
            <a:r>
              <a:rPr dirty="0" sz="3000">
                <a:latin typeface="Calibri"/>
                <a:cs typeface="Calibri"/>
              </a:rPr>
              <a:t>sublayer</a:t>
            </a:r>
            <a:r>
              <a:rPr dirty="0" sz="3000" spc="-6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in</a:t>
            </a:r>
            <a:r>
              <a:rPr dirty="0" sz="3000" spc="-6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LANs.</a:t>
            </a:r>
            <a:endParaRPr sz="3000">
              <a:latin typeface="Calibri"/>
              <a:cs typeface="Calibri"/>
            </a:endParaRPr>
          </a:p>
          <a:p>
            <a:pPr algn="just" marL="356235" indent="-343535">
              <a:lnSpc>
                <a:spcPct val="100000"/>
              </a:lnSpc>
              <a:buFont typeface="Arial MT"/>
              <a:buChar char="•"/>
              <a:tabLst>
                <a:tab pos="356235" algn="l"/>
              </a:tabLst>
            </a:pPr>
            <a:r>
              <a:rPr dirty="0" sz="3000">
                <a:latin typeface="Calibri"/>
                <a:cs typeface="Calibri"/>
              </a:rPr>
              <a:t>The</a:t>
            </a:r>
            <a:r>
              <a:rPr dirty="0" sz="3000" spc="-4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access</a:t>
            </a:r>
            <a:r>
              <a:rPr dirty="0" sz="3000" spc="-3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method</a:t>
            </a:r>
            <a:r>
              <a:rPr dirty="0" sz="3000" spc="-2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is</a:t>
            </a:r>
            <a:r>
              <a:rPr dirty="0" sz="3000" spc="-2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TDMA.</a:t>
            </a:r>
            <a:endParaRPr sz="3000">
              <a:latin typeface="Calibri"/>
              <a:cs typeface="Calibri"/>
            </a:endParaRPr>
          </a:p>
          <a:p>
            <a:pPr algn="just" marL="355600" marR="6350" indent="-342900">
              <a:lnSpc>
                <a:spcPts val="2880"/>
              </a:lnSpc>
              <a:spcBef>
                <a:spcPts val="69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000">
                <a:latin typeface="Calibri"/>
                <a:cs typeface="Calibri"/>
              </a:rPr>
              <a:t>The</a:t>
            </a:r>
            <a:r>
              <a:rPr dirty="0" sz="3000" spc="22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primary</a:t>
            </a:r>
            <a:r>
              <a:rPr dirty="0" sz="3000" spc="229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and</a:t>
            </a:r>
            <a:r>
              <a:rPr dirty="0" sz="3000" spc="229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secondary</a:t>
            </a:r>
            <a:r>
              <a:rPr dirty="0" sz="3000" spc="229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communicate</a:t>
            </a:r>
            <a:r>
              <a:rPr dirty="0" sz="3000" spc="22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with</a:t>
            </a:r>
            <a:r>
              <a:rPr dirty="0" sz="3000" spc="235">
                <a:latin typeface="Calibri"/>
                <a:cs typeface="Calibri"/>
              </a:rPr>
              <a:t> </a:t>
            </a:r>
            <a:r>
              <a:rPr dirty="0" sz="3000" spc="-20">
                <a:latin typeface="Calibri"/>
                <a:cs typeface="Calibri"/>
              </a:rPr>
              <a:t>each </a:t>
            </a:r>
            <a:r>
              <a:rPr dirty="0" sz="3000">
                <a:latin typeface="Calibri"/>
                <a:cs typeface="Calibri"/>
              </a:rPr>
              <a:t>other</a:t>
            </a:r>
            <a:r>
              <a:rPr dirty="0" sz="3000" spc="-2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using</a:t>
            </a:r>
            <a:r>
              <a:rPr dirty="0" sz="3000" spc="-1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time</a:t>
            </a:r>
            <a:r>
              <a:rPr dirty="0" sz="3000" spc="-2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slots.</a:t>
            </a:r>
            <a:endParaRPr sz="3000">
              <a:latin typeface="Calibri"/>
              <a:cs typeface="Calibri"/>
            </a:endParaRPr>
          </a:p>
          <a:p>
            <a:pPr algn="just" marL="355600" marR="5080" indent="-342900">
              <a:lnSpc>
                <a:spcPct val="80000"/>
              </a:lnSpc>
              <a:spcBef>
                <a:spcPts val="74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000">
                <a:latin typeface="Calibri"/>
                <a:cs typeface="Calibri"/>
              </a:rPr>
              <a:t>The</a:t>
            </a:r>
            <a:r>
              <a:rPr dirty="0" sz="3000" spc="29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length</a:t>
            </a:r>
            <a:r>
              <a:rPr dirty="0" sz="3000" spc="29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of</a:t>
            </a:r>
            <a:r>
              <a:rPr dirty="0" sz="3000" spc="29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</a:t>
            </a:r>
            <a:r>
              <a:rPr dirty="0" sz="3000" spc="29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time</a:t>
            </a:r>
            <a:r>
              <a:rPr dirty="0" sz="3000" spc="29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slot</a:t>
            </a:r>
            <a:r>
              <a:rPr dirty="0" sz="3000" spc="29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is</a:t>
            </a:r>
            <a:r>
              <a:rPr dirty="0" sz="3000" spc="31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exactly</a:t>
            </a:r>
            <a:r>
              <a:rPr dirty="0" sz="3000" spc="28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the</a:t>
            </a:r>
            <a:r>
              <a:rPr dirty="0" sz="3000" spc="29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same</a:t>
            </a:r>
            <a:r>
              <a:rPr dirty="0" sz="3000" spc="28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as</a:t>
            </a:r>
            <a:r>
              <a:rPr dirty="0" sz="3000" spc="290">
                <a:latin typeface="Calibri"/>
                <a:cs typeface="Calibri"/>
              </a:rPr>
              <a:t> </a:t>
            </a:r>
            <a:r>
              <a:rPr dirty="0" sz="3000" spc="-25">
                <a:latin typeface="Calibri"/>
                <a:cs typeface="Calibri"/>
              </a:rPr>
              <a:t>the </a:t>
            </a:r>
            <a:r>
              <a:rPr dirty="0" sz="3000">
                <a:latin typeface="Calibri"/>
                <a:cs typeface="Calibri"/>
              </a:rPr>
              <a:t>dwell</a:t>
            </a:r>
            <a:r>
              <a:rPr dirty="0" sz="3000" spc="-5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time,</a:t>
            </a:r>
            <a:r>
              <a:rPr dirty="0" sz="3000" spc="-6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625</a:t>
            </a:r>
            <a:r>
              <a:rPr dirty="0" sz="3000" spc="-40">
                <a:latin typeface="Calibri"/>
                <a:cs typeface="Calibri"/>
              </a:rPr>
              <a:t> </a:t>
            </a:r>
            <a:r>
              <a:rPr dirty="0" sz="3000" spc="-25">
                <a:latin typeface="Calibri"/>
                <a:cs typeface="Calibri"/>
              </a:rPr>
              <a:t>us.</a:t>
            </a:r>
            <a:endParaRPr sz="3000">
              <a:latin typeface="Calibri"/>
              <a:cs typeface="Calibri"/>
            </a:endParaRPr>
          </a:p>
          <a:p>
            <a:pPr algn="just" marL="355600" marR="6985" indent="-342900">
              <a:lnSpc>
                <a:spcPct val="80000"/>
              </a:lnSpc>
              <a:spcBef>
                <a:spcPts val="72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000">
                <a:latin typeface="Calibri"/>
                <a:cs typeface="Calibri"/>
              </a:rPr>
              <a:t>This</a:t>
            </a:r>
            <a:r>
              <a:rPr dirty="0" sz="3000" spc="22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means</a:t>
            </a:r>
            <a:r>
              <a:rPr dirty="0" sz="3000" spc="24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that</a:t>
            </a:r>
            <a:r>
              <a:rPr dirty="0" sz="3000" spc="24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during</a:t>
            </a:r>
            <a:r>
              <a:rPr dirty="0" sz="3000" spc="23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the</a:t>
            </a:r>
            <a:r>
              <a:rPr dirty="0" sz="3000" spc="21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time</a:t>
            </a:r>
            <a:r>
              <a:rPr dirty="0" sz="3000" spc="22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that</a:t>
            </a:r>
            <a:r>
              <a:rPr dirty="0" sz="3000" spc="22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one</a:t>
            </a:r>
            <a:r>
              <a:rPr dirty="0" sz="3000" spc="23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frequency </a:t>
            </a:r>
            <a:r>
              <a:rPr dirty="0" sz="3000">
                <a:latin typeface="Calibri"/>
                <a:cs typeface="Calibri"/>
              </a:rPr>
              <a:t>is</a:t>
            </a:r>
            <a:r>
              <a:rPr dirty="0" sz="3000" spc="17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used,</a:t>
            </a:r>
            <a:r>
              <a:rPr dirty="0" sz="3000" spc="16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</a:t>
            </a:r>
            <a:r>
              <a:rPr dirty="0" sz="3000" spc="15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sender</a:t>
            </a:r>
            <a:r>
              <a:rPr dirty="0" sz="3000" spc="15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sends</a:t>
            </a:r>
            <a:r>
              <a:rPr dirty="0" sz="3000" spc="16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</a:t>
            </a:r>
            <a:r>
              <a:rPr dirty="0" sz="3000" spc="15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frame</a:t>
            </a:r>
            <a:r>
              <a:rPr dirty="0" sz="3000" spc="15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to</a:t>
            </a:r>
            <a:r>
              <a:rPr dirty="0" sz="3000" spc="14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</a:t>
            </a:r>
            <a:r>
              <a:rPr dirty="0" sz="3000" spc="14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secondary,</a:t>
            </a:r>
            <a:r>
              <a:rPr dirty="0" sz="3000" spc="16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or</a:t>
            </a:r>
            <a:r>
              <a:rPr dirty="0" sz="3000" spc="160">
                <a:latin typeface="Calibri"/>
                <a:cs typeface="Calibri"/>
              </a:rPr>
              <a:t> </a:t>
            </a:r>
            <a:r>
              <a:rPr dirty="0" sz="3000" spc="-50">
                <a:latin typeface="Calibri"/>
                <a:cs typeface="Calibri"/>
              </a:rPr>
              <a:t>a </a:t>
            </a:r>
            <a:r>
              <a:rPr dirty="0" sz="3000">
                <a:latin typeface="Calibri"/>
                <a:cs typeface="Calibri"/>
              </a:rPr>
              <a:t>secondary</a:t>
            </a:r>
            <a:r>
              <a:rPr dirty="0" sz="3000" spc="-5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sends</a:t>
            </a:r>
            <a:r>
              <a:rPr dirty="0" sz="3000" spc="-4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</a:t>
            </a:r>
            <a:r>
              <a:rPr dirty="0" sz="3000" spc="-5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frame</a:t>
            </a:r>
            <a:r>
              <a:rPr dirty="0" sz="3000" spc="-5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to</a:t>
            </a:r>
            <a:r>
              <a:rPr dirty="0" sz="3000" spc="-5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the</a:t>
            </a:r>
            <a:r>
              <a:rPr dirty="0" sz="3000" spc="-7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primary.</a:t>
            </a:r>
            <a:endParaRPr sz="3000">
              <a:latin typeface="Calibri"/>
              <a:cs typeface="Calibri"/>
            </a:endParaRPr>
          </a:p>
          <a:p>
            <a:pPr algn="just" marL="355600" marR="5080" indent="-342900">
              <a:lnSpc>
                <a:spcPts val="2880"/>
              </a:lnSpc>
              <a:spcBef>
                <a:spcPts val="69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000">
                <a:latin typeface="Calibri"/>
                <a:cs typeface="Calibri"/>
              </a:rPr>
              <a:t>Note</a:t>
            </a:r>
            <a:r>
              <a:rPr dirty="0" sz="3000" spc="55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that</a:t>
            </a:r>
            <a:r>
              <a:rPr dirty="0" sz="3000" spc="55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the</a:t>
            </a:r>
            <a:r>
              <a:rPr dirty="0" sz="3000" spc="53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communication</a:t>
            </a:r>
            <a:r>
              <a:rPr dirty="0" sz="3000" spc="55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is</a:t>
            </a:r>
            <a:r>
              <a:rPr dirty="0" sz="3000" spc="56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only</a:t>
            </a:r>
            <a:r>
              <a:rPr dirty="0" sz="3000" spc="55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between</a:t>
            </a:r>
            <a:r>
              <a:rPr dirty="0" sz="3000" spc="560">
                <a:latin typeface="Calibri"/>
                <a:cs typeface="Calibri"/>
              </a:rPr>
              <a:t> </a:t>
            </a:r>
            <a:r>
              <a:rPr dirty="0" sz="3000" spc="-25">
                <a:latin typeface="Calibri"/>
                <a:cs typeface="Calibri"/>
              </a:rPr>
              <a:t>the </a:t>
            </a:r>
            <a:r>
              <a:rPr dirty="0" sz="3000">
                <a:latin typeface="Calibri"/>
                <a:cs typeface="Calibri"/>
              </a:rPr>
              <a:t>primary</a:t>
            </a:r>
            <a:r>
              <a:rPr dirty="0" sz="3000" spc="600">
                <a:latin typeface="Calibri"/>
                <a:cs typeface="Calibri"/>
              </a:rPr>
              <a:t>  </a:t>
            </a:r>
            <a:r>
              <a:rPr dirty="0" sz="3000">
                <a:latin typeface="Calibri"/>
                <a:cs typeface="Calibri"/>
              </a:rPr>
              <a:t>and</a:t>
            </a:r>
            <a:r>
              <a:rPr dirty="0" sz="3000" spc="590">
                <a:latin typeface="Calibri"/>
                <a:cs typeface="Calibri"/>
              </a:rPr>
              <a:t>  </a:t>
            </a:r>
            <a:r>
              <a:rPr dirty="0" sz="3000">
                <a:latin typeface="Calibri"/>
                <a:cs typeface="Calibri"/>
              </a:rPr>
              <a:t>a</a:t>
            </a:r>
            <a:r>
              <a:rPr dirty="0" sz="3000" spc="585">
                <a:latin typeface="Calibri"/>
                <a:cs typeface="Calibri"/>
              </a:rPr>
              <a:t>  </a:t>
            </a:r>
            <a:r>
              <a:rPr dirty="0" sz="3000">
                <a:latin typeface="Calibri"/>
                <a:cs typeface="Calibri"/>
              </a:rPr>
              <a:t>secondary;</a:t>
            </a:r>
            <a:r>
              <a:rPr dirty="0" sz="3000" spc="595">
                <a:latin typeface="Calibri"/>
                <a:cs typeface="Calibri"/>
              </a:rPr>
              <a:t>  </a:t>
            </a:r>
            <a:r>
              <a:rPr dirty="0" sz="3000">
                <a:latin typeface="Calibri"/>
                <a:cs typeface="Calibri"/>
              </a:rPr>
              <a:t>secondaries</a:t>
            </a:r>
            <a:r>
              <a:rPr dirty="0" sz="3000" spc="595">
                <a:latin typeface="Calibri"/>
                <a:cs typeface="Calibri"/>
              </a:rPr>
              <a:t>  </a:t>
            </a:r>
            <a:r>
              <a:rPr dirty="0" sz="3000" spc="-10">
                <a:latin typeface="Calibri"/>
                <a:cs typeface="Calibri"/>
              </a:rPr>
              <a:t>cannot communicate</a:t>
            </a:r>
            <a:r>
              <a:rPr dirty="0" sz="3000" spc="-7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directly</a:t>
            </a:r>
            <a:r>
              <a:rPr dirty="0" sz="3000" spc="-6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with</a:t>
            </a:r>
            <a:r>
              <a:rPr dirty="0" sz="3000" spc="-5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one</a:t>
            </a:r>
            <a:r>
              <a:rPr dirty="0" sz="3000" spc="-50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another.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840994"/>
            <a:ext cx="8530590" cy="53994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6235" indent="-34353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6235" algn="l"/>
              </a:tabLst>
            </a:pPr>
            <a:r>
              <a:rPr dirty="0" sz="3000" spc="-20" i="1">
                <a:latin typeface="Calibri"/>
                <a:cs typeface="Calibri"/>
              </a:rPr>
              <a:t>TDMA</a:t>
            </a:r>
            <a:endParaRPr sz="3000">
              <a:latin typeface="Calibri"/>
              <a:cs typeface="Calibri"/>
            </a:endParaRPr>
          </a:p>
          <a:p>
            <a:pPr algn="just" lvl="1" marL="756285" marR="5080" indent="-287020">
              <a:lnSpc>
                <a:spcPct val="80000"/>
              </a:lnSpc>
              <a:spcBef>
                <a:spcPts val="64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600">
                <a:latin typeface="Calibri"/>
                <a:cs typeface="Calibri"/>
              </a:rPr>
              <a:t>Bluetooth</a:t>
            </a:r>
            <a:r>
              <a:rPr dirty="0" sz="2600" spc="1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uses</a:t>
            </a:r>
            <a:r>
              <a:rPr dirty="0" sz="2600" spc="1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1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form</a:t>
            </a:r>
            <a:r>
              <a:rPr dirty="0" sz="2600" spc="1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1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TDMA</a:t>
            </a:r>
            <a:r>
              <a:rPr dirty="0" sz="2600" spc="1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that</a:t>
            </a:r>
            <a:r>
              <a:rPr dirty="0" sz="2600" spc="1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1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called</a:t>
            </a:r>
            <a:r>
              <a:rPr dirty="0" sz="2600" spc="13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TDD-</a:t>
            </a:r>
            <a:r>
              <a:rPr dirty="0" sz="2600" spc="-20">
                <a:latin typeface="Calibri"/>
                <a:cs typeface="Calibri"/>
              </a:rPr>
              <a:t>TDMA </a:t>
            </a:r>
            <a:r>
              <a:rPr dirty="0" sz="2600">
                <a:latin typeface="Calibri"/>
                <a:cs typeface="Calibri"/>
              </a:rPr>
              <a:t>(time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division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duplex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TDMA).</a:t>
            </a:r>
            <a:endParaRPr sz="2600">
              <a:latin typeface="Calibri"/>
              <a:cs typeface="Calibri"/>
            </a:endParaRPr>
          </a:p>
          <a:p>
            <a:pPr algn="just" lvl="1" marL="756285" marR="5080" indent="-287020">
              <a:lnSpc>
                <a:spcPct val="80000"/>
              </a:lnSpc>
              <a:spcBef>
                <a:spcPts val="62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600" spc="-10">
                <a:latin typeface="Calibri"/>
                <a:cs typeface="Calibri"/>
              </a:rPr>
              <a:t>TDD-</a:t>
            </a:r>
            <a:r>
              <a:rPr dirty="0" sz="2600">
                <a:latin typeface="Calibri"/>
                <a:cs typeface="Calibri"/>
              </a:rPr>
              <a:t>TDMA</a:t>
            </a:r>
            <a:r>
              <a:rPr dirty="0" sz="2600" spc="6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7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6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kind</a:t>
            </a:r>
            <a:r>
              <a:rPr dirty="0" sz="2600" spc="7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70">
                <a:latin typeface="Calibri"/>
                <a:cs typeface="Calibri"/>
              </a:rPr>
              <a:t>  </a:t>
            </a:r>
            <a:r>
              <a:rPr dirty="0" sz="2600" spc="-10">
                <a:latin typeface="Calibri"/>
                <a:cs typeface="Calibri"/>
              </a:rPr>
              <a:t>half-</a:t>
            </a:r>
            <a:r>
              <a:rPr dirty="0" sz="2600">
                <a:latin typeface="Calibri"/>
                <a:cs typeface="Calibri"/>
              </a:rPr>
              <a:t>duplex</a:t>
            </a:r>
            <a:r>
              <a:rPr dirty="0" sz="2600" spc="6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communication</a:t>
            </a:r>
            <a:r>
              <a:rPr dirty="0" sz="2600" spc="60">
                <a:latin typeface="Calibri"/>
                <a:cs typeface="Calibri"/>
              </a:rPr>
              <a:t>  </a:t>
            </a:r>
            <a:r>
              <a:rPr dirty="0" sz="2600" spc="-25">
                <a:latin typeface="Calibri"/>
                <a:cs typeface="Calibri"/>
              </a:rPr>
              <a:t>in </a:t>
            </a:r>
            <a:r>
              <a:rPr dirty="0" sz="2600">
                <a:latin typeface="Calibri"/>
                <a:cs typeface="Calibri"/>
              </a:rPr>
              <a:t>which</a:t>
            </a:r>
            <a:r>
              <a:rPr dirty="0" sz="2600" spc="1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10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secondary</a:t>
            </a:r>
            <a:r>
              <a:rPr dirty="0" sz="2600" spc="1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1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receiver</a:t>
            </a:r>
            <a:r>
              <a:rPr dirty="0" sz="2600" spc="1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send</a:t>
            </a:r>
            <a:r>
              <a:rPr dirty="0" sz="2600" spc="1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1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receive</a:t>
            </a:r>
            <a:r>
              <a:rPr dirty="0" sz="2600" spc="11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data, </a:t>
            </a:r>
            <a:r>
              <a:rPr dirty="0" sz="2600">
                <a:latin typeface="Calibri"/>
                <a:cs typeface="Calibri"/>
              </a:rPr>
              <a:t>but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not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at</a:t>
            </a:r>
            <a:r>
              <a:rPr dirty="0" sz="2600" spc="-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same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time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(halfduplex)</a:t>
            </a:r>
            <a:endParaRPr sz="2600">
              <a:latin typeface="Calibri"/>
              <a:cs typeface="Calibri"/>
            </a:endParaRPr>
          </a:p>
          <a:p>
            <a:pPr algn="just" lvl="1" marL="756285" marR="5080" indent="-287020">
              <a:lnSpc>
                <a:spcPct val="80000"/>
              </a:lnSpc>
              <a:spcBef>
                <a:spcPts val="62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600">
                <a:latin typeface="Calibri"/>
                <a:cs typeface="Calibri"/>
              </a:rPr>
              <a:t>however,</a:t>
            </a:r>
            <a:r>
              <a:rPr dirty="0" sz="2600" spc="12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13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communication</a:t>
            </a:r>
            <a:r>
              <a:rPr dirty="0" sz="2600" spc="13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12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each</a:t>
            </a:r>
            <a:r>
              <a:rPr dirty="0" sz="2600" spc="13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direction</a:t>
            </a:r>
            <a:r>
              <a:rPr dirty="0" sz="2600" spc="130">
                <a:latin typeface="Calibri"/>
                <a:cs typeface="Calibri"/>
              </a:rPr>
              <a:t>  </a:t>
            </a:r>
            <a:r>
              <a:rPr dirty="0" sz="2600" spc="-20">
                <a:latin typeface="Calibri"/>
                <a:cs typeface="Calibri"/>
              </a:rPr>
              <a:t>uses </a:t>
            </a:r>
            <a:r>
              <a:rPr dirty="0" sz="2600" spc="-10">
                <a:latin typeface="Calibri"/>
                <a:cs typeface="Calibri"/>
              </a:rPr>
              <a:t>different</a:t>
            </a:r>
            <a:r>
              <a:rPr dirty="0" sz="2600" spc="-14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hops.</a:t>
            </a:r>
            <a:endParaRPr sz="2600">
              <a:latin typeface="Calibri"/>
              <a:cs typeface="Calibri"/>
            </a:endParaRPr>
          </a:p>
          <a:p>
            <a:pPr algn="just" lvl="1" marL="756285" marR="5080" indent="-287020">
              <a:lnSpc>
                <a:spcPts val="2500"/>
              </a:lnSpc>
              <a:spcBef>
                <a:spcPts val="60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600" spc="-10">
                <a:latin typeface="Calibri"/>
                <a:cs typeface="Calibri"/>
              </a:rPr>
              <a:t>Single-</a:t>
            </a:r>
            <a:r>
              <a:rPr dirty="0" sz="2600">
                <a:latin typeface="Calibri"/>
                <a:cs typeface="Calibri"/>
              </a:rPr>
              <a:t>Secondary</a:t>
            </a:r>
            <a:r>
              <a:rPr dirty="0" sz="2600" spc="2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Communication</a:t>
            </a:r>
            <a:r>
              <a:rPr dirty="0" sz="2600" spc="25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If</a:t>
            </a:r>
            <a:r>
              <a:rPr dirty="0" sz="2600" spc="2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245">
                <a:latin typeface="Calibri"/>
                <a:cs typeface="Calibri"/>
              </a:rPr>
              <a:t> </a:t>
            </a:r>
            <a:r>
              <a:rPr dirty="0" sz="2600" i="1">
                <a:latin typeface="Calibri"/>
                <a:cs typeface="Calibri"/>
              </a:rPr>
              <a:t>piconet</a:t>
            </a:r>
            <a:r>
              <a:rPr dirty="0" sz="2600" spc="275" i="1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has</a:t>
            </a:r>
            <a:r>
              <a:rPr dirty="0" sz="2600" spc="26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only </a:t>
            </a:r>
            <a:r>
              <a:rPr dirty="0" sz="2600">
                <a:latin typeface="Calibri"/>
                <a:cs typeface="Calibri"/>
              </a:rPr>
              <a:t>one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secondary,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TDMA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operation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very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simple.</a:t>
            </a:r>
            <a:endParaRPr sz="2600">
              <a:latin typeface="Calibri"/>
              <a:cs typeface="Calibri"/>
            </a:endParaRPr>
          </a:p>
          <a:p>
            <a:pPr algn="just" lvl="1" marL="756285" marR="5080" indent="-287020">
              <a:lnSpc>
                <a:spcPct val="80000"/>
              </a:lnSpc>
              <a:spcBef>
                <a:spcPts val="64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1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time</a:t>
            </a:r>
            <a:r>
              <a:rPr dirty="0" sz="2600" spc="1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10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divided</a:t>
            </a:r>
            <a:r>
              <a:rPr dirty="0" sz="2600" spc="1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into</a:t>
            </a:r>
            <a:r>
              <a:rPr dirty="0" sz="2600" spc="10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slots</a:t>
            </a:r>
            <a:r>
              <a:rPr dirty="0" sz="2600" spc="11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1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625</a:t>
            </a:r>
            <a:r>
              <a:rPr dirty="0" sz="2600" spc="1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us,</a:t>
            </a:r>
            <a:r>
              <a:rPr dirty="0" sz="2600" spc="1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primary</a:t>
            </a:r>
            <a:r>
              <a:rPr dirty="0" sz="2600" spc="10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uses </a:t>
            </a:r>
            <a:r>
              <a:rPr dirty="0" sz="2600">
                <a:latin typeface="Calibri"/>
                <a:cs typeface="Calibri"/>
              </a:rPr>
              <a:t>even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numbered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slots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(0,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2,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4,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...);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secondary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uses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odd-</a:t>
            </a:r>
            <a:r>
              <a:rPr dirty="0" sz="2600">
                <a:latin typeface="Calibri"/>
                <a:cs typeface="Calibri"/>
              </a:rPr>
              <a:t>numbered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slots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(I,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3,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5,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...).</a:t>
            </a:r>
            <a:endParaRPr sz="2600">
              <a:latin typeface="Calibri"/>
              <a:cs typeface="Calibri"/>
            </a:endParaRPr>
          </a:p>
          <a:p>
            <a:pPr algn="just" lvl="1" marL="756285" marR="8255" indent="-287020">
              <a:lnSpc>
                <a:spcPct val="80000"/>
              </a:lnSpc>
              <a:spcBef>
                <a:spcPts val="62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600" spc="-10">
                <a:latin typeface="Calibri"/>
                <a:cs typeface="Calibri"/>
              </a:rPr>
              <a:t>TDD-</a:t>
            </a:r>
            <a:r>
              <a:rPr dirty="0" sz="2600">
                <a:latin typeface="Calibri"/>
                <a:cs typeface="Calibri"/>
              </a:rPr>
              <a:t>TDMA</a:t>
            </a:r>
            <a:r>
              <a:rPr dirty="0" sz="2600" spc="114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allows</a:t>
            </a:r>
            <a:r>
              <a:rPr dirty="0" sz="2600" spc="13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11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primary</a:t>
            </a:r>
            <a:r>
              <a:rPr dirty="0" sz="2600" spc="12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114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10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secondary</a:t>
            </a:r>
            <a:r>
              <a:rPr dirty="0" sz="2600" spc="110">
                <a:latin typeface="Calibri"/>
                <a:cs typeface="Calibri"/>
              </a:rPr>
              <a:t>  </a:t>
            </a:r>
            <a:r>
              <a:rPr dirty="0" sz="2600" spc="-25">
                <a:latin typeface="Calibri"/>
                <a:cs typeface="Calibri"/>
              </a:rPr>
              <a:t>to </a:t>
            </a:r>
            <a:r>
              <a:rPr dirty="0" sz="2600" spc="-10">
                <a:latin typeface="Calibri"/>
                <a:cs typeface="Calibri"/>
              </a:rPr>
              <a:t>communicate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-10">
                <a:latin typeface="Calibri"/>
                <a:cs typeface="Calibri"/>
              </a:rPr>
              <a:t> half-</a:t>
            </a:r>
            <a:r>
              <a:rPr dirty="0" sz="2600">
                <a:latin typeface="Calibri"/>
                <a:cs typeface="Calibri"/>
              </a:rPr>
              <a:t>duplex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mode.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07340" y="22351"/>
            <a:ext cx="2614295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i="0">
                <a:latin typeface="Calibri"/>
                <a:cs typeface="Calibri"/>
              </a:rPr>
              <a:t>Baseband</a:t>
            </a:r>
            <a:r>
              <a:rPr dirty="0" sz="3200" spc="-160" i="0">
                <a:latin typeface="Calibri"/>
                <a:cs typeface="Calibri"/>
              </a:rPr>
              <a:t> </a:t>
            </a:r>
            <a:r>
              <a:rPr dirty="0" sz="3200" spc="-20" i="0">
                <a:latin typeface="Calibri"/>
                <a:cs typeface="Calibri"/>
              </a:rPr>
              <a:t>Layer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i="0">
                <a:latin typeface="Calibri"/>
                <a:cs typeface="Calibri"/>
              </a:rPr>
              <a:t>Baseband</a:t>
            </a:r>
            <a:r>
              <a:rPr dirty="0" sz="3200" spc="-160" i="0">
                <a:latin typeface="Calibri"/>
                <a:cs typeface="Calibri"/>
              </a:rPr>
              <a:t> </a:t>
            </a:r>
            <a:r>
              <a:rPr dirty="0" sz="3200" spc="-20" i="0">
                <a:latin typeface="Calibri"/>
                <a:cs typeface="Calibri"/>
              </a:rPr>
              <a:t>Layer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9740" y="752094"/>
            <a:ext cx="4438015" cy="422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 i="1">
                <a:latin typeface="Times New Roman"/>
                <a:cs typeface="Times New Roman"/>
              </a:rPr>
              <a:t>Single-secondary</a:t>
            </a:r>
            <a:r>
              <a:rPr dirty="0" sz="2600" spc="-60" i="1">
                <a:latin typeface="Times New Roman"/>
                <a:cs typeface="Times New Roman"/>
              </a:rPr>
              <a:t> </a:t>
            </a:r>
            <a:r>
              <a:rPr dirty="0" sz="2600" spc="-10" i="1">
                <a:latin typeface="Times New Roman"/>
                <a:cs typeface="Times New Roman"/>
              </a:rPr>
              <a:t>communication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621008"/>
            <a:ext cx="8532495" cy="3632835"/>
          </a:xfrm>
          <a:prstGeom prst="rect">
            <a:avLst/>
          </a:prstGeom>
        </p:spPr>
        <p:txBody>
          <a:bodyPr wrap="square" lIns="0" tIns="11557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1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3200" spc="-20">
                <a:latin typeface="Calibri"/>
                <a:cs typeface="Calibri"/>
              </a:rPr>
              <a:t>Multiple-</a:t>
            </a:r>
            <a:r>
              <a:rPr dirty="0" sz="3200">
                <a:latin typeface="Calibri"/>
                <a:cs typeface="Calibri"/>
              </a:rPr>
              <a:t>Secondary</a:t>
            </a:r>
            <a:r>
              <a:rPr dirty="0" sz="3200" spc="-3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Communication</a:t>
            </a:r>
            <a:endParaRPr sz="3200">
              <a:latin typeface="Calibri"/>
              <a:cs typeface="Calibri"/>
            </a:endParaRPr>
          </a:p>
          <a:p>
            <a:pPr algn="just" lvl="1" marL="756285" marR="5715" indent="-287020">
              <a:lnSpc>
                <a:spcPct val="100000"/>
              </a:lnSpc>
              <a:spcBef>
                <a:spcPts val="66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process</a:t>
            </a:r>
            <a:r>
              <a:rPr dirty="0" sz="2600" spc="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little</a:t>
            </a:r>
            <a:r>
              <a:rPr dirty="0" sz="2600" spc="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more</a:t>
            </a:r>
            <a:r>
              <a:rPr dirty="0" sz="2600" spc="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involved</a:t>
            </a:r>
            <a:r>
              <a:rPr dirty="0" sz="2600" spc="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if</a:t>
            </a:r>
            <a:r>
              <a:rPr dirty="0" sz="2600" spc="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there</a:t>
            </a:r>
            <a:r>
              <a:rPr dirty="0" sz="2600" spc="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more</a:t>
            </a:r>
            <a:r>
              <a:rPr dirty="0" sz="2600" spc="8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than </a:t>
            </a:r>
            <a:r>
              <a:rPr dirty="0" sz="2600">
                <a:latin typeface="Calibri"/>
                <a:cs typeface="Calibri"/>
              </a:rPr>
              <a:t>one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secondary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piconet.</a:t>
            </a:r>
            <a:endParaRPr sz="2600">
              <a:latin typeface="Calibri"/>
              <a:cs typeface="Calibri"/>
            </a:endParaRPr>
          </a:p>
          <a:p>
            <a:pPr algn="just" lvl="1" marL="756285" marR="5080" indent="-287020">
              <a:lnSpc>
                <a:spcPct val="100000"/>
              </a:lnSpc>
              <a:spcBef>
                <a:spcPts val="62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600">
                <a:latin typeface="Calibri"/>
                <a:cs typeface="Calibri"/>
              </a:rPr>
              <a:t>Again,</a:t>
            </a:r>
            <a:r>
              <a:rPr dirty="0" sz="2600" spc="2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2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primary</a:t>
            </a:r>
            <a:r>
              <a:rPr dirty="0" sz="2600" spc="2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uses</a:t>
            </a:r>
            <a:r>
              <a:rPr dirty="0" sz="2600" spc="2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27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even-</a:t>
            </a:r>
            <a:r>
              <a:rPr dirty="0" sz="2600">
                <a:latin typeface="Calibri"/>
                <a:cs typeface="Calibri"/>
              </a:rPr>
              <a:t>numbered</a:t>
            </a:r>
            <a:r>
              <a:rPr dirty="0" sz="2600" spc="2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slots,</a:t>
            </a:r>
            <a:r>
              <a:rPr dirty="0" sz="2600" spc="2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but</a:t>
            </a:r>
            <a:r>
              <a:rPr dirty="0" sz="2600" spc="285">
                <a:latin typeface="Calibri"/>
                <a:cs typeface="Calibri"/>
              </a:rPr>
              <a:t> </a:t>
            </a:r>
            <a:r>
              <a:rPr dirty="0" sz="2600" spc="-50">
                <a:latin typeface="Calibri"/>
                <a:cs typeface="Calibri"/>
              </a:rPr>
              <a:t>a </a:t>
            </a:r>
            <a:r>
              <a:rPr dirty="0" sz="2600">
                <a:latin typeface="Calibri"/>
                <a:cs typeface="Calibri"/>
              </a:rPr>
              <a:t>secondary</a:t>
            </a:r>
            <a:r>
              <a:rPr dirty="0" sz="2600" spc="5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sends</a:t>
            </a:r>
            <a:r>
              <a:rPr dirty="0" sz="2600" spc="5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5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5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next</a:t>
            </a:r>
            <a:r>
              <a:rPr dirty="0" sz="2600" spc="56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odd-</a:t>
            </a:r>
            <a:r>
              <a:rPr dirty="0" sz="2600">
                <a:latin typeface="Calibri"/>
                <a:cs typeface="Calibri"/>
              </a:rPr>
              <a:t>numbered</a:t>
            </a:r>
            <a:r>
              <a:rPr dirty="0" sz="2600" spc="5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slot</a:t>
            </a:r>
            <a:r>
              <a:rPr dirty="0" sz="2600" spc="5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if</a:t>
            </a:r>
            <a:r>
              <a:rPr dirty="0" sz="2600" spc="53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the </a:t>
            </a:r>
            <a:r>
              <a:rPr dirty="0" sz="2600">
                <a:latin typeface="Calibri"/>
                <a:cs typeface="Calibri"/>
              </a:rPr>
              <a:t>packet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previous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slot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was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addressed</a:t>
            </a:r>
            <a:r>
              <a:rPr dirty="0" sz="2600" spc="-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it.</a:t>
            </a:r>
            <a:endParaRPr sz="2600">
              <a:latin typeface="Calibri"/>
              <a:cs typeface="Calibri"/>
            </a:endParaRPr>
          </a:p>
          <a:p>
            <a:pPr algn="just" lvl="1" marL="756285" marR="5715" indent="-287020">
              <a:lnSpc>
                <a:spcPct val="100000"/>
              </a:lnSpc>
              <a:spcBef>
                <a:spcPts val="62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600">
                <a:latin typeface="Calibri"/>
                <a:cs typeface="Calibri"/>
              </a:rPr>
              <a:t>All</a:t>
            </a:r>
            <a:r>
              <a:rPr dirty="0" sz="2600" spc="3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secondaries</a:t>
            </a:r>
            <a:r>
              <a:rPr dirty="0" sz="2600" spc="3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listen</a:t>
            </a:r>
            <a:r>
              <a:rPr dirty="0" sz="2600" spc="3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on</a:t>
            </a:r>
            <a:r>
              <a:rPr dirty="0" sz="2600" spc="35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even-</a:t>
            </a:r>
            <a:r>
              <a:rPr dirty="0" sz="2600">
                <a:latin typeface="Calibri"/>
                <a:cs typeface="Calibri"/>
              </a:rPr>
              <a:t>numbered</a:t>
            </a:r>
            <a:r>
              <a:rPr dirty="0" sz="2600" spc="3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slots,</a:t>
            </a:r>
            <a:r>
              <a:rPr dirty="0" sz="2600" spc="3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but</a:t>
            </a:r>
            <a:r>
              <a:rPr dirty="0" sz="2600" spc="365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only </a:t>
            </a:r>
            <a:r>
              <a:rPr dirty="0" sz="2600">
                <a:latin typeface="Calibri"/>
                <a:cs typeface="Calibri"/>
              </a:rPr>
              <a:t>one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secondary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sends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any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odd-</a:t>
            </a:r>
            <a:r>
              <a:rPr dirty="0" sz="2600">
                <a:latin typeface="Calibri"/>
                <a:cs typeface="Calibri"/>
              </a:rPr>
              <a:t>numbered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slot.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5562" y="22351"/>
            <a:ext cx="2614295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i="0">
                <a:latin typeface="Calibri"/>
                <a:cs typeface="Calibri"/>
              </a:rPr>
              <a:t>Baseband</a:t>
            </a:r>
            <a:r>
              <a:rPr dirty="0" sz="3200" spc="-160" i="0">
                <a:latin typeface="Calibri"/>
                <a:cs typeface="Calibri"/>
              </a:rPr>
              <a:t> </a:t>
            </a:r>
            <a:r>
              <a:rPr dirty="0" sz="3200" spc="-20" i="0">
                <a:latin typeface="Calibri"/>
                <a:cs typeface="Calibri"/>
              </a:rPr>
              <a:t>Layer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7478" y="1648890"/>
            <a:ext cx="7748708" cy="420146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07340" y="616965"/>
            <a:ext cx="5979160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20" i="0">
                <a:latin typeface="Calibri"/>
                <a:cs typeface="Calibri"/>
              </a:rPr>
              <a:t>Multiple-</a:t>
            </a:r>
            <a:r>
              <a:rPr dirty="0" sz="3200" i="0">
                <a:latin typeface="Calibri"/>
                <a:cs typeface="Calibri"/>
              </a:rPr>
              <a:t>Secondary</a:t>
            </a:r>
            <a:r>
              <a:rPr dirty="0" sz="3200" spc="-5" i="0">
                <a:latin typeface="Calibri"/>
                <a:cs typeface="Calibri"/>
              </a:rPr>
              <a:t> </a:t>
            </a:r>
            <a:r>
              <a:rPr dirty="0" sz="3200" spc="-10" i="0">
                <a:latin typeface="Calibri"/>
                <a:cs typeface="Calibri"/>
              </a:rPr>
              <a:t>Communication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612138"/>
            <a:ext cx="8063230" cy="24834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marR="1100455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600">
                <a:latin typeface="Calibri"/>
                <a:cs typeface="Calibri"/>
              </a:rPr>
              <a:t>We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can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say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that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this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access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method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similar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 spc="-50">
                <a:latin typeface="Calibri"/>
                <a:cs typeface="Calibri"/>
              </a:rPr>
              <a:t>a </a:t>
            </a:r>
            <a:r>
              <a:rPr dirty="0" sz="2600">
                <a:latin typeface="Calibri"/>
                <a:cs typeface="Calibri"/>
              </a:rPr>
              <a:t>poll/select</a:t>
            </a:r>
            <a:r>
              <a:rPr dirty="0" sz="2600" spc="-1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operation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with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reservations.</a:t>
            </a:r>
            <a:endParaRPr sz="26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600">
                <a:latin typeface="Calibri"/>
                <a:cs typeface="Calibri"/>
              </a:rPr>
              <a:t>When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primary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selects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secondary,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it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also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polls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it.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The </a:t>
            </a:r>
            <a:r>
              <a:rPr dirty="0" sz="2600">
                <a:latin typeface="Calibri"/>
                <a:cs typeface="Calibri"/>
              </a:rPr>
              <a:t>next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time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slot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-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reserved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polled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station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send</a:t>
            </a:r>
            <a:r>
              <a:rPr dirty="0" sz="2600" spc="6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its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frame.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If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polled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secondary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has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no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frame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send,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channel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-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silent.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07340" y="616965"/>
            <a:ext cx="5979160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20" i="0">
                <a:latin typeface="Calibri"/>
                <a:cs typeface="Calibri"/>
              </a:rPr>
              <a:t>Multiple-</a:t>
            </a:r>
            <a:r>
              <a:rPr dirty="0" sz="3200" i="0">
                <a:latin typeface="Calibri"/>
                <a:cs typeface="Calibri"/>
              </a:rPr>
              <a:t>Secondary</a:t>
            </a:r>
            <a:r>
              <a:rPr dirty="0" sz="3200" spc="-5" i="0">
                <a:latin typeface="Calibri"/>
                <a:cs typeface="Calibri"/>
              </a:rPr>
              <a:t> </a:t>
            </a:r>
            <a:r>
              <a:rPr dirty="0" sz="3200" spc="-10" i="0">
                <a:latin typeface="Calibri"/>
                <a:cs typeface="Calibri"/>
              </a:rPr>
              <a:t>Communication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939" y="-67208"/>
            <a:ext cx="8836025" cy="6604634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algn="just" marL="355600" indent="-342900">
              <a:lnSpc>
                <a:spcPct val="100000"/>
              </a:lnSpc>
              <a:spcBef>
                <a:spcPts val="72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600" i="1">
                <a:latin typeface="Calibri"/>
                <a:cs typeface="Calibri"/>
              </a:rPr>
              <a:t>Physical</a:t>
            </a:r>
            <a:r>
              <a:rPr dirty="0" sz="2600" spc="-130" i="1">
                <a:latin typeface="Calibri"/>
                <a:cs typeface="Calibri"/>
              </a:rPr>
              <a:t> </a:t>
            </a:r>
            <a:r>
              <a:rPr dirty="0" sz="2600" spc="-10" i="1">
                <a:latin typeface="Calibri"/>
                <a:cs typeface="Calibri"/>
              </a:rPr>
              <a:t>Links</a:t>
            </a:r>
            <a:endParaRPr sz="2600">
              <a:latin typeface="Calibri"/>
              <a:cs typeface="Calibri"/>
            </a:endParaRPr>
          </a:p>
          <a:p>
            <a:pPr algn="just" lvl="1" marL="756285" indent="-286385">
              <a:lnSpc>
                <a:spcPct val="100000"/>
              </a:lnSpc>
              <a:spcBef>
                <a:spcPts val="62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600" spc="-20">
                <a:latin typeface="Calibri"/>
                <a:cs typeface="Calibri"/>
              </a:rPr>
              <a:t>Two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types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links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between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primary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secondary:</a:t>
            </a:r>
            <a:endParaRPr sz="2600">
              <a:latin typeface="Calibri"/>
              <a:cs typeface="Calibri"/>
            </a:endParaRPr>
          </a:p>
          <a:p>
            <a:pPr algn="just" lvl="1" marL="756285" indent="-286385">
              <a:lnSpc>
                <a:spcPct val="100000"/>
              </a:lnSpc>
              <a:spcBef>
                <a:spcPts val="62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600">
                <a:latin typeface="Calibri"/>
                <a:cs typeface="Calibri"/>
              </a:rPr>
              <a:t>SCO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synchronous</a:t>
            </a:r>
            <a:r>
              <a:rPr dirty="0" sz="2600" spc="-8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connection-</a:t>
            </a:r>
            <a:r>
              <a:rPr dirty="0" sz="2600">
                <a:latin typeface="Calibri"/>
                <a:cs typeface="Calibri"/>
              </a:rPr>
              <a:t>oriented</a:t>
            </a:r>
            <a:r>
              <a:rPr dirty="0" sz="2600" spc="-9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(SCO)</a:t>
            </a:r>
            <a:endParaRPr sz="2600">
              <a:latin typeface="Calibri"/>
              <a:cs typeface="Calibri"/>
            </a:endParaRPr>
          </a:p>
          <a:p>
            <a:pPr algn="just" lvl="2" marL="1155700" marR="5080" indent="-228600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1155700" algn="l"/>
              </a:tabLst>
            </a:pPr>
            <a:r>
              <a:rPr dirty="0" sz="2600">
                <a:latin typeface="Calibri"/>
                <a:cs typeface="Calibri"/>
              </a:rPr>
              <a:t>link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used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when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avoiding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latency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(delay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data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delivery)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more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important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than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integrity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(error-</a:t>
            </a:r>
            <a:r>
              <a:rPr dirty="0" sz="2600">
                <a:latin typeface="Calibri"/>
                <a:cs typeface="Calibri"/>
              </a:rPr>
              <a:t>free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delivery).</a:t>
            </a:r>
            <a:endParaRPr sz="2600">
              <a:latin typeface="Calibri"/>
              <a:cs typeface="Calibri"/>
            </a:endParaRPr>
          </a:p>
          <a:p>
            <a:pPr algn="just" lvl="2" marL="1155700" marR="6985" indent="-228600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1155700" algn="l"/>
              </a:tabLst>
            </a:pP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5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physical</a:t>
            </a:r>
            <a:r>
              <a:rPr dirty="0" sz="2600" spc="5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link</a:t>
            </a:r>
            <a:r>
              <a:rPr dirty="0" sz="2600" spc="5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5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created</a:t>
            </a:r>
            <a:r>
              <a:rPr dirty="0" sz="2600" spc="5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between</a:t>
            </a:r>
            <a:r>
              <a:rPr dirty="0" sz="2600" spc="5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5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primary</a:t>
            </a:r>
            <a:r>
              <a:rPr dirty="0" sz="2600" spc="5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575">
                <a:latin typeface="Calibri"/>
                <a:cs typeface="Calibri"/>
              </a:rPr>
              <a:t> </a:t>
            </a:r>
            <a:r>
              <a:rPr dirty="0" sz="2600" spc="-50">
                <a:latin typeface="Calibri"/>
                <a:cs typeface="Calibri"/>
              </a:rPr>
              <a:t>a </a:t>
            </a:r>
            <a:r>
              <a:rPr dirty="0" sz="2600">
                <a:latin typeface="Calibri"/>
                <a:cs typeface="Calibri"/>
              </a:rPr>
              <a:t>secondary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by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reserving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specific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slots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at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regular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intervals.</a:t>
            </a:r>
            <a:endParaRPr sz="2600">
              <a:latin typeface="Calibri"/>
              <a:cs typeface="Calibri"/>
            </a:endParaRPr>
          </a:p>
          <a:p>
            <a:pPr algn="just" lvl="2" marL="1155700" marR="5080" indent="-228600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1155700" algn="l"/>
              </a:tabLst>
            </a:pP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3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basic</a:t>
            </a:r>
            <a:r>
              <a:rPr dirty="0" sz="2600" spc="3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unit</a:t>
            </a:r>
            <a:r>
              <a:rPr dirty="0" sz="2600" spc="3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3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connection</a:t>
            </a:r>
            <a:r>
              <a:rPr dirty="0" sz="2600" spc="3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3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two</a:t>
            </a:r>
            <a:r>
              <a:rPr dirty="0" sz="2600" spc="3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slots,</a:t>
            </a:r>
            <a:r>
              <a:rPr dirty="0" sz="2600" spc="3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one</a:t>
            </a:r>
            <a:r>
              <a:rPr dirty="0" sz="2600" spc="3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345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each </a:t>
            </a:r>
            <a:r>
              <a:rPr dirty="0" sz="2600">
                <a:latin typeface="Calibri"/>
                <a:cs typeface="Calibri"/>
              </a:rPr>
              <a:t>direction.</a:t>
            </a:r>
            <a:r>
              <a:rPr dirty="0" sz="2600" spc="60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If</a:t>
            </a:r>
            <a:r>
              <a:rPr dirty="0" sz="2600" spc="60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61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packet</a:t>
            </a:r>
            <a:r>
              <a:rPr dirty="0" sz="2600" spc="61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60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damaged,</a:t>
            </a:r>
            <a:r>
              <a:rPr dirty="0" sz="2600" spc="60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it</a:t>
            </a:r>
            <a:r>
              <a:rPr dirty="0" sz="2600" spc="60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605">
                <a:latin typeface="Calibri"/>
                <a:cs typeface="Calibri"/>
              </a:rPr>
              <a:t>  </a:t>
            </a:r>
            <a:r>
              <a:rPr dirty="0" sz="2600" spc="-10">
                <a:latin typeface="Calibri"/>
                <a:cs typeface="Calibri"/>
              </a:rPr>
              <a:t>never retransmitted.</a:t>
            </a:r>
            <a:endParaRPr sz="2600">
              <a:latin typeface="Calibri"/>
              <a:cs typeface="Calibri"/>
            </a:endParaRPr>
          </a:p>
          <a:p>
            <a:pPr algn="just" lvl="2" marL="1155700" marR="6985" indent="-228600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1155700" algn="l"/>
              </a:tabLst>
            </a:pPr>
            <a:r>
              <a:rPr dirty="0" sz="2600" i="1">
                <a:latin typeface="Calibri"/>
                <a:cs typeface="Calibri"/>
              </a:rPr>
              <a:t>sco</a:t>
            </a:r>
            <a:r>
              <a:rPr dirty="0" sz="2600" spc="340" i="1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3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used</a:t>
            </a:r>
            <a:r>
              <a:rPr dirty="0" sz="2600" spc="3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35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real-</a:t>
            </a:r>
            <a:r>
              <a:rPr dirty="0" sz="2600">
                <a:latin typeface="Calibri"/>
                <a:cs typeface="Calibri"/>
              </a:rPr>
              <a:t>time</a:t>
            </a:r>
            <a:r>
              <a:rPr dirty="0" sz="2600" spc="3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audio</a:t>
            </a:r>
            <a:r>
              <a:rPr dirty="0" sz="2600" spc="3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where</a:t>
            </a:r>
            <a:r>
              <a:rPr dirty="0" sz="2600" spc="3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avoiding</a:t>
            </a:r>
            <a:r>
              <a:rPr dirty="0" sz="2600" spc="3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delay</a:t>
            </a:r>
            <a:r>
              <a:rPr dirty="0" sz="2600" spc="33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is </a:t>
            </a:r>
            <a:r>
              <a:rPr dirty="0" sz="2600" spc="-20">
                <a:latin typeface="Calibri"/>
                <a:cs typeface="Calibri"/>
              </a:rPr>
              <a:t>all-</a:t>
            </a:r>
            <a:r>
              <a:rPr dirty="0" sz="2600" spc="-10">
                <a:latin typeface="Calibri"/>
                <a:cs typeface="Calibri"/>
              </a:rPr>
              <a:t>important.</a:t>
            </a:r>
            <a:endParaRPr sz="2600">
              <a:latin typeface="Calibri"/>
              <a:cs typeface="Calibri"/>
            </a:endParaRPr>
          </a:p>
          <a:p>
            <a:pPr algn="just" lvl="2" marL="1155700" marR="5080" indent="-228600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1155700" algn="l"/>
              </a:tabLst>
            </a:pP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4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secondary</a:t>
            </a:r>
            <a:r>
              <a:rPr dirty="0" sz="2600" spc="43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can</a:t>
            </a:r>
            <a:r>
              <a:rPr dirty="0" sz="2600" spc="4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create</a:t>
            </a:r>
            <a:r>
              <a:rPr dirty="0" sz="2600" spc="4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up</a:t>
            </a:r>
            <a:r>
              <a:rPr dirty="0" sz="2600" spc="4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4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three</a:t>
            </a:r>
            <a:r>
              <a:rPr dirty="0" sz="2600" spc="420">
                <a:latin typeface="Calibri"/>
                <a:cs typeface="Calibri"/>
              </a:rPr>
              <a:t> </a:t>
            </a:r>
            <a:r>
              <a:rPr dirty="0" sz="2600" i="1">
                <a:latin typeface="Calibri"/>
                <a:cs typeface="Calibri"/>
              </a:rPr>
              <a:t>sco</a:t>
            </a:r>
            <a:r>
              <a:rPr dirty="0" sz="2600" spc="425" i="1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links</a:t>
            </a:r>
            <a:r>
              <a:rPr dirty="0" sz="2600" spc="4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with</a:t>
            </a:r>
            <a:r>
              <a:rPr dirty="0" sz="2600" spc="44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the </a:t>
            </a:r>
            <a:r>
              <a:rPr dirty="0" sz="2600" spc="-20">
                <a:latin typeface="Calibri"/>
                <a:cs typeface="Calibri"/>
              </a:rPr>
              <a:t>primary,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sending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digitized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audio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(PCM)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at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64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kbps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each </a:t>
            </a:r>
            <a:r>
              <a:rPr dirty="0" sz="2600" spc="-10">
                <a:latin typeface="Calibri"/>
                <a:cs typeface="Calibri"/>
              </a:rPr>
              <a:t>link.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98194" y="2209926"/>
            <a:ext cx="4352925" cy="422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347470" algn="l"/>
                <a:tab pos="2581910" algn="l"/>
                <a:tab pos="3045460" algn="l"/>
                <a:tab pos="3743325" algn="l"/>
              </a:tabLst>
            </a:pPr>
            <a:r>
              <a:rPr dirty="0" sz="2600" spc="-10">
                <a:latin typeface="Calibri"/>
                <a:cs typeface="Calibri"/>
              </a:rPr>
              <a:t>avoiding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latency.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In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0">
                <a:latin typeface="Calibri"/>
                <a:cs typeface="Calibri"/>
              </a:rPr>
              <a:t>this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0">
                <a:latin typeface="Calibri"/>
                <a:cs typeface="Calibri"/>
              </a:rPr>
              <a:t>type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831204" y="2209926"/>
            <a:ext cx="3081655" cy="8185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70485" marR="5080" indent="-58419">
              <a:lnSpc>
                <a:spcPct val="100000"/>
              </a:lnSpc>
              <a:spcBef>
                <a:spcPts val="105"/>
              </a:spcBef>
              <a:tabLst>
                <a:tab pos="494030" algn="l"/>
                <a:tab pos="605155" algn="l"/>
                <a:tab pos="1260475" algn="l"/>
                <a:tab pos="1644650" algn="l"/>
                <a:tab pos="2010410" algn="l"/>
                <a:tab pos="2350770" algn="l"/>
                <a:tab pos="2865755" algn="l"/>
              </a:tabLst>
            </a:pPr>
            <a:r>
              <a:rPr dirty="0" sz="2600" spc="-25">
                <a:latin typeface="Calibri"/>
                <a:cs typeface="Calibri"/>
              </a:rPr>
              <a:t>of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link,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if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50">
                <a:latin typeface="Calibri"/>
                <a:cs typeface="Calibri"/>
              </a:rPr>
              <a:t>a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0">
                <a:latin typeface="Calibri"/>
                <a:cs typeface="Calibri"/>
              </a:rPr>
              <a:t>payload </a:t>
            </a:r>
            <a:r>
              <a:rPr dirty="0" sz="2600" spc="-25">
                <a:latin typeface="Calibri"/>
                <a:cs typeface="Calibri"/>
              </a:rPr>
              <a:t>is</a:t>
            </a:r>
            <a:r>
              <a:rPr dirty="0" sz="2600">
                <a:latin typeface="Calibri"/>
                <a:cs typeface="Calibri"/>
              </a:rPr>
              <a:t>		</a:t>
            </a:r>
            <a:r>
              <a:rPr dirty="0" sz="2600" spc="-10">
                <a:latin typeface="Calibri"/>
                <a:cs typeface="Calibri"/>
              </a:rPr>
              <a:t>corrupted,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it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35">
                <a:latin typeface="Calibri"/>
                <a:cs typeface="Calibri"/>
              </a:rPr>
              <a:t>is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98194" y="2606167"/>
            <a:ext cx="4290060" cy="8185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tabLst>
                <a:tab pos="2124710" algn="l"/>
                <a:tab pos="2702560" algn="l"/>
                <a:tab pos="3479800" algn="l"/>
              </a:tabLst>
            </a:pPr>
            <a:r>
              <a:rPr dirty="0" sz="2600" spc="-10">
                <a:latin typeface="Calibri"/>
                <a:cs typeface="Calibri"/>
              </a:rPr>
              <a:t>encapsulated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in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the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0">
                <a:latin typeface="Calibri"/>
                <a:cs typeface="Calibri"/>
              </a:rPr>
              <a:t>frame </a:t>
            </a:r>
            <a:r>
              <a:rPr dirty="0" sz="2600" spc="-10">
                <a:latin typeface="Calibri"/>
                <a:cs typeface="Calibri"/>
              </a:rPr>
              <a:t>retransmitted.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4939" y="540765"/>
            <a:ext cx="8757285" cy="1695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3200" i="1">
                <a:latin typeface="Calibri"/>
                <a:cs typeface="Calibri"/>
              </a:rPr>
              <a:t>Physical</a:t>
            </a:r>
            <a:r>
              <a:rPr dirty="0" sz="3200" spc="-165" i="1">
                <a:latin typeface="Calibri"/>
                <a:cs typeface="Calibri"/>
              </a:rPr>
              <a:t> </a:t>
            </a:r>
            <a:r>
              <a:rPr dirty="0" sz="3200" spc="-10" i="1">
                <a:latin typeface="Calibri"/>
                <a:cs typeface="Calibri"/>
              </a:rPr>
              <a:t>Links</a:t>
            </a:r>
            <a:endParaRPr sz="3200">
              <a:latin typeface="Calibri"/>
              <a:cs typeface="Calibri"/>
            </a:endParaRPr>
          </a:p>
          <a:p>
            <a:pPr lvl="1" marL="755650" indent="-285750">
              <a:lnSpc>
                <a:spcPct val="100000"/>
              </a:lnSpc>
              <a:spcBef>
                <a:spcPts val="2175"/>
              </a:spcBef>
              <a:buFont typeface="Arial MT"/>
              <a:buChar char="–"/>
              <a:tabLst>
                <a:tab pos="755650" algn="l"/>
              </a:tabLst>
            </a:pPr>
            <a:r>
              <a:rPr dirty="0" sz="2800">
                <a:latin typeface="Calibri"/>
                <a:cs typeface="Calibri"/>
              </a:rPr>
              <a:t>ACL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asynchronous connectionless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link</a:t>
            </a:r>
            <a:r>
              <a:rPr dirty="0" sz="2800" spc="-60" b="1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(ACL)</a:t>
            </a:r>
            <a:endParaRPr sz="2800">
              <a:latin typeface="Calibri"/>
              <a:cs typeface="Calibri"/>
            </a:endParaRPr>
          </a:p>
          <a:p>
            <a:pPr lvl="2" marL="1155065" indent="-227965">
              <a:lnSpc>
                <a:spcPct val="100000"/>
              </a:lnSpc>
              <a:spcBef>
                <a:spcPts val="645"/>
              </a:spcBef>
              <a:buFont typeface="Arial MT"/>
              <a:buChar char="•"/>
              <a:tabLst>
                <a:tab pos="1155065" algn="l"/>
              </a:tabLst>
            </a:pP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7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used</a:t>
            </a:r>
            <a:r>
              <a:rPr dirty="0" sz="2600" spc="6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when</a:t>
            </a:r>
            <a:r>
              <a:rPr dirty="0" sz="2600" spc="7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data</a:t>
            </a:r>
            <a:r>
              <a:rPr dirty="0" sz="2600" spc="7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integrity</a:t>
            </a:r>
            <a:r>
              <a:rPr dirty="0" sz="2600" spc="7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6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more</a:t>
            </a:r>
            <a:r>
              <a:rPr dirty="0" sz="2600" spc="7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important</a:t>
            </a:r>
            <a:r>
              <a:rPr dirty="0" sz="2600" spc="75">
                <a:latin typeface="Calibri"/>
                <a:cs typeface="Calibri"/>
              </a:rPr>
              <a:t>  </a:t>
            </a:r>
            <a:r>
              <a:rPr dirty="0" sz="2600" spc="-20">
                <a:latin typeface="Calibri"/>
                <a:cs typeface="Calibri"/>
              </a:rPr>
              <a:t>than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69644" y="3477590"/>
            <a:ext cx="7844790" cy="20878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240665" marR="5080" indent="-2286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600">
                <a:latin typeface="Calibri"/>
                <a:cs typeface="Calibri"/>
              </a:rPr>
              <a:t>A secondary returns an ACL frame in the available </a:t>
            </a:r>
            <a:r>
              <a:rPr dirty="0" sz="2600" spc="-20">
                <a:latin typeface="Calibri"/>
                <a:cs typeface="Calibri"/>
              </a:rPr>
              <a:t>odd-</a:t>
            </a:r>
            <a:r>
              <a:rPr dirty="0" sz="2600">
                <a:latin typeface="Calibri"/>
                <a:cs typeface="Calibri"/>
              </a:rPr>
              <a:t>numbered</a:t>
            </a:r>
            <a:r>
              <a:rPr dirty="0" sz="2600" spc="2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slot</a:t>
            </a:r>
            <a:r>
              <a:rPr dirty="0" sz="2600" spc="2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if</a:t>
            </a:r>
            <a:r>
              <a:rPr dirty="0" sz="2600" spc="2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2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only</a:t>
            </a:r>
            <a:r>
              <a:rPr dirty="0" sz="2600" spc="20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if</a:t>
            </a:r>
            <a:r>
              <a:rPr dirty="0" sz="2600" spc="2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2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previous</a:t>
            </a:r>
            <a:r>
              <a:rPr dirty="0" sz="2600" spc="2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slot</a:t>
            </a:r>
            <a:r>
              <a:rPr dirty="0" sz="2600" spc="20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has</a:t>
            </a:r>
            <a:r>
              <a:rPr dirty="0" sz="2600" spc="215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been </a:t>
            </a:r>
            <a:r>
              <a:rPr dirty="0" sz="2600">
                <a:latin typeface="Calibri"/>
                <a:cs typeface="Calibri"/>
              </a:rPr>
              <a:t>addressed</a:t>
            </a:r>
            <a:r>
              <a:rPr dirty="0" sz="2600" spc="-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it.</a:t>
            </a:r>
            <a:endParaRPr sz="2600">
              <a:latin typeface="Calibri"/>
              <a:cs typeface="Calibri"/>
            </a:endParaRPr>
          </a:p>
          <a:p>
            <a:pPr algn="just" marL="240665" marR="6350" indent="-228600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600">
                <a:latin typeface="Calibri"/>
                <a:cs typeface="Calibri"/>
              </a:rPr>
              <a:t>ACL</a:t>
            </a:r>
            <a:r>
              <a:rPr dirty="0" sz="2600" spc="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can</a:t>
            </a:r>
            <a:r>
              <a:rPr dirty="0" sz="2600" spc="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use</a:t>
            </a:r>
            <a:r>
              <a:rPr dirty="0" sz="2600" spc="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one,</a:t>
            </a:r>
            <a:r>
              <a:rPr dirty="0" sz="2600" spc="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three,</a:t>
            </a:r>
            <a:r>
              <a:rPr dirty="0" sz="2600" spc="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or</a:t>
            </a:r>
            <a:r>
              <a:rPr dirty="0" sz="2600" spc="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more</a:t>
            </a:r>
            <a:r>
              <a:rPr dirty="0" sz="2600" spc="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slots</a:t>
            </a:r>
            <a:r>
              <a:rPr dirty="0" sz="2600" spc="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can</a:t>
            </a:r>
            <a:r>
              <a:rPr dirty="0" sz="2600" spc="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achieve</a:t>
            </a:r>
            <a:r>
              <a:rPr dirty="0" sz="2600" spc="55">
                <a:latin typeface="Calibri"/>
                <a:cs typeface="Calibri"/>
              </a:rPr>
              <a:t> </a:t>
            </a:r>
            <a:r>
              <a:rPr dirty="0" sz="2600" spc="-50">
                <a:latin typeface="Calibri"/>
                <a:cs typeface="Calibri"/>
              </a:rPr>
              <a:t>a </a:t>
            </a:r>
            <a:r>
              <a:rPr dirty="0" sz="2600">
                <a:latin typeface="Calibri"/>
                <a:cs typeface="Calibri"/>
              </a:rPr>
              <a:t>maximum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data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rate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721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kbps.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65303"/>
            <a:ext cx="8068945" cy="6146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700" i="1">
                <a:latin typeface="Calibri"/>
                <a:cs typeface="Calibri"/>
              </a:rPr>
              <a:t>Frame</a:t>
            </a:r>
            <a:r>
              <a:rPr dirty="0" sz="2700" spc="-40" i="1">
                <a:latin typeface="Calibri"/>
                <a:cs typeface="Calibri"/>
              </a:rPr>
              <a:t> </a:t>
            </a:r>
            <a:r>
              <a:rPr dirty="0" sz="2700" spc="-10" i="1">
                <a:latin typeface="Calibri"/>
                <a:cs typeface="Calibri"/>
              </a:rPr>
              <a:t>Format</a:t>
            </a:r>
            <a:endParaRPr sz="2700">
              <a:latin typeface="Calibri"/>
              <a:cs typeface="Calibri"/>
            </a:endParaRPr>
          </a:p>
          <a:p>
            <a:pPr lvl="1" marL="754380" marR="293370" indent="-285115">
              <a:lnSpc>
                <a:spcPts val="2300"/>
              </a:lnSpc>
              <a:spcBef>
                <a:spcPts val="57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frame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baseband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layer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can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three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types: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 spc="-20">
                <a:latin typeface="Calibri"/>
                <a:cs typeface="Calibri"/>
              </a:rPr>
              <a:t>one-</a:t>
            </a:r>
            <a:r>
              <a:rPr dirty="0" sz="2400">
                <a:latin typeface="Calibri"/>
                <a:cs typeface="Calibri"/>
              </a:rPr>
              <a:t>slot,</a:t>
            </a:r>
            <a:r>
              <a:rPr dirty="0" sz="2400" spc="2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three-</a:t>
            </a:r>
            <a:r>
              <a:rPr dirty="0" sz="2400">
                <a:latin typeface="Calibri"/>
                <a:cs typeface="Calibri"/>
              </a:rPr>
              <a:t>slot,</a:t>
            </a:r>
            <a:r>
              <a:rPr dirty="0" sz="2400" spc="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or</a:t>
            </a:r>
            <a:r>
              <a:rPr dirty="0" sz="2400" spc="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five-</a:t>
            </a:r>
            <a:r>
              <a:rPr dirty="0" sz="2400" spc="-10">
                <a:latin typeface="Calibri"/>
                <a:cs typeface="Calibri"/>
              </a:rPr>
              <a:t>slot.</a:t>
            </a:r>
            <a:endParaRPr sz="2400">
              <a:latin typeface="Calibri"/>
              <a:cs typeface="Calibri"/>
            </a:endParaRPr>
          </a:p>
          <a:p>
            <a:pPr lvl="1" marL="754380" marR="5080" indent="-285115">
              <a:lnSpc>
                <a:spcPct val="80000"/>
              </a:lnSpc>
              <a:spcBef>
                <a:spcPts val="60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0000"/>
                </a:solidFill>
                <a:latin typeface="Calibri"/>
                <a:cs typeface="Calibri"/>
              </a:rPr>
              <a:t>slot</a:t>
            </a:r>
            <a:r>
              <a:rPr dirty="0" sz="2400" spc="-2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625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us.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35">
                <a:latin typeface="Calibri"/>
                <a:cs typeface="Calibri"/>
              </a:rPr>
              <a:t>However,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one-</a:t>
            </a:r>
            <a:r>
              <a:rPr dirty="0" sz="2400">
                <a:latin typeface="Calibri"/>
                <a:cs typeface="Calibri"/>
              </a:rPr>
              <a:t>slot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frame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exchange,</a:t>
            </a:r>
            <a:r>
              <a:rPr dirty="0" sz="2400" spc="600">
                <a:latin typeface="Calibri"/>
                <a:cs typeface="Calibri"/>
              </a:rPr>
              <a:t> </a:t>
            </a:r>
            <a:r>
              <a:rPr dirty="0" sz="2400" spc="60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259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needed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hopping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control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mechanisms.</a:t>
            </a:r>
            <a:r>
              <a:rPr dirty="0" sz="2400" spc="600">
                <a:latin typeface="Calibri"/>
                <a:cs typeface="Calibri"/>
              </a:rPr>
              <a:t> </a:t>
            </a:r>
            <a:r>
              <a:rPr dirty="0" sz="2400" spc="60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This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means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that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one-</a:t>
            </a:r>
            <a:r>
              <a:rPr dirty="0" sz="2400">
                <a:latin typeface="Calibri"/>
                <a:cs typeface="Calibri"/>
              </a:rPr>
              <a:t>slot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frame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can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last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only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0000"/>
                </a:solidFill>
                <a:latin typeface="Calibri"/>
                <a:cs typeface="Calibri"/>
              </a:rPr>
              <a:t>625</a:t>
            </a:r>
            <a:r>
              <a:rPr dirty="0" sz="2400" spc="-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0000"/>
                </a:solidFill>
                <a:latin typeface="Calibri"/>
                <a:cs typeface="Calibri"/>
              </a:rPr>
              <a:t>-</a:t>
            </a:r>
            <a:r>
              <a:rPr dirty="0" sz="2400" spc="-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0000"/>
                </a:solidFill>
                <a:latin typeface="Calibri"/>
                <a:cs typeface="Calibri"/>
              </a:rPr>
              <a:t>259</a:t>
            </a:r>
            <a:r>
              <a:rPr dirty="0" sz="2400">
                <a:latin typeface="Calibri"/>
                <a:cs typeface="Calibri"/>
              </a:rPr>
              <a:t>,</a:t>
            </a:r>
            <a:r>
              <a:rPr dirty="0" sz="2400" spc="-25">
                <a:latin typeface="Calibri"/>
                <a:cs typeface="Calibri"/>
              </a:rPr>
              <a:t> or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366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us.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With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1-</a:t>
            </a:r>
            <a:r>
              <a:rPr dirty="0" sz="2400">
                <a:latin typeface="Calibri"/>
                <a:cs typeface="Calibri"/>
              </a:rPr>
              <a:t>MHz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bandwidth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1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bit/Hz,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size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50">
                <a:latin typeface="Calibri"/>
                <a:cs typeface="Calibri"/>
              </a:rPr>
              <a:t>a </a:t>
            </a:r>
            <a:r>
              <a:rPr dirty="0" sz="2400" spc="-50">
                <a:latin typeface="Calibri"/>
                <a:cs typeface="Calibri"/>
              </a:rPr>
              <a:t>	</a:t>
            </a:r>
            <a:r>
              <a:rPr dirty="0" sz="2400" spc="-20">
                <a:latin typeface="Calibri"/>
                <a:cs typeface="Calibri"/>
              </a:rPr>
              <a:t>one-</a:t>
            </a:r>
            <a:r>
              <a:rPr dirty="0" sz="2400">
                <a:latin typeface="Calibri"/>
                <a:cs typeface="Calibri"/>
              </a:rPr>
              <a:t>slot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frame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366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bits.</a:t>
            </a:r>
            <a:endParaRPr sz="2400">
              <a:latin typeface="Calibri"/>
              <a:cs typeface="Calibri"/>
            </a:endParaRPr>
          </a:p>
          <a:p>
            <a:pPr lvl="1" marL="754380" marR="369570" indent="-285115">
              <a:lnSpc>
                <a:spcPts val="2300"/>
              </a:lnSpc>
              <a:spcBef>
                <a:spcPts val="56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FF0000"/>
                </a:solidFill>
                <a:latin typeface="Calibri"/>
                <a:cs typeface="Calibri"/>
              </a:rPr>
              <a:t>three-</a:t>
            </a:r>
            <a:r>
              <a:rPr dirty="0" sz="2400">
                <a:solidFill>
                  <a:srgbClr val="FF0000"/>
                </a:solidFill>
                <a:latin typeface="Calibri"/>
                <a:cs typeface="Calibri"/>
              </a:rPr>
              <a:t>slot</a:t>
            </a:r>
            <a:r>
              <a:rPr dirty="0" sz="2400" spc="-3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0000"/>
                </a:solidFill>
                <a:latin typeface="Calibri"/>
                <a:cs typeface="Calibri"/>
              </a:rPr>
              <a:t>frame</a:t>
            </a:r>
            <a:r>
              <a:rPr dirty="0" sz="2400" spc="-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occupies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three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slots.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35">
                <a:latin typeface="Calibri"/>
                <a:cs typeface="Calibri"/>
              </a:rPr>
              <a:t>However,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since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259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used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hopping,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length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frame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0000"/>
                </a:solidFill>
                <a:latin typeface="Calibri"/>
                <a:cs typeface="Calibri"/>
              </a:rPr>
              <a:t>3</a:t>
            </a:r>
            <a:r>
              <a:rPr dirty="0" sz="2400" spc="-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400" spc="-50">
                <a:solidFill>
                  <a:srgbClr val="FF0000"/>
                </a:solidFill>
                <a:latin typeface="Calibri"/>
                <a:cs typeface="Calibri"/>
              </a:rPr>
              <a:t>x </a:t>
            </a:r>
            <a:r>
              <a:rPr dirty="0" sz="2400" spc="-5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FF0000"/>
                </a:solidFill>
                <a:latin typeface="Calibri"/>
                <a:cs typeface="Calibri"/>
              </a:rPr>
              <a:t>625</a:t>
            </a:r>
            <a:r>
              <a:rPr dirty="0" sz="2400" spc="-2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0000"/>
                </a:solidFill>
                <a:latin typeface="Calibri"/>
                <a:cs typeface="Calibri"/>
              </a:rPr>
              <a:t>-</a:t>
            </a:r>
            <a:r>
              <a:rPr dirty="0" sz="2400" spc="-2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0000"/>
                </a:solidFill>
                <a:latin typeface="Calibri"/>
                <a:cs typeface="Calibri"/>
              </a:rPr>
              <a:t>259</a:t>
            </a:r>
            <a:r>
              <a:rPr dirty="0" sz="2400" spc="-2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=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1616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or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1616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bits.</a:t>
            </a:r>
            <a:endParaRPr sz="2400">
              <a:latin typeface="Calibri"/>
              <a:cs typeface="Calibri"/>
            </a:endParaRPr>
          </a:p>
          <a:p>
            <a:pPr lvl="1" marL="754380" marR="179070" indent="-285115">
              <a:lnSpc>
                <a:spcPts val="2300"/>
              </a:lnSpc>
              <a:spcBef>
                <a:spcPts val="59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device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that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uses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three-</a:t>
            </a:r>
            <a:r>
              <a:rPr dirty="0" sz="2400">
                <a:latin typeface="Calibri"/>
                <a:cs typeface="Calibri"/>
              </a:rPr>
              <a:t>slot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frame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remains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at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same </a:t>
            </a:r>
            <a:r>
              <a:rPr dirty="0" sz="2400" spc="-2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hop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(at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same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carrier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frequency)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three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slots.</a:t>
            </a:r>
            <a:endParaRPr sz="2400">
              <a:latin typeface="Calibri"/>
              <a:cs typeface="Calibri"/>
            </a:endParaRPr>
          </a:p>
          <a:p>
            <a:pPr lvl="1" marL="754380" marR="294640" indent="-285115">
              <a:lnSpc>
                <a:spcPts val="2300"/>
              </a:lnSpc>
              <a:spcBef>
                <a:spcPts val="58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400">
                <a:latin typeface="Calibri"/>
                <a:cs typeface="Calibri"/>
              </a:rPr>
              <a:t>Even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though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only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hop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number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used,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three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hop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numbers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are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consumed.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That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means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hop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number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for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each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frame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equal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first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slot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frame.</a:t>
            </a:r>
            <a:endParaRPr sz="2400">
              <a:latin typeface="Calibri"/>
              <a:cs typeface="Calibri"/>
            </a:endParaRPr>
          </a:p>
          <a:p>
            <a:pPr lvl="1" marL="754380" marR="158115" indent="-285115">
              <a:lnSpc>
                <a:spcPts val="2300"/>
              </a:lnSpc>
              <a:spcBef>
                <a:spcPts val="59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FF0000"/>
                </a:solidFill>
                <a:latin typeface="Calibri"/>
                <a:cs typeface="Calibri"/>
              </a:rPr>
              <a:t>five-</a:t>
            </a:r>
            <a:r>
              <a:rPr dirty="0" sz="2400">
                <a:solidFill>
                  <a:srgbClr val="FF0000"/>
                </a:solidFill>
                <a:latin typeface="Calibri"/>
                <a:cs typeface="Calibri"/>
              </a:rPr>
              <a:t>slot</a:t>
            </a:r>
            <a:r>
              <a:rPr dirty="0" sz="2400" spc="-2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frame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also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uses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259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bits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hopping,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which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means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that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length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frame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0000"/>
                </a:solidFill>
                <a:latin typeface="Calibri"/>
                <a:cs typeface="Calibri"/>
              </a:rPr>
              <a:t>5</a:t>
            </a:r>
            <a:r>
              <a:rPr dirty="0" sz="2400" spc="-4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0000"/>
                </a:solidFill>
                <a:latin typeface="Calibri"/>
                <a:cs typeface="Calibri"/>
              </a:rPr>
              <a:t>x</a:t>
            </a:r>
            <a:r>
              <a:rPr dirty="0" sz="2400" spc="-4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0000"/>
                </a:solidFill>
                <a:latin typeface="Calibri"/>
                <a:cs typeface="Calibri"/>
              </a:rPr>
              <a:t>625</a:t>
            </a:r>
            <a:r>
              <a:rPr dirty="0" sz="2400" spc="-4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0000"/>
                </a:solidFill>
                <a:latin typeface="Calibri"/>
                <a:cs typeface="Calibri"/>
              </a:rPr>
              <a:t>-</a:t>
            </a:r>
            <a:r>
              <a:rPr dirty="0" sz="2400" spc="-4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0000"/>
                </a:solidFill>
                <a:latin typeface="Calibri"/>
                <a:cs typeface="Calibri"/>
              </a:rPr>
              <a:t>259</a:t>
            </a:r>
            <a:r>
              <a:rPr dirty="0" sz="2400" spc="-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=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2866 </a:t>
            </a:r>
            <a:r>
              <a:rPr dirty="0" sz="2400" spc="-20">
                <a:latin typeface="Calibri"/>
                <a:cs typeface="Calibri"/>
              </a:rPr>
              <a:t>	</a:t>
            </a:r>
            <a:r>
              <a:rPr dirty="0" sz="2400" spc="-10">
                <a:latin typeface="Calibri"/>
                <a:cs typeface="Calibri"/>
              </a:rPr>
              <a:t>bits.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7241" rIns="0" bIns="0" rtlCol="0" vert="horz">
            <a:spAutoFit/>
          </a:bodyPr>
          <a:lstStyle/>
          <a:p>
            <a:pPr marL="494665">
              <a:lnSpc>
                <a:spcPct val="100000"/>
              </a:lnSpc>
              <a:spcBef>
                <a:spcPts val="95"/>
              </a:spcBef>
            </a:pPr>
            <a:r>
              <a:rPr dirty="0"/>
              <a:t>Frame</a:t>
            </a:r>
            <a:r>
              <a:rPr dirty="0" spc="-80"/>
              <a:t> </a:t>
            </a:r>
            <a:r>
              <a:rPr dirty="0" spc="-10"/>
              <a:t>Format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5823" y="1081048"/>
            <a:ext cx="8191719" cy="293753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83540" y="4669916"/>
            <a:ext cx="8225155" cy="16040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470534" indent="-457834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470534" algn="l"/>
              </a:tabLst>
            </a:pPr>
            <a:r>
              <a:rPr dirty="0" sz="2600">
                <a:latin typeface="Times New Roman"/>
                <a:cs typeface="Times New Roman"/>
              </a:rPr>
              <a:t>Access</a:t>
            </a:r>
            <a:r>
              <a:rPr dirty="0" sz="2600" spc="-55">
                <a:latin typeface="Times New Roman"/>
                <a:cs typeface="Times New Roman"/>
              </a:rPr>
              <a:t> </a:t>
            </a:r>
            <a:r>
              <a:rPr dirty="0" sz="2600" spc="-20">
                <a:latin typeface="Times New Roman"/>
                <a:cs typeface="Times New Roman"/>
              </a:rPr>
              <a:t>code</a:t>
            </a:r>
            <a:endParaRPr sz="2600">
              <a:latin typeface="Times New Roman"/>
              <a:cs typeface="Times New Roman"/>
            </a:endParaRPr>
          </a:p>
          <a:p>
            <a:pPr algn="just" lvl="1" marL="927100" marR="5080" indent="-457834">
              <a:lnSpc>
                <a:spcPct val="99000"/>
              </a:lnSpc>
              <a:spcBef>
                <a:spcPts val="35"/>
              </a:spcBef>
              <a:buFont typeface="Arial MT"/>
              <a:buChar char="•"/>
              <a:tabLst>
                <a:tab pos="927100" algn="l"/>
              </a:tabLst>
            </a:pPr>
            <a:r>
              <a:rPr dirty="0" sz="2600">
                <a:latin typeface="Times New Roman"/>
                <a:cs typeface="Times New Roman"/>
              </a:rPr>
              <a:t>This</a:t>
            </a:r>
            <a:r>
              <a:rPr dirty="0" sz="2600" spc="45">
                <a:latin typeface="Times New Roman"/>
                <a:cs typeface="Times New Roman"/>
              </a:rPr>
              <a:t>  </a:t>
            </a:r>
            <a:r>
              <a:rPr dirty="0" sz="2600" spc="-10">
                <a:latin typeface="Times New Roman"/>
                <a:cs typeface="Times New Roman"/>
              </a:rPr>
              <a:t>72-</a:t>
            </a:r>
            <a:r>
              <a:rPr dirty="0" sz="2600">
                <a:latin typeface="Times New Roman"/>
                <a:cs typeface="Times New Roman"/>
              </a:rPr>
              <a:t>bit</a:t>
            </a:r>
            <a:r>
              <a:rPr dirty="0" sz="2600" spc="45">
                <a:latin typeface="Times New Roman"/>
                <a:cs typeface="Times New Roman"/>
              </a:rPr>
              <a:t>  </a:t>
            </a:r>
            <a:r>
              <a:rPr dirty="0" sz="2600">
                <a:latin typeface="Times New Roman"/>
                <a:cs typeface="Times New Roman"/>
              </a:rPr>
              <a:t>field</a:t>
            </a:r>
            <a:r>
              <a:rPr dirty="0" sz="2600" spc="50">
                <a:latin typeface="Times New Roman"/>
                <a:cs typeface="Times New Roman"/>
              </a:rPr>
              <a:t>  </a:t>
            </a:r>
            <a:r>
              <a:rPr dirty="0" sz="2600">
                <a:latin typeface="Times New Roman"/>
                <a:cs typeface="Times New Roman"/>
              </a:rPr>
              <a:t>normally</a:t>
            </a:r>
            <a:r>
              <a:rPr dirty="0" sz="2600" spc="50">
                <a:latin typeface="Times New Roman"/>
                <a:cs typeface="Times New Roman"/>
              </a:rPr>
              <a:t>  </a:t>
            </a:r>
            <a:r>
              <a:rPr dirty="0" sz="2600">
                <a:latin typeface="Times New Roman"/>
                <a:cs typeface="Times New Roman"/>
              </a:rPr>
              <a:t>contains</a:t>
            </a:r>
            <a:r>
              <a:rPr dirty="0" sz="2600" spc="50">
                <a:latin typeface="Times New Roman"/>
                <a:cs typeface="Times New Roman"/>
              </a:rPr>
              <a:t>  </a:t>
            </a:r>
            <a:r>
              <a:rPr dirty="0" sz="2600" spc="-10">
                <a:latin typeface="Times New Roman"/>
                <a:cs typeface="Times New Roman"/>
              </a:rPr>
              <a:t>synchronization </a:t>
            </a:r>
            <a:r>
              <a:rPr dirty="0" sz="2600">
                <a:latin typeface="Times New Roman"/>
                <a:cs typeface="Times New Roman"/>
              </a:rPr>
              <a:t>bits</a:t>
            </a:r>
            <a:r>
              <a:rPr dirty="0" sz="2600" spc="8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and</a:t>
            </a:r>
            <a:r>
              <a:rPr dirty="0" sz="2600" spc="114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the</a:t>
            </a:r>
            <a:r>
              <a:rPr dirty="0" sz="2600" spc="9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identifier</a:t>
            </a:r>
            <a:r>
              <a:rPr dirty="0" sz="2600" spc="7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of</a:t>
            </a:r>
            <a:r>
              <a:rPr dirty="0" sz="2600" spc="10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the</a:t>
            </a:r>
            <a:r>
              <a:rPr dirty="0" sz="2600" spc="10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primary</a:t>
            </a:r>
            <a:r>
              <a:rPr dirty="0" sz="2600" spc="10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to</a:t>
            </a:r>
            <a:r>
              <a:rPr dirty="0" sz="2600" spc="11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distinguish</a:t>
            </a:r>
            <a:r>
              <a:rPr dirty="0" sz="2600" spc="110">
                <a:latin typeface="Times New Roman"/>
                <a:cs typeface="Times New Roman"/>
              </a:rPr>
              <a:t> </a:t>
            </a:r>
            <a:r>
              <a:rPr dirty="0" sz="2600" spc="-25">
                <a:latin typeface="Times New Roman"/>
                <a:cs typeface="Times New Roman"/>
              </a:rPr>
              <a:t>the </a:t>
            </a:r>
            <a:r>
              <a:rPr dirty="0" sz="2600">
                <a:latin typeface="Times New Roman"/>
                <a:cs typeface="Times New Roman"/>
              </a:rPr>
              <a:t>frame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of</a:t>
            </a:r>
            <a:r>
              <a:rPr dirty="0" sz="2600" spc="-1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one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piconet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from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another.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205" y="-95631"/>
            <a:ext cx="8835390" cy="66884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73355">
              <a:lnSpc>
                <a:spcPts val="2830"/>
              </a:lnSpc>
              <a:spcBef>
                <a:spcPts val="95"/>
              </a:spcBef>
            </a:pPr>
            <a:r>
              <a:rPr dirty="0" sz="2500" i="1">
                <a:latin typeface="Calibri"/>
                <a:cs typeface="Calibri"/>
              </a:rPr>
              <a:t>Frame</a:t>
            </a:r>
            <a:r>
              <a:rPr dirty="0" sz="2500" spc="-80" i="1">
                <a:latin typeface="Calibri"/>
                <a:cs typeface="Calibri"/>
              </a:rPr>
              <a:t> </a:t>
            </a:r>
            <a:r>
              <a:rPr dirty="0" sz="2500" spc="-10" i="1">
                <a:latin typeface="Calibri"/>
                <a:cs typeface="Calibri"/>
              </a:rPr>
              <a:t>Format</a:t>
            </a:r>
            <a:endParaRPr sz="2500">
              <a:latin typeface="Calibri"/>
              <a:cs typeface="Calibri"/>
            </a:endParaRPr>
          </a:p>
          <a:p>
            <a:pPr algn="just" marL="356870" indent="-344170">
              <a:lnSpc>
                <a:spcPts val="2830"/>
              </a:lnSpc>
              <a:buFont typeface="Arial MT"/>
              <a:buChar char="•"/>
              <a:tabLst>
                <a:tab pos="356870" algn="l"/>
              </a:tabLst>
            </a:pPr>
            <a:r>
              <a:rPr dirty="0" sz="2500" spc="-30" b="1">
                <a:latin typeface="Calibri"/>
                <a:cs typeface="Calibri"/>
              </a:rPr>
              <a:t>Header.</a:t>
            </a:r>
            <a:r>
              <a:rPr dirty="0" sz="2500" spc="-50" b="1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This</a:t>
            </a:r>
            <a:r>
              <a:rPr dirty="0" sz="2500" spc="-45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54-</a:t>
            </a:r>
            <a:r>
              <a:rPr dirty="0" sz="2500">
                <a:latin typeface="Calibri"/>
                <a:cs typeface="Calibri"/>
              </a:rPr>
              <a:t>bit</a:t>
            </a:r>
            <a:r>
              <a:rPr dirty="0" sz="2500" spc="-4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field</a:t>
            </a:r>
            <a:r>
              <a:rPr dirty="0" sz="2500" spc="-2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is</a:t>
            </a:r>
            <a:r>
              <a:rPr dirty="0" sz="2500" spc="-4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a</a:t>
            </a:r>
            <a:r>
              <a:rPr dirty="0" sz="2500" spc="-35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repeated</a:t>
            </a:r>
            <a:r>
              <a:rPr dirty="0" sz="2500" spc="-30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I8-</a:t>
            </a:r>
            <a:r>
              <a:rPr dirty="0" sz="2500">
                <a:latin typeface="Calibri"/>
                <a:cs typeface="Calibri"/>
              </a:rPr>
              <a:t>bit</a:t>
            </a:r>
            <a:r>
              <a:rPr dirty="0" sz="2500" spc="-45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pattern.</a:t>
            </a:r>
            <a:endParaRPr sz="2500">
              <a:latin typeface="Calibri"/>
              <a:cs typeface="Calibri"/>
            </a:endParaRPr>
          </a:p>
          <a:p>
            <a:pPr algn="just" lvl="1" marL="756285" indent="-286385">
              <a:lnSpc>
                <a:spcPct val="100000"/>
              </a:lnSpc>
              <a:spcBef>
                <a:spcPts val="60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500" b="1">
                <a:latin typeface="Calibri"/>
                <a:cs typeface="Calibri"/>
              </a:rPr>
              <a:t>Address.</a:t>
            </a:r>
            <a:r>
              <a:rPr dirty="0" sz="2500" spc="-60" b="1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Can</a:t>
            </a:r>
            <a:r>
              <a:rPr dirty="0" sz="2500" spc="-4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define</a:t>
            </a:r>
            <a:r>
              <a:rPr dirty="0" sz="2500" spc="-3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up</a:t>
            </a:r>
            <a:r>
              <a:rPr dirty="0" sz="2500" spc="-5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to</a:t>
            </a:r>
            <a:r>
              <a:rPr dirty="0" sz="2500" spc="-5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seven</a:t>
            </a:r>
            <a:r>
              <a:rPr dirty="0" sz="2500" spc="-35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secondaries</a:t>
            </a:r>
            <a:r>
              <a:rPr dirty="0" sz="2500" spc="-4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(1</a:t>
            </a:r>
            <a:r>
              <a:rPr dirty="0" sz="2500" spc="-4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to</a:t>
            </a:r>
            <a:r>
              <a:rPr dirty="0" sz="2500" spc="-55">
                <a:latin typeface="Calibri"/>
                <a:cs typeface="Calibri"/>
              </a:rPr>
              <a:t> </a:t>
            </a:r>
            <a:r>
              <a:rPr dirty="0" sz="2500" spc="-25">
                <a:latin typeface="Calibri"/>
                <a:cs typeface="Calibri"/>
              </a:rPr>
              <a:t>7).</a:t>
            </a:r>
            <a:endParaRPr sz="2500">
              <a:latin typeface="Calibri"/>
              <a:cs typeface="Calibri"/>
            </a:endParaRPr>
          </a:p>
          <a:p>
            <a:pPr algn="just" marL="754380" marR="358775" indent="-70485">
              <a:lnSpc>
                <a:spcPct val="120000"/>
              </a:lnSpc>
            </a:pPr>
            <a:r>
              <a:rPr dirty="0" sz="2500" b="1">
                <a:latin typeface="Calibri"/>
                <a:cs typeface="Calibri"/>
              </a:rPr>
              <a:t>If</a:t>
            </a:r>
            <a:r>
              <a:rPr dirty="0" sz="2500" spc="-70" b="1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the</a:t>
            </a:r>
            <a:r>
              <a:rPr dirty="0" sz="2500" spc="-4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address</a:t>
            </a:r>
            <a:r>
              <a:rPr dirty="0" sz="2500" spc="-5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is</a:t>
            </a:r>
            <a:r>
              <a:rPr dirty="0" sz="2500" spc="-60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zero,</a:t>
            </a:r>
            <a:r>
              <a:rPr dirty="0" sz="2500" spc="-6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it</a:t>
            </a:r>
            <a:r>
              <a:rPr dirty="0" sz="2500" spc="-5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is</a:t>
            </a:r>
            <a:r>
              <a:rPr dirty="0" sz="2500" spc="-6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used</a:t>
            </a:r>
            <a:r>
              <a:rPr dirty="0" sz="2500" spc="-5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for</a:t>
            </a:r>
            <a:r>
              <a:rPr dirty="0" sz="2500" spc="-70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broadcast</a:t>
            </a:r>
            <a:r>
              <a:rPr dirty="0" sz="2500" spc="-60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communication </a:t>
            </a:r>
            <a:r>
              <a:rPr dirty="0" sz="2500">
                <a:latin typeface="Calibri"/>
                <a:cs typeface="Calibri"/>
              </a:rPr>
              <a:t>from</a:t>
            </a:r>
            <a:r>
              <a:rPr dirty="0" sz="2500" spc="-5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the</a:t>
            </a:r>
            <a:r>
              <a:rPr dirty="0" sz="2500" spc="-3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primary</a:t>
            </a:r>
            <a:r>
              <a:rPr dirty="0" sz="2500" spc="-4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to</a:t>
            </a:r>
            <a:r>
              <a:rPr dirty="0" sz="2500" spc="-6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all</a:t>
            </a:r>
            <a:r>
              <a:rPr dirty="0" sz="2500" spc="-40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secondaries.</a:t>
            </a:r>
            <a:endParaRPr sz="2500">
              <a:latin typeface="Calibri"/>
              <a:cs typeface="Calibri"/>
            </a:endParaRPr>
          </a:p>
          <a:p>
            <a:pPr algn="just" lvl="1" marL="756285" marR="6350" indent="-287020">
              <a:lnSpc>
                <a:spcPct val="100000"/>
              </a:lnSpc>
              <a:spcBef>
                <a:spcPts val="60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500" b="1">
                <a:latin typeface="Calibri"/>
                <a:cs typeface="Calibri"/>
              </a:rPr>
              <a:t>Type.</a:t>
            </a:r>
            <a:r>
              <a:rPr dirty="0" sz="2500" spc="120" b="1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The</a:t>
            </a:r>
            <a:r>
              <a:rPr dirty="0" sz="2500" spc="120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4-</a:t>
            </a:r>
            <a:r>
              <a:rPr dirty="0" sz="2500">
                <a:latin typeface="Calibri"/>
                <a:cs typeface="Calibri"/>
              </a:rPr>
              <a:t>bit</a:t>
            </a:r>
            <a:r>
              <a:rPr dirty="0" sz="2500" spc="12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type</a:t>
            </a:r>
            <a:r>
              <a:rPr dirty="0" sz="2500" spc="12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subfield</a:t>
            </a:r>
            <a:r>
              <a:rPr dirty="0" sz="2500" spc="114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defines</a:t>
            </a:r>
            <a:r>
              <a:rPr dirty="0" sz="2500" spc="114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the</a:t>
            </a:r>
            <a:r>
              <a:rPr dirty="0" sz="2500" spc="12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type</a:t>
            </a:r>
            <a:r>
              <a:rPr dirty="0" sz="2500" spc="13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of</a:t>
            </a:r>
            <a:r>
              <a:rPr dirty="0" sz="2500" spc="114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data</a:t>
            </a:r>
            <a:r>
              <a:rPr dirty="0" sz="2500" spc="125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coming </a:t>
            </a:r>
            <a:r>
              <a:rPr dirty="0" sz="2500">
                <a:latin typeface="Calibri"/>
                <a:cs typeface="Calibri"/>
              </a:rPr>
              <a:t>from</a:t>
            </a:r>
            <a:r>
              <a:rPr dirty="0" sz="2500" spc="-6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the</a:t>
            </a:r>
            <a:r>
              <a:rPr dirty="0" sz="2500" spc="-6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upper</a:t>
            </a:r>
            <a:r>
              <a:rPr dirty="0" sz="2500" spc="-55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layers.</a:t>
            </a:r>
            <a:endParaRPr sz="2500">
              <a:latin typeface="Calibri"/>
              <a:cs typeface="Calibri"/>
            </a:endParaRPr>
          </a:p>
          <a:p>
            <a:pPr algn="just" lvl="1" marL="756285" marR="5715" indent="-287020">
              <a:lnSpc>
                <a:spcPct val="100000"/>
              </a:lnSpc>
              <a:spcBef>
                <a:spcPts val="60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500" b="1">
                <a:latin typeface="Calibri"/>
                <a:cs typeface="Calibri"/>
              </a:rPr>
              <a:t>F.</a:t>
            </a:r>
            <a:r>
              <a:rPr dirty="0" sz="2500" spc="50" b="1">
                <a:latin typeface="Calibri"/>
                <a:cs typeface="Calibri"/>
              </a:rPr>
              <a:t>  </a:t>
            </a:r>
            <a:r>
              <a:rPr dirty="0" sz="2500">
                <a:latin typeface="Calibri"/>
                <a:cs typeface="Calibri"/>
              </a:rPr>
              <a:t>This</a:t>
            </a:r>
            <a:r>
              <a:rPr dirty="0" sz="2500" spc="45">
                <a:latin typeface="Calibri"/>
                <a:cs typeface="Calibri"/>
              </a:rPr>
              <a:t>  </a:t>
            </a:r>
            <a:r>
              <a:rPr dirty="0" sz="2500" spc="-10">
                <a:latin typeface="Calibri"/>
                <a:cs typeface="Calibri"/>
              </a:rPr>
              <a:t>1-</a:t>
            </a:r>
            <a:r>
              <a:rPr dirty="0" sz="2500">
                <a:latin typeface="Calibri"/>
                <a:cs typeface="Calibri"/>
              </a:rPr>
              <a:t>bit</a:t>
            </a:r>
            <a:r>
              <a:rPr dirty="0" sz="2500" spc="50">
                <a:latin typeface="Calibri"/>
                <a:cs typeface="Calibri"/>
              </a:rPr>
              <a:t>  </a:t>
            </a:r>
            <a:r>
              <a:rPr dirty="0" sz="2500">
                <a:latin typeface="Calibri"/>
                <a:cs typeface="Calibri"/>
              </a:rPr>
              <a:t>subfield</a:t>
            </a:r>
            <a:r>
              <a:rPr dirty="0" sz="2500" spc="55">
                <a:latin typeface="Calibri"/>
                <a:cs typeface="Calibri"/>
              </a:rPr>
              <a:t>  </a:t>
            </a:r>
            <a:r>
              <a:rPr dirty="0" sz="2500">
                <a:latin typeface="Calibri"/>
                <a:cs typeface="Calibri"/>
              </a:rPr>
              <a:t>is</a:t>
            </a:r>
            <a:r>
              <a:rPr dirty="0" sz="2500" spc="50">
                <a:latin typeface="Calibri"/>
                <a:cs typeface="Calibri"/>
              </a:rPr>
              <a:t>  </a:t>
            </a:r>
            <a:r>
              <a:rPr dirty="0" sz="2500">
                <a:latin typeface="Calibri"/>
                <a:cs typeface="Calibri"/>
              </a:rPr>
              <a:t>for</a:t>
            </a:r>
            <a:r>
              <a:rPr dirty="0" sz="2500" spc="55">
                <a:latin typeface="Calibri"/>
                <a:cs typeface="Calibri"/>
              </a:rPr>
              <a:t>  </a:t>
            </a:r>
            <a:r>
              <a:rPr dirty="0" sz="2500">
                <a:latin typeface="Calibri"/>
                <a:cs typeface="Calibri"/>
              </a:rPr>
              <a:t>flow</a:t>
            </a:r>
            <a:r>
              <a:rPr dirty="0" sz="2500" spc="45">
                <a:latin typeface="Calibri"/>
                <a:cs typeface="Calibri"/>
              </a:rPr>
              <a:t>  </a:t>
            </a:r>
            <a:r>
              <a:rPr dirty="0" sz="2500">
                <a:latin typeface="Calibri"/>
                <a:cs typeface="Calibri"/>
              </a:rPr>
              <a:t>control.</a:t>
            </a:r>
            <a:r>
              <a:rPr dirty="0" sz="2500" spc="50">
                <a:latin typeface="Calibri"/>
                <a:cs typeface="Calibri"/>
              </a:rPr>
              <a:t>  </a:t>
            </a:r>
            <a:r>
              <a:rPr dirty="0" sz="2500">
                <a:latin typeface="Calibri"/>
                <a:cs typeface="Calibri"/>
              </a:rPr>
              <a:t>When</a:t>
            </a:r>
            <a:r>
              <a:rPr dirty="0" sz="2500" spc="55">
                <a:latin typeface="Calibri"/>
                <a:cs typeface="Calibri"/>
              </a:rPr>
              <a:t>  </a:t>
            </a:r>
            <a:r>
              <a:rPr dirty="0" sz="2500">
                <a:latin typeface="Calibri"/>
                <a:cs typeface="Calibri"/>
              </a:rPr>
              <a:t>set</a:t>
            </a:r>
            <a:r>
              <a:rPr dirty="0" sz="2500" spc="45">
                <a:latin typeface="Calibri"/>
                <a:cs typeface="Calibri"/>
              </a:rPr>
              <a:t>  </a:t>
            </a:r>
            <a:r>
              <a:rPr dirty="0" sz="2500">
                <a:latin typeface="Calibri"/>
                <a:cs typeface="Calibri"/>
              </a:rPr>
              <a:t>(1),</a:t>
            </a:r>
            <a:r>
              <a:rPr dirty="0" sz="2500" spc="50">
                <a:latin typeface="Calibri"/>
                <a:cs typeface="Calibri"/>
              </a:rPr>
              <a:t>  </a:t>
            </a:r>
            <a:r>
              <a:rPr dirty="0" sz="2500" spc="-25">
                <a:latin typeface="Calibri"/>
                <a:cs typeface="Calibri"/>
              </a:rPr>
              <a:t>it </a:t>
            </a:r>
            <a:r>
              <a:rPr dirty="0" sz="2500">
                <a:latin typeface="Calibri"/>
                <a:cs typeface="Calibri"/>
              </a:rPr>
              <a:t>indicates</a:t>
            </a:r>
            <a:r>
              <a:rPr dirty="0" sz="2500" spc="48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that</a:t>
            </a:r>
            <a:r>
              <a:rPr dirty="0" sz="2500" spc="47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the</a:t>
            </a:r>
            <a:r>
              <a:rPr dirty="0" sz="2500" spc="46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device</a:t>
            </a:r>
            <a:r>
              <a:rPr dirty="0" sz="2500" spc="47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is</a:t>
            </a:r>
            <a:r>
              <a:rPr dirty="0" sz="2500" spc="46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unable</a:t>
            </a:r>
            <a:r>
              <a:rPr dirty="0" sz="2500" spc="47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to</a:t>
            </a:r>
            <a:r>
              <a:rPr dirty="0" sz="2500" spc="47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receive</a:t>
            </a:r>
            <a:r>
              <a:rPr dirty="0" sz="2500" spc="47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more</a:t>
            </a:r>
            <a:r>
              <a:rPr dirty="0" sz="2500" spc="470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frames (buffer</a:t>
            </a:r>
            <a:r>
              <a:rPr dirty="0" sz="2500" spc="-4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is</a:t>
            </a:r>
            <a:r>
              <a:rPr dirty="0" sz="2500" spc="-75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full).</a:t>
            </a:r>
            <a:endParaRPr sz="2500">
              <a:latin typeface="Calibri"/>
              <a:cs typeface="Calibri"/>
            </a:endParaRPr>
          </a:p>
          <a:p>
            <a:pPr algn="just" lvl="1" marL="756285" marR="6985" indent="-287020">
              <a:lnSpc>
                <a:spcPct val="100000"/>
              </a:lnSpc>
              <a:spcBef>
                <a:spcPts val="60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500" b="1">
                <a:latin typeface="Calibri"/>
                <a:cs typeface="Calibri"/>
              </a:rPr>
              <a:t>A.</a:t>
            </a:r>
            <a:r>
              <a:rPr dirty="0" sz="2500" spc="275" b="1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This</a:t>
            </a:r>
            <a:r>
              <a:rPr dirty="0" sz="2500" spc="270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1-</a:t>
            </a:r>
            <a:r>
              <a:rPr dirty="0" sz="2500">
                <a:latin typeface="Calibri"/>
                <a:cs typeface="Calibri"/>
              </a:rPr>
              <a:t>bit</a:t>
            </a:r>
            <a:r>
              <a:rPr dirty="0" sz="2500" spc="27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subfield</a:t>
            </a:r>
            <a:r>
              <a:rPr dirty="0" sz="2500" spc="27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is</a:t>
            </a:r>
            <a:r>
              <a:rPr dirty="0" sz="2500" spc="28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for</a:t>
            </a:r>
            <a:r>
              <a:rPr dirty="0" sz="2500" spc="28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acknowledgment.</a:t>
            </a:r>
            <a:r>
              <a:rPr dirty="0" sz="2500" spc="26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Bluetooth</a:t>
            </a:r>
            <a:r>
              <a:rPr dirty="0" sz="2500" spc="265">
                <a:latin typeface="Calibri"/>
                <a:cs typeface="Calibri"/>
              </a:rPr>
              <a:t> </a:t>
            </a:r>
            <a:r>
              <a:rPr dirty="0" sz="2500" spc="-20">
                <a:latin typeface="Calibri"/>
                <a:cs typeface="Calibri"/>
              </a:rPr>
              <a:t>uses </a:t>
            </a:r>
            <a:r>
              <a:rPr dirty="0" sz="2500" spc="-10">
                <a:latin typeface="Calibri"/>
                <a:cs typeface="Calibri"/>
              </a:rPr>
              <a:t>Stop-</a:t>
            </a:r>
            <a:r>
              <a:rPr dirty="0" sz="2500" spc="-20">
                <a:latin typeface="Calibri"/>
                <a:cs typeface="Calibri"/>
              </a:rPr>
              <a:t>and-</a:t>
            </a:r>
            <a:r>
              <a:rPr dirty="0" sz="2500">
                <a:latin typeface="Calibri"/>
                <a:cs typeface="Calibri"/>
              </a:rPr>
              <a:t>Wait</a:t>
            </a:r>
            <a:r>
              <a:rPr dirty="0" sz="2500" spc="-5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ARQ;</a:t>
            </a:r>
            <a:r>
              <a:rPr dirty="0" sz="2500" spc="-2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1</a:t>
            </a:r>
            <a:r>
              <a:rPr dirty="0" sz="2500" spc="-5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bit</a:t>
            </a:r>
            <a:r>
              <a:rPr dirty="0" sz="2500" spc="-5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is</a:t>
            </a:r>
            <a:r>
              <a:rPr dirty="0" sz="2500" spc="-50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sufficient</a:t>
            </a:r>
            <a:r>
              <a:rPr dirty="0" sz="2500" spc="-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for</a:t>
            </a:r>
            <a:r>
              <a:rPr dirty="0" sz="2500" spc="-60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acknowledgment.</a:t>
            </a:r>
            <a:endParaRPr sz="2500">
              <a:latin typeface="Calibri"/>
              <a:cs typeface="Calibri"/>
            </a:endParaRPr>
          </a:p>
          <a:p>
            <a:pPr algn="just" lvl="1" marL="756285" marR="7620" indent="-287020">
              <a:lnSpc>
                <a:spcPct val="100000"/>
              </a:lnSpc>
              <a:spcBef>
                <a:spcPts val="60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500" b="1">
                <a:latin typeface="Calibri"/>
                <a:cs typeface="Calibri"/>
              </a:rPr>
              <a:t>S.</a:t>
            </a:r>
            <a:r>
              <a:rPr dirty="0" sz="2500" spc="-30" b="1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This</a:t>
            </a:r>
            <a:r>
              <a:rPr dirty="0" sz="2500" spc="-20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1-</a:t>
            </a:r>
            <a:r>
              <a:rPr dirty="0" sz="2500">
                <a:latin typeface="Calibri"/>
                <a:cs typeface="Calibri"/>
              </a:rPr>
              <a:t>bit</a:t>
            </a:r>
            <a:r>
              <a:rPr dirty="0" sz="2500" spc="-3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subfield</a:t>
            </a:r>
            <a:r>
              <a:rPr dirty="0" sz="2500" spc="-1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holds</a:t>
            </a:r>
            <a:r>
              <a:rPr dirty="0" sz="2500" spc="-3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a</a:t>
            </a:r>
            <a:r>
              <a:rPr dirty="0" sz="2500" spc="-1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sequence</a:t>
            </a:r>
            <a:r>
              <a:rPr dirty="0" sz="2500" spc="-15">
                <a:latin typeface="Calibri"/>
                <a:cs typeface="Calibri"/>
              </a:rPr>
              <a:t> </a:t>
            </a:r>
            <a:r>
              <a:rPr dirty="0" sz="2500" spc="-30">
                <a:latin typeface="Calibri"/>
                <a:cs typeface="Calibri"/>
              </a:rPr>
              <a:t>number. </a:t>
            </a:r>
            <a:r>
              <a:rPr dirty="0" sz="2500">
                <a:latin typeface="Calibri"/>
                <a:cs typeface="Calibri"/>
              </a:rPr>
              <a:t>Bluetooth</a:t>
            </a:r>
            <a:r>
              <a:rPr dirty="0" sz="2500" spc="-45">
                <a:latin typeface="Calibri"/>
                <a:cs typeface="Calibri"/>
              </a:rPr>
              <a:t> </a:t>
            </a:r>
            <a:r>
              <a:rPr dirty="0" sz="2500" spc="-20">
                <a:latin typeface="Calibri"/>
                <a:cs typeface="Calibri"/>
              </a:rPr>
              <a:t>uses </a:t>
            </a:r>
            <a:r>
              <a:rPr dirty="0" sz="2500" spc="-10">
                <a:latin typeface="Calibri"/>
                <a:cs typeface="Calibri"/>
              </a:rPr>
              <a:t>Stop-</a:t>
            </a:r>
            <a:r>
              <a:rPr dirty="0" sz="2500" spc="-20">
                <a:latin typeface="Calibri"/>
                <a:cs typeface="Calibri"/>
              </a:rPr>
              <a:t>and-</a:t>
            </a:r>
            <a:r>
              <a:rPr dirty="0" sz="2500">
                <a:latin typeface="Calibri"/>
                <a:cs typeface="Calibri"/>
              </a:rPr>
              <a:t>Wait</a:t>
            </a:r>
            <a:r>
              <a:rPr dirty="0" sz="2500" spc="-105">
                <a:latin typeface="Calibri"/>
                <a:cs typeface="Calibri"/>
              </a:rPr>
              <a:t> </a:t>
            </a:r>
            <a:r>
              <a:rPr dirty="0" sz="2500" spc="-25">
                <a:latin typeface="Calibri"/>
                <a:cs typeface="Calibri"/>
              </a:rPr>
              <a:t>ARQ</a:t>
            </a:r>
            <a:endParaRPr sz="2500">
              <a:latin typeface="Calibri"/>
              <a:cs typeface="Calibri"/>
            </a:endParaRPr>
          </a:p>
          <a:p>
            <a:pPr algn="just" lvl="1" marL="756285" marR="5080" indent="-287020">
              <a:lnSpc>
                <a:spcPct val="100000"/>
              </a:lnSpc>
              <a:spcBef>
                <a:spcPts val="60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500" b="1">
                <a:latin typeface="Calibri"/>
                <a:cs typeface="Calibri"/>
              </a:rPr>
              <a:t>HEC.</a:t>
            </a:r>
            <a:r>
              <a:rPr dirty="0" sz="2500" spc="105" b="1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The</a:t>
            </a:r>
            <a:r>
              <a:rPr dirty="0" sz="2500" spc="100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8-</a:t>
            </a:r>
            <a:r>
              <a:rPr dirty="0" sz="2500">
                <a:latin typeface="Calibri"/>
                <a:cs typeface="Calibri"/>
              </a:rPr>
              <a:t>bit</a:t>
            </a:r>
            <a:r>
              <a:rPr dirty="0" sz="2500" spc="11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header</a:t>
            </a:r>
            <a:r>
              <a:rPr dirty="0" sz="2500" spc="12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error</a:t>
            </a:r>
            <a:r>
              <a:rPr dirty="0" sz="2500" spc="114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correction</a:t>
            </a:r>
            <a:r>
              <a:rPr dirty="0" sz="2500" spc="11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subfield</a:t>
            </a:r>
            <a:r>
              <a:rPr dirty="0" sz="2500" spc="10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is</a:t>
            </a:r>
            <a:r>
              <a:rPr dirty="0" sz="2500" spc="10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a</a:t>
            </a:r>
            <a:r>
              <a:rPr dirty="0" sz="2500" spc="110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checksum </a:t>
            </a:r>
            <a:r>
              <a:rPr dirty="0" sz="2500">
                <a:latin typeface="Calibri"/>
                <a:cs typeface="Calibri"/>
              </a:rPr>
              <a:t>to</a:t>
            </a:r>
            <a:r>
              <a:rPr dirty="0" sz="2500" spc="-6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detect</a:t>
            </a:r>
            <a:r>
              <a:rPr dirty="0" sz="2500" spc="-5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errors</a:t>
            </a:r>
            <a:r>
              <a:rPr dirty="0" sz="2500" spc="-6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in</a:t>
            </a:r>
            <a:r>
              <a:rPr dirty="0" sz="2500" spc="-6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each</a:t>
            </a:r>
            <a:r>
              <a:rPr dirty="0" sz="2500" spc="-45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18-</a:t>
            </a:r>
            <a:r>
              <a:rPr dirty="0" sz="2500">
                <a:latin typeface="Calibri"/>
                <a:cs typeface="Calibri"/>
              </a:rPr>
              <a:t>bit</a:t>
            </a:r>
            <a:r>
              <a:rPr dirty="0" sz="2500" spc="-5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header</a:t>
            </a:r>
            <a:r>
              <a:rPr dirty="0" sz="2500" spc="-40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section.</a:t>
            </a:r>
            <a:endParaRPr sz="2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/>
              <a:t>The</a:t>
            </a:r>
            <a:r>
              <a:rPr dirty="0" spc="-40"/>
              <a:t> </a:t>
            </a:r>
            <a:r>
              <a:rPr dirty="0"/>
              <a:t>header</a:t>
            </a:r>
            <a:r>
              <a:rPr dirty="0" spc="-30"/>
              <a:t> </a:t>
            </a:r>
            <a:r>
              <a:rPr dirty="0"/>
              <a:t>has</a:t>
            </a:r>
            <a:r>
              <a:rPr dirty="0" spc="-20"/>
              <a:t> </a:t>
            </a:r>
            <a:r>
              <a:rPr dirty="0"/>
              <a:t>three</a:t>
            </a:r>
            <a:r>
              <a:rPr dirty="0" spc="-40"/>
              <a:t> </a:t>
            </a:r>
            <a:r>
              <a:rPr dirty="0"/>
              <a:t>identical</a:t>
            </a:r>
            <a:r>
              <a:rPr dirty="0" spc="-30"/>
              <a:t> </a:t>
            </a:r>
            <a:r>
              <a:rPr dirty="0" spc="-35"/>
              <a:t>18-</a:t>
            </a:r>
            <a:r>
              <a:rPr dirty="0"/>
              <a:t>bit</a:t>
            </a:r>
            <a:r>
              <a:rPr dirty="0" spc="-15"/>
              <a:t> </a:t>
            </a:r>
            <a:r>
              <a:rPr dirty="0"/>
              <a:t>sections.</a:t>
            </a:r>
            <a:r>
              <a:rPr dirty="0" spc="-40"/>
              <a:t> </a:t>
            </a:r>
            <a:r>
              <a:rPr dirty="0"/>
              <a:t>The</a:t>
            </a:r>
            <a:r>
              <a:rPr dirty="0" spc="-40"/>
              <a:t> </a:t>
            </a:r>
            <a:r>
              <a:rPr dirty="0" spc="-10"/>
              <a:t>receiver </a:t>
            </a:r>
            <a:r>
              <a:rPr dirty="0"/>
              <a:t>compares</a:t>
            </a:r>
            <a:r>
              <a:rPr dirty="0" spc="-30"/>
              <a:t> </a:t>
            </a:r>
            <a:r>
              <a:rPr dirty="0"/>
              <a:t>these</a:t>
            </a:r>
            <a:r>
              <a:rPr dirty="0" spc="-85"/>
              <a:t> </a:t>
            </a:r>
            <a:r>
              <a:rPr dirty="0"/>
              <a:t>three</a:t>
            </a:r>
            <a:r>
              <a:rPr dirty="0" spc="-50"/>
              <a:t> </a:t>
            </a:r>
            <a:r>
              <a:rPr dirty="0"/>
              <a:t>sections,</a:t>
            </a:r>
            <a:r>
              <a:rPr dirty="0" spc="-50"/>
              <a:t> </a:t>
            </a:r>
            <a:r>
              <a:rPr dirty="0"/>
              <a:t>bit</a:t>
            </a:r>
            <a:r>
              <a:rPr dirty="0" spc="-15"/>
              <a:t> </a:t>
            </a:r>
            <a:r>
              <a:rPr dirty="0"/>
              <a:t>by</a:t>
            </a:r>
            <a:r>
              <a:rPr dirty="0" spc="-45"/>
              <a:t> </a:t>
            </a:r>
            <a:r>
              <a:rPr dirty="0" spc="-20"/>
              <a:t>bit.</a:t>
            </a:r>
          </a:p>
          <a:p>
            <a:pPr marL="355600" marR="681355" indent="-342900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/>
              <a:t>If</a:t>
            </a:r>
            <a:r>
              <a:rPr dirty="0" spc="-25"/>
              <a:t> </a:t>
            </a:r>
            <a:r>
              <a:rPr dirty="0"/>
              <a:t>each</a:t>
            </a:r>
            <a:r>
              <a:rPr dirty="0" spc="-40"/>
              <a:t> </a:t>
            </a:r>
            <a:r>
              <a:rPr dirty="0"/>
              <a:t>of</a:t>
            </a:r>
            <a:r>
              <a:rPr dirty="0" spc="-10"/>
              <a:t> </a:t>
            </a:r>
            <a:r>
              <a:rPr dirty="0"/>
              <a:t>the</a:t>
            </a:r>
            <a:r>
              <a:rPr dirty="0" spc="-40"/>
              <a:t> </a:t>
            </a:r>
            <a:r>
              <a:rPr dirty="0"/>
              <a:t>corresponding</a:t>
            </a:r>
            <a:r>
              <a:rPr dirty="0" spc="-35"/>
              <a:t> </a:t>
            </a:r>
            <a:r>
              <a:rPr dirty="0"/>
              <a:t>bits</a:t>
            </a:r>
            <a:r>
              <a:rPr dirty="0" spc="-15"/>
              <a:t> </a:t>
            </a:r>
            <a:r>
              <a:rPr dirty="0"/>
              <a:t>is</a:t>
            </a:r>
            <a:r>
              <a:rPr dirty="0" spc="-10"/>
              <a:t> </a:t>
            </a:r>
            <a:r>
              <a:rPr dirty="0"/>
              <a:t>the</a:t>
            </a:r>
            <a:r>
              <a:rPr dirty="0" spc="-40"/>
              <a:t> </a:t>
            </a:r>
            <a:r>
              <a:rPr dirty="0"/>
              <a:t>same,</a:t>
            </a:r>
            <a:r>
              <a:rPr dirty="0" spc="-30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/>
              <a:t>bit</a:t>
            </a:r>
            <a:r>
              <a:rPr dirty="0" spc="-15"/>
              <a:t> </a:t>
            </a:r>
            <a:r>
              <a:rPr dirty="0" spc="-25"/>
              <a:t>is </a:t>
            </a:r>
            <a:r>
              <a:rPr dirty="0" spc="-10"/>
              <a:t>accepted;</a:t>
            </a:r>
          </a:p>
          <a:p>
            <a:pPr marL="355600" marR="149860" indent="-342900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/>
              <a:t>if</a:t>
            </a:r>
            <a:r>
              <a:rPr dirty="0" spc="-25"/>
              <a:t> </a:t>
            </a:r>
            <a:r>
              <a:rPr dirty="0"/>
              <a:t>not,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45"/>
              <a:t> </a:t>
            </a:r>
            <a:r>
              <a:rPr dirty="0"/>
              <a:t>majority</a:t>
            </a:r>
            <a:r>
              <a:rPr dirty="0" spc="-10"/>
              <a:t> </a:t>
            </a:r>
            <a:r>
              <a:rPr dirty="0"/>
              <a:t>opinion</a:t>
            </a:r>
            <a:r>
              <a:rPr dirty="0" spc="-30"/>
              <a:t> </a:t>
            </a:r>
            <a:r>
              <a:rPr dirty="0"/>
              <a:t>rules.</a:t>
            </a:r>
            <a:r>
              <a:rPr dirty="0" spc="-40"/>
              <a:t> </a:t>
            </a:r>
            <a:r>
              <a:rPr dirty="0"/>
              <a:t>This</a:t>
            </a:r>
            <a:r>
              <a:rPr dirty="0" spc="-40"/>
              <a:t> </a:t>
            </a:r>
            <a:r>
              <a:rPr dirty="0"/>
              <a:t>is</a:t>
            </a:r>
            <a:r>
              <a:rPr dirty="0" spc="-20"/>
              <a:t> </a:t>
            </a:r>
            <a:r>
              <a:rPr dirty="0"/>
              <a:t>a</a:t>
            </a:r>
            <a:r>
              <a:rPr dirty="0" spc="-25"/>
              <a:t> </a:t>
            </a:r>
            <a:r>
              <a:rPr dirty="0"/>
              <a:t>form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10"/>
              <a:t>forward </a:t>
            </a:r>
            <a:r>
              <a:rPr dirty="0"/>
              <a:t>error</a:t>
            </a:r>
            <a:r>
              <a:rPr dirty="0" spc="-60"/>
              <a:t> </a:t>
            </a:r>
            <a:r>
              <a:rPr dirty="0"/>
              <a:t>correction</a:t>
            </a:r>
            <a:r>
              <a:rPr dirty="0" spc="-45"/>
              <a:t> </a:t>
            </a:r>
            <a:r>
              <a:rPr dirty="0"/>
              <a:t>(for</a:t>
            </a:r>
            <a:r>
              <a:rPr dirty="0" spc="-90"/>
              <a:t> </a:t>
            </a:r>
            <a:r>
              <a:rPr dirty="0"/>
              <a:t>the</a:t>
            </a:r>
            <a:r>
              <a:rPr dirty="0" spc="-60"/>
              <a:t> </a:t>
            </a:r>
            <a:r>
              <a:rPr dirty="0"/>
              <a:t>header</a:t>
            </a:r>
            <a:r>
              <a:rPr dirty="0" spc="-80"/>
              <a:t> </a:t>
            </a:r>
            <a:r>
              <a:rPr dirty="0" spc="-10"/>
              <a:t>only).</a:t>
            </a:r>
          </a:p>
          <a:p>
            <a:pPr marL="355600" marR="223520" indent="-342900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/>
              <a:t>This</a:t>
            </a:r>
            <a:r>
              <a:rPr dirty="0" spc="-65"/>
              <a:t> </a:t>
            </a:r>
            <a:r>
              <a:rPr dirty="0"/>
              <a:t>double</a:t>
            </a:r>
            <a:r>
              <a:rPr dirty="0" spc="-60"/>
              <a:t> </a:t>
            </a:r>
            <a:r>
              <a:rPr dirty="0"/>
              <a:t>error</a:t>
            </a:r>
            <a:r>
              <a:rPr dirty="0" spc="-55"/>
              <a:t> </a:t>
            </a:r>
            <a:r>
              <a:rPr dirty="0"/>
              <a:t>control</a:t>
            </a:r>
            <a:r>
              <a:rPr dirty="0" spc="-40"/>
              <a:t> </a:t>
            </a:r>
            <a:r>
              <a:rPr dirty="0"/>
              <a:t>is</a:t>
            </a:r>
            <a:r>
              <a:rPr dirty="0" spc="-55"/>
              <a:t> </a:t>
            </a:r>
            <a:r>
              <a:rPr dirty="0"/>
              <a:t>needed</a:t>
            </a:r>
            <a:r>
              <a:rPr dirty="0" spc="-80"/>
              <a:t> </a:t>
            </a:r>
            <a:r>
              <a:rPr dirty="0"/>
              <a:t>because</a:t>
            </a:r>
            <a:r>
              <a:rPr dirty="0" spc="-75"/>
              <a:t> </a:t>
            </a:r>
            <a:r>
              <a:rPr dirty="0"/>
              <a:t>the</a:t>
            </a:r>
            <a:r>
              <a:rPr dirty="0" spc="-50"/>
              <a:t> </a:t>
            </a:r>
            <a:r>
              <a:rPr dirty="0"/>
              <a:t>nature</a:t>
            </a:r>
            <a:r>
              <a:rPr dirty="0" spc="-65"/>
              <a:t> </a:t>
            </a:r>
            <a:r>
              <a:rPr dirty="0" spc="-25"/>
              <a:t>of </a:t>
            </a:r>
            <a:r>
              <a:rPr dirty="0"/>
              <a:t>the</a:t>
            </a:r>
            <a:r>
              <a:rPr dirty="0" spc="-35"/>
              <a:t> </a:t>
            </a:r>
            <a:r>
              <a:rPr dirty="0" spc="-10"/>
              <a:t>communication,</a:t>
            </a:r>
            <a:r>
              <a:rPr dirty="0" spc="-35"/>
              <a:t> </a:t>
            </a:r>
            <a:r>
              <a:rPr dirty="0"/>
              <a:t>via</a:t>
            </a:r>
            <a:r>
              <a:rPr dirty="0" spc="-25"/>
              <a:t> </a:t>
            </a:r>
            <a:r>
              <a:rPr dirty="0" spc="-45"/>
              <a:t>air,</a:t>
            </a:r>
            <a:r>
              <a:rPr dirty="0" spc="-15"/>
              <a:t> </a:t>
            </a:r>
            <a:r>
              <a:rPr dirty="0"/>
              <a:t>is</a:t>
            </a:r>
            <a:r>
              <a:rPr dirty="0" spc="-35"/>
              <a:t> </a:t>
            </a:r>
            <a:r>
              <a:rPr dirty="0"/>
              <a:t>very</a:t>
            </a:r>
            <a:r>
              <a:rPr dirty="0" spc="-25"/>
              <a:t> </a:t>
            </a:r>
            <a:r>
              <a:rPr dirty="0" spc="-10"/>
              <a:t>noisy.</a:t>
            </a:r>
          </a:p>
          <a:p>
            <a:pPr marL="355600" indent="-342900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/>
              <a:t>Note</a:t>
            </a:r>
            <a:r>
              <a:rPr dirty="0" spc="-40"/>
              <a:t> </a:t>
            </a:r>
            <a:r>
              <a:rPr dirty="0"/>
              <a:t>that</a:t>
            </a:r>
            <a:r>
              <a:rPr dirty="0" spc="-30"/>
              <a:t> </a:t>
            </a:r>
            <a:r>
              <a:rPr dirty="0"/>
              <a:t>there</a:t>
            </a:r>
            <a:r>
              <a:rPr dirty="0" spc="-30"/>
              <a:t> </a:t>
            </a:r>
            <a:r>
              <a:rPr dirty="0"/>
              <a:t>is</a:t>
            </a:r>
            <a:r>
              <a:rPr dirty="0" spc="-30"/>
              <a:t> </a:t>
            </a:r>
            <a:r>
              <a:rPr dirty="0"/>
              <a:t>no</a:t>
            </a:r>
            <a:r>
              <a:rPr dirty="0" spc="-25"/>
              <a:t> </a:t>
            </a:r>
            <a:r>
              <a:rPr dirty="0" spc="-10"/>
              <a:t>retransmission</a:t>
            </a:r>
            <a:r>
              <a:rPr dirty="0" spc="-55"/>
              <a:t> </a:t>
            </a:r>
            <a:r>
              <a:rPr dirty="0"/>
              <a:t>in</a:t>
            </a:r>
            <a:r>
              <a:rPr dirty="0" spc="-35"/>
              <a:t> </a:t>
            </a:r>
            <a:r>
              <a:rPr dirty="0"/>
              <a:t>this</a:t>
            </a:r>
            <a:r>
              <a:rPr dirty="0" spc="-10"/>
              <a:t> sublayer</a:t>
            </a: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83667" rIns="0" bIns="0" rtlCol="0" vert="horz">
            <a:spAutoFit/>
          </a:bodyPr>
          <a:lstStyle/>
          <a:p>
            <a:pPr marL="189865">
              <a:lnSpc>
                <a:spcPct val="100000"/>
              </a:lnSpc>
              <a:spcBef>
                <a:spcPts val="95"/>
              </a:spcBef>
            </a:pPr>
            <a:r>
              <a:rPr dirty="0"/>
              <a:t>Frame</a:t>
            </a:r>
            <a:r>
              <a:rPr dirty="0" spc="-80"/>
              <a:t> </a:t>
            </a:r>
            <a:r>
              <a:rPr dirty="0" spc="-10"/>
              <a:t>Format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1140" y="174751"/>
            <a:ext cx="7813040" cy="2617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i="1">
                <a:latin typeface="Calibri"/>
                <a:cs typeface="Calibri"/>
              </a:rPr>
              <a:t>Frame</a:t>
            </a:r>
            <a:r>
              <a:rPr dirty="0" sz="3200" spc="-120" i="1">
                <a:latin typeface="Calibri"/>
                <a:cs typeface="Calibri"/>
              </a:rPr>
              <a:t> </a:t>
            </a:r>
            <a:r>
              <a:rPr dirty="0" sz="3200" spc="-10" i="1">
                <a:latin typeface="Calibri"/>
                <a:cs typeface="Calibri"/>
              </a:rPr>
              <a:t>Format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35"/>
              </a:spcBef>
            </a:pPr>
            <a:endParaRPr sz="3200">
              <a:latin typeface="Calibri"/>
              <a:cs typeface="Calibri"/>
            </a:endParaRPr>
          </a:p>
          <a:p>
            <a:pPr algn="just" marL="584200" marR="508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584200" algn="l"/>
              </a:tabLst>
            </a:pPr>
            <a:r>
              <a:rPr dirty="0" sz="3200" spc="-10" b="1">
                <a:latin typeface="Calibri"/>
                <a:cs typeface="Calibri"/>
              </a:rPr>
              <a:t>Payload.</a:t>
            </a:r>
            <a:r>
              <a:rPr dirty="0" sz="3200" spc="-95" b="1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This</a:t>
            </a:r>
            <a:r>
              <a:rPr dirty="0" sz="3200" spc="-6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subfield</a:t>
            </a:r>
            <a:r>
              <a:rPr dirty="0" sz="3200" spc="-3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can</a:t>
            </a:r>
            <a:r>
              <a:rPr dirty="0" sz="3200" spc="-6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be</a:t>
            </a:r>
            <a:r>
              <a:rPr dirty="0" sz="3200" spc="-6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0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to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2740</a:t>
            </a:r>
            <a:r>
              <a:rPr dirty="0" sz="3200" spc="-45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bits </a:t>
            </a:r>
            <a:r>
              <a:rPr dirty="0" sz="3200">
                <a:latin typeface="Calibri"/>
                <a:cs typeface="Calibri"/>
              </a:rPr>
              <a:t>long.</a:t>
            </a:r>
            <a:r>
              <a:rPr dirty="0" sz="3200" spc="-60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It</a:t>
            </a:r>
            <a:r>
              <a:rPr dirty="0" sz="3200" spc="-80" b="1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contains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data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or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control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information </a:t>
            </a:r>
            <a:r>
              <a:rPr dirty="0" sz="3200">
                <a:latin typeface="Calibri"/>
                <a:cs typeface="Calibri"/>
              </a:rPr>
              <a:t>coming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from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upper</a:t>
            </a:r>
            <a:r>
              <a:rPr dirty="0" sz="3200" spc="-6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layers.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41787"/>
            <a:ext cx="8610600" cy="5648960"/>
          </a:xfrm>
          <a:prstGeom prst="rect">
            <a:avLst/>
          </a:prstGeom>
        </p:spPr>
        <p:txBody>
          <a:bodyPr wrap="square" lIns="0" tIns="62230" rIns="0" bIns="0" rtlCol="0" vert="horz">
            <a:spAutoFit/>
          </a:bodyPr>
          <a:lstStyle/>
          <a:p>
            <a:pPr marL="356235" indent="-343535">
              <a:lnSpc>
                <a:spcPct val="100000"/>
              </a:lnSpc>
              <a:spcBef>
                <a:spcPts val="490"/>
              </a:spcBef>
              <a:buFont typeface="Arial MT"/>
              <a:buChar char="•"/>
              <a:tabLst>
                <a:tab pos="356235" algn="l"/>
              </a:tabLst>
            </a:pPr>
            <a:r>
              <a:rPr dirty="0" sz="3000" spc="-10" b="1">
                <a:latin typeface="Calibri"/>
                <a:cs typeface="Calibri"/>
              </a:rPr>
              <a:t>L2CAP</a:t>
            </a:r>
            <a:endParaRPr sz="3000">
              <a:latin typeface="Calibri"/>
              <a:cs typeface="Calibri"/>
            </a:endParaRPr>
          </a:p>
          <a:p>
            <a:pPr algn="just" lvl="1" marL="756285" marR="7620" indent="-287020">
              <a:lnSpc>
                <a:spcPts val="2810"/>
              </a:lnSpc>
              <a:spcBef>
                <a:spcPts val="69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70">
                <a:latin typeface="Calibri"/>
                <a:cs typeface="Calibri"/>
              </a:rPr>
              <a:t>  </a:t>
            </a:r>
            <a:r>
              <a:rPr dirty="0" sz="2600" b="1">
                <a:latin typeface="Calibri"/>
                <a:cs typeface="Calibri"/>
              </a:rPr>
              <a:t>Logical</a:t>
            </a:r>
            <a:r>
              <a:rPr dirty="0" sz="2600" spc="70" b="1">
                <a:latin typeface="Calibri"/>
                <a:cs typeface="Calibri"/>
              </a:rPr>
              <a:t>  </a:t>
            </a:r>
            <a:r>
              <a:rPr dirty="0" sz="2600" b="1">
                <a:latin typeface="Calibri"/>
                <a:cs typeface="Calibri"/>
              </a:rPr>
              <a:t>Link</a:t>
            </a:r>
            <a:r>
              <a:rPr dirty="0" sz="2600" spc="80" b="1">
                <a:latin typeface="Calibri"/>
                <a:cs typeface="Calibri"/>
              </a:rPr>
              <a:t>  </a:t>
            </a:r>
            <a:r>
              <a:rPr dirty="0" sz="2600" b="1">
                <a:latin typeface="Calibri"/>
                <a:cs typeface="Calibri"/>
              </a:rPr>
              <a:t>Control</a:t>
            </a:r>
            <a:r>
              <a:rPr dirty="0" sz="2600" spc="75" b="1">
                <a:latin typeface="Calibri"/>
                <a:cs typeface="Calibri"/>
              </a:rPr>
              <a:t>  </a:t>
            </a:r>
            <a:r>
              <a:rPr dirty="0" sz="2600" b="1">
                <a:latin typeface="Calibri"/>
                <a:cs typeface="Calibri"/>
              </a:rPr>
              <a:t>and</a:t>
            </a:r>
            <a:r>
              <a:rPr dirty="0" sz="2600" spc="85" b="1">
                <a:latin typeface="Calibri"/>
                <a:cs typeface="Calibri"/>
              </a:rPr>
              <a:t>  </a:t>
            </a:r>
            <a:r>
              <a:rPr dirty="0" sz="2600" b="1">
                <a:latin typeface="Calibri"/>
                <a:cs typeface="Calibri"/>
              </a:rPr>
              <a:t>Adaptation</a:t>
            </a:r>
            <a:r>
              <a:rPr dirty="0" sz="2600" spc="80" b="1">
                <a:latin typeface="Calibri"/>
                <a:cs typeface="Calibri"/>
              </a:rPr>
              <a:t>  </a:t>
            </a:r>
            <a:r>
              <a:rPr dirty="0" sz="2600" b="1">
                <a:latin typeface="Calibri"/>
                <a:cs typeface="Calibri"/>
              </a:rPr>
              <a:t>Protocol,</a:t>
            </a:r>
            <a:r>
              <a:rPr dirty="0" sz="2600" spc="65" b="1">
                <a:latin typeface="Calibri"/>
                <a:cs typeface="Calibri"/>
              </a:rPr>
              <a:t>  </a:t>
            </a:r>
            <a:r>
              <a:rPr dirty="0" sz="2600" spc="-25" b="1">
                <a:latin typeface="Calibri"/>
                <a:cs typeface="Calibri"/>
              </a:rPr>
              <a:t>or </a:t>
            </a:r>
            <a:r>
              <a:rPr dirty="0" sz="2600" b="1">
                <a:latin typeface="Calibri"/>
                <a:cs typeface="Calibri"/>
              </a:rPr>
              <a:t>L2CAP</a:t>
            </a:r>
            <a:r>
              <a:rPr dirty="0" sz="2600" spc="5" b="1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(L2</a:t>
            </a:r>
            <a:r>
              <a:rPr dirty="0" sz="2600" spc="-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here</a:t>
            </a:r>
            <a:r>
              <a:rPr dirty="0" sz="2600" spc="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means</a:t>
            </a:r>
            <a:r>
              <a:rPr dirty="0" sz="2600" spc="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LL),</a:t>
            </a:r>
            <a:r>
              <a:rPr dirty="0" sz="2600" spc="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roughly equivalent</a:t>
            </a:r>
            <a:r>
              <a:rPr dirty="0" sz="2600" spc="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 the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LLC </a:t>
            </a:r>
            <a:r>
              <a:rPr dirty="0" sz="2600">
                <a:latin typeface="Calibri"/>
                <a:cs typeface="Calibri"/>
              </a:rPr>
              <a:t>sublayer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LANs.</a:t>
            </a:r>
            <a:endParaRPr sz="2600">
              <a:latin typeface="Calibri"/>
              <a:cs typeface="Calibri"/>
            </a:endParaRPr>
          </a:p>
          <a:p>
            <a:pPr algn="just" lvl="1" marL="756285" marR="7620" indent="-287020">
              <a:lnSpc>
                <a:spcPts val="2810"/>
              </a:lnSpc>
              <a:spcBef>
                <a:spcPts val="61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600">
                <a:latin typeface="Calibri"/>
                <a:cs typeface="Calibri"/>
              </a:rPr>
              <a:t>It</a:t>
            </a:r>
            <a:r>
              <a:rPr dirty="0" sz="2600" spc="1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1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used</a:t>
            </a:r>
            <a:r>
              <a:rPr dirty="0" sz="2600" spc="1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1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data</a:t>
            </a:r>
            <a:r>
              <a:rPr dirty="0" sz="2600" spc="1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exchange</a:t>
            </a:r>
            <a:r>
              <a:rPr dirty="0" sz="2600" spc="1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on</a:t>
            </a:r>
            <a:r>
              <a:rPr dirty="0" sz="2600" spc="1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</a:t>
            </a:r>
            <a:r>
              <a:rPr dirty="0" sz="2600" spc="1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ACL</a:t>
            </a:r>
            <a:r>
              <a:rPr dirty="0" sz="2600" spc="1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link;</a:t>
            </a:r>
            <a:r>
              <a:rPr dirty="0" sz="2600" spc="1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SCO</a:t>
            </a:r>
            <a:r>
              <a:rPr dirty="0" sz="2600" spc="15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channels </a:t>
            </a:r>
            <a:r>
              <a:rPr dirty="0" sz="2600">
                <a:latin typeface="Calibri"/>
                <a:cs typeface="Calibri"/>
              </a:rPr>
              <a:t>do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not</a:t>
            </a:r>
            <a:r>
              <a:rPr dirty="0" sz="2600" spc="-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use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L2CAP.</a:t>
            </a:r>
            <a:endParaRPr sz="2600">
              <a:latin typeface="Calibri"/>
              <a:cs typeface="Calibri"/>
            </a:endParaRPr>
          </a:p>
          <a:p>
            <a:pPr algn="just" lvl="1" marL="756285" marR="8255" indent="-287020">
              <a:lnSpc>
                <a:spcPts val="2810"/>
              </a:lnSpc>
              <a:spcBef>
                <a:spcPts val="62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I6-</a:t>
            </a:r>
            <a:r>
              <a:rPr dirty="0" sz="2600">
                <a:latin typeface="Calibri"/>
                <a:cs typeface="Calibri"/>
              </a:rPr>
              <a:t>bit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length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field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defines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size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data,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bytes, </a:t>
            </a:r>
            <a:r>
              <a:rPr dirty="0" sz="2600">
                <a:latin typeface="Calibri"/>
                <a:cs typeface="Calibri"/>
              </a:rPr>
              <a:t>coming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from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upper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layers.</a:t>
            </a:r>
            <a:endParaRPr sz="2600">
              <a:latin typeface="Calibri"/>
              <a:cs typeface="Calibri"/>
            </a:endParaRPr>
          </a:p>
          <a:p>
            <a:pPr algn="just" lvl="1" marL="756285" indent="-286385">
              <a:lnSpc>
                <a:spcPct val="100000"/>
              </a:lnSpc>
              <a:spcBef>
                <a:spcPts val="27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600">
                <a:latin typeface="Calibri"/>
                <a:cs typeface="Calibri"/>
              </a:rPr>
              <a:t>Data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can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be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up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65,535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bytes.</a:t>
            </a:r>
            <a:endParaRPr sz="2600">
              <a:latin typeface="Calibri"/>
              <a:cs typeface="Calibri"/>
            </a:endParaRPr>
          </a:p>
          <a:p>
            <a:pPr algn="just" lvl="1" marL="756285" marR="8255" indent="-287020">
              <a:lnSpc>
                <a:spcPts val="2810"/>
              </a:lnSpc>
              <a:spcBef>
                <a:spcPts val="66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4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channel</a:t>
            </a:r>
            <a:r>
              <a:rPr dirty="0" sz="2600" spc="4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id</a:t>
            </a:r>
            <a:r>
              <a:rPr dirty="0" sz="2600" spc="4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(CID)</a:t>
            </a:r>
            <a:r>
              <a:rPr dirty="0" sz="2600" spc="4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defines</a:t>
            </a:r>
            <a:r>
              <a:rPr dirty="0" sz="2600" spc="459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4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unique</a:t>
            </a:r>
            <a:r>
              <a:rPr dirty="0" sz="2600" spc="4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identifier</a:t>
            </a:r>
            <a:r>
              <a:rPr dirty="0" sz="2600" spc="4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45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the </a:t>
            </a:r>
            <a:r>
              <a:rPr dirty="0" sz="2600">
                <a:latin typeface="Calibri"/>
                <a:cs typeface="Calibri"/>
              </a:rPr>
              <a:t>virtual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channel</a:t>
            </a:r>
            <a:r>
              <a:rPr dirty="0" sz="2600" spc="-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created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at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this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level.</a:t>
            </a:r>
            <a:endParaRPr sz="2600">
              <a:latin typeface="Calibri"/>
              <a:cs typeface="Calibri"/>
            </a:endParaRPr>
          </a:p>
          <a:p>
            <a:pPr algn="just" lvl="1" marL="756285" marR="5080" indent="-287020">
              <a:lnSpc>
                <a:spcPct val="90000"/>
              </a:lnSpc>
              <a:spcBef>
                <a:spcPts val="58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L2CAP</a:t>
            </a:r>
            <a:r>
              <a:rPr dirty="0" sz="2600" spc="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has</a:t>
            </a:r>
            <a:r>
              <a:rPr dirty="0" sz="2600" spc="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specific</a:t>
            </a:r>
            <a:r>
              <a:rPr dirty="0" sz="2600" spc="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duties:</a:t>
            </a:r>
            <a:r>
              <a:rPr dirty="0" sz="2600" spc="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multiplexing,</a:t>
            </a:r>
            <a:r>
              <a:rPr dirty="0" sz="2600" spc="9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segmentation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22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reassembly,</a:t>
            </a:r>
            <a:r>
              <a:rPr dirty="0" sz="2600" spc="229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quality</a:t>
            </a:r>
            <a:r>
              <a:rPr dirty="0" sz="2600" spc="22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22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service</a:t>
            </a:r>
            <a:r>
              <a:rPr dirty="0" sz="2600" spc="22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(QoS),</a:t>
            </a:r>
            <a:r>
              <a:rPr dirty="0" sz="2600" spc="22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220">
                <a:latin typeface="Calibri"/>
                <a:cs typeface="Calibri"/>
              </a:rPr>
              <a:t>  </a:t>
            </a:r>
            <a:r>
              <a:rPr dirty="0" sz="2600" spc="-10">
                <a:latin typeface="Calibri"/>
                <a:cs typeface="Calibri"/>
              </a:rPr>
              <a:t>group management.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9240" y="1734994"/>
            <a:ext cx="8797290" cy="3982720"/>
          </a:xfrm>
          <a:prstGeom prst="rect">
            <a:avLst/>
          </a:prstGeom>
        </p:spPr>
        <p:txBody>
          <a:bodyPr wrap="square" lIns="0" tIns="65405" rIns="0" bIns="0" rtlCol="0" vert="horz">
            <a:spAutoFit/>
          </a:bodyPr>
          <a:lstStyle/>
          <a:p>
            <a:pPr algn="just" marL="354330" indent="-341630">
              <a:lnSpc>
                <a:spcPct val="100000"/>
              </a:lnSpc>
              <a:spcBef>
                <a:spcPts val="515"/>
              </a:spcBef>
              <a:buFont typeface="Arial MT"/>
              <a:buChar char="•"/>
              <a:tabLst>
                <a:tab pos="354330" algn="l"/>
              </a:tabLst>
            </a:pPr>
            <a:r>
              <a:rPr dirty="0" sz="3200" spc="-10" i="1">
                <a:latin typeface="Calibri"/>
                <a:cs typeface="Calibri"/>
              </a:rPr>
              <a:t>Multiplexing</a:t>
            </a:r>
            <a:endParaRPr sz="3200">
              <a:latin typeface="Calibri"/>
              <a:cs typeface="Calibri"/>
            </a:endParaRPr>
          </a:p>
          <a:p>
            <a:pPr algn="just" lvl="1" marL="756285" indent="-286385">
              <a:lnSpc>
                <a:spcPct val="100000"/>
              </a:lnSpc>
              <a:spcBef>
                <a:spcPts val="35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L2CAP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can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do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multiplexing.</a:t>
            </a:r>
            <a:endParaRPr sz="2800">
              <a:latin typeface="Calibri"/>
              <a:cs typeface="Calibri"/>
            </a:endParaRPr>
          </a:p>
          <a:p>
            <a:pPr algn="just" lvl="1" marL="756285" marR="5080" indent="-287020">
              <a:lnSpc>
                <a:spcPct val="90000"/>
              </a:lnSpc>
              <a:spcBef>
                <a:spcPts val="67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800">
                <a:latin typeface="Calibri"/>
                <a:cs typeface="Calibri"/>
              </a:rPr>
              <a:t>At</a:t>
            </a:r>
            <a:r>
              <a:rPr dirty="0" sz="2800" spc="6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6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sender</a:t>
            </a:r>
            <a:r>
              <a:rPr dirty="0" sz="2800" spc="6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site,</a:t>
            </a:r>
            <a:r>
              <a:rPr dirty="0" sz="2800" spc="6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it</a:t>
            </a:r>
            <a:r>
              <a:rPr dirty="0" sz="2800" spc="6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accepts</a:t>
            </a:r>
            <a:r>
              <a:rPr dirty="0" sz="2800" spc="6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data</a:t>
            </a:r>
            <a:r>
              <a:rPr dirty="0" sz="2800" spc="6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from</a:t>
            </a:r>
            <a:r>
              <a:rPr dirty="0" sz="2800" spc="6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one</a:t>
            </a:r>
            <a:r>
              <a:rPr dirty="0" sz="2800" spc="6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63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the </a:t>
            </a:r>
            <a:r>
              <a:rPr dirty="0" sz="2800" spc="-10">
                <a:latin typeface="Calibri"/>
                <a:cs typeface="Calibri"/>
              </a:rPr>
              <a:t>upper-</a:t>
            </a:r>
            <a:r>
              <a:rPr dirty="0" sz="2800">
                <a:latin typeface="Calibri"/>
                <a:cs typeface="Calibri"/>
              </a:rPr>
              <a:t>layer</a:t>
            </a:r>
            <a:r>
              <a:rPr dirty="0" sz="2800" spc="1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protocols,</a:t>
            </a:r>
            <a:r>
              <a:rPr dirty="0" sz="2800" spc="1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frames</a:t>
            </a:r>
            <a:r>
              <a:rPr dirty="0" sz="2800" spc="1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them,</a:t>
            </a:r>
            <a:r>
              <a:rPr dirty="0" sz="2800" spc="1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1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delivers</a:t>
            </a:r>
            <a:r>
              <a:rPr dirty="0" sz="2800" spc="9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them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baseband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layer.</a:t>
            </a:r>
            <a:endParaRPr sz="2800">
              <a:latin typeface="Calibri"/>
              <a:cs typeface="Calibri"/>
            </a:endParaRPr>
          </a:p>
          <a:p>
            <a:pPr algn="just" lvl="1" marL="756285" marR="6985" indent="-287020">
              <a:lnSpc>
                <a:spcPts val="3020"/>
              </a:lnSpc>
              <a:spcBef>
                <a:spcPts val="72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800">
                <a:latin typeface="Calibri"/>
                <a:cs typeface="Calibri"/>
              </a:rPr>
              <a:t>At</a:t>
            </a:r>
            <a:r>
              <a:rPr dirty="0" sz="2800" spc="19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20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receiver</a:t>
            </a:r>
            <a:r>
              <a:rPr dirty="0" sz="2800" spc="19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site,</a:t>
            </a:r>
            <a:r>
              <a:rPr dirty="0" sz="2800" spc="19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it</a:t>
            </a:r>
            <a:r>
              <a:rPr dirty="0" sz="2800" spc="19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accepts</a:t>
            </a:r>
            <a:r>
              <a:rPr dirty="0" sz="2800" spc="20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20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frame</a:t>
            </a:r>
            <a:r>
              <a:rPr dirty="0" sz="2800" spc="20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from</a:t>
            </a:r>
            <a:r>
              <a:rPr dirty="0" sz="2800" spc="200">
                <a:latin typeface="Calibri"/>
                <a:cs typeface="Calibri"/>
              </a:rPr>
              <a:t>  </a:t>
            </a:r>
            <a:r>
              <a:rPr dirty="0" sz="2800" spc="-25">
                <a:latin typeface="Calibri"/>
                <a:cs typeface="Calibri"/>
              </a:rPr>
              <a:t>the </a:t>
            </a:r>
            <a:r>
              <a:rPr dirty="0" sz="2800">
                <a:latin typeface="Calibri"/>
                <a:cs typeface="Calibri"/>
              </a:rPr>
              <a:t>baseband</a:t>
            </a:r>
            <a:r>
              <a:rPr dirty="0" sz="2800" spc="2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layer,</a:t>
            </a:r>
            <a:r>
              <a:rPr dirty="0" sz="2800" spc="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extracts</a:t>
            </a:r>
            <a:r>
              <a:rPr dirty="0" sz="2800" spc="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data,</a:t>
            </a:r>
            <a:r>
              <a:rPr dirty="0" sz="2800" spc="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delivers</a:t>
            </a:r>
            <a:r>
              <a:rPr dirty="0" sz="2800" spc="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them</a:t>
            </a:r>
            <a:r>
              <a:rPr dirty="0" sz="2800" spc="2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to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114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appropriate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protocol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layer.</a:t>
            </a:r>
            <a:endParaRPr sz="2800">
              <a:latin typeface="Calibri"/>
              <a:cs typeface="Calibri"/>
            </a:endParaRPr>
          </a:p>
          <a:p>
            <a:pPr algn="just" lvl="1" marL="756285" indent="-286385">
              <a:lnSpc>
                <a:spcPct val="100000"/>
              </a:lnSpc>
              <a:spcBef>
                <a:spcPts val="30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800">
                <a:latin typeface="Calibri"/>
                <a:cs typeface="Calibri"/>
              </a:rPr>
              <a:t>It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creates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kind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virtual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channel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8838" y="330211"/>
            <a:ext cx="8230078" cy="104647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1140" y="141787"/>
            <a:ext cx="8683625" cy="5490845"/>
          </a:xfrm>
          <a:prstGeom prst="rect">
            <a:avLst/>
          </a:prstGeom>
        </p:spPr>
        <p:txBody>
          <a:bodyPr wrap="square" lIns="0" tIns="62230" rIns="0" bIns="0" rtlCol="0" vert="horz">
            <a:spAutoFit/>
          </a:bodyPr>
          <a:lstStyle/>
          <a:p>
            <a:pPr marL="356235" indent="-343535">
              <a:lnSpc>
                <a:spcPct val="100000"/>
              </a:lnSpc>
              <a:spcBef>
                <a:spcPts val="490"/>
              </a:spcBef>
              <a:buFont typeface="Arial MT"/>
              <a:buChar char="•"/>
              <a:tabLst>
                <a:tab pos="356235" algn="l"/>
              </a:tabLst>
            </a:pPr>
            <a:r>
              <a:rPr dirty="0" sz="3000" spc="-10" i="1">
                <a:latin typeface="Calibri"/>
                <a:cs typeface="Calibri"/>
              </a:rPr>
              <a:t>Segmentation</a:t>
            </a:r>
            <a:r>
              <a:rPr dirty="0" sz="3000" spc="-70" i="1">
                <a:latin typeface="Calibri"/>
                <a:cs typeface="Calibri"/>
              </a:rPr>
              <a:t> </a:t>
            </a:r>
            <a:r>
              <a:rPr dirty="0" sz="3000" i="1">
                <a:latin typeface="Calibri"/>
                <a:cs typeface="Calibri"/>
              </a:rPr>
              <a:t>and</a:t>
            </a:r>
            <a:r>
              <a:rPr dirty="0" sz="3000" spc="-55" i="1">
                <a:latin typeface="Calibri"/>
                <a:cs typeface="Calibri"/>
              </a:rPr>
              <a:t> </a:t>
            </a:r>
            <a:r>
              <a:rPr dirty="0" sz="3000" spc="-10" i="1">
                <a:latin typeface="Calibri"/>
                <a:cs typeface="Calibri"/>
              </a:rPr>
              <a:t>Reassembly</a:t>
            </a:r>
            <a:endParaRPr sz="3000">
              <a:latin typeface="Calibri"/>
              <a:cs typeface="Calibri"/>
            </a:endParaRPr>
          </a:p>
          <a:p>
            <a:pPr algn="just" lvl="1" marL="756285" marR="5080" indent="-287020">
              <a:lnSpc>
                <a:spcPts val="2810"/>
              </a:lnSpc>
              <a:spcBef>
                <a:spcPts val="69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4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maximum</a:t>
            </a:r>
            <a:r>
              <a:rPr dirty="0" sz="2600" spc="4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size</a:t>
            </a:r>
            <a:r>
              <a:rPr dirty="0" sz="2600" spc="4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43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43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payload</a:t>
            </a:r>
            <a:r>
              <a:rPr dirty="0" sz="2600" spc="4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field</a:t>
            </a:r>
            <a:r>
              <a:rPr dirty="0" sz="2600" spc="4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4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44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baseband </a:t>
            </a:r>
            <a:r>
              <a:rPr dirty="0" sz="2600">
                <a:latin typeface="Calibri"/>
                <a:cs typeface="Calibri"/>
              </a:rPr>
              <a:t>layer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2774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bits,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or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343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bytes.</a:t>
            </a:r>
            <a:endParaRPr sz="2600">
              <a:latin typeface="Calibri"/>
              <a:cs typeface="Calibri"/>
            </a:endParaRPr>
          </a:p>
          <a:p>
            <a:pPr algn="just" lvl="1" marL="756285" marR="5080" indent="-287020">
              <a:lnSpc>
                <a:spcPct val="90000"/>
              </a:lnSpc>
              <a:spcBef>
                <a:spcPts val="58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600">
                <a:latin typeface="Calibri"/>
                <a:cs typeface="Calibri"/>
              </a:rPr>
              <a:t>This</a:t>
            </a:r>
            <a:r>
              <a:rPr dirty="0" sz="2600" spc="5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includes</a:t>
            </a:r>
            <a:r>
              <a:rPr dirty="0" sz="2600" spc="5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4</a:t>
            </a:r>
            <a:r>
              <a:rPr dirty="0" sz="2600" spc="5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bytes</a:t>
            </a:r>
            <a:r>
              <a:rPr dirty="0" sz="2600" spc="5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5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define</a:t>
            </a:r>
            <a:r>
              <a:rPr dirty="0" sz="2600" spc="5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5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packet</a:t>
            </a:r>
            <a:r>
              <a:rPr dirty="0" sz="2600" spc="6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50">
                <a:latin typeface="Calibri"/>
                <a:cs typeface="Calibri"/>
              </a:rPr>
              <a:t>  </a:t>
            </a:r>
            <a:r>
              <a:rPr dirty="0" sz="2600" spc="-10">
                <a:latin typeface="Calibri"/>
                <a:cs typeface="Calibri"/>
              </a:rPr>
              <a:t>packet </a:t>
            </a:r>
            <a:r>
              <a:rPr dirty="0" sz="2600">
                <a:latin typeface="Calibri"/>
                <a:cs typeface="Calibri"/>
              </a:rPr>
              <a:t>length.</a:t>
            </a:r>
            <a:r>
              <a:rPr dirty="0" sz="2600" spc="4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Therefore,</a:t>
            </a:r>
            <a:r>
              <a:rPr dirty="0" sz="2600" spc="4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4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size</a:t>
            </a:r>
            <a:r>
              <a:rPr dirty="0" sz="2600" spc="4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4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4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packet</a:t>
            </a:r>
            <a:r>
              <a:rPr dirty="0" sz="2600" spc="4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that</a:t>
            </a:r>
            <a:r>
              <a:rPr dirty="0" sz="2600" spc="43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can</a:t>
            </a:r>
            <a:r>
              <a:rPr dirty="0" sz="2600" spc="43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arrive </a:t>
            </a:r>
            <a:r>
              <a:rPr dirty="0" sz="2600">
                <a:latin typeface="Calibri"/>
                <a:cs typeface="Calibri"/>
              </a:rPr>
              <a:t>from</a:t>
            </a:r>
            <a:r>
              <a:rPr dirty="0" sz="2600" spc="6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an</a:t>
            </a:r>
            <a:r>
              <a:rPr dirty="0" sz="2600" spc="6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upper</a:t>
            </a:r>
            <a:r>
              <a:rPr dirty="0" sz="2600" spc="7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layer</a:t>
            </a:r>
            <a:r>
              <a:rPr dirty="0" sz="2600" spc="6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can</a:t>
            </a:r>
            <a:r>
              <a:rPr dirty="0" sz="2600" spc="6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only</a:t>
            </a:r>
            <a:r>
              <a:rPr dirty="0" sz="2600" spc="6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be</a:t>
            </a:r>
            <a:r>
              <a:rPr dirty="0" sz="2600" spc="6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339</a:t>
            </a:r>
            <a:r>
              <a:rPr dirty="0" sz="2600" spc="6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bytes.</a:t>
            </a:r>
            <a:r>
              <a:rPr dirty="0" sz="2600" spc="70">
                <a:latin typeface="Calibri"/>
                <a:cs typeface="Calibri"/>
              </a:rPr>
              <a:t>  </a:t>
            </a:r>
            <a:r>
              <a:rPr dirty="0" sz="2600" spc="-20">
                <a:latin typeface="Calibri"/>
                <a:cs typeface="Calibri"/>
              </a:rPr>
              <a:t>However, </a:t>
            </a:r>
            <a:r>
              <a:rPr dirty="0" sz="2600">
                <a:latin typeface="Calibri"/>
                <a:cs typeface="Calibri"/>
              </a:rPr>
              <a:t>application</a:t>
            </a:r>
            <a:r>
              <a:rPr dirty="0" sz="2600" spc="2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layers</a:t>
            </a:r>
            <a:r>
              <a:rPr dirty="0" sz="2600" spc="2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sometimes</a:t>
            </a:r>
            <a:r>
              <a:rPr dirty="0" sz="2600" spc="2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need</a:t>
            </a:r>
            <a:r>
              <a:rPr dirty="0" sz="2600" spc="2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2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send</a:t>
            </a:r>
            <a:r>
              <a:rPr dirty="0" sz="2600" spc="2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2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data</a:t>
            </a:r>
            <a:r>
              <a:rPr dirty="0" sz="2600" spc="28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packet </a:t>
            </a:r>
            <a:r>
              <a:rPr dirty="0" sz="2600">
                <a:latin typeface="Calibri"/>
                <a:cs typeface="Calibri"/>
              </a:rPr>
              <a:t>that</a:t>
            </a:r>
            <a:r>
              <a:rPr dirty="0" sz="2600" spc="4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can</a:t>
            </a:r>
            <a:r>
              <a:rPr dirty="0" sz="2600" spc="4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be</a:t>
            </a:r>
            <a:r>
              <a:rPr dirty="0" sz="2600" spc="4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up</a:t>
            </a:r>
            <a:r>
              <a:rPr dirty="0" sz="2600" spc="4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4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65,535</a:t>
            </a:r>
            <a:r>
              <a:rPr dirty="0" sz="2600" spc="4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bytes</a:t>
            </a:r>
            <a:r>
              <a:rPr dirty="0" sz="2600" spc="4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(an</a:t>
            </a:r>
            <a:r>
              <a:rPr dirty="0" sz="2600" spc="4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Internet</a:t>
            </a:r>
            <a:r>
              <a:rPr dirty="0" sz="2600" spc="48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packet,</a:t>
            </a:r>
            <a:r>
              <a:rPr dirty="0" sz="2600" spc="459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for </a:t>
            </a:r>
            <a:r>
              <a:rPr dirty="0" sz="2600" spc="-10">
                <a:latin typeface="Calibri"/>
                <a:cs typeface="Calibri"/>
              </a:rPr>
              <a:t>example).</a:t>
            </a:r>
            <a:endParaRPr sz="2600">
              <a:latin typeface="Calibri"/>
              <a:cs typeface="Calibri"/>
            </a:endParaRPr>
          </a:p>
          <a:p>
            <a:pPr algn="just" lvl="1" marL="756285" marR="5080" indent="-287020">
              <a:lnSpc>
                <a:spcPts val="2810"/>
              </a:lnSpc>
              <a:spcBef>
                <a:spcPts val="66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2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L2CAP</a:t>
            </a:r>
            <a:r>
              <a:rPr dirty="0" sz="2600" spc="2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divides</a:t>
            </a:r>
            <a:r>
              <a:rPr dirty="0" sz="2600" spc="2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these</a:t>
            </a:r>
            <a:r>
              <a:rPr dirty="0" sz="2600" spc="229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large</a:t>
            </a:r>
            <a:r>
              <a:rPr dirty="0" sz="2600" spc="2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packets</a:t>
            </a:r>
            <a:r>
              <a:rPr dirty="0" sz="2600" spc="229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into</a:t>
            </a:r>
            <a:r>
              <a:rPr dirty="0" sz="2600" spc="2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segments</a:t>
            </a:r>
            <a:r>
              <a:rPr dirty="0" sz="2600" spc="229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and </a:t>
            </a:r>
            <a:r>
              <a:rPr dirty="0" sz="2600">
                <a:latin typeface="Calibri"/>
                <a:cs typeface="Calibri"/>
              </a:rPr>
              <a:t>adds</a:t>
            </a:r>
            <a:r>
              <a:rPr dirty="0" sz="2600" spc="17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extra</a:t>
            </a:r>
            <a:r>
              <a:rPr dirty="0" sz="2600" spc="17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information</a:t>
            </a:r>
            <a:r>
              <a:rPr dirty="0" sz="2600" spc="18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18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define</a:t>
            </a:r>
            <a:r>
              <a:rPr dirty="0" sz="2600" spc="17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17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location</a:t>
            </a:r>
            <a:r>
              <a:rPr dirty="0" sz="2600" spc="18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175">
                <a:latin typeface="Calibri"/>
                <a:cs typeface="Calibri"/>
              </a:rPr>
              <a:t>  </a:t>
            </a:r>
            <a:r>
              <a:rPr dirty="0" sz="2600" spc="-25">
                <a:latin typeface="Calibri"/>
                <a:cs typeface="Calibri"/>
              </a:rPr>
              <a:t>the </a:t>
            </a:r>
            <a:r>
              <a:rPr dirty="0" sz="2600">
                <a:latin typeface="Calibri"/>
                <a:cs typeface="Calibri"/>
              </a:rPr>
              <a:t>segments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original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packet.</a:t>
            </a:r>
            <a:endParaRPr sz="2600">
              <a:latin typeface="Calibri"/>
              <a:cs typeface="Calibri"/>
            </a:endParaRPr>
          </a:p>
          <a:p>
            <a:pPr algn="just" lvl="1" marL="756285" marR="5080" indent="-287020">
              <a:lnSpc>
                <a:spcPts val="2810"/>
              </a:lnSpc>
              <a:spcBef>
                <a:spcPts val="62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29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L2CAP</a:t>
            </a:r>
            <a:r>
              <a:rPr dirty="0" sz="2600" spc="29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segments</a:t>
            </a:r>
            <a:r>
              <a:rPr dirty="0" sz="2600" spc="30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29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packet</a:t>
            </a:r>
            <a:r>
              <a:rPr dirty="0" sz="2600" spc="29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at</a:t>
            </a:r>
            <a:r>
              <a:rPr dirty="0" sz="2600" spc="29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29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source</a:t>
            </a:r>
            <a:r>
              <a:rPr dirty="0" sz="2600" spc="290">
                <a:latin typeface="Calibri"/>
                <a:cs typeface="Calibri"/>
              </a:rPr>
              <a:t>  </a:t>
            </a:r>
            <a:r>
              <a:rPr dirty="0" sz="2600" spc="-25">
                <a:latin typeface="Calibri"/>
                <a:cs typeface="Calibri"/>
              </a:rPr>
              <a:t>and </a:t>
            </a:r>
            <a:r>
              <a:rPr dirty="0" sz="2600">
                <a:latin typeface="Calibri"/>
                <a:cs typeface="Calibri"/>
              </a:rPr>
              <a:t>reassembles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them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at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destination.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210886"/>
            <a:ext cx="8606790" cy="6055995"/>
          </a:xfrm>
          <a:prstGeom prst="rect">
            <a:avLst/>
          </a:prstGeom>
        </p:spPr>
        <p:txBody>
          <a:bodyPr wrap="square" lIns="0" tIns="65405" rIns="0" bIns="0" rtlCol="0" vert="horz">
            <a:spAutoFit/>
          </a:bodyPr>
          <a:lstStyle/>
          <a:p>
            <a:pPr marL="354330" indent="-341630">
              <a:lnSpc>
                <a:spcPct val="100000"/>
              </a:lnSpc>
              <a:spcBef>
                <a:spcPts val="515"/>
              </a:spcBef>
              <a:buFont typeface="Arial MT"/>
              <a:buChar char="•"/>
              <a:tabLst>
                <a:tab pos="354330" algn="l"/>
              </a:tabLst>
            </a:pPr>
            <a:r>
              <a:rPr dirty="0" sz="3200" spc="-25" i="1">
                <a:latin typeface="Calibri"/>
                <a:cs typeface="Calibri"/>
              </a:rPr>
              <a:t>QoS</a:t>
            </a:r>
            <a:endParaRPr sz="3200">
              <a:latin typeface="Calibri"/>
              <a:cs typeface="Calibri"/>
            </a:endParaRPr>
          </a:p>
          <a:p>
            <a:pPr lvl="1" marL="756285" marR="438150" indent="-287020">
              <a:lnSpc>
                <a:spcPts val="3020"/>
              </a:lnSpc>
              <a:spcBef>
                <a:spcPts val="73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800" spc="-10">
                <a:latin typeface="Calibri"/>
                <a:cs typeface="Calibri"/>
              </a:rPr>
              <a:t>Bluetooth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allows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stations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define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quality-</a:t>
            </a:r>
            <a:r>
              <a:rPr dirty="0" sz="2800" spc="-25">
                <a:latin typeface="Calibri"/>
                <a:cs typeface="Calibri"/>
              </a:rPr>
              <a:t>of-</a:t>
            </a:r>
            <a:r>
              <a:rPr dirty="0" sz="2800">
                <a:latin typeface="Calibri"/>
                <a:cs typeface="Calibri"/>
              </a:rPr>
              <a:t>service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level.</a:t>
            </a:r>
            <a:endParaRPr sz="2800">
              <a:latin typeface="Calibri"/>
              <a:cs typeface="Calibri"/>
            </a:endParaRPr>
          </a:p>
          <a:p>
            <a:pPr lvl="1" marL="755015" marR="431800" indent="-285750">
              <a:lnSpc>
                <a:spcPct val="90000"/>
              </a:lnSpc>
              <a:spcBef>
                <a:spcPts val="63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800">
                <a:latin typeface="Calibri"/>
                <a:cs typeface="Calibri"/>
              </a:rPr>
              <a:t>it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sufficient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know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that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if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no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quality-</a:t>
            </a:r>
            <a:r>
              <a:rPr dirty="0" sz="2800" spc="-10">
                <a:latin typeface="Calibri"/>
                <a:cs typeface="Calibri"/>
              </a:rPr>
              <a:t>of-service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level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defined,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Bluetooth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defaults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what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called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 spc="-30" i="1">
                <a:latin typeface="Calibri"/>
                <a:cs typeface="Calibri"/>
              </a:rPr>
              <a:t>best-</a:t>
            </a:r>
            <a:r>
              <a:rPr dirty="0" sz="2800" i="1">
                <a:latin typeface="Calibri"/>
                <a:cs typeface="Calibri"/>
              </a:rPr>
              <a:t>effort</a:t>
            </a:r>
            <a:r>
              <a:rPr dirty="0" sz="2800" spc="-30" i="1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service;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it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will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do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its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best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under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the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circumstances.</a:t>
            </a:r>
            <a:endParaRPr sz="2800">
              <a:latin typeface="Calibri"/>
              <a:cs typeface="Calibri"/>
            </a:endParaRPr>
          </a:p>
          <a:p>
            <a:pPr marL="354330" indent="-341630">
              <a:lnSpc>
                <a:spcPct val="100000"/>
              </a:lnSpc>
              <a:spcBef>
                <a:spcPts val="365"/>
              </a:spcBef>
              <a:buFont typeface="Arial MT"/>
              <a:buChar char="•"/>
              <a:tabLst>
                <a:tab pos="354330" algn="l"/>
              </a:tabLst>
            </a:pPr>
            <a:r>
              <a:rPr dirty="0" sz="3200" i="1">
                <a:latin typeface="Calibri"/>
                <a:cs typeface="Calibri"/>
              </a:rPr>
              <a:t>Group</a:t>
            </a:r>
            <a:r>
              <a:rPr dirty="0" sz="3200" spc="-35" i="1">
                <a:latin typeface="Calibri"/>
                <a:cs typeface="Calibri"/>
              </a:rPr>
              <a:t> </a:t>
            </a:r>
            <a:r>
              <a:rPr dirty="0" sz="3200" spc="-10" i="1">
                <a:latin typeface="Calibri"/>
                <a:cs typeface="Calibri"/>
              </a:rPr>
              <a:t>Management</a:t>
            </a:r>
            <a:endParaRPr sz="3200">
              <a:latin typeface="Calibri"/>
              <a:cs typeface="Calibri"/>
            </a:endParaRPr>
          </a:p>
          <a:p>
            <a:pPr algn="just" lvl="1" marL="756285" marR="5715" indent="-287020">
              <a:lnSpc>
                <a:spcPts val="3020"/>
              </a:lnSpc>
              <a:spcBef>
                <a:spcPts val="74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800">
                <a:latin typeface="Calibri"/>
                <a:cs typeface="Calibri"/>
              </a:rPr>
              <a:t>Another</a:t>
            </a:r>
            <a:r>
              <a:rPr dirty="0" sz="2800" spc="25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functionality</a:t>
            </a:r>
            <a:r>
              <a:rPr dirty="0" sz="2800" spc="2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2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L2CAP</a:t>
            </a:r>
            <a:r>
              <a:rPr dirty="0" sz="2800" spc="2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2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2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allow</a:t>
            </a:r>
            <a:r>
              <a:rPr dirty="0" sz="2800" spc="25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devices</a:t>
            </a:r>
            <a:r>
              <a:rPr dirty="0" sz="2800" spc="26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to </a:t>
            </a:r>
            <a:r>
              <a:rPr dirty="0" sz="2800">
                <a:latin typeface="Calibri"/>
                <a:cs typeface="Calibri"/>
              </a:rPr>
              <a:t>create</a:t>
            </a:r>
            <a:r>
              <a:rPr dirty="0" sz="2800" spc="254">
                <a:latin typeface="Calibri"/>
                <a:cs typeface="Calibri"/>
              </a:rPr>
              <a:t>  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254">
                <a:latin typeface="Calibri"/>
                <a:cs typeface="Calibri"/>
              </a:rPr>
              <a:t>   </a:t>
            </a:r>
            <a:r>
              <a:rPr dirty="0" sz="2800">
                <a:latin typeface="Calibri"/>
                <a:cs typeface="Calibri"/>
              </a:rPr>
              <a:t>type</a:t>
            </a:r>
            <a:r>
              <a:rPr dirty="0" sz="2800" spc="260">
                <a:latin typeface="Calibri"/>
                <a:cs typeface="Calibri"/>
              </a:rPr>
              <a:t>  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260">
                <a:latin typeface="Calibri"/>
                <a:cs typeface="Calibri"/>
              </a:rPr>
              <a:t>   </a:t>
            </a:r>
            <a:r>
              <a:rPr dirty="0" sz="2800">
                <a:latin typeface="Calibri"/>
                <a:cs typeface="Calibri"/>
              </a:rPr>
              <a:t>logical</a:t>
            </a:r>
            <a:r>
              <a:rPr dirty="0" sz="2800" spc="69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addressing</a:t>
            </a:r>
            <a:r>
              <a:rPr dirty="0" sz="2800" spc="254">
                <a:latin typeface="Calibri"/>
                <a:cs typeface="Calibri"/>
              </a:rPr>
              <a:t>   </a:t>
            </a:r>
            <a:r>
              <a:rPr dirty="0" sz="2800" spc="-10">
                <a:latin typeface="Calibri"/>
                <a:cs typeface="Calibri"/>
              </a:rPr>
              <a:t>between </a:t>
            </a:r>
            <a:r>
              <a:rPr dirty="0" sz="2800">
                <a:latin typeface="Calibri"/>
                <a:cs typeface="Calibri"/>
              </a:rPr>
              <a:t>themselves.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This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similar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multicasting.</a:t>
            </a:r>
            <a:endParaRPr sz="2800">
              <a:latin typeface="Calibri"/>
              <a:cs typeface="Calibri"/>
            </a:endParaRPr>
          </a:p>
          <a:p>
            <a:pPr algn="just" lvl="1" marL="756285" marR="5080" indent="-287020">
              <a:lnSpc>
                <a:spcPts val="3020"/>
              </a:lnSpc>
              <a:spcBef>
                <a:spcPts val="68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800">
                <a:latin typeface="Calibri"/>
                <a:cs typeface="Calibri"/>
              </a:rPr>
              <a:t>For</a:t>
            </a:r>
            <a:r>
              <a:rPr dirty="0" sz="2800" spc="25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example,</a:t>
            </a:r>
            <a:r>
              <a:rPr dirty="0" sz="2800" spc="2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two</a:t>
            </a:r>
            <a:r>
              <a:rPr dirty="0" sz="2800" spc="2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or</a:t>
            </a:r>
            <a:r>
              <a:rPr dirty="0" sz="2800" spc="2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three</a:t>
            </a:r>
            <a:r>
              <a:rPr dirty="0" sz="2800" spc="2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secondary</a:t>
            </a:r>
            <a:r>
              <a:rPr dirty="0" sz="2800" spc="2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devices</a:t>
            </a:r>
            <a:r>
              <a:rPr dirty="0" sz="2800" spc="2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can</a:t>
            </a:r>
            <a:r>
              <a:rPr dirty="0" sz="2800" spc="27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be </a:t>
            </a:r>
            <a:r>
              <a:rPr dirty="0" sz="2800">
                <a:latin typeface="Calibri"/>
                <a:cs typeface="Calibri"/>
              </a:rPr>
              <a:t>part</a:t>
            </a:r>
            <a:r>
              <a:rPr dirty="0" sz="2800" spc="5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5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5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multicast</a:t>
            </a:r>
            <a:r>
              <a:rPr dirty="0" sz="2800" spc="5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group</a:t>
            </a:r>
            <a:r>
              <a:rPr dirty="0" sz="2800" spc="5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5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receive</a:t>
            </a:r>
            <a:r>
              <a:rPr dirty="0" sz="2800" spc="5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data</a:t>
            </a:r>
            <a:r>
              <a:rPr dirty="0" sz="2800" spc="5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from</a:t>
            </a:r>
            <a:r>
              <a:rPr dirty="0" sz="2800" spc="55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the </a:t>
            </a:r>
            <a:r>
              <a:rPr dirty="0" sz="2800" spc="-10">
                <a:latin typeface="Calibri"/>
                <a:cs typeface="Calibri"/>
              </a:rPr>
              <a:t>primary.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20617" y="461899"/>
            <a:ext cx="2305685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spc="-30" i="0">
                <a:latin typeface="Calibri"/>
                <a:cs typeface="Calibri"/>
              </a:rPr>
              <a:t>Reference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07261"/>
            <a:ext cx="8070850" cy="10026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4330" marR="5080" indent="-34163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  <a:tab pos="1515110" algn="l"/>
                <a:tab pos="2532380" algn="l"/>
                <a:tab pos="4536440" algn="l"/>
                <a:tab pos="7662545" algn="l"/>
              </a:tabLst>
            </a:pPr>
            <a:r>
              <a:rPr dirty="0" sz="3200" spc="-20">
                <a:latin typeface="Calibri"/>
                <a:cs typeface="Calibri"/>
              </a:rPr>
              <a:t>Data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25">
                <a:latin typeface="Calibri"/>
                <a:cs typeface="Calibri"/>
              </a:rPr>
              <a:t>and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10">
                <a:latin typeface="Calibri"/>
                <a:cs typeface="Calibri"/>
              </a:rPr>
              <a:t>computer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10">
                <a:latin typeface="Calibri"/>
                <a:cs typeface="Calibri"/>
              </a:rPr>
              <a:t>communications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40">
                <a:latin typeface="Calibri"/>
                <a:cs typeface="Calibri"/>
              </a:rPr>
              <a:t>by </a:t>
            </a:r>
            <a:r>
              <a:rPr dirty="0" sz="3200" spc="-40">
                <a:latin typeface="Calibri"/>
                <a:cs typeface="Calibri"/>
              </a:rPr>
              <a:t>	</a:t>
            </a:r>
            <a:r>
              <a:rPr dirty="0" sz="3200">
                <a:latin typeface="Calibri"/>
                <a:cs typeface="Calibri"/>
              </a:rPr>
              <a:t>William</a:t>
            </a:r>
            <a:r>
              <a:rPr dirty="0" sz="3200" spc="-13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Stallings,</a:t>
            </a:r>
            <a:r>
              <a:rPr dirty="0" sz="3200" spc="-11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Pearson.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judhistir</dc:creator>
  <dc:title>Wireless LAN</dc:title>
  <dcterms:created xsi:type="dcterms:W3CDTF">2026-04-16T17:24:39Z</dcterms:created>
  <dcterms:modified xsi:type="dcterms:W3CDTF">2026-04-16T17:24:39Z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2026-04-09T00:00:00Z</vt:filetime>
  </property>
  <property fmtid="{D5CDD505-2E9C-101B-9397-08002B2CF9AE}" pid="4" name="Creator">
    <vt:lpwstr>Microsoft® PowerPoint® 2021</vt:lpwstr>
  </property>
  <property fmtid="{D5CDD505-2E9C-101B-9397-08002B2CF9AE}" pid="5" name="LastSaved">
    <vt:filetime>2026-04-16T00:00:00Z</vt:filetime>
  </property>
  <property fmtid="{D5CDD505-2E9C-101B-9397-08002B2CF9AE}" pid="6" name="Producer">
    <vt:lpwstr>Microsoft® PowerPoint® 2021</vt:lpwstr>
  </property>
</Properties>
</file>